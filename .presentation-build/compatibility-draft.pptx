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Default Extension="jpeg" ContentType="image/jpeg"/>
  <Override PartName="/ppt/slideMasters/restored_slideMaster1.xml" ContentType="application/vnd.openxmlformats-officedocument.presentationml.slideMaster+xml"/>
  <Override PartName="/ppt/notesMasters/restored_notesMaster1.xml" ContentType="application/vnd.openxmlformats-officedocument.presentationml.notesMaster+xml"/>
  <Override PartName="/ppt/theme/restored_theme1.xml" ContentType="application/vnd.openxmlformats-officedocument.theme+xml"/>
  <Override PartName="/ppt/slideLayouts/restored_slideLayout1.xml" ContentType="application/vnd.openxmlformats-officedocument.presentationml.slideLayout+xml"/>
  <Override PartName="/ppt/slideLayouts/restored_slideLayout2.xml" ContentType="application/vnd.openxmlformats-officedocument.presentationml.slideLayout+xml"/>
  <Override PartName="/ppt/slideLayouts/restored_slideLayout3.xml" ContentType="application/vnd.openxmlformats-officedocument.presentationml.slideLayout+xml"/>
  <Override PartName="/ppt/slideLayouts/restored_slideLayout4.xml" ContentType="application/vnd.openxmlformats-officedocument.presentationml.slideLayout+xml"/>
  <Override PartName="/ppt/slideLayouts/restored_slideLayout5.xml" ContentType="application/vnd.openxmlformats-officedocument.presentationml.slideLayout+xml"/>
  <Override PartName="/ppt/slideLayouts/restored_slideLayout6.xml" ContentType="application/vnd.openxmlformats-officedocument.presentationml.slideLayout+xml"/>
  <Override PartName="/ppt/slideLayouts/restored_slideLayout7.xml" ContentType="application/vnd.openxmlformats-officedocument.presentationml.slideLayout+xml"/>
  <Override PartName="/ppt/slideLayouts/restored_slideLayout8.xml" ContentType="application/vnd.openxmlformats-officedocument.presentationml.slideLayout+xml"/>
  <Override PartName="/ppt/slideLayouts/restored_slideLayout9.xml" ContentType="application/vnd.openxmlformats-officedocument.presentationml.slideLayout+xml"/>
  <Override PartName="/ppt/slideLayouts/restored_slideLayout10.xml" ContentType="application/vnd.openxmlformats-officedocument.presentationml.slideLayout+xml"/>
  <Override PartName="/ppt/slideLayouts/restored_slideLayout11.xml" ContentType="application/vnd.openxmlformats-officedocument.presentationml.slideLayout+xml"/>
  <Override PartName="/ppt/theme/restored_theme2.xml" ContentType="application/vnd.openxmlformats-officedocument.theme+xml"/>
  <Override PartName="/ppt/notesSlides/restored_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e2a93ac62b54338" /><Relationship Type="http://schemas.openxmlformats.org/officeDocument/2006/relationships/extended-properties" Target="/docProps/app.xml" Id="R0f3548f6606c4610" /><Relationship Type="http://schemas.openxmlformats.org/officeDocument/2006/relationships/officeDocument" Target="/ppt/presentation.xml" Id="R8a080f025cfe4307" /></Relationships>
</file>

<file path=ppt/presentation.xml><?xml version="1.0" encoding="utf-8"?>
<p:presentation xmlns:p="http://schemas.openxmlformats.org/presentationml/2006/main">
  <p:sldMasterIdLst>
    <p:sldMasterId xmlns:r="http://schemas.openxmlformats.org/officeDocument/2006/relationships" id="2147483648" r:id="R3e2fcee8a5e04234"/>
    <p:sldMasterId xmlns:ns0="http://schemas.openxmlformats.org/officeDocument/2006/relationships" id="2147483649" ns0:id="rIdRestoredOriginalMaster"/>
  </p:sldMasterIdLst>
  <p:notesMasterIdLst>
    <p:notesMasterId xmlns:r="http://schemas.openxmlformats.org/officeDocument/2006/relationships" r:id="Rd897c2eafe294bff"/>
  </p:notesMasterIdLst>
  <p:sldIdLst>
    <p:sldId xmlns:r="http://schemas.openxmlformats.org/officeDocument/2006/relationships" id="256" r:id="R5585d8638d8e45cc"/>
    <p:sldId xmlns:r="http://schemas.openxmlformats.org/officeDocument/2006/relationships" id="257" r:id="R0bf595f4e4a74ad1"/>
    <p:sldId xmlns:r="http://schemas.openxmlformats.org/officeDocument/2006/relationships" id="258" r:id="R9fc2b34323964fef"/>
    <p:sldId xmlns:r="http://schemas.openxmlformats.org/officeDocument/2006/relationships" id="259" r:id="Re82d8b5741654629"/>
    <p:sldId xmlns:r="http://schemas.openxmlformats.org/officeDocument/2006/relationships" id="260" r:id="R96c6c02b9b3d45b5"/>
    <p:sldId xmlns:r="http://schemas.openxmlformats.org/officeDocument/2006/relationships" id="261" r:id="R4221c59447aa4c42"/>
    <p:sldId xmlns:r="http://schemas.openxmlformats.org/officeDocument/2006/relationships" id="262" r:id="R3560353aabbc4aff"/>
    <p:sldId xmlns:r="http://schemas.openxmlformats.org/officeDocument/2006/relationships" id="263" r:id="R7223a9e5bc014ade"/>
    <p:sldId xmlns:r="http://schemas.openxmlformats.org/officeDocument/2006/relationships" id="264" r:id="R0a914f58001e4d52"/>
    <p:sldId xmlns:r="http://schemas.openxmlformats.org/officeDocument/2006/relationships" id="265" r:id="Redd6717a373d4da2"/>
    <p:sldId xmlns:r="http://schemas.openxmlformats.org/officeDocument/2006/relationships" id="266" r:id="R79976944b0a04992"/>
    <p:sldId xmlns:r="http://schemas.openxmlformats.org/officeDocument/2006/relationships" id="267" r:id="Rb1bc84e38e954774"/>
    <p:sldId xmlns:r="http://schemas.openxmlformats.org/officeDocument/2006/relationships" id="268" r:id="R4e944f539aa442e6"/>
    <p:sldId xmlns:r="http://schemas.openxmlformats.org/officeDocument/2006/relationships" id="269" r:id="Rf7e096f127f14621"/>
    <p:sldId xmlns:r="http://schemas.openxmlformats.org/officeDocument/2006/relationships" id="270" r:id="R471ae66c23874480"/>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xml version='1.0' encoding='utf-8' standalone='yes'?>
<Relationships xmlns="http://schemas.openxmlformats.org/package/2006/relationships"><Relationship Type="http://schemas.openxmlformats.org/officeDocument/2006/relationships/theme" Target="/ppt/theme/theme1.xml" Id="Re7dd8ecab4184df7"/><Relationship Type="http://schemas.openxmlformats.org/officeDocument/2006/relationships/slideMaster" Target="/ppt/slideMasters/slideMaster1.xml" Id="R3e2fcee8a5e04234"/><Relationship Type="http://schemas.openxmlformats.org/officeDocument/2006/relationships/notesMaster" Target="/ppt/notesMasters/notesMaster1.xml" Id="Rd897c2eafe294bff"/><Relationship Type="http://schemas.openxmlformats.org/officeDocument/2006/relationships/presProps" Target="/ppt/presProps.xml" Id="Ra9bac0a681294ddc"/><Relationship Type="http://schemas.openxmlformats.org/officeDocument/2006/relationships/viewProps" Target="/ppt/viewProps.xml" Id="R8c21552bf7104cc5"/><Relationship Type="http://schemas.openxmlformats.org/officeDocument/2006/relationships/tableStyles" Target="/ppt/tableStyles.xml" Id="Rcf0520817ff64ac3"/><Relationship Type="http://schemas.openxmlformats.org/officeDocument/2006/relationships/slide" Target="/ppt/slides/slide1.xml" Id="R5585d8638d8e45cc"/><Relationship Type="http://schemas.openxmlformats.org/officeDocument/2006/relationships/slide" Target="/ppt/slides/slide2.xml" Id="R0bf595f4e4a74ad1"/><Relationship Type="http://schemas.openxmlformats.org/officeDocument/2006/relationships/slide" Target="/ppt/slides/slide3.xml" Id="R9fc2b34323964fef"/><Relationship Type="http://schemas.openxmlformats.org/officeDocument/2006/relationships/slide" Target="/ppt/slides/slide4.xml" Id="Re82d8b5741654629"/><Relationship Type="http://schemas.openxmlformats.org/officeDocument/2006/relationships/slide" Target="/ppt/slides/slide5.xml" Id="R96c6c02b9b3d45b5"/><Relationship Type="http://schemas.openxmlformats.org/officeDocument/2006/relationships/slide" Target="/ppt/slides/slide6.xml" Id="R4221c59447aa4c42"/><Relationship Type="http://schemas.openxmlformats.org/officeDocument/2006/relationships/slide" Target="/ppt/slides/slide7.xml" Id="R3560353aabbc4aff"/><Relationship Type="http://schemas.openxmlformats.org/officeDocument/2006/relationships/slide" Target="/ppt/slides/slide8.xml" Id="R7223a9e5bc014ade"/><Relationship Type="http://schemas.openxmlformats.org/officeDocument/2006/relationships/slide" Target="/ppt/slides/slide9.xml" Id="R0a914f58001e4d52"/><Relationship Type="http://schemas.openxmlformats.org/officeDocument/2006/relationships/slide" Target="/ppt/slides/slide10.xml" Id="Redd6717a373d4da2"/><Relationship Type="http://schemas.openxmlformats.org/officeDocument/2006/relationships/slide" Target="/ppt/slides/slide11.xml" Id="R79976944b0a04992"/><Relationship Type="http://schemas.openxmlformats.org/officeDocument/2006/relationships/slide" Target="/ppt/slides/slide12.xml" Id="Rb1bc84e38e954774"/><Relationship Type="http://schemas.openxmlformats.org/officeDocument/2006/relationships/slide" Target="/ppt/slides/slide13.xml" Id="R4e944f539aa442e6"/><Relationship Type="http://schemas.openxmlformats.org/officeDocument/2006/relationships/slide" Target="/ppt/slides/slide14.xml" Id="Rf7e096f127f14621"/><Relationship Type="http://schemas.openxmlformats.org/officeDocument/2006/relationships/slide" Target="/ppt/slides/slide15.xml" Id="R471ae66c23874480"/><Relationship Id="rIdRestoredOriginalMaster" Type="http://schemas.openxmlformats.org/officeDocument/2006/relationships/slideMaster" Target="slideMasters/restored_slideMaster1.xml"/></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522236e8ea44def" /></Relationships>
</file>

<file path=ppt/notesMasters/_rels/restored_notesMaster1.xml.rels><?xml version='1.0' encoding='utf-8'?>
<Relationships xmlns="http://schemas.openxmlformats.org/package/2006/relationships"><Relationship Id="rId1" Type="http://schemas.openxmlformats.org/officeDocument/2006/relationships/theme" Target="../theme/restored_theme2.xml"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restored_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1131C1E-EA97-4770-9D9B-B5D475BC0356}" type="datetimeFigureOut">
              <a:rPr lang="en-IN"/>
              <a:t>19-10-2026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6F3D40A-EC1A-4F6F-BB68-EFB07E1011F1}" type="slidenum">
              <a:rPr lang="en-IN"/>
              <a:t>‹#›</a:t>
            </a:fld>
            <a:endParaRPr lang="en-IN"/>
          </a:p>
        </p:txBody>
      </p:sp>
    </p:spTree>
    <p:extLst>
      <p:ext uri="{BB962C8B-B14F-4D97-AF65-F5344CB8AC3E}">
        <p14:creationId xmlns:p14="http://schemas.microsoft.com/office/powerpoint/2010/main" val="4591965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3cf49b5d9ed4483" /><Relationship Type="http://schemas.openxmlformats.org/officeDocument/2006/relationships/notesMaster" Target="/ppt/notesMasters/notesMaster1.xml" Id="R79d14d563f564a4b" /></Relationships>
</file>

<file path=ppt/notesSlides/_rels/notesSlide2.xml.rels>&#65279;<?xml version="1.0" encoding="utf-8"?><Relationships xmlns="http://schemas.openxmlformats.org/package/2006/relationships"><Relationship Type="http://schemas.openxmlformats.org/officeDocument/2006/relationships/slide" Target="/ppt/slides/slide2.xml" Id="Rfe61470776194f6a" /><Relationship Type="http://schemas.openxmlformats.org/officeDocument/2006/relationships/notesMaster" Target="/ppt/notesMasters/notesMaster1.xml" Id="R90a30e14fe764eba" /></Relationships>
</file>

<file path=ppt/notesSlides/_rels/notesSlide3.xml.rels>&#65279;<?xml version="1.0" encoding="utf-8"?><Relationships xmlns="http://schemas.openxmlformats.org/package/2006/relationships"><Relationship Type="http://schemas.openxmlformats.org/officeDocument/2006/relationships/slide" Target="/ppt/slides/slide3.xml" Id="R3b9fd8d9d3eb44fe" /><Relationship Type="http://schemas.openxmlformats.org/officeDocument/2006/relationships/notesMaster" Target="/ppt/notesMasters/notesMaster1.xml" Id="R89ffc27860924b3b" /></Relationships>
</file>

<file path=ppt/notesSlides/_rels/notesSlide4.xml.rels>&#65279;<?xml version="1.0" encoding="utf-8"?><Relationships xmlns="http://schemas.openxmlformats.org/package/2006/relationships"><Relationship Type="http://schemas.openxmlformats.org/officeDocument/2006/relationships/slide" Target="/ppt/slides/slide4.xml" Id="Re469e2f9644642b0" /><Relationship Type="http://schemas.openxmlformats.org/officeDocument/2006/relationships/notesMaster" Target="/ppt/notesMasters/notesMaster1.xml" Id="R0f5a49bd01d8426c" /></Relationships>
</file>

<file path=ppt/notesSlides/_rels/notesSlide5.xml.rels>&#65279;<?xml version="1.0" encoding="utf-8"?><Relationships xmlns="http://schemas.openxmlformats.org/package/2006/relationships"><Relationship Type="http://schemas.openxmlformats.org/officeDocument/2006/relationships/slide" Target="/ppt/slides/slide5.xml" Id="Rd61e839fb9d24ae0" /><Relationship Type="http://schemas.openxmlformats.org/officeDocument/2006/relationships/notesMaster" Target="/ppt/notesMasters/notesMaster1.xml" Id="R4b1b8a410c0c457d" /></Relationships>
</file>

<file path=ppt/notesSlides/_rels/notesSlide6.xml.rels>&#65279;<?xml version="1.0" encoding="utf-8"?><Relationships xmlns="http://schemas.openxmlformats.org/package/2006/relationships"><Relationship Type="http://schemas.openxmlformats.org/officeDocument/2006/relationships/slide" Target="/ppt/slides/slide6.xml" Id="R37f21fdae841463c" /><Relationship Type="http://schemas.openxmlformats.org/officeDocument/2006/relationships/notesMaster" Target="/ppt/notesMasters/notesMaster1.xml" Id="R1285535d91e243fb" /></Relationships>
</file>

<file path=ppt/notesSlides/_rels/notesSlide7.xml.rels>&#65279;<?xml version="1.0" encoding="utf-8"?><Relationships xmlns="http://schemas.openxmlformats.org/package/2006/relationships"><Relationship Type="http://schemas.openxmlformats.org/officeDocument/2006/relationships/slide" Target="/ppt/slides/slide7.xml" Id="R11251c8970124139" /><Relationship Type="http://schemas.openxmlformats.org/officeDocument/2006/relationships/notesMaster" Target="/ppt/notesMasters/notesMaster1.xml" Id="R2ee230c636d34ce4" /></Relationships>
</file>

<file path=ppt/notesSlides/_rels/notesSlide8.xml.rels>&#65279;<?xml version="1.0" encoding="utf-8"?><Relationships xmlns="http://schemas.openxmlformats.org/package/2006/relationships"><Relationship Type="http://schemas.openxmlformats.org/officeDocument/2006/relationships/slide" Target="/ppt/slides/slide8.xml" Id="R2535895fa4c04294" /><Relationship Type="http://schemas.openxmlformats.org/officeDocument/2006/relationships/notesMaster" Target="/ppt/notesMasters/notesMaster1.xml" Id="R780c39410c9742fa" /></Relationships>
</file>

<file path=ppt/notesSlides/_rels/notesSlide9.xml.rels>&#65279;<?xml version="1.0" encoding="utf-8"?><Relationships xmlns="http://schemas.openxmlformats.org/package/2006/relationships"><Relationship Type="http://schemas.openxmlformats.org/officeDocument/2006/relationships/slide" Target="/ppt/slides/slide9.xml" Id="R7195f9aee53745dd" /><Relationship Type="http://schemas.openxmlformats.org/officeDocument/2006/relationships/notesMaster" Target="/ppt/notesMasters/notesMaster1.xml" Id="R3d2000b6eb9743d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f14ad2e42884736" /><Relationship Type="http://schemas.openxmlformats.org/officeDocument/2006/relationships/notesMaster" Target="/ppt/notesMasters/notesMaster1.xml" Id="Rc3a93c69397f464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dac868bfb574828" /><Relationship Type="http://schemas.openxmlformats.org/officeDocument/2006/relationships/notesMaster" Target="/ppt/notesMasters/notesMaster1.xml" Id="R21edb5e74389410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c874cd0dcc24895" /><Relationship Type="http://schemas.openxmlformats.org/officeDocument/2006/relationships/notesMaster" Target="/ppt/notesMasters/notesMaster1.xml" Id="Rcecb0f25effb439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ea7196e2cf44199" /><Relationship Type="http://schemas.openxmlformats.org/officeDocument/2006/relationships/notesMaster" Target="/ppt/notesMasters/notesMaster1.xml" Id="Ra9b76a9a739b473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6af1c74d8db4a26" /><Relationship Type="http://schemas.openxmlformats.org/officeDocument/2006/relationships/notesMaster" Target="/ppt/notesMasters/notesMaster1.xml" Id="R2c502907564048b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da299b8fdd64d52" /><Relationship Type="http://schemas.openxmlformats.org/officeDocument/2006/relationships/notesMaster" Target="/ppt/notesMasters/notesMaster1.xml" Id="Ra4cd77ca667b4f78" /></Relationships>
</file>

<file path=ppt/notesSlides/_rels/restored_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title and team details retained from the supplied Review 2 template.</a:t>
            </a:r>
            <a:endParaRPr/>
          </a:p>
          <a:p xmlns:a="http://schemas.openxmlformats.org/drawingml/2006/main">
            <a:r>
              <a:t>Sources: current workspace app/lib/main.dart; esp32/components/ble/ble.c, ble_gap.c, ble_gatt.c; esp32/main/main.c. Repository inspection on 19 October 2026. Code presence establishes implementation only. Hardware test outcomes await captured evidence.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Review 2 topics follow the supplied template. Additional slides separate methods, validation and evidence to keep each slide concise.</a:t>
            </a:r>
          </a:p>
          <a:p xmlns:a="http://schemas.openxmlformats.org/drawingml/2006/main">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Objectives preserve the template scope. User explicitly retained ML as an objective and added both GPS location and ETA. These are objectives, not completed results.</a:t>
            </a:r>
          </a:p>
          <a:p xmlns:a="http://schemas.openxmlformats.org/drawingml/2006/main">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architecture replaces the dense source image with an editable diagram. Current firmware generates simulated observations. Planned phone-to-cloud transport is MQTT over TLS with CoAP fallback. GPS provider, ETA method, backend and ML model remain to be selected.</a:t>
            </a:r>
          </a:p>
          <a:p xmlns:a="http://schemas.openxmlformats.org/drawingml/2006/main">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GHSS UUID 0x1840; observations 0x2B8B; control point 0x2BF4. Firmware creates simulated readings on a nominal one-second task interval. The two rows show setup followed by telemetry, with editable step objects. Automatic app reconnection is not implemented.</a:t>
            </a:r>
          </a:p>
          <a:p xmlns:a="http://schemas.openxmlformats.org/drawingml/2006/main">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Comparison describes observed implementation versus the user-approved target, without claiming measured superiority over competing protocols. No backend stack or risk model is finalized in the current repository.</a:t>
            </a:r>
          </a:p>
          <a:p xmlns:a="http://schemas.openxmlformats.org/drawingml/2006/main">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FR1 and FR2 are implemented in source but need hardware evidence. Sensor sketches exist separately. Persistent queueing, cloud transport, GPS, ETA, ML and hospital dashboard are requirements for subsequent integration.</a:t>
            </a:r>
          </a:p>
          <a:p xmlns:a="http://schemas.openxmlformats.org/drawingml/2006/main">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Security code uses LE Secure Connections with Just Works and NVS bonds. This does not establish authenticated protection against active interception. No measured latency, delivery ratio, endurance or clinical accuracy is available.</a:t>
            </a:r>
          </a:p>
          <a:p xmlns:a="http://schemas.openxmlformats.org/drawingml/2006/main">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Design rationale, not measured Wi-Fi versus BLE test results. The earlier project README describes direct ESP32 Wi-Fi MQTT/TLS upload. The current architecture moves internet upload, GPS and planned buffering to the phone, while BLE carries nearby vital observations. Wi-Fi also supports local communication without internet, and a phone hotspot can provide a Wi-Fi uplink. The selected design removes Wi-Fi credentials and cloud connection handling from the ESP32 local link; it does not establish better latency, reliability, range or measured power consumption. BLE is designed for low-power point-to-point data exchange, including health monitoring. A fair empirical comparison would use the same board, workload, distance and observation duration, recording current draw, delivery ratio, update interval and recovery time. Sources: https://www.bluetooth.com/learn-about-bluetooth/topology-options/ ; https://www.bluetooth.com/bluetooth-le-primer/ ; https://docs.espressif.com/projects/esp-idf/en/latest/esp32/api-reference/bluetooth/bt_le.html ; earlier project README at D:/Academ/Projects/Major Project 2026-27/Coding Part/Smart Ambulance/README.md.</a:t>
            </a:r>
          </a:p>
          <a:p xmlns:a="http://schemas.openxmlformats.org/drawingml/2006/main">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cases validate the current BLE prototype. Capture at least two updates for TC3, and a recording or timestamped logs for TC4 and TC5. A stopped app may retain the last displayed values. Reconnection is manual.</a:t>
            </a:r>
          </a:p>
          <a:p xmlns:a="http://schemas.openxmlformats.org/drawingml/2006/main">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Future tests need a defined telemetry contract and acceptance thresholds. ETA should be compared with actual arrival times on test routes. ML evaluation requires a selected dataset, labels, model and held-out split. Do not invent accuracy figures.</a:t>
            </a:r>
          </a:p>
          <a:p xmlns:a="http://schemas.openxmlformats.org/drawingml/2006/main">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repository checked at D:/Academ/git-local/smart-ambulance. The older Coding Part/Smart Ambulance README describes a Wi-Fi/cloud design, but the inspected backend/frontend folders contain remnants rather than a complete current implementation. Status follows current source and the user confirmation, not older README claims.</a:t>
            </a:r>
          </a:p>
          <a:p xmlns:a="http://schemas.openxmlformats.org/drawingml/2006/main">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slots intentionally await user screenshots. Suggested captures: connected-ready status; streaming HR/SpO2/temperature; stopped status or successful manual reconnection. A recording must establish changing readings and cessation of updates. All readings in the current demonstration are simulated.</a:t>
            </a:r>
          </a:p>
          <a:p xmlns:a="http://schemas.openxmlformats.org/drawingml/2006/main">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Conclusions distinguish implemented code from demonstrated hardware results. The full system remains a prototype. ML risk assessment is a project objective and requires dataset/model selection and evaluation.</a:t>
            </a:r>
          </a:p>
          <a:p xmlns:a="http://schemas.openxmlformats.org/drawingml/2006/main">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End of Review 2 presentation.</a:t>
            </a:r>
          </a:p>
          <a:p xmlns:a="http://schemas.openxmlformats.org/drawingml/2006/main">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restored_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6F3D40A-EC1A-4F6F-BB68-EFB07E1011F1}" type="slidenum">
              <a:rPr lang="en-IN"/>
              <a:t>1</a:t>
            </a:fld>
            <a:endParaRPr lang="en-IN"/>
          </a:p>
        </p:txBody>
      </p:sp>
    </p:spTree>
    <p:extLst>
      <p:ext uri="{BB962C8B-B14F-4D97-AF65-F5344CB8AC3E}">
        <p14:creationId xmlns:p14="http://schemas.microsoft.com/office/powerpoint/2010/main" val="1488850629"/>
      </p:ext>
    </p:extLst>
  </p:cSld>
  <p:clrMapOvr>
    <a:masterClrMapping/>
  </p:clrMapOvr>
</p:notes>
</file>

<file path=ppt/slideLayouts/_rels/restored_slideLayout1.xml.rels><?xml version='1.0' encoding='utf-8'?>
<Relationships xmlns="http://schemas.openxmlformats.org/package/2006/relationships"><Relationship Id="rId1" Type="http://schemas.openxmlformats.org/officeDocument/2006/relationships/slideMaster" Target="../slideMasters/restored_slideMaster1.xml" /></Relationships>
</file>

<file path=ppt/slideLayouts/_rels/restored_slideLayout2.xml.rels><?xml version='1.0' encoding='utf-8'?>
<Relationships xmlns="http://schemas.openxmlformats.org/package/2006/relationships"><Relationship Id="rId1" Type="http://schemas.openxmlformats.org/officeDocument/2006/relationships/slideMaster" Target="../slideMasters/restored_slideMaster1.xml" /></Relationships>
</file>

<file path=ppt/slideLayouts/_rels/restored_slideLayout3.xml.rels><?xml version='1.0' encoding='utf-8'?>
<Relationships xmlns="http://schemas.openxmlformats.org/package/2006/relationships"><Relationship Id="rId1" Type="http://schemas.openxmlformats.org/officeDocument/2006/relationships/slideMaster" Target="../slideMasters/restored_slideMaster1.xml" /></Relationships>
</file>

<file path=ppt/slideLayouts/_rels/restored_slideLayout4.xml.rels><?xml version='1.0' encoding='utf-8'?>
<Relationships xmlns="http://schemas.openxmlformats.org/package/2006/relationships"><Relationship Id="rId1" Type="http://schemas.openxmlformats.org/officeDocument/2006/relationships/slideMaster" Target="../slideMasters/restored_slideMaster1.xml" /></Relationships>
</file>

<file path=ppt/slideLayouts/_rels/restored_slideLayout5.xml.rels><?xml version='1.0' encoding='utf-8'?>
<Relationships xmlns="http://schemas.openxmlformats.org/package/2006/relationships"><Relationship Id="rId1" Type="http://schemas.openxmlformats.org/officeDocument/2006/relationships/slideMaster" Target="../slideMasters/restored_slideMaster1.xml" /></Relationships>
</file>

<file path=ppt/slideLayouts/_rels/restored_slideLayout6.xml.rels><?xml version='1.0' encoding='utf-8'?>
<Relationships xmlns="http://schemas.openxmlformats.org/package/2006/relationships"><Relationship Id="rId1" Type="http://schemas.openxmlformats.org/officeDocument/2006/relationships/slideMaster" Target="../slideMasters/restored_slideMaster1.xml" /></Relationships>
</file>

<file path=ppt/slideLayouts/_rels/restored_slideLayout7.xml.rels><?xml version='1.0' encoding='utf-8'?>
<Relationships xmlns="http://schemas.openxmlformats.org/package/2006/relationships"><Relationship Id="rId1" Type="http://schemas.openxmlformats.org/officeDocument/2006/relationships/slideMaster" Target="../slideMasters/restored_slideMaster1.xml" /></Relationships>
</file>

<file path=ppt/slideLayouts/_rels/restored_slideLayout8.xml.rels><?xml version='1.0' encoding='utf-8'?>
<Relationships xmlns="http://schemas.openxmlformats.org/package/2006/relationships"><Relationship Id="rId1" Type="http://schemas.openxmlformats.org/officeDocument/2006/relationships/slideMaster" Target="../slideMasters/restored_slideMaster1.xml" /></Relationships>
</file>

<file path=ppt/slideLayouts/_rels/restored_slideLayout9.xml.rels><?xml version='1.0' encoding='utf-8'?>
<Relationships xmlns="http://schemas.openxmlformats.org/package/2006/relationships"><Relationship Id="rId1" Type="http://schemas.openxmlformats.org/officeDocument/2006/relationships/slideMaster" Target="../slideMasters/restored_slideMaster1.xml" /></Relationships>
</file>

<file path=ppt/slideLayouts/_rels/restored_slideLayout10.xml.rels><?xml version='1.0' encoding='utf-8'?>
<Relationships xmlns="http://schemas.openxmlformats.org/package/2006/relationships"><Relationship Id="rId1" Type="http://schemas.openxmlformats.org/officeDocument/2006/relationships/slideMaster" Target="../slideMasters/restored_slideMaster1.xml" /></Relationships>
</file>

<file path=ppt/slideLayouts/_rels/restored_slideLayout11.xml.rels><?xml version='1.0' encoding='utf-8'?>
<Relationships xmlns="http://schemas.openxmlformats.org/package/2006/relationships"><Relationship Id="rId1" Type="http://schemas.openxmlformats.org/officeDocument/2006/relationships/slideMaster" Target="../slideMasters/restored_slideMaster1.xml" /></Relationship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21c4446c16749e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0857692018547a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6cccb0abaf64f7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b5f6c37131b4a1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8a01191a63b44d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bce4d6b540b41ab"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179298062c9f4d36"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c0c856755e944652"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19a2dde058824664"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b9872768913848a4"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c6bd880d8258457b" /></Relationships>
</file>

<file path=ppt/slideLayouts/restored_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94D745-0B20-BBAA-074F-EF62988991C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2EFF7C1-57C4-8D79-46D3-BDDCA99C45F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3CCF0EC-6478-6AA0-39C5-5817AD45084B}"/>
              </a:ext>
            </a:extLst>
          </p:cNvPr>
          <p:cNvSpPr>
            <a:spLocks noGrp="1"/>
          </p:cNvSpPr>
          <p:nvPr>
            <p:ph type="dt" sz="half" idx="10"/>
          </p:nvPr>
        </p:nvSpPr>
        <p:spPr/>
        <p:txBody>
          <a:bodyPr/>
          <a:lstStyle/>
          <a:p>
            <a:fld id="{DCC65D64-61A9-40CD-B94D-857C621C06A3}" type="datetime1">
              <a:rPr lang="en-IN"/>
              <a:t>19-10-2026</a:t>
            </a:fld>
            <a:endParaRPr lang="en-IN"/>
          </a:p>
        </p:txBody>
      </p:sp>
      <p:sp>
        <p:nvSpPr>
          <p:cNvPr id="5" name="Footer Placeholder 4">
            <a:extLst>
              <a:ext uri="{FF2B5EF4-FFF2-40B4-BE49-F238E27FC236}">
                <a16:creationId xmlns:a16="http://schemas.microsoft.com/office/drawing/2014/main" id="{698BCB53-894F-5921-306C-CB1B74E5C147}"/>
              </a:ext>
            </a:extLst>
          </p:cNvPr>
          <p:cNvSpPr>
            <a:spLocks noGrp="1"/>
          </p:cNvSpPr>
          <p:nvPr>
            <p:ph type="ftr" sz="quarter" idx="11"/>
          </p:nvPr>
        </p:nvSpPr>
        <p:spPr/>
        <p:txBody>
          <a:bodyPr/>
          <a:lstStyle/>
          <a:p>
            <a:r>
              <a:rPr lang="en-US"/>
              <a:t>Dept. of ECE, NMIT, Bengaluru</a:t>
            </a:r>
            <a:endParaRPr lang="en-IN"/>
          </a:p>
        </p:txBody>
      </p:sp>
      <p:sp>
        <p:nvSpPr>
          <p:cNvPr id="6" name="Slide Number Placeholder 5">
            <a:extLst>
              <a:ext uri="{FF2B5EF4-FFF2-40B4-BE49-F238E27FC236}">
                <a16:creationId xmlns:a16="http://schemas.microsoft.com/office/drawing/2014/main" id="{70334AD7-6A1F-1788-A433-EC6F920012BA}"/>
              </a:ext>
            </a:extLst>
          </p:cNvPr>
          <p:cNvSpPr>
            <a:spLocks noGrp="1"/>
          </p:cNvSpPr>
          <p:nvPr>
            <p:ph type="sldNum" sz="quarter" idx="12"/>
          </p:nvPr>
        </p:nvSpPr>
        <p:spPr/>
        <p:txBody>
          <a:bodyPr/>
          <a:lstStyle/>
          <a:p>
            <a:fld id="{75249B9C-BF50-4540-B2D1-32A225E7564A}" type="slidenum">
              <a:rPr lang="en-IN"/>
              <a:t>‹#›</a:t>
            </a:fld>
            <a:endParaRPr lang="en-IN"/>
          </a:p>
        </p:txBody>
      </p:sp>
    </p:spTree>
    <p:extLst>
      <p:ext uri="{BB962C8B-B14F-4D97-AF65-F5344CB8AC3E}">
        <p14:creationId xmlns:p14="http://schemas.microsoft.com/office/powerpoint/2010/main" val="3559805208"/>
      </p:ext>
    </p:extLst>
  </p:cSld>
  <p:clrMapOvr>
    <a:masterClrMapping/>
  </p:clrMapOvr>
</p:sldLayout>
</file>

<file path=ppt/slideLayouts/restored_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E90A8-DEF0-CAF0-21F0-8DA2786EE90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D7C1FC8-0708-512D-2CA8-4E94945F6E8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EA0AE94-1A7F-8535-63EB-8091A1D29503}"/>
              </a:ext>
            </a:extLst>
          </p:cNvPr>
          <p:cNvSpPr>
            <a:spLocks noGrp="1"/>
          </p:cNvSpPr>
          <p:nvPr>
            <p:ph type="dt" sz="half" idx="10"/>
          </p:nvPr>
        </p:nvSpPr>
        <p:spPr/>
        <p:txBody>
          <a:bodyPr/>
          <a:lstStyle/>
          <a:p>
            <a:fld id="{E250B2B8-E89D-450D-848F-CCC0D3A80066}" type="datetime1">
              <a:rPr lang="en-IN"/>
              <a:t>19-10-2026</a:t>
            </a:fld>
            <a:endParaRPr lang="en-IN"/>
          </a:p>
        </p:txBody>
      </p:sp>
      <p:sp>
        <p:nvSpPr>
          <p:cNvPr id="5" name="Footer Placeholder 4">
            <a:extLst>
              <a:ext uri="{FF2B5EF4-FFF2-40B4-BE49-F238E27FC236}">
                <a16:creationId xmlns:a16="http://schemas.microsoft.com/office/drawing/2014/main" id="{832C18AA-665C-9174-40C7-2700EFF77BF1}"/>
              </a:ext>
            </a:extLst>
          </p:cNvPr>
          <p:cNvSpPr>
            <a:spLocks noGrp="1"/>
          </p:cNvSpPr>
          <p:nvPr>
            <p:ph type="ftr" sz="quarter" idx="11"/>
          </p:nvPr>
        </p:nvSpPr>
        <p:spPr/>
        <p:txBody>
          <a:bodyPr/>
          <a:lstStyle/>
          <a:p>
            <a:r>
              <a:rPr lang="en-US"/>
              <a:t>Dept. of ECE, NMIT, Bengaluru</a:t>
            </a:r>
            <a:endParaRPr lang="en-IN"/>
          </a:p>
        </p:txBody>
      </p:sp>
      <p:sp>
        <p:nvSpPr>
          <p:cNvPr id="6" name="Slide Number Placeholder 5">
            <a:extLst>
              <a:ext uri="{FF2B5EF4-FFF2-40B4-BE49-F238E27FC236}">
                <a16:creationId xmlns:a16="http://schemas.microsoft.com/office/drawing/2014/main" id="{CE2C036A-33A8-E88E-99D0-2903B7C5EA4E}"/>
              </a:ext>
            </a:extLst>
          </p:cNvPr>
          <p:cNvSpPr>
            <a:spLocks noGrp="1"/>
          </p:cNvSpPr>
          <p:nvPr>
            <p:ph type="sldNum" sz="quarter" idx="12"/>
          </p:nvPr>
        </p:nvSpPr>
        <p:spPr/>
        <p:txBody>
          <a:bodyPr/>
          <a:lstStyle/>
          <a:p>
            <a:fld id="{75249B9C-BF50-4540-B2D1-32A225E7564A}" type="slidenum">
              <a:rPr lang="en-IN"/>
              <a:t>‹#›</a:t>
            </a:fld>
            <a:endParaRPr lang="en-IN"/>
          </a:p>
        </p:txBody>
      </p:sp>
    </p:spTree>
    <p:extLst>
      <p:ext uri="{BB962C8B-B14F-4D97-AF65-F5344CB8AC3E}">
        <p14:creationId xmlns:p14="http://schemas.microsoft.com/office/powerpoint/2010/main" val="3251790930"/>
      </p:ext>
    </p:extLst>
  </p:cSld>
  <p:clrMapOvr>
    <a:masterClrMapping/>
  </p:clrMapOvr>
</p:sldLayout>
</file>

<file path=ppt/slideLayouts/restored_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38FBD5-1561-3932-E297-A14174187F0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C63A73B-59E7-B791-E521-B97995C4F94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5F228BA-5DBB-745C-5F7F-6B4CA6E1B336}"/>
              </a:ext>
            </a:extLst>
          </p:cNvPr>
          <p:cNvSpPr>
            <a:spLocks noGrp="1"/>
          </p:cNvSpPr>
          <p:nvPr>
            <p:ph type="dt" sz="half" idx="10"/>
          </p:nvPr>
        </p:nvSpPr>
        <p:spPr/>
        <p:txBody>
          <a:bodyPr/>
          <a:lstStyle/>
          <a:p>
            <a:fld id="{6E451025-BBAB-4BD1-9DF2-DE64D763EA4D}" type="datetime1">
              <a:rPr lang="en-IN"/>
              <a:t>19-10-2026</a:t>
            </a:fld>
            <a:endParaRPr lang="en-IN"/>
          </a:p>
        </p:txBody>
      </p:sp>
      <p:sp>
        <p:nvSpPr>
          <p:cNvPr id="5" name="Footer Placeholder 4">
            <a:extLst>
              <a:ext uri="{FF2B5EF4-FFF2-40B4-BE49-F238E27FC236}">
                <a16:creationId xmlns:a16="http://schemas.microsoft.com/office/drawing/2014/main" id="{80566780-0A65-9A5C-D8B4-219B02057C89}"/>
              </a:ext>
            </a:extLst>
          </p:cNvPr>
          <p:cNvSpPr>
            <a:spLocks noGrp="1"/>
          </p:cNvSpPr>
          <p:nvPr>
            <p:ph type="ftr" sz="quarter" idx="11"/>
          </p:nvPr>
        </p:nvSpPr>
        <p:spPr/>
        <p:txBody>
          <a:bodyPr/>
          <a:lstStyle/>
          <a:p>
            <a:r>
              <a:rPr lang="en-US"/>
              <a:t>Dept. of ECE, NMIT, Bengaluru</a:t>
            </a:r>
            <a:endParaRPr lang="en-IN"/>
          </a:p>
        </p:txBody>
      </p:sp>
      <p:sp>
        <p:nvSpPr>
          <p:cNvPr id="6" name="Slide Number Placeholder 5">
            <a:extLst>
              <a:ext uri="{FF2B5EF4-FFF2-40B4-BE49-F238E27FC236}">
                <a16:creationId xmlns:a16="http://schemas.microsoft.com/office/drawing/2014/main" id="{C3372F2B-5703-1917-0A03-01068F1345A8}"/>
              </a:ext>
            </a:extLst>
          </p:cNvPr>
          <p:cNvSpPr>
            <a:spLocks noGrp="1"/>
          </p:cNvSpPr>
          <p:nvPr>
            <p:ph type="sldNum" sz="quarter" idx="12"/>
          </p:nvPr>
        </p:nvSpPr>
        <p:spPr/>
        <p:txBody>
          <a:bodyPr/>
          <a:lstStyle/>
          <a:p>
            <a:fld id="{75249B9C-BF50-4540-B2D1-32A225E7564A}" type="slidenum">
              <a:rPr lang="en-IN"/>
              <a:t>‹#›</a:t>
            </a:fld>
            <a:endParaRPr lang="en-IN"/>
          </a:p>
        </p:txBody>
      </p:sp>
    </p:spTree>
    <p:extLst>
      <p:ext uri="{BB962C8B-B14F-4D97-AF65-F5344CB8AC3E}">
        <p14:creationId xmlns:p14="http://schemas.microsoft.com/office/powerpoint/2010/main" val="3949398012"/>
      </p:ext>
    </p:extLst>
  </p:cSld>
  <p:clrMapOvr>
    <a:masterClrMapping/>
  </p:clrMapOvr>
</p:sldLayout>
</file>

<file path=ppt/slideLayouts/restored_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8012EB-C7E9-76BE-0540-9539DA88967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BCFC33C-641D-27E9-8511-1DA0B2D9E4E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26661FD-66D9-9C58-FC7C-869A43023EC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5E4514F-A4CC-1761-9CEA-1FC19B4F7B7F}"/>
              </a:ext>
            </a:extLst>
          </p:cNvPr>
          <p:cNvSpPr>
            <a:spLocks noGrp="1"/>
          </p:cNvSpPr>
          <p:nvPr>
            <p:ph type="dt" sz="half" idx="10"/>
          </p:nvPr>
        </p:nvSpPr>
        <p:spPr/>
        <p:txBody>
          <a:bodyPr/>
          <a:lstStyle/>
          <a:p>
            <a:fld id="{3C7DA566-B459-4C7A-85E5-C2A7C24A1420}" type="datetime1">
              <a:rPr lang="en-IN"/>
              <a:t>19-10-2026</a:t>
            </a:fld>
            <a:endParaRPr lang="en-IN"/>
          </a:p>
        </p:txBody>
      </p:sp>
      <p:sp>
        <p:nvSpPr>
          <p:cNvPr id="6" name="Footer Placeholder 5">
            <a:extLst>
              <a:ext uri="{FF2B5EF4-FFF2-40B4-BE49-F238E27FC236}">
                <a16:creationId xmlns:a16="http://schemas.microsoft.com/office/drawing/2014/main" id="{B1F1B018-A66A-E116-D076-220E61B8E72C}"/>
              </a:ext>
            </a:extLst>
          </p:cNvPr>
          <p:cNvSpPr>
            <a:spLocks noGrp="1"/>
          </p:cNvSpPr>
          <p:nvPr>
            <p:ph type="ftr" sz="quarter" idx="11"/>
          </p:nvPr>
        </p:nvSpPr>
        <p:spPr/>
        <p:txBody>
          <a:bodyPr/>
          <a:lstStyle/>
          <a:p>
            <a:r>
              <a:rPr lang="en-US"/>
              <a:t>Dept. of ECE, NMIT, Bengaluru</a:t>
            </a:r>
            <a:endParaRPr lang="en-IN"/>
          </a:p>
        </p:txBody>
      </p:sp>
      <p:sp>
        <p:nvSpPr>
          <p:cNvPr id="7" name="Slide Number Placeholder 6">
            <a:extLst>
              <a:ext uri="{FF2B5EF4-FFF2-40B4-BE49-F238E27FC236}">
                <a16:creationId xmlns:a16="http://schemas.microsoft.com/office/drawing/2014/main" id="{CB2419CD-4D96-32BF-7F1C-E1BF7EE6154D}"/>
              </a:ext>
            </a:extLst>
          </p:cNvPr>
          <p:cNvSpPr>
            <a:spLocks noGrp="1"/>
          </p:cNvSpPr>
          <p:nvPr>
            <p:ph type="sldNum" sz="quarter" idx="12"/>
          </p:nvPr>
        </p:nvSpPr>
        <p:spPr/>
        <p:txBody>
          <a:bodyPr/>
          <a:lstStyle/>
          <a:p>
            <a:fld id="{75249B9C-BF50-4540-B2D1-32A225E7564A}" type="slidenum">
              <a:rPr lang="en-IN"/>
              <a:t>‹#›</a:t>
            </a:fld>
            <a:endParaRPr lang="en-IN"/>
          </a:p>
        </p:txBody>
      </p:sp>
    </p:spTree>
    <p:extLst>
      <p:ext uri="{BB962C8B-B14F-4D97-AF65-F5344CB8AC3E}">
        <p14:creationId xmlns:p14="http://schemas.microsoft.com/office/powerpoint/2010/main" val="223559452"/>
      </p:ext>
    </p:extLst>
  </p:cSld>
  <p:clrMapOvr>
    <a:masterClrMapping/>
  </p:clrMapOvr>
</p:sldLayout>
</file>

<file path=ppt/slideLayouts/restored_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314BB9-4AB7-8C6A-8BFF-A3621A872B3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E21CF5D-7A32-863B-E9E6-6BA58C5B3B6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ADB264E-C915-888B-18DA-22E34FCD2A3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F5859C3-3260-535B-BAB4-EA190AE0E0D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E67C906-088A-950B-EF70-FA0DAFD933C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A5F40AF-125E-31C4-B571-B32EF373BB06}"/>
              </a:ext>
            </a:extLst>
          </p:cNvPr>
          <p:cNvSpPr>
            <a:spLocks noGrp="1"/>
          </p:cNvSpPr>
          <p:nvPr>
            <p:ph type="dt" sz="half" idx="10"/>
          </p:nvPr>
        </p:nvSpPr>
        <p:spPr/>
        <p:txBody>
          <a:bodyPr/>
          <a:lstStyle/>
          <a:p>
            <a:fld id="{15763DEA-064E-425A-A301-4B3BA0502A3F}" type="datetime1">
              <a:rPr lang="en-IN"/>
              <a:t>19-10-2026</a:t>
            </a:fld>
            <a:endParaRPr lang="en-IN"/>
          </a:p>
        </p:txBody>
      </p:sp>
      <p:sp>
        <p:nvSpPr>
          <p:cNvPr id="8" name="Footer Placeholder 7">
            <a:extLst>
              <a:ext uri="{FF2B5EF4-FFF2-40B4-BE49-F238E27FC236}">
                <a16:creationId xmlns:a16="http://schemas.microsoft.com/office/drawing/2014/main" id="{7F1D0E3D-EC0A-214F-AE51-D3A6DA70B7F5}"/>
              </a:ext>
            </a:extLst>
          </p:cNvPr>
          <p:cNvSpPr>
            <a:spLocks noGrp="1"/>
          </p:cNvSpPr>
          <p:nvPr>
            <p:ph type="ftr" sz="quarter" idx="11"/>
          </p:nvPr>
        </p:nvSpPr>
        <p:spPr/>
        <p:txBody>
          <a:bodyPr/>
          <a:lstStyle/>
          <a:p>
            <a:r>
              <a:rPr lang="en-US"/>
              <a:t>Dept. of ECE, NMIT, Bengaluru</a:t>
            </a:r>
            <a:endParaRPr lang="en-IN"/>
          </a:p>
        </p:txBody>
      </p:sp>
      <p:sp>
        <p:nvSpPr>
          <p:cNvPr id="9" name="Slide Number Placeholder 8">
            <a:extLst>
              <a:ext uri="{FF2B5EF4-FFF2-40B4-BE49-F238E27FC236}">
                <a16:creationId xmlns:a16="http://schemas.microsoft.com/office/drawing/2014/main" id="{C11E67A1-465D-9A8A-60C8-9F260A5F3124}"/>
              </a:ext>
            </a:extLst>
          </p:cNvPr>
          <p:cNvSpPr>
            <a:spLocks noGrp="1"/>
          </p:cNvSpPr>
          <p:nvPr>
            <p:ph type="sldNum" sz="quarter" idx="12"/>
          </p:nvPr>
        </p:nvSpPr>
        <p:spPr/>
        <p:txBody>
          <a:bodyPr/>
          <a:lstStyle/>
          <a:p>
            <a:fld id="{75249B9C-BF50-4540-B2D1-32A225E7564A}" type="slidenum">
              <a:rPr lang="en-IN"/>
              <a:t>‹#›</a:t>
            </a:fld>
            <a:endParaRPr lang="en-IN"/>
          </a:p>
        </p:txBody>
      </p:sp>
    </p:spTree>
    <p:extLst>
      <p:ext uri="{BB962C8B-B14F-4D97-AF65-F5344CB8AC3E}">
        <p14:creationId xmlns:p14="http://schemas.microsoft.com/office/powerpoint/2010/main" val="1815892943"/>
      </p:ext>
    </p:extLst>
  </p:cSld>
  <p:clrMapOvr>
    <a:masterClrMapping/>
  </p:clrMapOvr>
</p:sldLayout>
</file>

<file path=ppt/slideLayouts/restored_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29077-248C-58C0-5973-D9AC97BC11C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CDA6BA2-43B1-8708-AB4E-AA8A134DE086}"/>
              </a:ext>
            </a:extLst>
          </p:cNvPr>
          <p:cNvSpPr>
            <a:spLocks noGrp="1"/>
          </p:cNvSpPr>
          <p:nvPr>
            <p:ph type="dt" sz="half" idx="10"/>
          </p:nvPr>
        </p:nvSpPr>
        <p:spPr/>
        <p:txBody>
          <a:bodyPr/>
          <a:lstStyle/>
          <a:p>
            <a:fld id="{438D0107-E616-461D-9207-52B0BDAA9751}" type="datetime1">
              <a:rPr lang="en-IN"/>
              <a:t>19-10-2026</a:t>
            </a:fld>
            <a:endParaRPr lang="en-IN"/>
          </a:p>
        </p:txBody>
      </p:sp>
      <p:sp>
        <p:nvSpPr>
          <p:cNvPr id="4" name="Footer Placeholder 3">
            <a:extLst>
              <a:ext uri="{FF2B5EF4-FFF2-40B4-BE49-F238E27FC236}">
                <a16:creationId xmlns:a16="http://schemas.microsoft.com/office/drawing/2014/main" id="{69113DAA-528F-ACAE-BCFF-72E4C3714E9F}"/>
              </a:ext>
            </a:extLst>
          </p:cNvPr>
          <p:cNvSpPr>
            <a:spLocks noGrp="1"/>
          </p:cNvSpPr>
          <p:nvPr>
            <p:ph type="ftr" sz="quarter" idx="11"/>
          </p:nvPr>
        </p:nvSpPr>
        <p:spPr/>
        <p:txBody>
          <a:bodyPr/>
          <a:lstStyle/>
          <a:p>
            <a:r>
              <a:rPr lang="en-US"/>
              <a:t>Dept. of ECE, NMIT, Bengaluru</a:t>
            </a:r>
            <a:endParaRPr lang="en-IN"/>
          </a:p>
        </p:txBody>
      </p:sp>
      <p:sp>
        <p:nvSpPr>
          <p:cNvPr id="5" name="Slide Number Placeholder 4">
            <a:extLst>
              <a:ext uri="{FF2B5EF4-FFF2-40B4-BE49-F238E27FC236}">
                <a16:creationId xmlns:a16="http://schemas.microsoft.com/office/drawing/2014/main" id="{96EE596D-B02B-5ECD-DEA8-8B5F226A5680}"/>
              </a:ext>
            </a:extLst>
          </p:cNvPr>
          <p:cNvSpPr>
            <a:spLocks noGrp="1"/>
          </p:cNvSpPr>
          <p:nvPr>
            <p:ph type="sldNum" sz="quarter" idx="12"/>
          </p:nvPr>
        </p:nvSpPr>
        <p:spPr/>
        <p:txBody>
          <a:bodyPr/>
          <a:lstStyle/>
          <a:p>
            <a:fld id="{75249B9C-BF50-4540-B2D1-32A225E7564A}" type="slidenum">
              <a:rPr lang="en-IN"/>
              <a:t>‹#›</a:t>
            </a:fld>
            <a:endParaRPr lang="en-IN"/>
          </a:p>
        </p:txBody>
      </p:sp>
    </p:spTree>
    <p:extLst>
      <p:ext uri="{BB962C8B-B14F-4D97-AF65-F5344CB8AC3E}">
        <p14:creationId xmlns:p14="http://schemas.microsoft.com/office/powerpoint/2010/main" val="562719169"/>
      </p:ext>
    </p:extLst>
  </p:cSld>
  <p:clrMapOvr>
    <a:masterClrMapping/>
  </p:clrMapOvr>
</p:sldLayout>
</file>

<file path=ppt/slideLayouts/restored_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A7191E-B112-54E5-E29A-F71A7DF454CB}"/>
              </a:ext>
            </a:extLst>
          </p:cNvPr>
          <p:cNvSpPr>
            <a:spLocks noGrp="1"/>
          </p:cNvSpPr>
          <p:nvPr>
            <p:ph type="dt" sz="half" idx="10"/>
          </p:nvPr>
        </p:nvSpPr>
        <p:spPr/>
        <p:txBody>
          <a:bodyPr/>
          <a:lstStyle/>
          <a:p>
            <a:fld id="{050B6DF2-7F2A-4D21-830E-C34D54E5DB26}" type="datetime1">
              <a:rPr lang="en-IN"/>
              <a:t>19-10-2026</a:t>
            </a:fld>
            <a:endParaRPr lang="en-IN"/>
          </a:p>
        </p:txBody>
      </p:sp>
      <p:sp>
        <p:nvSpPr>
          <p:cNvPr id="3" name="Footer Placeholder 2">
            <a:extLst>
              <a:ext uri="{FF2B5EF4-FFF2-40B4-BE49-F238E27FC236}">
                <a16:creationId xmlns:a16="http://schemas.microsoft.com/office/drawing/2014/main" id="{D33BDEFE-732E-C016-6AB1-9E18E867B587}"/>
              </a:ext>
            </a:extLst>
          </p:cNvPr>
          <p:cNvSpPr>
            <a:spLocks noGrp="1"/>
          </p:cNvSpPr>
          <p:nvPr>
            <p:ph type="ftr" sz="quarter" idx="11"/>
          </p:nvPr>
        </p:nvSpPr>
        <p:spPr/>
        <p:txBody>
          <a:bodyPr/>
          <a:lstStyle/>
          <a:p>
            <a:r>
              <a:rPr lang="en-US"/>
              <a:t>Dept. of ECE, NMIT, Bengaluru</a:t>
            </a:r>
            <a:endParaRPr lang="en-IN"/>
          </a:p>
        </p:txBody>
      </p:sp>
      <p:sp>
        <p:nvSpPr>
          <p:cNvPr id="4" name="Slide Number Placeholder 3">
            <a:extLst>
              <a:ext uri="{FF2B5EF4-FFF2-40B4-BE49-F238E27FC236}">
                <a16:creationId xmlns:a16="http://schemas.microsoft.com/office/drawing/2014/main" id="{417B749E-E48B-CAF5-E430-6FE27ED57E7F}"/>
              </a:ext>
            </a:extLst>
          </p:cNvPr>
          <p:cNvSpPr>
            <a:spLocks noGrp="1"/>
          </p:cNvSpPr>
          <p:nvPr>
            <p:ph type="sldNum" sz="quarter" idx="12"/>
          </p:nvPr>
        </p:nvSpPr>
        <p:spPr/>
        <p:txBody>
          <a:bodyPr/>
          <a:lstStyle/>
          <a:p>
            <a:fld id="{75249B9C-BF50-4540-B2D1-32A225E7564A}" type="slidenum">
              <a:rPr lang="en-IN"/>
              <a:t>‹#›</a:t>
            </a:fld>
            <a:endParaRPr lang="en-IN"/>
          </a:p>
        </p:txBody>
      </p:sp>
    </p:spTree>
    <p:extLst>
      <p:ext uri="{BB962C8B-B14F-4D97-AF65-F5344CB8AC3E}">
        <p14:creationId xmlns:p14="http://schemas.microsoft.com/office/powerpoint/2010/main" val="2932482873"/>
      </p:ext>
    </p:extLst>
  </p:cSld>
  <p:clrMapOvr>
    <a:masterClrMapping/>
  </p:clrMapOvr>
</p:sldLayout>
</file>

<file path=ppt/slideLayouts/restored_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84B7CA-0679-E8C0-23AD-92B1DFE0E6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9A98F6F-E9AC-DC82-132D-29B0BBC4F47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60FA807-3DD8-13E7-498A-153246EE0A0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7B0A236-2402-8ACA-6847-F03201A03C88}"/>
              </a:ext>
            </a:extLst>
          </p:cNvPr>
          <p:cNvSpPr>
            <a:spLocks noGrp="1"/>
          </p:cNvSpPr>
          <p:nvPr>
            <p:ph type="dt" sz="half" idx="10"/>
          </p:nvPr>
        </p:nvSpPr>
        <p:spPr/>
        <p:txBody>
          <a:bodyPr/>
          <a:lstStyle/>
          <a:p>
            <a:fld id="{7E140C3B-5552-4017-A7F7-1D3DC73ABB6C}" type="datetime1">
              <a:rPr lang="en-IN"/>
              <a:t>19-10-2026</a:t>
            </a:fld>
            <a:endParaRPr lang="en-IN"/>
          </a:p>
        </p:txBody>
      </p:sp>
      <p:sp>
        <p:nvSpPr>
          <p:cNvPr id="6" name="Footer Placeholder 5">
            <a:extLst>
              <a:ext uri="{FF2B5EF4-FFF2-40B4-BE49-F238E27FC236}">
                <a16:creationId xmlns:a16="http://schemas.microsoft.com/office/drawing/2014/main" id="{9FA06F1D-F4E2-655D-0ECB-0762E4A519FB}"/>
              </a:ext>
            </a:extLst>
          </p:cNvPr>
          <p:cNvSpPr>
            <a:spLocks noGrp="1"/>
          </p:cNvSpPr>
          <p:nvPr>
            <p:ph type="ftr" sz="quarter" idx="11"/>
          </p:nvPr>
        </p:nvSpPr>
        <p:spPr/>
        <p:txBody>
          <a:bodyPr/>
          <a:lstStyle/>
          <a:p>
            <a:r>
              <a:rPr lang="en-US"/>
              <a:t>Dept. of ECE, NMIT, Bengaluru</a:t>
            </a:r>
            <a:endParaRPr lang="en-IN"/>
          </a:p>
        </p:txBody>
      </p:sp>
      <p:sp>
        <p:nvSpPr>
          <p:cNvPr id="7" name="Slide Number Placeholder 6">
            <a:extLst>
              <a:ext uri="{FF2B5EF4-FFF2-40B4-BE49-F238E27FC236}">
                <a16:creationId xmlns:a16="http://schemas.microsoft.com/office/drawing/2014/main" id="{9D059C62-9D81-A148-F3A8-E735B1A707C3}"/>
              </a:ext>
            </a:extLst>
          </p:cNvPr>
          <p:cNvSpPr>
            <a:spLocks noGrp="1"/>
          </p:cNvSpPr>
          <p:nvPr>
            <p:ph type="sldNum" sz="quarter" idx="12"/>
          </p:nvPr>
        </p:nvSpPr>
        <p:spPr/>
        <p:txBody>
          <a:bodyPr/>
          <a:lstStyle/>
          <a:p>
            <a:fld id="{75249B9C-BF50-4540-B2D1-32A225E7564A}" type="slidenum">
              <a:rPr lang="en-IN"/>
              <a:t>‹#›</a:t>
            </a:fld>
            <a:endParaRPr lang="en-IN"/>
          </a:p>
        </p:txBody>
      </p:sp>
    </p:spTree>
    <p:extLst>
      <p:ext uri="{BB962C8B-B14F-4D97-AF65-F5344CB8AC3E}">
        <p14:creationId xmlns:p14="http://schemas.microsoft.com/office/powerpoint/2010/main" val="4199354962"/>
      </p:ext>
    </p:extLst>
  </p:cSld>
  <p:clrMapOvr>
    <a:masterClrMapping/>
  </p:clrMapOvr>
</p:sldLayout>
</file>

<file path=ppt/slideLayouts/restored_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0A4FF6-EEF0-8B97-696A-746280ACA59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2097AEC-9604-18F5-B68A-9DDAC80CB6F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BF86077-F677-6962-4FED-10D159B67E3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3114E18-CA26-8F9E-AC5A-76906484DCB9}"/>
              </a:ext>
            </a:extLst>
          </p:cNvPr>
          <p:cNvSpPr>
            <a:spLocks noGrp="1"/>
          </p:cNvSpPr>
          <p:nvPr>
            <p:ph type="dt" sz="half" idx="10"/>
          </p:nvPr>
        </p:nvSpPr>
        <p:spPr/>
        <p:txBody>
          <a:bodyPr/>
          <a:lstStyle/>
          <a:p>
            <a:fld id="{08762C1D-5720-48A1-898D-8041400C55BC}" type="datetime1">
              <a:rPr lang="en-IN"/>
              <a:t>19-10-2026</a:t>
            </a:fld>
            <a:endParaRPr lang="en-IN"/>
          </a:p>
        </p:txBody>
      </p:sp>
      <p:sp>
        <p:nvSpPr>
          <p:cNvPr id="6" name="Footer Placeholder 5">
            <a:extLst>
              <a:ext uri="{FF2B5EF4-FFF2-40B4-BE49-F238E27FC236}">
                <a16:creationId xmlns:a16="http://schemas.microsoft.com/office/drawing/2014/main" id="{7AA36461-552C-E633-1CF0-DB8BC7B43996}"/>
              </a:ext>
            </a:extLst>
          </p:cNvPr>
          <p:cNvSpPr>
            <a:spLocks noGrp="1"/>
          </p:cNvSpPr>
          <p:nvPr>
            <p:ph type="ftr" sz="quarter" idx="11"/>
          </p:nvPr>
        </p:nvSpPr>
        <p:spPr/>
        <p:txBody>
          <a:bodyPr/>
          <a:lstStyle/>
          <a:p>
            <a:r>
              <a:rPr lang="en-US"/>
              <a:t>Dept. of ECE, NMIT, Bengaluru</a:t>
            </a:r>
            <a:endParaRPr lang="en-IN"/>
          </a:p>
        </p:txBody>
      </p:sp>
      <p:sp>
        <p:nvSpPr>
          <p:cNvPr id="7" name="Slide Number Placeholder 6">
            <a:extLst>
              <a:ext uri="{FF2B5EF4-FFF2-40B4-BE49-F238E27FC236}">
                <a16:creationId xmlns:a16="http://schemas.microsoft.com/office/drawing/2014/main" id="{4365D169-0627-C229-C26B-84AA64B38361}"/>
              </a:ext>
            </a:extLst>
          </p:cNvPr>
          <p:cNvSpPr>
            <a:spLocks noGrp="1"/>
          </p:cNvSpPr>
          <p:nvPr>
            <p:ph type="sldNum" sz="quarter" idx="12"/>
          </p:nvPr>
        </p:nvSpPr>
        <p:spPr/>
        <p:txBody>
          <a:bodyPr/>
          <a:lstStyle/>
          <a:p>
            <a:fld id="{75249B9C-BF50-4540-B2D1-32A225E7564A}" type="slidenum">
              <a:rPr lang="en-IN"/>
              <a:t>‹#›</a:t>
            </a:fld>
            <a:endParaRPr lang="en-IN"/>
          </a:p>
        </p:txBody>
      </p:sp>
    </p:spTree>
    <p:extLst>
      <p:ext uri="{BB962C8B-B14F-4D97-AF65-F5344CB8AC3E}">
        <p14:creationId xmlns:p14="http://schemas.microsoft.com/office/powerpoint/2010/main" val="1705029080"/>
      </p:ext>
    </p:extLst>
  </p:cSld>
  <p:clrMapOvr>
    <a:masterClrMapping/>
  </p:clrMapOvr>
</p:sldLayout>
</file>

<file path=ppt/slideLayouts/restored_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A5CB26-31EA-5AE3-3E63-6F2EFEC5C15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6815B1A-9C33-E8AE-6618-E625DB8E7DA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088B927-04A1-6ACB-7D83-CF9A45497181}"/>
              </a:ext>
            </a:extLst>
          </p:cNvPr>
          <p:cNvSpPr>
            <a:spLocks noGrp="1"/>
          </p:cNvSpPr>
          <p:nvPr>
            <p:ph type="dt" sz="half" idx="10"/>
          </p:nvPr>
        </p:nvSpPr>
        <p:spPr/>
        <p:txBody>
          <a:bodyPr/>
          <a:lstStyle/>
          <a:p>
            <a:fld id="{D1C140E7-F52A-4119-97FF-78F9513B4388}" type="datetime1">
              <a:rPr lang="en-IN"/>
              <a:t>19-10-2026</a:t>
            </a:fld>
            <a:endParaRPr lang="en-IN"/>
          </a:p>
        </p:txBody>
      </p:sp>
      <p:sp>
        <p:nvSpPr>
          <p:cNvPr id="5" name="Footer Placeholder 4">
            <a:extLst>
              <a:ext uri="{FF2B5EF4-FFF2-40B4-BE49-F238E27FC236}">
                <a16:creationId xmlns:a16="http://schemas.microsoft.com/office/drawing/2014/main" id="{E7E9898D-9F32-B8B8-1CB9-8DAEBCCF6BC0}"/>
              </a:ext>
            </a:extLst>
          </p:cNvPr>
          <p:cNvSpPr>
            <a:spLocks noGrp="1"/>
          </p:cNvSpPr>
          <p:nvPr>
            <p:ph type="ftr" sz="quarter" idx="11"/>
          </p:nvPr>
        </p:nvSpPr>
        <p:spPr/>
        <p:txBody>
          <a:bodyPr/>
          <a:lstStyle/>
          <a:p>
            <a:r>
              <a:rPr lang="en-US"/>
              <a:t>Dept. of ECE, NMIT, Bengaluru</a:t>
            </a:r>
            <a:endParaRPr lang="en-IN"/>
          </a:p>
        </p:txBody>
      </p:sp>
      <p:sp>
        <p:nvSpPr>
          <p:cNvPr id="6" name="Slide Number Placeholder 5">
            <a:extLst>
              <a:ext uri="{FF2B5EF4-FFF2-40B4-BE49-F238E27FC236}">
                <a16:creationId xmlns:a16="http://schemas.microsoft.com/office/drawing/2014/main" id="{C3F0E129-A7D7-908A-2DB9-C14597E8F088}"/>
              </a:ext>
            </a:extLst>
          </p:cNvPr>
          <p:cNvSpPr>
            <a:spLocks noGrp="1"/>
          </p:cNvSpPr>
          <p:nvPr>
            <p:ph type="sldNum" sz="quarter" idx="12"/>
          </p:nvPr>
        </p:nvSpPr>
        <p:spPr/>
        <p:txBody>
          <a:bodyPr/>
          <a:lstStyle/>
          <a:p>
            <a:fld id="{75249B9C-BF50-4540-B2D1-32A225E7564A}" type="slidenum">
              <a:rPr lang="en-IN"/>
              <a:t>‹#›</a:t>
            </a:fld>
            <a:endParaRPr lang="en-IN"/>
          </a:p>
        </p:txBody>
      </p:sp>
    </p:spTree>
    <p:extLst>
      <p:ext uri="{BB962C8B-B14F-4D97-AF65-F5344CB8AC3E}">
        <p14:creationId xmlns:p14="http://schemas.microsoft.com/office/powerpoint/2010/main" val="3157537378"/>
      </p:ext>
    </p:extLst>
  </p:cSld>
  <p:clrMapOvr>
    <a:masterClrMapping/>
  </p:clrMapOvr>
</p:sldLayout>
</file>

<file path=ppt/slideLayouts/restored_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42730AC-48F0-F0FE-FE21-835054F7282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F894533-AC0F-B196-504E-399428B5863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42A9436-E8A2-F71D-A637-B20EA1490A07}"/>
              </a:ext>
            </a:extLst>
          </p:cNvPr>
          <p:cNvSpPr>
            <a:spLocks noGrp="1"/>
          </p:cNvSpPr>
          <p:nvPr>
            <p:ph type="dt" sz="half" idx="10"/>
          </p:nvPr>
        </p:nvSpPr>
        <p:spPr/>
        <p:txBody>
          <a:bodyPr/>
          <a:lstStyle/>
          <a:p>
            <a:fld id="{34E1CFB4-31DA-40A2-AE2B-F9FC033D0834}" type="datetime1">
              <a:rPr lang="en-IN"/>
              <a:t>19-10-2026</a:t>
            </a:fld>
            <a:endParaRPr lang="en-IN"/>
          </a:p>
        </p:txBody>
      </p:sp>
      <p:sp>
        <p:nvSpPr>
          <p:cNvPr id="5" name="Footer Placeholder 4">
            <a:extLst>
              <a:ext uri="{FF2B5EF4-FFF2-40B4-BE49-F238E27FC236}">
                <a16:creationId xmlns:a16="http://schemas.microsoft.com/office/drawing/2014/main" id="{3A1BF561-DBF4-21B8-CB10-BC790D209410}"/>
              </a:ext>
            </a:extLst>
          </p:cNvPr>
          <p:cNvSpPr>
            <a:spLocks noGrp="1"/>
          </p:cNvSpPr>
          <p:nvPr>
            <p:ph type="ftr" sz="quarter" idx="11"/>
          </p:nvPr>
        </p:nvSpPr>
        <p:spPr/>
        <p:txBody>
          <a:bodyPr/>
          <a:lstStyle/>
          <a:p>
            <a:r>
              <a:rPr lang="en-US"/>
              <a:t>Dept. of ECE, NMIT, Bengaluru</a:t>
            </a:r>
            <a:endParaRPr lang="en-IN"/>
          </a:p>
        </p:txBody>
      </p:sp>
      <p:sp>
        <p:nvSpPr>
          <p:cNvPr id="6" name="Slide Number Placeholder 5">
            <a:extLst>
              <a:ext uri="{FF2B5EF4-FFF2-40B4-BE49-F238E27FC236}">
                <a16:creationId xmlns:a16="http://schemas.microsoft.com/office/drawing/2014/main" id="{F2FADF1E-7BDA-43E8-BEF6-6F3FA39F5E6B}"/>
              </a:ext>
            </a:extLst>
          </p:cNvPr>
          <p:cNvSpPr>
            <a:spLocks noGrp="1"/>
          </p:cNvSpPr>
          <p:nvPr>
            <p:ph type="sldNum" sz="quarter" idx="12"/>
          </p:nvPr>
        </p:nvSpPr>
        <p:spPr/>
        <p:txBody>
          <a:bodyPr/>
          <a:lstStyle/>
          <a:p>
            <a:fld id="{75249B9C-BF50-4540-B2D1-32A225E7564A}" type="slidenum">
              <a:rPr lang="en-IN"/>
              <a:t>‹#›</a:t>
            </a:fld>
            <a:endParaRPr lang="en-IN"/>
          </a:p>
        </p:txBody>
      </p:sp>
    </p:spTree>
    <p:extLst>
      <p:ext uri="{BB962C8B-B14F-4D97-AF65-F5344CB8AC3E}">
        <p14:creationId xmlns:p14="http://schemas.microsoft.com/office/powerpoint/2010/main" val="3034207177"/>
      </p:ext>
    </p:extLst>
  </p:cSld>
  <p:clrMapOvr>
    <a:masterClrMapping/>
  </p:clrMapOvr>
</p:sldLayout>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494D745-0B20-BBAA-074F-EF62988991C7}"/>
              </a:ext>
            </a:extLst>
          </p:cNvPr>
          <p:cNvSpPr>
            <a:spLocks xmlns:a="http://schemas.openxmlformats.org/drawingml/2006/main" noGrp="1"/>
          </p:cNvSpPr>
          <p:nvPr>
            <p:ph type="ctrTitle" idx="0"/>
          </p:nvPr>
        </p:nvSpPr>
        <p:spPr>
          <a:xfrm xmlns:a="http://schemas.openxmlformats.org/drawingml/2006/main">
            <a:off x="1524000" y="1122363"/>
            <a:ext cx="9144000" cy="2387600"/>
          </a:xfrm>
        </p:spPr>
        <p:txBody>
          <a:bodyPr xmlns:a="http://schemas.openxmlformats.org/drawingml/2006/main" anchor="b"/>
          <a:lstStyle xmlns:a="http://schemas.openxmlformats.org/drawingml/2006/main">
            <a:lvl1pPr algn="ctr">
              <a:buNone/>
              <a:defRPr sz="6000"/>
            </a:lvl1pPr>
          </a:lstStyle>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B2EFF7C1-57C4-8D79-46D3-BDDCA99C45F2}"/>
              </a:ext>
            </a:extLst>
          </p:cNvPr>
          <p:cNvSpPr>
            <a:spLocks xmlns:a="http://schemas.openxmlformats.org/drawingml/2006/main" noGrp="1"/>
          </p:cNvSpPr>
          <p:nvPr>
            <p:ph type="subTitle" idx="1"/>
          </p:nvPr>
        </p:nvSpPr>
        <p:spPr>
          <a:xfrm xmlns:a="http://schemas.openxmlformats.org/drawingml/2006/main">
            <a:off x="1524000" y="3602038"/>
            <a:ext cx="9144000" cy="1655762"/>
          </a:xfrm>
        </p:spPr>
        <p:txBody>
          <a:bodyPr xmlns:a="http://schemas.openxmlformats.org/drawingml/2006/main"/>
          <a:lstStyle xmlns:a="http://schemas.openxmlformats.org/drawingml/2006/main">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33CCF0EC-6478-6AA0-39C5-5817AD45084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CC65D64-61A9-40CD-B94D-857C621C06A3}" type="datetime1">
              <a:t>19-10-2026</a:t>
            </a:fld>
            <a:endParaRPr/>
          </a:p>
        </p:txBody>
      </p:sp>
      <p:sp>
        <p:nvSpPr>
          <p:cNvPr id="5" name="Footer Placeholder 4">
            <a:extLst xmlns:a="http://schemas.openxmlformats.org/drawingml/2006/main">
              <a:ext uri="{FF2B5EF4-FFF2-40B4-BE49-F238E27FC236}">
                <a16:creationId xmlns:a16="http://schemas.microsoft.com/office/drawing/2014/main" id="{698BCB53-894F-5921-306C-CB1B74E5C14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Dept. of ECE, NMIT, Bengaluru</a:t>
            </a:r>
            <a:endParaRPr/>
          </a:p>
        </p:txBody>
      </p:sp>
      <p:sp>
        <p:nvSpPr>
          <p:cNvPr id="6" name="Slide Number Placeholder 5">
            <a:extLst xmlns:a="http://schemas.openxmlformats.org/drawingml/2006/main">
              <a:ext uri="{FF2B5EF4-FFF2-40B4-BE49-F238E27FC236}">
                <a16:creationId xmlns:a16="http://schemas.microsoft.com/office/drawing/2014/main" id="{70334AD7-6A1F-1788-A433-EC6F920012B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5249B9C-BF50-4540-B2D1-32A225E7564A}"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54E90A8-DEF0-CAF0-21F0-8DA2786EE90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BD7C1FC8-0708-512D-2CA8-4E94945F6E87}"/>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1EA0AE94-1A7F-8535-63EB-8091A1D2950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E250B2B8-E89D-450D-848F-CCC0D3A80066}" type="datetime1">
              <a:t>19-10-2026</a:t>
            </a:fld>
            <a:endParaRPr/>
          </a:p>
        </p:txBody>
      </p:sp>
      <p:sp>
        <p:nvSpPr>
          <p:cNvPr id="5" name="Footer Placeholder 4">
            <a:extLst xmlns:a="http://schemas.openxmlformats.org/drawingml/2006/main">
              <a:ext uri="{FF2B5EF4-FFF2-40B4-BE49-F238E27FC236}">
                <a16:creationId xmlns:a16="http://schemas.microsoft.com/office/drawing/2014/main" id="{832C18AA-665C-9174-40C7-2700EFF77BF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Dept. of ECE, NMIT, Bengaluru</a:t>
            </a:r>
            <a:endParaRPr/>
          </a:p>
        </p:txBody>
      </p:sp>
      <p:sp>
        <p:nvSpPr>
          <p:cNvPr id="6" name="Slide Number Placeholder 5">
            <a:extLst xmlns:a="http://schemas.openxmlformats.org/drawingml/2006/main">
              <a:ext uri="{FF2B5EF4-FFF2-40B4-BE49-F238E27FC236}">
                <a16:creationId xmlns:a16="http://schemas.microsoft.com/office/drawing/2014/main" id="{CE2C036A-33A8-E88E-99D0-2903B7C5EA4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5249B9C-BF50-4540-B2D1-32A225E7564A}"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D38FBD5-1561-3932-E297-A14174187F05}"/>
              </a:ext>
            </a:extLst>
          </p:cNvPr>
          <p:cNvSpPr>
            <a:spLocks xmlns:a="http://schemas.openxmlformats.org/drawingml/2006/main" noGrp="1"/>
          </p:cNvSpPr>
          <p:nvPr>
            <p:ph type="title" idx="0"/>
          </p:nvPr>
        </p:nvSpPr>
        <p:spPr>
          <a:xfrm xmlns:a="http://schemas.openxmlformats.org/drawingml/2006/main">
            <a:off x="831850" y="1709738"/>
            <a:ext cx="10515600" cy="2852737"/>
          </a:xfrm>
        </p:spPr>
        <p:txBody>
          <a:bodyPr xmlns:a="http://schemas.openxmlformats.org/drawingml/2006/main" anchor="b"/>
          <a:lstStyle xmlns:a="http://schemas.openxmlformats.org/drawingml/2006/main">
            <a:lvl1pPr>
              <a:buNone/>
              <a:defRPr sz="6000"/>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2C63A73B-59E7-B791-E521-B97995C4F948}"/>
              </a:ext>
            </a:extLst>
          </p:cNvPr>
          <p:cNvSpPr>
            <a:spLocks xmlns:a="http://schemas.openxmlformats.org/drawingml/2006/main" noGrp="1"/>
          </p:cNvSpPr>
          <p:nvPr>
            <p:ph type="body" idx="1"/>
          </p:nvPr>
        </p:nvSpPr>
        <p:spPr>
          <a:xfrm xmlns:a="http://schemas.openxmlformats.org/drawingml/2006/main">
            <a:off x="831850" y="4589463"/>
            <a:ext cx="10515600" cy="1500187"/>
          </a:xfrm>
        </p:spPr>
        <p:txBody>
          <a:bodyPr xmlns:a="http://schemas.openxmlformats.org/drawingml/2006/main"/>
          <a:lstStyle xmlns:a="http://schemas.openxmlformats.org/drawingml/2006/main">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95F228BA-5DBB-745C-5F7F-6B4CA6E1B33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6E451025-BBAB-4BD1-9DF2-DE64D763EA4D}" type="datetime1">
              <a:t>19-10-2026</a:t>
            </a:fld>
            <a:endParaRPr/>
          </a:p>
        </p:txBody>
      </p:sp>
      <p:sp>
        <p:nvSpPr>
          <p:cNvPr id="5" name="Footer Placeholder 4">
            <a:extLst xmlns:a="http://schemas.openxmlformats.org/drawingml/2006/main">
              <a:ext uri="{FF2B5EF4-FFF2-40B4-BE49-F238E27FC236}">
                <a16:creationId xmlns:a16="http://schemas.microsoft.com/office/drawing/2014/main" id="{80566780-0A65-9A5C-D8B4-219B02057C8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Dept. of ECE, NMIT, Bengaluru</a:t>
            </a:r>
            <a:endParaRPr/>
          </a:p>
        </p:txBody>
      </p:sp>
      <p:sp>
        <p:nvSpPr>
          <p:cNvPr id="6" name="Slide Number Placeholder 5">
            <a:extLst xmlns:a="http://schemas.openxmlformats.org/drawingml/2006/main">
              <a:ext uri="{FF2B5EF4-FFF2-40B4-BE49-F238E27FC236}">
                <a16:creationId xmlns:a16="http://schemas.microsoft.com/office/drawing/2014/main" id="{C3372F2B-5703-1917-0A03-01068F1345A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5249B9C-BF50-4540-B2D1-32A225E7564A}"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78012EB-C7E9-76BE-0540-9539DA88967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ABCFC33C-641D-27E9-8511-1DA0B2D9E4E4}"/>
              </a:ext>
            </a:extLst>
          </p:cNvPr>
          <p:cNvSpPr>
            <a:spLocks xmlns:a="http://schemas.openxmlformats.org/drawingml/2006/main" noGrp="1"/>
          </p:cNvSpPr>
          <p:nvPr>
            <p:ph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226661FD-66D9-9C58-FC7C-869A43023EC5}"/>
              </a:ext>
            </a:extLst>
          </p:cNvPr>
          <p:cNvSpPr>
            <a:spLocks xmlns:a="http://schemas.openxmlformats.org/drawingml/2006/main" noGrp="1"/>
          </p:cNvSpPr>
          <p:nvPr>
            <p:ph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95E4514F-A4CC-1761-9CEA-1FC19B4F7B7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3C7DA566-B459-4C7A-85E5-C2A7C24A1420}" type="datetime1">
              <a:t>19-10-2026</a:t>
            </a:fld>
            <a:endParaRPr/>
          </a:p>
        </p:txBody>
      </p:sp>
      <p:sp>
        <p:nvSpPr>
          <p:cNvPr id="6" name="Footer Placeholder 5">
            <a:extLst xmlns:a="http://schemas.openxmlformats.org/drawingml/2006/main">
              <a:ext uri="{FF2B5EF4-FFF2-40B4-BE49-F238E27FC236}">
                <a16:creationId xmlns:a16="http://schemas.microsoft.com/office/drawing/2014/main" id="{B1F1B018-A66A-E116-D076-220E61B8E72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Dept. of ECE, NMIT, Bengaluru</a:t>
            </a:r>
            <a:endParaRPr/>
          </a:p>
        </p:txBody>
      </p:sp>
      <p:sp>
        <p:nvSpPr>
          <p:cNvPr id="7" name="Slide Number Placeholder 6">
            <a:extLst xmlns:a="http://schemas.openxmlformats.org/drawingml/2006/main">
              <a:ext uri="{FF2B5EF4-FFF2-40B4-BE49-F238E27FC236}">
                <a16:creationId xmlns:a16="http://schemas.microsoft.com/office/drawing/2014/main" id="{CB2419CD-4D96-32BF-7F1C-E1BF7EE6154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5249B9C-BF50-4540-B2D1-32A225E7564A}"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2314BB9-4AB7-8C6A-8BFF-A3621A872B39}"/>
              </a:ext>
            </a:extLst>
          </p:cNvPr>
          <p:cNvSpPr>
            <a:spLocks xmlns:a="http://schemas.openxmlformats.org/drawingml/2006/main" noGrp="1"/>
          </p:cNvSpPr>
          <p:nvPr>
            <p:ph type="title" idx="0"/>
          </p:nvPr>
        </p:nvSpPr>
        <p:spPr>
          <a:xfrm xmlns:a="http://schemas.openxmlformats.org/drawingml/2006/main">
            <a:off x="839788" y="365125"/>
            <a:ext cx="10515600" cy="1325563"/>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3E21CF5D-7A32-863B-E9E6-6BA58C5B3B6B}"/>
              </a:ext>
            </a:extLst>
          </p:cNvPr>
          <p:cNvSpPr>
            <a:spLocks xmlns:a="http://schemas.openxmlformats.org/drawingml/2006/main" noGrp="1"/>
          </p:cNvSpPr>
          <p:nvPr>
            <p:ph type="body" idx="1"/>
          </p:nvPr>
        </p:nvSpPr>
        <p:spPr>
          <a:xfrm xmlns:a="http://schemas.openxmlformats.org/drawingml/2006/main">
            <a:off x="839788" y="1681163"/>
            <a:ext cx="5157787"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5ADB264E-C915-888B-18DA-22E34FCD2A3F}"/>
              </a:ext>
            </a:extLst>
          </p:cNvPr>
          <p:cNvSpPr>
            <a:spLocks xmlns:a="http://schemas.openxmlformats.org/drawingml/2006/main" noGrp="1"/>
          </p:cNvSpPr>
          <p:nvPr>
            <p:ph idx="2"/>
          </p:nvPr>
        </p:nvSpPr>
        <p:spPr>
          <a:xfrm xmlns:a="http://schemas.openxmlformats.org/drawingml/2006/main">
            <a:off x="839788" y="2505075"/>
            <a:ext cx="5157787" cy="368458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5F5859C3-3260-535B-BAB4-EA190AE0E0D5}"/>
              </a:ext>
            </a:extLst>
          </p:cNvPr>
          <p:cNvSpPr>
            <a:spLocks xmlns:a="http://schemas.openxmlformats.org/drawingml/2006/main" noGrp="1"/>
          </p:cNvSpPr>
          <p:nvPr>
            <p:ph type="body" idx="3"/>
          </p:nvPr>
        </p:nvSpPr>
        <p:spPr>
          <a:xfrm xmlns:a="http://schemas.openxmlformats.org/drawingml/2006/main">
            <a:off x="6172200" y="1681163"/>
            <a:ext cx="5183188"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8E67C906-088A-950B-EF70-FA0DAFD933C1}"/>
              </a:ext>
            </a:extLst>
          </p:cNvPr>
          <p:cNvSpPr>
            <a:spLocks xmlns:a="http://schemas.openxmlformats.org/drawingml/2006/main" noGrp="1"/>
          </p:cNvSpPr>
          <p:nvPr>
            <p:ph idx="4"/>
          </p:nvPr>
        </p:nvSpPr>
        <p:spPr>
          <a:xfrm xmlns:a="http://schemas.openxmlformats.org/drawingml/2006/main">
            <a:off x="6172200" y="2505075"/>
            <a:ext cx="5183188" cy="368458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6A5F40AF-125E-31C4-B571-B32EF373BB0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5763DEA-064E-425A-A301-4B3BA0502A3F}" type="datetime1">
              <a:t>19-10-2026</a:t>
            </a:fld>
            <a:endParaRPr/>
          </a:p>
        </p:txBody>
      </p:sp>
      <p:sp>
        <p:nvSpPr>
          <p:cNvPr id="8" name="Footer Placeholder 7">
            <a:extLst xmlns:a="http://schemas.openxmlformats.org/drawingml/2006/main">
              <a:ext uri="{FF2B5EF4-FFF2-40B4-BE49-F238E27FC236}">
                <a16:creationId xmlns:a16="http://schemas.microsoft.com/office/drawing/2014/main" id="{7F1D0E3D-EC0A-214F-AE51-D3A6DA70B7F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Dept. of ECE, NMIT, Bengaluru</a:t>
            </a:r>
            <a:endParaRPr/>
          </a:p>
        </p:txBody>
      </p:sp>
      <p:sp>
        <p:nvSpPr>
          <p:cNvPr id="9" name="Slide Number Placeholder 8">
            <a:extLst xmlns:a="http://schemas.openxmlformats.org/drawingml/2006/main">
              <a:ext uri="{FF2B5EF4-FFF2-40B4-BE49-F238E27FC236}">
                <a16:creationId xmlns:a16="http://schemas.microsoft.com/office/drawing/2014/main" id="{C11E67A1-465D-9A8A-60C8-9F260A5F312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5249B9C-BF50-4540-B2D1-32A225E7564A}"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CB29077-248C-58C0-5973-D9AC97BC11C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ECDA6BA2-43B1-8708-AB4E-AA8A134DE08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438D0107-E616-461D-9207-52B0BDAA9751}" type="datetime1">
              <a:t>19-10-2026</a:t>
            </a:fld>
            <a:endParaRPr/>
          </a:p>
        </p:txBody>
      </p:sp>
      <p:sp>
        <p:nvSpPr>
          <p:cNvPr id="4" name="Footer Placeholder 3">
            <a:extLst xmlns:a="http://schemas.openxmlformats.org/drawingml/2006/main">
              <a:ext uri="{FF2B5EF4-FFF2-40B4-BE49-F238E27FC236}">
                <a16:creationId xmlns:a16="http://schemas.microsoft.com/office/drawing/2014/main" id="{69113DAA-528F-ACAE-BCFF-72E4C3714E9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Dept. of ECE, NMIT, Bengaluru</a:t>
            </a:r>
            <a:endParaRPr/>
          </a:p>
        </p:txBody>
      </p:sp>
      <p:sp>
        <p:nvSpPr>
          <p:cNvPr id="5" name="Slide Number Placeholder 4">
            <a:extLst xmlns:a="http://schemas.openxmlformats.org/drawingml/2006/main">
              <a:ext uri="{FF2B5EF4-FFF2-40B4-BE49-F238E27FC236}">
                <a16:creationId xmlns:a16="http://schemas.microsoft.com/office/drawing/2014/main" id="{96EE596D-B02B-5ECD-DEA8-8B5F226A568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5249B9C-BF50-4540-B2D1-32A225E7564A}"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F0A7191E-B112-54E5-E29A-F71A7DF454C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050B6DF2-7F2A-4D21-830E-C34D54E5DB26}" type="datetime1">
              <a:t>19-10-2026</a:t>
            </a:fld>
            <a:endParaRPr/>
          </a:p>
        </p:txBody>
      </p:sp>
      <p:sp>
        <p:nvSpPr>
          <p:cNvPr id="3" name="Footer Placeholder 2">
            <a:extLst xmlns:a="http://schemas.openxmlformats.org/drawingml/2006/main">
              <a:ext uri="{FF2B5EF4-FFF2-40B4-BE49-F238E27FC236}">
                <a16:creationId xmlns:a16="http://schemas.microsoft.com/office/drawing/2014/main" id="{D33BDEFE-732E-C016-6AB1-9E18E867B58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Dept. of ECE, NMIT, Bengaluru</a:t>
            </a:r>
            <a:endParaRPr/>
          </a:p>
        </p:txBody>
      </p:sp>
      <p:sp>
        <p:nvSpPr>
          <p:cNvPr id="4" name="Slide Number Placeholder 3">
            <a:extLst xmlns:a="http://schemas.openxmlformats.org/drawingml/2006/main">
              <a:ext uri="{FF2B5EF4-FFF2-40B4-BE49-F238E27FC236}">
                <a16:creationId xmlns:a16="http://schemas.microsoft.com/office/drawing/2014/main" id="{417B749E-E48B-CAF5-E430-6FE27ED57E7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5249B9C-BF50-4540-B2D1-32A225E7564A}"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F84B7CA-0679-E8C0-23AD-92B1DFE0E6DA}"/>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79A98F6F-E9AC-DC82-132D-29B0BBC4F473}"/>
              </a:ext>
            </a:extLst>
          </p:cNvPr>
          <p:cNvSpPr>
            <a:spLocks xmlns:a="http://schemas.openxmlformats.org/drawingml/2006/main" noGrp="1"/>
          </p:cNvSpPr>
          <p:nvPr>
            <p:ph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960FA807-3DD8-13E7-498A-153246EE0A06}"/>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E7B0A236-2402-8ACA-6847-F03201A03C8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7E140C3B-5552-4017-A7F7-1D3DC73ABB6C}" type="datetime1">
              <a:t>19-10-2026</a:t>
            </a:fld>
            <a:endParaRPr/>
          </a:p>
        </p:txBody>
      </p:sp>
      <p:sp>
        <p:nvSpPr>
          <p:cNvPr id="6" name="Footer Placeholder 5">
            <a:extLst xmlns:a="http://schemas.openxmlformats.org/drawingml/2006/main">
              <a:ext uri="{FF2B5EF4-FFF2-40B4-BE49-F238E27FC236}">
                <a16:creationId xmlns:a16="http://schemas.microsoft.com/office/drawing/2014/main" id="{9FA06F1D-F4E2-655D-0ECB-0762E4A519F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Dept. of ECE, NMIT, Bengaluru</a:t>
            </a:r>
            <a:endParaRPr/>
          </a:p>
        </p:txBody>
      </p:sp>
      <p:sp>
        <p:nvSpPr>
          <p:cNvPr id="7" name="Slide Number Placeholder 6">
            <a:extLst xmlns:a="http://schemas.openxmlformats.org/drawingml/2006/main">
              <a:ext uri="{FF2B5EF4-FFF2-40B4-BE49-F238E27FC236}">
                <a16:creationId xmlns:a16="http://schemas.microsoft.com/office/drawing/2014/main" id="{9D059C62-9D81-A148-F3A8-E735B1A707C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5249B9C-BF50-4540-B2D1-32A225E7564A}"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0A4FF6-EEF0-8B97-696A-746280ACA59A}"/>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F2097AEC-9604-18F5-B68A-9DDAC80CB6F7}"/>
              </a:ext>
            </a:extLst>
          </p:cNvPr>
          <p:cNvSpPr>
            <a:spLocks xmlns:a="http://schemas.openxmlformats.org/drawingml/2006/main" noGrp="1"/>
          </p:cNvSpPr>
          <p:nvPr>
            <p:ph type="pic"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ABF86077-F677-6962-4FED-10D159B67E32}"/>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B3114E18-CA26-8F9E-AC5A-76906484DCB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08762C1D-5720-48A1-898D-8041400C55BC}" type="datetime1">
              <a:t>19-10-2026</a:t>
            </a:fld>
            <a:endParaRPr/>
          </a:p>
        </p:txBody>
      </p:sp>
      <p:sp>
        <p:nvSpPr>
          <p:cNvPr id="6" name="Footer Placeholder 5">
            <a:extLst xmlns:a="http://schemas.openxmlformats.org/drawingml/2006/main">
              <a:ext uri="{FF2B5EF4-FFF2-40B4-BE49-F238E27FC236}">
                <a16:creationId xmlns:a16="http://schemas.microsoft.com/office/drawing/2014/main" id="{7AA36461-552C-E633-1CF0-DB8BC7B4399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Dept. of ECE, NMIT, Bengaluru</a:t>
            </a:r>
            <a:endParaRPr/>
          </a:p>
        </p:txBody>
      </p:sp>
      <p:sp>
        <p:nvSpPr>
          <p:cNvPr id="7" name="Slide Number Placeholder 6">
            <a:extLst xmlns:a="http://schemas.openxmlformats.org/drawingml/2006/main">
              <a:ext uri="{FF2B5EF4-FFF2-40B4-BE49-F238E27FC236}">
                <a16:creationId xmlns:a16="http://schemas.microsoft.com/office/drawing/2014/main" id="{4365D169-0627-C229-C26B-84AA64B3836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5249B9C-BF50-4540-B2D1-32A225E7564A}"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AA5CB26-31EA-5AE3-3E63-6F2EFEC5C15A}"/>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36815B1A-9C33-E8AE-6618-E625DB8E7DA4}"/>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6088B927-04A1-6ACB-7D83-CF9A4549718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C140E7-F52A-4119-97FF-78F9513B4388}" type="datetime1">
              <a:t>19-10-2026</a:t>
            </a:fld>
            <a:endParaRPr/>
          </a:p>
        </p:txBody>
      </p:sp>
      <p:sp>
        <p:nvSpPr>
          <p:cNvPr id="5" name="Footer Placeholder 4">
            <a:extLst xmlns:a="http://schemas.openxmlformats.org/drawingml/2006/main">
              <a:ext uri="{FF2B5EF4-FFF2-40B4-BE49-F238E27FC236}">
                <a16:creationId xmlns:a16="http://schemas.microsoft.com/office/drawing/2014/main" id="{E7E9898D-9F32-B8B8-1CB9-8DAEBCCF6BC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Dept. of ECE, NMIT, Bengaluru</a:t>
            </a:r>
            <a:endParaRPr/>
          </a:p>
        </p:txBody>
      </p:sp>
      <p:sp>
        <p:nvSpPr>
          <p:cNvPr id="6" name="Slide Number Placeholder 5">
            <a:extLst xmlns:a="http://schemas.openxmlformats.org/drawingml/2006/main">
              <a:ext uri="{FF2B5EF4-FFF2-40B4-BE49-F238E27FC236}">
                <a16:creationId xmlns:a16="http://schemas.microsoft.com/office/drawing/2014/main" id="{C3F0E129-A7D7-908A-2DB9-C14597E8F08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5249B9C-BF50-4540-B2D1-32A225E7564A}"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242730AC-48F0-F0FE-FE21-835054F7282A}"/>
              </a:ext>
            </a:extLst>
          </p:cNvPr>
          <p:cNvSpPr>
            <a:spLocks xmlns:a="http://schemas.openxmlformats.org/drawingml/2006/main" noGrp="1"/>
          </p:cNvSpPr>
          <p:nvPr>
            <p:ph type="title" idx="0"/>
          </p:nvPr>
        </p:nvSpPr>
        <p:spPr>
          <a:xfrm xmlns:a="http://schemas.openxmlformats.org/drawingml/2006/main">
            <a:off x="8724900" y="365125"/>
            <a:ext cx="2628900" cy="5811838"/>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4F894533-AC0F-B196-504E-399428B58639}"/>
              </a:ext>
            </a:extLst>
          </p:cNvPr>
          <p:cNvSpPr>
            <a:spLocks xmlns:a="http://schemas.openxmlformats.org/drawingml/2006/main" noGrp="1"/>
          </p:cNvSpPr>
          <p:nvPr>
            <p:ph type="body" idx="1"/>
          </p:nvPr>
        </p:nvSpPr>
        <p:spPr>
          <a:xfrm xmlns:a="http://schemas.openxmlformats.org/drawingml/2006/main">
            <a:off x="838200" y="365125"/>
            <a:ext cx="7734300" cy="5811838"/>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A42A9436-E8A2-F71D-A637-B20EA1490A0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34E1CFB4-31DA-40A2-AE2B-F9FC033D0834}" type="datetime1">
              <a:t>19-10-2026</a:t>
            </a:fld>
            <a:endParaRPr/>
          </a:p>
        </p:txBody>
      </p:sp>
      <p:sp>
        <p:nvSpPr>
          <p:cNvPr id="5" name="Footer Placeholder 4">
            <a:extLst xmlns:a="http://schemas.openxmlformats.org/drawingml/2006/main">
              <a:ext uri="{FF2B5EF4-FFF2-40B4-BE49-F238E27FC236}">
                <a16:creationId xmlns:a16="http://schemas.microsoft.com/office/drawing/2014/main" id="{3A1BF561-DBF4-21B8-CB10-BC790D20941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Dept. of ECE, NMIT, Bengaluru</a:t>
            </a:r>
            <a:endParaRPr/>
          </a:p>
        </p:txBody>
      </p:sp>
      <p:sp>
        <p:nvSpPr>
          <p:cNvPr id="6" name="Slide Number Placeholder 5">
            <a:extLst xmlns:a="http://schemas.openxmlformats.org/drawingml/2006/main">
              <a:ext uri="{FF2B5EF4-FFF2-40B4-BE49-F238E27FC236}">
                <a16:creationId xmlns:a16="http://schemas.microsoft.com/office/drawing/2014/main" id="{F2FADF1E-7BDA-43E8-BEF6-6F3FA39F5E6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5249B9C-BF50-4540-B2D1-32A225E7564A}" type="slidenum">
              <a:t>‹#›</a:t>
            </a:fld>
            <a:endParaRPr/>
          </a:p>
        </p:txBody>
      </p:sp>
    </p:spTree>
  </p:cSld>
</p:sldLayout>
</file>

<file path=ppt/slideMasters/_rels/restored_slideMaster1.xml.rels><?xml version='1.0' encoding='utf-8'?>
<Relationships xmlns="http://schemas.openxmlformats.org/package/2006/relationships"><Relationship Id="rId8" Type="http://schemas.openxmlformats.org/officeDocument/2006/relationships/slideLayout" Target="../slideLayouts/restored_slideLayout8.xml" /><Relationship Id="rId3" Type="http://schemas.openxmlformats.org/officeDocument/2006/relationships/slideLayout" Target="../slideLayouts/restored_slideLayout3.xml" /><Relationship Id="rId7" Type="http://schemas.openxmlformats.org/officeDocument/2006/relationships/slideLayout" Target="../slideLayouts/restored_slideLayout7.xml" /><Relationship Id="rId12" Type="http://schemas.openxmlformats.org/officeDocument/2006/relationships/theme" Target="../theme/restored_theme1.xml" /><Relationship Id="rId2" Type="http://schemas.openxmlformats.org/officeDocument/2006/relationships/slideLayout" Target="../slideLayouts/restored_slideLayout2.xml" /><Relationship Id="rId1" Type="http://schemas.openxmlformats.org/officeDocument/2006/relationships/slideLayout" Target="../slideLayouts/restored_slideLayout1.xml" /><Relationship Id="rId6" Type="http://schemas.openxmlformats.org/officeDocument/2006/relationships/slideLayout" Target="../slideLayouts/restored_slideLayout6.xml" /><Relationship Id="rId11" Type="http://schemas.openxmlformats.org/officeDocument/2006/relationships/slideLayout" Target="../slideLayouts/restored_slideLayout11.xml" /><Relationship Id="rId5" Type="http://schemas.openxmlformats.org/officeDocument/2006/relationships/slideLayout" Target="../slideLayouts/restored_slideLayout5.xml" /><Relationship Id="rId10" Type="http://schemas.openxmlformats.org/officeDocument/2006/relationships/slideLayout" Target="../slideLayouts/restored_slideLayout10.xml" /><Relationship Id="rId4" Type="http://schemas.openxmlformats.org/officeDocument/2006/relationships/slideLayout" Target="../slideLayouts/restored_slideLayout4.xml" /><Relationship Id="rId9" Type="http://schemas.openxmlformats.org/officeDocument/2006/relationships/slideLayout" Target="../slideLayouts/restored_slideLayout9.xml" /></Relationships>
</file>

<file path=ppt/slideMasters/_rels/slideMaster1.xml.rels>&#65279;<?xml version="1.0" encoding="utf-8"?><Relationships xmlns="http://schemas.openxmlformats.org/package/2006/relationships"><Relationship Type="http://schemas.openxmlformats.org/officeDocument/2006/relationships/theme" Target="/ppt/slideMasters/theme/theme2.xml" Id="R788a310718d849dc" /><Relationship Type="http://schemas.openxmlformats.org/officeDocument/2006/relationships/slideLayout" Target="/ppt/slideLayouts/slideLayout1.xml" Id="Rb2ffb1eba3294db5" /><Relationship Type="http://schemas.openxmlformats.org/officeDocument/2006/relationships/slideLayout" Target="/ppt/slideLayouts/slideLayout2.xml" Id="Rf5b329ef0d56494a" /><Relationship Type="http://schemas.openxmlformats.org/officeDocument/2006/relationships/slideLayout" Target="/ppt/slideLayouts/slideLayout3.xml" Id="R812428773e194a14" /><Relationship Type="http://schemas.openxmlformats.org/officeDocument/2006/relationships/slideLayout" Target="/ppt/slideLayouts/slideLayout4.xml" Id="R0e07a6bbb2b84eb8" /><Relationship Type="http://schemas.openxmlformats.org/officeDocument/2006/relationships/slideLayout" Target="/ppt/slideLayouts/slideLayout5.xml" Id="R9f703c090a604268" /><Relationship Type="http://schemas.openxmlformats.org/officeDocument/2006/relationships/slideLayout" Target="/ppt/slideLayouts/slideLayout6.xml" Id="R68f915fdcc6a4874" /><Relationship Type="http://schemas.openxmlformats.org/officeDocument/2006/relationships/slideLayout" Target="/ppt/slideLayouts/slideLayout7.xml" Id="R600ba07ebbd74668" /><Relationship Type="http://schemas.openxmlformats.org/officeDocument/2006/relationships/slideLayout" Target="/ppt/slideLayouts/slideLayout8.xml" Id="Rb2b857599f4e43de" /><Relationship Type="http://schemas.openxmlformats.org/officeDocument/2006/relationships/slideLayout" Target="/ppt/slideLayouts/slideLayout9.xml" Id="R8e0b83e9c4c44b90" /><Relationship Type="http://schemas.openxmlformats.org/officeDocument/2006/relationships/slideLayout" Target="/ppt/slideLayouts/slideLayout10.xml" Id="R0c21c4193a3b43b3" /><Relationship Type="http://schemas.openxmlformats.org/officeDocument/2006/relationships/slideLayout" Target="/ppt/slideLayouts/slideLayout11.xml" Id="Rc91c5c766a9f4b06" /></Relationships>
</file>

<file path=ppt/slideMasters/restored_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1D4D9F3-48CF-9F1F-5BF9-D29B73C5EE1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05C8141-6A62-88D2-9C9C-A178134DFAD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06B990C-8F8B-41B6-BFA9-D2812EADA71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3E8678F-226F-4E2D-9FCF-8D6254E13B72}" type="datetime1">
              <a:rPr lang="en-IN"/>
              <a:t>19-10-2026</a:t>
            </a:fld>
            <a:endParaRPr lang="en-IN"/>
          </a:p>
        </p:txBody>
      </p:sp>
      <p:sp>
        <p:nvSpPr>
          <p:cNvPr id="5" name="Footer Placeholder 4">
            <a:extLst>
              <a:ext uri="{FF2B5EF4-FFF2-40B4-BE49-F238E27FC236}">
                <a16:creationId xmlns:a16="http://schemas.microsoft.com/office/drawing/2014/main" id="{451F15A3-C5A8-D8EF-2CC0-B9FB4E8C365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Dept. of ECE, NMIT, Bengaluru</a:t>
            </a:r>
            <a:endParaRPr lang="en-IN"/>
          </a:p>
        </p:txBody>
      </p:sp>
      <p:sp>
        <p:nvSpPr>
          <p:cNvPr id="6" name="Slide Number Placeholder 5">
            <a:extLst>
              <a:ext uri="{FF2B5EF4-FFF2-40B4-BE49-F238E27FC236}">
                <a16:creationId xmlns:a16="http://schemas.microsoft.com/office/drawing/2014/main" id="{D3726CD6-7954-5145-9A9B-B583B27B2BD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5249B9C-BF50-4540-B2D1-32A225E7564A}" type="slidenum">
              <a:rPr lang="en-IN"/>
              <a:t>‹#›</a:t>
            </a:fld>
            <a:endParaRPr lang="en-IN"/>
          </a:p>
        </p:txBody>
      </p:sp>
    </p:spTree>
    <p:extLst>
      <p:ext uri="{BB962C8B-B14F-4D97-AF65-F5344CB8AC3E}">
        <p14:creationId xmlns:p14="http://schemas.microsoft.com/office/powerpoint/2010/main" val="496431597"/>
      </p:ext>
    </p:extLst>
  </p:cSld>
  <p:clrMap bg1="lt1" tx1="dk1" bg2="lt2" tx2="dk2" accent1="accent1" accent2="accent2" accent3="accent3" accent4="accent4" accent5="accent5" accent6="accent6" hlink="hlink" folHlink="folHlink"/>
  <p:sldLayoutIdLst>
    <p:sldLayoutId id="3000000000" r:id="rId1"/>
    <p:sldLayoutId id="3000000001" r:id="rId2"/>
    <p:sldLayoutId id="3000000002" r:id="rId3"/>
    <p:sldLayoutId id="3000000003" r:id="rId4"/>
    <p:sldLayoutId id="3000000004" r:id="rId5"/>
    <p:sldLayoutId id="3000000005" r:id="rId6"/>
    <p:sldLayoutId id="3000000006" r:id="rId7"/>
    <p:sldLayoutId id="3000000007" r:id="rId8"/>
    <p:sldLayoutId id="3000000008" r:id="rId9"/>
    <p:sldLayoutId id="3000000009" r:id="rId10"/>
    <p:sldLayoutId id="3000000010"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D1D4D9F3-48CF-9F1F-5BF9-D29B73C5EE1F}"/>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D05C8141-6A62-88D2-9C9C-A178134DFAD7}"/>
              </a:ext>
            </a:extLst>
          </p:cNvPr>
          <p:cNvSpPr>
            <a:spLocks xmlns:a="http://schemas.openxmlformats.org/drawingml/2006/main" noGrp="1"/>
          </p:cNvSpPr>
          <p:nvPr>
            <p:ph type="body" idx="1"/>
          </p:nvPr>
        </p:nvSpPr>
        <p:spPr>
          <a:xfrm xmlns:a="http://schemas.openxmlformats.org/drawingml/2006/main">
            <a:off x="838200" y="1825625"/>
            <a:ext cx="10515600" cy="435133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506B990C-8F8B-41B6-BFA9-D2812EADA711}"/>
              </a:ext>
            </a:extLst>
          </p:cNvPr>
          <p:cNvSpPr>
            <a:spLocks xmlns:a="http://schemas.openxmlformats.org/drawingml/2006/main" noGrp="1"/>
          </p:cNvSpPr>
          <p:nvPr>
            <p:ph type="dt" idx="2"/>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B3E8678F-226F-4E2D-9FCF-8D6254E13B72}" type="datetime1">
              <a:t>19-10-2026</a:t>
            </a:fld>
            <a:endParaRPr/>
          </a:p>
        </p:txBody>
      </p:sp>
      <p:sp>
        <p:nvSpPr>
          <p:cNvPr id="5" name="Footer Placeholder 4">
            <a:extLst xmlns:a="http://schemas.openxmlformats.org/drawingml/2006/main">
              <a:ext uri="{FF2B5EF4-FFF2-40B4-BE49-F238E27FC236}">
                <a16:creationId xmlns:a16="http://schemas.microsoft.com/office/drawing/2014/main" id="{451F15A3-C5A8-D8EF-2CC0-B9FB4E8C3655}"/>
              </a:ext>
            </a:extLst>
          </p:cNvPr>
          <p:cNvSpPr>
            <a:spLocks xmlns:a="http://schemas.openxmlformats.org/drawingml/2006/main" noGrp="1"/>
          </p:cNvSpPr>
          <p:nvPr>
            <p:ph type="ftr" idx="3"/>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r>
              <a:t>Dept. of ECE, NMIT, Bengaluru</a:t>
            </a:r>
            <a:endParaRPr/>
          </a:p>
        </p:txBody>
      </p:sp>
      <p:sp>
        <p:nvSpPr>
          <p:cNvPr id="6" name="Slide Number Placeholder 5">
            <a:extLst xmlns:a="http://schemas.openxmlformats.org/drawingml/2006/main">
              <a:ext uri="{FF2B5EF4-FFF2-40B4-BE49-F238E27FC236}">
                <a16:creationId xmlns:a16="http://schemas.microsoft.com/office/drawing/2014/main" id="{D3726CD6-7954-5145-9A9B-B583B27B2BD4}"/>
              </a:ext>
            </a:extLst>
          </p:cNvPr>
          <p:cNvSpPr>
            <a:spLocks xmlns:a="http://schemas.openxmlformats.org/drawingml/2006/main" noGrp="1"/>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75249B9C-BF50-4540-B2D1-32A225E7564A}"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2ffb1eba3294db5"/>
    <p:sldLayoutId xmlns:r="http://schemas.openxmlformats.org/officeDocument/2006/relationships" id="2147483650" r:id="Rf5b329ef0d56494a"/>
    <p:sldLayoutId xmlns:r="http://schemas.openxmlformats.org/officeDocument/2006/relationships" id="2147483651" r:id="R812428773e194a14"/>
    <p:sldLayoutId xmlns:r="http://schemas.openxmlformats.org/officeDocument/2006/relationships" id="2147483652" r:id="R0e07a6bbb2b84eb8"/>
    <p:sldLayoutId xmlns:r="http://schemas.openxmlformats.org/officeDocument/2006/relationships" id="2147483653" r:id="R9f703c090a604268"/>
    <p:sldLayoutId xmlns:r="http://schemas.openxmlformats.org/officeDocument/2006/relationships" id="2147483654" r:id="R68f915fdcc6a4874"/>
    <p:sldLayoutId xmlns:r="http://schemas.openxmlformats.org/officeDocument/2006/relationships" id="2147483655" r:id="R600ba07ebbd74668"/>
    <p:sldLayoutId xmlns:r="http://schemas.openxmlformats.org/officeDocument/2006/relationships" id="2147483656" r:id="Rb2b857599f4e43de"/>
    <p:sldLayoutId xmlns:r="http://schemas.openxmlformats.org/officeDocument/2006/relationships" id="2147483657" r:id="R8e0b83e9c4c44b90"/>
    <p:sldLayoutId xmlns:r="http://schemas.openxmlformats.org/officeDocument/2006/relationships" id="2147483658" r:id="R0c21c4193a3b43b3"/>
    <p:sldLayoutId xmlns:r="http://schemas.openxmlformats.org/officeDocument/2006/relationships" id="2147483659" r:id="Rc91c5c766a9f4b06"/>
  </p:sldLayoutIdLst>
  <p:hf sldNum="0" hdr="0" dt="0"/>
  <p:txStyles>
    <p:titleStyle>
      <a:lvl1pPr xmlns:a="http://schemas.openxmlformats.org/drawingml/2006/main" algn="l" defTabSz="914400">
        <a:lnSpc>
          <a:spcPct val="90000"/>
        </a:lnSpc>
        <a:spcBef>
          <a:spcPct val="0"/>
        </a:spcBef>
        <a:buNone/>
        <a:defRPr sz="44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Relationships xmlns="http://schemas.openxmlformats.org/package/2006/relationships"><Relationship Id="rId3" Type="http://schemas.openxmlformats.org/officeDocument/2006/relationships/image" Target="../media/restored_image1.png" /><Relationship Id="rId2" Type="http://schemas.openxmlformats.org/officeDocument/2006/relationships/notesSlide" Target="../notesSlides/restored_notesSlide1.xml" /><Relationship Id="rId1" Type="http://schemas.openxmlformats.org/officeDocument/2006/relationships/slideLayout" Target="../slideLayouts/restored_slideLayout2.xml" /></Relationships>
</file>

<file path=ppt/slides/_rels/slide2.xml.rels><?xml version='1.0' encoding='utf-8'?>
<Relationships xmlns="http://schemas.openxmlformats.org/package/2006/relationships"><Relationship Id="rId1" Type="http://schemas.openxmlformats.org/officeDocument/2006/relationships/slideLayout" Target="../slideLayouts/restored_slideLayout2.xml" /></Relationships>
</file>

<file path=ppt/slides/_rels/slide3.xml.rels><?xml version='1.0' encoding='utf-8'?>
<Relationships xmlns="http://schemas.openxmlformats.org/package/2006/relationships"><Relationship Id="rId1" Type="http://schemas.openxmlformats.org/officeDocument/2006/relationships/slideLayout" Target="../slideLayouts/restored_slideLayout2.xml" /></Relationships>
</file>

<file path=ppt/slides/_rels/slide4.xml.rels><?xml version='1.0' encoding='utf-8'?>
<Relationships xmlns="http://schemas.openxmlformats.org/package/2006/relationships"><Relationship Id="rId2" Type="http://schemas.openxmlformats.org/officeDocument/2006/relationships/image" Target="../media/restored_image2.png" /><Relationship Id="rId1" Type="http://schemas.openxmlformats.org/officeDocument/2006/relationships/slideLayout" Target="../slideLayouts/restored_slideLayout2.xml"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8914aab8847a45b9" /><Relationship Type="http://schemas.openxmlformats.org/officeDocument/2006/relationships/notesSlide" Target="/ppt/notesSlides/notesSlide5.xml" Id="Re159d821251f4e1b"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91800859392d47ab" /><Relationship Type="http://schemas.openxmlformats.org/officeDocument/2006/relationships/notesSlide" Target="/ppt/notesSlides/notesSlide6.xml" Id="R4bfbf2dd9bdb4ad8"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a95f5d8247904c7c" /><Relationship Type="http://schemas.openxmlformats.org/officeDocument/2006/relationships/notesSlide" Target="/ppt/notesSlides/notesSlide7.xml" Id="Raabd2a61d2a949b8"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beff0cb4444147ef" /><Relationship Type="http://schemas.openxmlformats.org/officeDocument/2006/relationships/notesSlide" Target="/ppt/notesSlides/notesSlide8.xml" Id="R2c6b86d09715479f"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1c3775a1ca81422a" /><Relationship Type="http://schemas.openxmlformats.org/officeDocument/2006/relationships/notesSlide" Target="/ppt/notesSlides/notesSlide9.xml" Id="R09bb03faf9fc494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a3313a615b6441cd" /><Relationship Type="http://schemas.openxmlformats.org/officeDocument/2006/relationships/notesSlide" Target="/ppt/notesSlides/notesSlide10.xml" Id="R7d474f5aaa1647f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e6a993fa670a4e5f" /><Relationship Type="http://schemas.openxmlformats.org/officeDocument/2006/relationships/notesSlide" Target="/ppt/notesSlides/notesSlide11.xml" Id="R94363ff74d3d44d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b15596651c344e9b" /><Relationship Type="http://schemas.openxmlformats.org/officeDocument/2006/relationships/notesSlide" Target="/ppt/notesSlides/notesSlide12.xml" Id="R50e0b51d9c1447d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710b3b3422df41f5" /><Relationship Type="http://schemas.openxmlformats.org/officeDocument/2006/relationships/notesSlide" Target="/ppt/notesSlides/notesSlide13.xml" Id="Rda441d200c2b4d1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2ecf55cde70c4ef4" /><Relationship Type="http://schemas.openxmlformats.org/officeDocument/2006/relationships/notesSlide" Target="/ppt/notesSlides/notesSlide14.xml" Id="R0253557a3556418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d82563d42499419e" /><Relationship Type="http://schemas.openxmlformats.org/officeDocument/2006/relationships/notesSlide" Target="/ppt/notesSlides/notesSlide15.xml" Id="R5d72e1bdc9a34d80"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D393A-8365-3C41-2C17-6494BBBD7105}"/>
              </a:ext>
            </a:extLst>
          </p:cNvPr>
          <p:cNvSpPr>
            <a:spLocks noGrp="1"/>
          </p:cNvSpPr>
          <p:nvPr>
            <p:ph type="title"/>
          </p:nvPr>
        </p:nvSpPr>
        <p:spPr>
          <a:xfrm>
            <a:off x="0" y="1"/>
            <a:ext cx="12192000" cy="1074655"/>
          </a:xfrm>
          <a:solidFill>
            <a:srgbClr val="002060"/>
          </a:solidFill>
        </p:spPr>
        <p:txBody>
          <a:bodyPr>
            <a:normAutofit fontScale="90000"/>
          </a:bodyPr>
          <a:lstStyle/>
          <a:p>
            <a:pPr algn="ctr">
              <a:lnSpc>
                <a:spcPct val="115000"/>
              </a:lnSpc>
              <a:spcAft>
                <a:spcPts val="1000"/>
              </a:spcAft>
            </a:pPr>
            <a:r>
              <a:rPr lang="en-US" sz="4000" b="1" dirty="0">
                <a:solidFill>
                  <a:schemeClr val="bg1"/>
                </a:solidFill>
                <a:effectLst/>
                <a:latin typeface="Times New Roman" panose="02020603050405020304" pitchFamily="18" charset="0"/>
                <a:ea typeface="Calibri" panose="020F0502020204030204" pitchFamily="34" charset="0"/>
                <a:cs typeface="Gautami" panose="020B0502040204020203" pitchFamily="34" charset="0"/>
              </a:rPr>
              <a:t>Project Work Phase-2       </a:t>
            </a:r>
            <a:br>
              <a:rPr lang="en-US" sz="4000" b="1" dirty="0">
                <a:solidFill>
                  <a:schemeClr val="bg1"/>
                </a:solidFill>
                <a:effectLst/>
                <a:latin typeface="Times New Roman" panose="02020603050405020304" pitchFamily="18" charset="0"/>
                <a:ea typeface="Calibri" panose="020F0502020204030204" pitchFamily="34" charset="0"/>
                <a:cs typeface="Gautami" panose="020B0502040204020203" pitchFamily="34" charset="0"/>
              </a:rPr>
            </a:br>
            <a:r>
              <a:rPr lang="en-US" sz="4000" b="1" dirty="0">
                <a:solidFill>
                  <a:schemeClr val="bg1"/>
                </a:solidFill>
                <a:effectLst/>
                <a:latin typeface="Times New Roman" panose="02020603050405020304" pitchFamily="18" charset="0"/>
                <a:ea typeface="Calibri" panose="020F0502020204030204" pitchFamily="34" charset="0"/>
                <a:cs typeface="Gautami" panose="020B0502040204020203" pitchFamily="34" charset="0"/>
              </a:rPr>
              <a:t>7th semester  AY: 2026-27</a:t>
            </a:r>
            <a:endParaRPr lang="en-IN" sz="4000" dirty="0">
              <a:solidFill>
                <a:schemeClr val="bg1"/>
              </a:solidFill>
              <a:effectLst/>
              <a:latin typeface="Calibri" panose="020F0502020204030204" pitchFamily="34" charset="0"/>
              <a:ea typeface="Calibri" panose="020F0502020204030204" pitchFamily="34" charset="0"/>
              <a:cs typeface="Gautami" panose="020B0502040204020203" pitchFamily="34" charset="0"/>
            </a:endParaRPr>
          </a:p>
        </p:txBody>
      </p:sp>
      <p:sp>
        <p:nvSpPr>
          <p:cNvPr id="3" name="Content Placeholder 2">
            <a:extLst>
              <a:ext uri="{FF2B5EF4-FFF2-40B4-BE49-F238E27FC236}">
                <a16:creationId xmlns:a16="http://schemas.microsoft.com/office/drawing/2014/main" id="{3B6D72A9-5B77-2FAD-A296-659695D34C01}"/>
              </a:ext>
            </a:extLst>
          </p:cNvPr>
          <p:cNvSpPr>
            <a:spLocks noGrp="1"/>
          </p:cNvSpPr>
          <p:nvPr>
            <p:ph idx="1"/>
          </p:nvPr>
        </p:nvSpPr>
        <p:spPr>
          <a:xfrm>
            <a:off x="-1" y="1382565"/>
            <a:ext cx="12191999" cy="4980528"/>
          </a:xfrm>
        </p:spPr>
        <p:txBody>
          <a:bodyPr>
            <a:normAutofit fontScale="92500" lnSpcReduction="10000"/>
          </a:bodyPr>
          <a:lstStyle/>
          <a:p>
            <a:pPr marL="0" indent="0" algn="ctr">
              <a:buNone/>
            </a:pPr>
            <a:r>
              <a:rPr lang="en-US" sz="3600" b="1" dirty="0">
                <a:solidFill>
                  <a:srgbClr val="FF0000"/>
                </a:solidFill>
                <a:latin typeface="Times New Roman" panose="02020603050405020304" pitchFamily="18" charset="0"/>
                <a:cs typeface="Times New Roman" panose="02020603050405020304" pitchFamily="18" charset="0"/>
              </a:rPr>
              <a:t>Review 2 Presentation </a:t>
            </a:r>
          </a:p>
          <a:p>
            <a:pPr marL="0" indent="0">
              <a:buNone/>
            </a:pPr>
            <a:r>
              <a:rPr lang="en-US" sz="3300" b="1" dirty="0">
                <a:solidFill>
                  <a:srgbClr val="0070C0"/>
                </a:solidFill>
                <a:latin typeface="Times New Roman" panose="02020603050405020304" pitchFamily="18" charset="0"/>
                <a:cs typeface="Times New Roman" panose="02020603050405020304" pitchFamily="18" charset="0"/>
              </a:rPr>
              <a:t>Project Title: Enhancing Emergency Response Through IoT-Integrated 		     Smart Ambulance and GPS Monitoring</a:t>
            </a:r>
          </a:p>
          <a:p>
            <a:pPr marL="0" indent="0" algn="ctr">
              <a:buNone/>
            </a:pPr>
            <a:endParaRPr lang="en-US" b="1" dirty="0">
              <a:latin typeface="Times New Roman" panose="02020603050405020304" pitchFamily="18" charset="0"/>
              <a:cs typeface="Times New Roman" panose="02020603050405020304" pitchFamily="18" charset="0"/>
            </a:endParaRPr>
          </a:p>
          <a:p>
            <a:pPr marL="0" indent="0" algn="ctr">
              <a:buNone/>
            </a:pPr>
            <a:r>
              <a:rPr lang="en-US" sz="2400" b="1" dirty="0">
                <a:latin typeface="Times New Roman" panose="02020603050405020304" pitchFamily="18" charset="0"/>
                <a:cs typeface="Times New Roman" panose="02020603050405020304" pitchFamily="18" charset="0"/>
              </a:rPr>
              <a:t>Presented By</a:t>
            </a:r>
          </a:p>
          <a:p>
            <a:pPr marL="0" indent="0" algn="ctr">
              <a:buNone/>
            </a:pPr>
            <a:r>
              <a:rPr lang="en-US" sz="2100" dirty="0">
                <a:latin typeface="Times New Roman" panose="02020603050405020304" pitchFamily="18" charset="0"/>
                <a:cs typeface="Times New Roman" panose="02020603050405020304" pitchFamily="18" charset="0"/>
              </a:rPr>
              <a:t>Rahul S (1NT23EC120)</a:t>
            </a:r>
          </a:p>
          <a:p>
            <a:pPr marL="0" indent="0" algn="ctr">
              <a:buNone/>
            </a:pPr>
            <a:r>
              <a:rPr lang="en-US" sz="2100" dirty="0">
                <a:latin typeface="Times New Roman" panose="02020603050405020304" pitchFamily="18" charset="0"/>
                <a:cs typeface="Times New Roman" panose="02020603050405020304" pitchFamily="18" charset="0"/>
              </a:rPr>
              <a:t>Rakshita S Wagge (1NT23EC124)</a:t>
            </a:r>
          </a:p>
          <a:p>
            <a:pPr marL="0" indent="0" algn="ctr">
              <a:buNone/>
            </a:pPr>
            <a:r>
              <a:rPr lang="en-US" sz="2400" b="1" dirty="0">
                <a:latin typeface="Times New Roman" panose="02020603050405020304" pitchFamily="18" charset="0"/>
                <a:cs typeface="Times New Roman" panose="02020603050405020304" pitchFamily="18" charset="0"/>
              </a:rPr>
              <a:t>            </a:t>
            </a:r>
          </a:p>
          <a:p>
            <a:pPr marL="0" indent="0" algn="ctr">
              <a:buNone/>
            </a:pPr>
            <a:r>
              <a:rPr lang="en-US" sz="2400" b="1" dirty="0">
                <a:latin typeface="Times New Roman" panose="02020603050405020304" pitchFamily="18" charset="0"/>
                <a:cs typeface="Times New Roman" panose="02020603050405020304" pitchFamily="18" charset="0"/>
              </a:rPr>
              <a:t>               Project Supervisor 	</a:t>
            </a:r>
          </a:p>
          <a:p>
            <a:pPr marL="0" indent="0" algn="ctr">
              <a:buNone/>
            </a:pPr>
            <a:r>
              <a:rPr lang="en-US" sz="1600" dirty="0">
                <a:latin typeface="Times New Roman" panose="02020603050405020304" pitchFamily="18" charset="0"/>
                <a:cs typeface="Times New Roman" panose="02020603050405020304" pitchFamily="18" charset="0"/>
              </a:rPr>
              <a:t>            Dr. Manjula B M</a:t>
            </a:r>
          </a:p>
          <a:p>
            <a:pPr marL="0" indent="0" algn="ctr">
              <a:buNone/>
            </a:pPr>
            <a:r>
              <a:rPr lang="en-US" sz="1600" dirty="0">
                <a:latin typeface="Times New Roman" panose="02020603050405020304" pitchFamily="18" charset="0"/>
                <a:cs typeface="Times New Roman" panose="02020603050405020304" pitchFamily="18" charset="0"/>
              </a:rPr>
              <a:t>              Professor</a:t>
            </a:r>
          </a:p>
          <a:p>
            <a:pPr marL="0" indent="0" algn="ctr">
              <a:buNone/>
            </a:pPr>
            <a:r>
              <a:rPr lang="en-US" sz="1600" dirty="0">
                <a:latin typeface="Times New Roman" panose="02020603050405020304" pitchFamily="18" charset="0"/>
                <a:cs typeface="Times New Roman" panose="02020603050405020304" pitchFamily="18" charset="0"/>
              </a:rPr>
              <a:t>Dept. of Electronics and Communication Engineering</a:t>
            </a:r>
          </a:p>
          <a:p>
            <a:pPr marL="0" indent="0" algn="ctr">
              <a:buNone/>
            </a:pPr>
            <a:r>
              <a:rPr lang="en-US" sz="1600" dirty="0">
                <a:latin typeface="Times New Roman" panose="02020603050405020304" pitchFamily="18" charset="0"/>
                <a:cs typeface="Times New Roman" panose="02020603050405020304" pitchFamily="18" charset="0"/>
              </a:rPr>
              <a:t>         Nitte Meenakshi Institute of Technology, Yelahanka, Bangalore-560064</a:t>
            </a:r>
          </a:p>
          <a:p>
            <a:endParaRPr lang="en-IN" sz="24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3D9C6012-FCED-4937-A4AB-8CEEC135A13C}"/>
              </a:ext>
            </a:extLst>
          </p:cNvPr>
          <p:cNvSpPr>
            <a:spLocks noGrp="1"/>
          </p:cNvSpPr>
          <p:nvPr>
            <p:ph type="ftr" sz="quarter" idx="11"/>
          </p:nvPr>
        </p:nvSpPr>
        <p:spPr>
          <a:xfrm>
            <a:off x="2" y="6492875"/>
            <a:ext cx="12191998" cy="365125"/>
          </a:xfrm>
          <a:solidFill>
            <a:srgbClr val="002060"/>
          </a:solidFill>
        </p:spPr>
        <p:txBody>
          <a:bodyPr/>
          <a:lstStyle/>
          <a:p>
            <a:pPr algn="l"/>
            <a:r>
              <a:rPr lang="en-US" b="1" dirty="0">
                <a:solidFill>
                  <a:schemeClr val="bg1"/>
                </a:solidFill>
                <a:latin typeface="Times New Roman" panose="02020603050405020304" pitchFamily="18" charset="0"/>
                <a:cs typeface="Times New Roman" panose="02020603050405020304" pitchFamily="18" charset="0"/>
              </a:rPr>
              <a:t>Dept. of Electronics and Communication Engineering, NMIT, Bengaluru                                                                                                                                                                                             1                     </a:t>
            </a:r>
            <a:endParaRPr lang="en-IN" b="1" dirty="0">
              <a:solidFill>
                <a:schemeClr val="bg1"/>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1E8516B0-35CE-4CCF-9551-DDE8B782C558}"/>
              </a:ext>
            </a:extLst>
          </p:cNvPr>
          <p:cNvPicPr>
            <a:picLocks noChangeAspect="1"/>
          </p:cNvPicPr>
          <p:nvPr/>
        </p:nvPicPr>
        <p:blipFill>
          <a:blip r:embed="rId3"/>
          <a:stretch>
            <a:fillRect/>
          </a:stretch>
        </p:blipFill>
        <p:spPr>
          <a:xfrm>
            <a:off x="0" y="155183"/>
            <a:ext cx="3443603" cy="770103"/>
          </a:xfrm>
          <a:prstGeom prst="rect">
            <a:avLst/>
          </a:prstGeom>
        </p:spPr>
      </p:pic>
    </p:spTree>
    <p:extLst>
      <p:ext uri="{BB962C8B-B14F-4D97-AF65-F5344CB8AC3E}">
        <p14:creationId xmlns:p14="http://schemas.microsoft.com/office/powerpoint/2010/main" val="40972559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D393A-8365-3C41-2C17-6494BBBD7105}"/>
              </a:ext>
            </a:extLst>
          </p:cNvPr>
          <p:cNvSpPr>
            <a:spLocks noGrp="1"/>
          </p:cNvSpPr>
          <p:nvPr>
            <p:ph type="title"/>
          </p:nvPr>
        </p:nvSpPr>
        <p:spPr>
          <a:xfrm>
            <a:off x="0" y="1"/>
            <a:ext cx="12192000" cy="628649"/>
          </a:xfrm>
          <a:solidFill>
            <a:srgbClr val="002060"/>
          </a:solidFill>
        </p:spPr>
        <p:txBody>
          <a:bodyPr>
            <a:normAutofit fontScale="90000"/>
          </a:bodyPr>
          <a:lstStyle/>
          <a:p>
            <a:pPr algn="ctr"/>
            <a:r>
              <a:rPr lang="en-US" sz="4800" b="1" dirty="0">
                <a:solidFill>
                  <a:schemeClr val="bg1"/>
                </a:solidFill>
                <a:latin typeface="Times New Roman" panose="02020603050405020304" pitchFamily="18" charset="0"/>
                <a:cs typeface="Times New Roman" panose="02020603050405020304" pitchFamily="18" charset="0"/>
              </a:rPr>
              <a:t>Presentation Outline</a:t>
            </a:r>
            <a:endParaRPr lang="en-IN" sz="4800" b="1" dirty="0">
              <a:solidFill>
                <a:schemeClr val="bg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B6D72A9-5B77-2FAD-A296-659695D34C01}"/>
              </a:ext>
            </a:extLst>
          </p:cNvPr>
          <p:cNvSpPr>
            <a:spLocks noGrp="1"/>
          </p:cNvSpPr>
          <p:nvPr>
            <p:ph idx="1"/>
          </p:nvPr>
        </p:nvSpPr>
        <p:spPr>
          <a:xfrm>
            <a:off x="544286" y="1382565"/>
            <a:ext cx="11038114" cy="4980528"/>
          </a:xfrm>
        </p:spPr>
        <p:txBody>
          <a:bodyPr>
            <a:normAutofit/>
          </a:bodyPr>
          <a:lstStyle/>
          <a:p>
            <a:r>
              <a:rPr lang="en-US" dirty="0">
                <a:latin typeface="Times New Roman" panose="02020603050405020304" pitchFamily="18" charset="0"/>
                <a:cs typeface="Times New Roman" panose="02020603050405020304" pitchFamily="18" charset="0"/>
              </a:rPr>
              <a:t>Objectives</a:t>
            </a:r>
          </a:p>
          <a:p>
            <a:r>
              <a:rPr lang="en-US" dirty="0">
                <a:latin typeface="Times New Roman" panose="02020603050405020304" pitchFamily="18" charset="0"/>
                <a:cs typeface="Times New Roman" panose="02020603050405020304" pitchFamily="18" charset="0"/>
              </a:rPr>
              <a:t>​Detailed Architecture &amp; Design Finalization</a:t>
            </a:r>
          </a:p>
          <a:p>
            <a:r>
              <a:rPr lang="en-US" dirty="0">
                <a:latin typeface="Times New Roman" panose="02020603050405020304" pitchFamily="18" charset="0"/>
                <a:cs typeface="Times New Roman" panose="02020603050405020304" pitchFamily="18" charset="0"/>
              </a:rPr>
              <a:t>Techniques/methods/approaches used for the proposed work</a:t>
            </a:r>
          </a:p>
          <a:p>
            <a:r>
              <a:rPr lang="en-US" dirty="0">
                <a:latin typeface="Times New Roman" panose="02020603050405020304" pitchFamily="18" charset="0"/>
                <a:cs typeface="Times New Roman" panose="02020603050405020304" pitchFamily="18" charset="0"/>
              </a:rPr>
              <a:t>​</a:t>
            </a:r>
            <a:r>
              <a:rPr lang="en-US" b="1" dirty="0">
                <a:solidFill>
                  <a:srgbClr val="0070C0"/>
                </a:solidFill>
                <a:latin typeface="Times New Roman" panose="02020603050405020304" pitchFamily="18" charset="0"/>
                <a:cs typeface="Times New Roman" panose="02020603050405020304" pitchFamily="18" charset="0"/>
              </a:rPr>
              <a:t>Functional Requirements </a:t>
            </a:r>
          </a:p>
          <a:p>
            <a:r>
              <a:rPr lang="en-US" b="1" dirty="0">
                <a:solidFill>
                  <a:srgbClr val="0070C0"/>
                </a:solidFill>
                <a:latin typeface="Times New Roman" panose="02020603050405020304" pitchFamily="18" charset="0"/>
                <a:cs typeface="Times New Roman" panose="02020603050405020304" pitchFamily="18" charset="0"/>
              </a:rPr>
              <a:t>​Non-Functional Requirements</a:t>
            </a:r>
          </a:p>
          <a:p>
            <a:r>
              <a:rPr lang="en-US" b="1" dirty="0">
                <a:solidFill>
                  <a:srgbClr val="0070C0"/>
                </a:solidFill>
                <a:latin typeface="Times New Roman" panose="02020603050405020304" pitchFamily="18" charset="0"/>
                <a:cs typeface="Times New Roman" panose="02020603050405020304" pitchFamily="18" charset="0"/>
              </a:rPr>
              <a:t>Corresponding Test Scenarios </a:t>
            </a:r>
          </a:p>
          <a:p>
            <a:r>
              <a:rPr lang="en-US" b="1" dirty="0">
                <a:solidFill>
                  <a:srgbClr val="0070C0"/>
                </a:solidFill>
                <a:latin typeface="Times New Roman" panose="02020603050405020304" pitchFamily="18" charset="0"/>
                <a:cs typeface="Times New Roman" panose="02020603050405020304" pitchFamily="18" charset="0"/>
              </a:rPr>
              <a:t>Test Cases  to validate each requirement</a:t>
            </a:r>
          </a:p>
          <a:p>
            <a:r>
              <a:rPr lang="en-US" dirty="0">
                <a:latin typeface="Times New Roman" panose="02020603050405020304" pitchFamily="18" charset="0"/>
                <a:cs typeface="Times New Roman" panose="02020603050405020304" pitchFamily="18" charset="0"/>
              </a:rPr>
              <a:t>Conclusion and Future Work</a:t>
            </a:r>
          </a:p>
          <a:p>
            <a:endParaRPr lang="en-IN" sz="24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3D9C6012-FCED-4937-A4AB-8CEEC135A13C}"/>
              </a:ext>
            </a:extLst>
          </p:cNvPr>
          <p:cNvSpPr>
            <a:spLocks noGrp="1"/>
          </p:cNvSpPr>
          <p:nvPr>
            <p:ph type="ftr" sz="quarter" idx="11"/>
          </p:nvPr>
        </p:nvSpPr>
        <p:spPr>
          <a:xfrm>
            <a:off x="2" y="6492875"/>
            <a:ext cx="12191998" cy="365125"/>
          </a:xfrm>
          <a:solidFill>
            <a:srgbClr val="002060"/>
          </a:solidFill>
        </p:spPr>
        <p:txBody>
          <a:bodyPr/>
          <a:lstStyle/>
          <a:p>
            <a:pPr algn="l"/>
            <a:r>
              <a:rPr lang="en-US" b="1" dirty="0">
                <a:solidFill>
                  <a:schemeClr val="bg1"/>
                </a:solidFill>
                <a:latin typeface="Times New Roman" panose="02020603050405020304" pitchFamily="18" charset="0"/>
                <a:cs typeface="Times New Roman" panose="02020603050405020304" pitchFamily="18" charset="0"/>
              </a:rPr>
              <a:t>Dept. of Electronics and Communication Engineering, NMIT, Bengaluru                                                                                                                                                                                             2                     </a:t>
            </a:r>
            <a:endParaRPr lang="en-IN"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374017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D393A-8365-3C41-2C17-6494BBBD7105}"/>
              </a:ext>
            </a:extLst>
          </p:cNvPr>
          <p:cNvSpPr>
            <a:spLocks noGrp="1"/>
          </p:cNvSpPr>
          <p:nvPr>
            <p:ph type="title"/>
          </p:nvPr>
        </p:nvSpPr>
        <p:spPr>
          <a:xfrm>
            <a:off x="0" y="1"/>
            <a:ext cx="12192000" cy="662939"/>
          </a:xfrm>
          <a:solidFill>
            <a:srgbClr val="002060"/>
          </a:solidFill>
        </p:spPr>
        <p:txBody>
          <a:bodyPr>
            <a:normAutofit fontScale="90000"/>
          </a:bodyPr>
          <a:lstStyle/>
          <a:p>
            <a:pPr algn="ctr"/>
            <a:r>
              <a:rPr lang="en-US" sz="4800" b="1" dirty="0">
                <a:solidFill>
                  <a:schemeClr val="bg1"/>
                </a:solidFill>
                <a:latin typeface="Times New Roman" panose="02020603050405020304" pitchFamily="18" charset="0"/>
                <a:cs typeface="Times New Roman" panose="02020603050405020304" pitchFamily="18" charset="0"/>
              </a:rPr>
              <a:t>Project Objectives</a:t>
            </a:r>
            <a:endParaRPr lang="en-IN" sz="4800" b="1" dirty="0">
              <a:solidFill>
                <a:schemeClr val="bg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B6D72A9-5B77-2FAD-A296-659695D34C01}"/>
              </a:ext>
            </a:extLst>
          </p:cNvPr>
          <p:cNvSpPr>
            <a:spLocks noGrp="1"/>
          </p:cNvSpPr>
          <p:nvPr>
            <p:ph idx="1"/>
          </p:nvPr>
        </p:nvSpPr>
        <p:spPr>
          <a:xfrm>
            <a:off x="1" y="1087643"/>
            <a:ext cx="12191999" cy="4980528"/>
          </a:xfrm>
        </p:spPr>
        <p:txBody>
          <a:bodyPr>
            <a:normAutofit/>
          </a:bodyPr>
          <a:lstStyle/>
          <a:p>
            <a:pPr marL="0" indent="0" algn="just">
              <a:lnSpc>
                <a:spcPct val="115000"/>
              </a:lnSpc>
              <a:spcAft>
                <a:spcPts val="1000"/>
              </a:spcAft>
              <a:buNone/>
            </a:pPr>
            <a:r>
              <a:rPr lang="en-US" sz="2400" b="1"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The following are the </a:t>
            </a:r>
            <a:r>
              <a:rPr lang="en-US" sz="2400" b="1"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Finalized </a:t>
            </a:r>
            <a:r>
              <a:rPr lang="en-US" sz="2400" b="1"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objectives of the project:</a:t>
            </a:r>
            <a:endParaRPr lang="en-IN" sz="2400" b="1"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1. To develop a BLE-based mobile communication backbone for transmitting real-time patient vitals to a mobile application, which securely forwards data to the cloud using MQTT over TLS, with CoAP as a backup.</a:t>
            </a:r>
          </a:p>
          <a:p>
            <a:pPr marL="0" indent="0">
              <a:buNone/>
            </a:pPr>
            <a:r>
              <a:rPr lang="en-US" sz="2400" dirty="0">
                <a:latin typeface="Times New Roman" panose="02020603050405020304" pitchFamily="18" charset="0"/>
                <a:cs typeface="Times New Roman" panose="02020603050405020304" pitchFamily="18" charset="0"/>
              </a:rPr>
              <a:t>2. To integrate the existing patient health monitoring system with the mobile communication backbone for continuous vital acquisition, transmission, and remote monitoring during ambulance transit.</a:t>
            </a:r>
          </a:p>
          <a:p>
            <a:pPr marL="0" indent="0">
              <a:buNone/>
            </a:pPr>
            <a:r>
              <a:rPr lang="en-US" sz="2400" dirty="0">
                <a:latin typeface="Times New Roman" panose="02020603050405020304" pitchFamily="18" charset="0"/>
                <a:cs typeface="Times New Roman" panose="02020603050405020304" pitchFamily="18" charset="0"/>
              </a:rPr>
              <a:t>3. To implement RTOS-based concurrent task management for sensor acquisition, vital processing, communication, and local display, ensuring responsive and reliable operation.</a:t>
            </a:r>
          </a:p>
          <a:p>
            <a:pPr marL="0" indent="0">
              <a:buNone/>
            </a:pPr>
            <a:r>
              <a:rPr lang="en-US" sz="2400" dirty="0">
                <a:latin typeface="Times New Roman" panose="02020603050405020304" pitchFamily="18" charset="0"/>
                <a:cs typeface="Times New Roman" panose="02020603050405020304" pitchFamily="18" charset="0"/>
              </a:rPr>
              <a:t>4. To develop an ML-based patient risk prediction module that analyses real-time vitals, identifies potential deterioration, and classifies patient risk levels for early clinical assessment.</a:t>
            </a:r>
          </a:p>
        </p:txBody>
      </p:sp>
      <p:sp>
        <p:nvSpPr>
          <p:cNvPr id="4" name="Footer Placeholder 3">
            <a:extLst>
              <a:ext uri="{FF2B5EF4-FFF2-40B4-BE49-F238E27FC236}">
                <a16:creationId xmlns:a16="http://schemas.microsoft.com/office/drawing/2014/main" id="{3D9C6012-FCED-4937-A4AB-8CEEC135A13C}"/>
              </a:ext>
            </a:extLst>
          </p:cNvPr>
          <p:cNvSpPr>
            <a:spLocks noGrp="1"/>
          </p:cNvSpPr>
          <p:nvPr>
            <p:ph type="ftr" sz="quarter" idx="11"/>
          </p:nvPr>
        </p:nvSpPr>
        <p:spPr>
          <a:xfrm>
            <a:off x="2" y="6492875"/>
            <a:ext cx="12191998" cy="365125"/>
          </a:xfrm>
          <a:solidFill>
            <a:srgbClr val="002060"/>
          </a:solidFill>
        </p:spPr>
        <p:txBody>
          <a:bodyPr/>
          <a:lstStyle/>
          <a:p>
            <a:pPr algn="l"/>
            <a:r>
              <a:rPr lang="en-US" b="1" dirty="0">
                <a:solidFill>
                  <a:schemeClr val="bg1"/>
                </a:solidFill>
                <a:latin typeface="Times New Roman" panose="02020603050405020304" pitchFamily="18" charset="0"/>
                <a:cs typeface="Times New Roman" panose="02020603050405020304" pitchFamily="18" charset="0"/>
              </a:rPr>
              <a:t>Dept. of Electronics and Communication Engineering, NMIT, Bengaluru                                                                                                                                                                                             8                     </a:t>
            </a:r>
            <a:endParaRPr lang="en-IN"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834287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D393A-8365-3C41-2C17-6494BBBD7105}"/>
              </a:ext>
            </a:extLst>
          </p:cNvPr>
          <p:cNvSpPr>
            <a:spLocks noGrp="1"/>
          </p:cNvSpPr>
          <p:nvPr>
            <p:ph type="title"/>
          </p:nvPr>
        </p:nvSpPr>
        <p:spPr>
          <a:xfrm>
            <a:off x="0" y="1"/>
            <a:ext cx="12192000" cy="720089"/>
          </a:xfrm>
          <a:solidFill>
            <a:srgbClr val="002060"/>
          </a:solidFill>
        </p:spPr>
        <p:txBody>
          <a:bodyPr>
            <a:normAutofit fontScale="90000"/>
          </a:bodyPr>
          <a:lstStyle/>
          <a:p>
            <a:pPr algn="ctr"/>
            <a:r>
              <a:rPr lang="en-US" sz="4800" b="1" dirty="0">
                <a:solidFill>
                  <a:schemeClr val="bg1"/>
                </a:solidFill>
                <a:latin typeface="Times New Roman" panose="02020603050405020304" pitchFamily="18" charset="0"/>
                <a:cs typeface="Times New Roman" panose="02020603050405020304" pitchFamily="18" charset="0"/>
              </a:rPr>
              <a:t>Architecture</a:t>
            </a:r>
          </a:p>
        </p:txBody>
      </p:sp>
      <p:pic>
        <p:nvPicPr>
          <p:cNvPr id="6" name="Content Placeholder 5">
            <a:extLst>
              <a:ext uri="{FF2B5EF4-FFF2-40B4-BE49-F238E27FC236}">
                <a16:creationId xmlns:a16="http://schemas.microsoft.com/office/drawing/2014/main" id="{B5C16895-2E20-D22E-D3B7-58A798CEE46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44661" y="717979"/>
            <a:ext cx="7702677" cy="5777008"/>
          </a:xfrm>
          <a:prstGeom prst="rect">
            <a:avLst/>
          </a:prstGeom>
        </p:spPr>
      </p:pic>
      <p:sp>
        <p:nvSpPr>
          <p:cNvPr id="4" name="Footer Placeholder 3">
            <a:extLst>
              <a:ext uri="{FF2B5EF4-FFF2-40B4-BE49-F238E27FC236}">
                <a16:creationId xmlns:a16="http://schemas.microsoft.com/office/drawing/2014/main" id="{3D9C6012-FCED-4937-A4AB-8CEEC135A13C}"/>
              </a:ext>
            </a:extLst>
          </p:cNvPr>
          <p:cNvSpPr>
            <a:spLocks noGrp="1"/>
          </p:cNvSpPr>
          <p:nvPr>
            <p:ph type="ftr" sz="quarter" idx="11"/>
          </p:nvPr>
        </p:nvSpPr>
        <p:spPr>
          <a:xfrm>
            <a:off x="2" y="6492875"/>
            <a:ext cx="12191998" cy="365125"/>
          </a:xfrm>
          <a:solidFill>
            <a:srgbClr val="002060"/>
          </a:solidFill>
        </p:spPr>
        <p:txBody>
          <a:bodyPr/>
          <a:lstStyle/>
          <a:p>
            <a:pPr algn="l"/>
            <a:r>
              <a:rPr lang="en-US" b="1" dirty="0">
                <a:solidFill>
                  <a:schemeClr val="bg1"/>
                </a:solidFill>
                <a:latin typeface="Times New Roman" panose="02020603050405020304" pitchFamily="18" charset="0"/>
                <a:cs typeface="Times New Roman" panose="02020603050405020304" pitchFamily="18" charset="0"/>
              </a:rPr>
              <a:t>Dept. of Electronics and Communication Engineering, NMIT, Bengaluru                                                                                                                                                                                             8                     </a:t>
            </a:r>
            <a:endParaRPr lang="en-IN"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33596377"/>
      </p:ext>
    </p:extLst>
  </p:cSld>
  <p:clrMapOvr>
    <a:masterClrMapping/>
  </p:clrMapOvr>
</p:sld>
</file>

<file path=ppt/slides/slide5.xml><?xml version="1.0" encoding="utf-8"?>
<p:sld xmlns:p="http://schemas.openxmlformats.org/presentationml/2006/main">
  <p:cSld>
    <p:spTree>
      <p:nvGrpSpPr>
        <p:cNvPr id="1" name=""/>
        <p:cNvGrpSpPr/>
        <p:nvPr/>
      </p:nvGrpSpPr>
      <p:grpSpPr>
        <a:xfrm xmlns:a="http://schemas.openxmlformats.org/drawingml/2006/main"/>
      </p:grpSpPr>
      <p:cxnSp>
        <p:nvCxnSpPr>
          <p:cNvPr id="15" name="">
            <a:extLst xmlns:a="http://schemas.openxmlformats.org/drawingml/2006/main">
              <a:ext uri="{FF2B5EF4-FFF2-40B4-BE49-F238E27FC236}">
                <a16:creationId xmlns:a16="http://schemas.microsoft.com/office/drawing/2014/main" id="{543147E5-7AE6-4C6D-98A7-186F80DD2148}"/>
              </a:ext>
            </a:extLst>
          </p:cNvPr>
          <p:cNvCxnSpPr>
            <a:stCxn xmlns:a="http://schemas.openxmlformats.org/drawingml/2006/main" id="9" idx="1"/>
            <a:endCxn xmlns:a="http://schemas.openxmlformats.org/drawingml/2006/main" id="10" idx="3"/>
          </p:cNvCxnSpPr>
          <p:nvPr/>
        </p:nvCxnSpPr>
        <p:spPr>
          <a:xfrm xmlns:a="http://schemas.openxmlformats.org/drawingml/2006/main" flipH="1">
            <a:off x="3714750" y="4310063"/>
            <a:ext cx="857250" cy="0"/>
          </a:xfrm>
          <a:prstGeom xmlns:a="http://schemas.openxmlformats.org/drawingml/2006/main" prst="straightConnector1">
            <a:avLst/>
          </a:prstGeom>
          <a:ln xmlns:a="http://schemas.openxmlformats.org/drawingml/2006/main" w="19050">
            <a:solidFill>
              <a:srgbClr val="002060"/>
            </a:solidFill>
            <a:tailEnd type="arrow" w="med" len="med"/>
          </a:ln>
        </p:spPr>
      </p:cxnSp>
      <p:cxnSp>
        <p:nvCxnSpPr>
          <p:cNvPr id="14" name="">
            <a:extLst xmlns:a="http://schemas.openxmlformats.org/drawingml/2006/main">
              <a:ext uri="{FF2B5EF4-FFF2-40B4-BE49-F238E27FC236}">
                <a16:creationId xmlns:a16="http://schemas.microsoft.com/office/drawing/2014/main" id="{510E4F8F-4B8D-4A3B-9DF5-1E376261B473}"/>
              </a:ext>
            </a:extLst>
          </p:cNvPr>
          <p:cNvCxnSpPr>
            <a:stCxn xmlns:a="http://schemas.openxmlformats.org/drawingml/2006/main" id="8" idx="1"/>
            <a:endCxn xmlns:a="http://schemas.openxmlformats.org/drawingml/2006/main" id="9" idx="3"/>
          </p:cNvCxnSpPr>
          <p:nvPr/>
        </p:nvCxnSpPr>
        <p:spPr>
          <a:xfrm xmlns:a="http://schemas.openxmlformats.org/drawingml/2006/main" flipH="1">
            <a:off x="7620000" y="4310063"/>
            <a:ext cx="857250" cy="0"/>
          </a:xfrm>
          <a:prstGeom xmlns:a="http://schemas.openxmlformats.org/drawingml/2006/main" prst="straightConnector1">
            <a:avLst/>
          </a:prstGeom>
          <a:ln xmlns:a="http://schemas.openxmlformats.org/drawingml/2006/main" w="19050">
            <a:solidFill>
              <a:srgbClr val="002060"/>
            </a:solidFill>
            <a:tailEnd type="arrow" w="med" len="med"/>
          </a:ln>
        </p:spPr>
      </p:cxnSp>
      <p:cxnSp>
        <p:nvCxnSpPr>
          <p:cNvPr id="13" name="">
            <a:extLst xmlns:a="http://schemas.openxmlformats.org/drawingml/2006/main">
              <a:ext uri="{FF2B5EF4-FFF2-40B4-BE49-F238E27FC236}">
                <a16:creationId xmlns:a16="http://schemas.microsoft.com/office/drawing/2014/main" id="{B73E4117-5B76-4E5A-8BB5-34C221B82F7E}"/>
              </a:ext>
            </a:extLst>
          </p:cNvPr>
          <p:cNvCxnSpPr>
            <a:stCxn xmlns:a="http://schemas.openxmlformats.org/drawingml/2006/main" id="7" idx="2"/>
            <a:endCxn xmlns:a="http://schemas.openxmlformats.org/drawingml/2006/main" id="8" idx="0"/>
          </p:cNvCxnSpPr>
          <p:nvPr/>
        </p:nvCxnSpPr>
        <p:spPr>
          <a:xfrm xmlns:a="http://schemas.openxmlformats.org/drawingml/2006/main">
            <a:off x="10001250" y="2476500"/>
            <a:ext cx="0" cy="1285875"/>
          </a:xfrm>
          <a:prstGeom xmlns:a="http://schemas.openxmlformats.org/drawingml/2006/main" prst="straightConnector1">
            <a:avLst/>
          </a:prstGeom>
          <a:ln xmlns:a="http://schemas.openxmlformats.org/drawingml/2006/main" w="19050">
            <a:solidFill>
              <a:srgbClr val="002060"/>
            </a:solidFill>
            <a:tailEnd type="arrow" w="med" len="med"/>
          </a:ln>
        </p:spPr>
      </p:cxnSp>
      <p:cxnSp>
        <p:nvCxnSpPr>
          <p:cNvPr id="12" name="">
            <a:extLst xmlns:a="http://schemas.openxmlformats.org/drawingml/2006/main">
              <a:ext uri="{FF2B5EF4-FFF2-40B4-BE49-F238E27FC236}">
                <a16:creationId xmlns:a16="http://schemas.microsoft.com/office/drawing/2014/main" id="{09070000-C21C-4BC7-BF91-30BCC364F0F6}"/>
              </a:ext>
            </a:extLst>
          </p:cNvPr>
          <p:cNvCxnSpPr>
            <a:stCxn xmlns:a="http://schemas.openxmlformats.org/drawingml/2006/main" id="6" idx="3"/>
            <a:endCxn xmlns:a="http://schemas.openxmlformats.org/drawingml/2006/main" id="7" idx="1"/>
          </p:cNvCxnSpPr>
          <p:nvPr/>
        </p:nvCxnSpPr>
        <p:spPr>
          <a:xfrm xmlns:a="http://schemas.openxmlformats.org/drawingml/2006/main">
            <a:off x="7620000" y="1928813"/>
            <a:ext cx="857250" cy="0"/>
          </a:xfrm>
          <a:prstGeom xmlns:a="http://schemas.openxmlformats.org/drawingml/2006/main" prst="straightConnector1">
            <a:avLst/>
          </a:prstGeom>
          <a:ln xmlns:a="http://schemas.openxmlformats.org/drawingml/2006/main" w="19050">
            <a:solidFill>
              <a:srgbClr val="002060"/>
            </a:solidFill>
            <a:tailEnd type="arrow" w="med" len="med"/>
          </a:ln>
        </p:spPr>
      </p:cxnSp>
      <p:cxnSp>
        <p:nvCxnSpPr>
          <p:cNvPr id="11" name="">
            <a:extLst xmlns:a="http://schemas.openxmlformats.org/drawingml/2006/main">
              <a:ext uri="{FF2B5EF4-FFF2-40B4-BE49-F238E27FC236}">
                <a16:creationId xmlns:a16="http://schemas.microsoft.com/office/drawing/2014/main" id="{004B0B8E-68C5-4015-ABFD-87E112F549F5}"/>
              </a:ext>
            </a:extLst>
          </p:cNvPr>
          <p:cNvCxnSpPr>
            <a:stCxn xmlns:a="http://schemas.openxmlformats.org/drawingml/2006/main" id="5" idx="3"/>
            <a:endCxn xmlns:a="http://schemas.openxmlformats.org/drawingml/2006/main" id="6" idx="1"/>
          </p:cNvCxnSpPr>
          <p:nvPr/>
        </p:nvCxnSpPr>
        <p:spPr>
          <a:xfrm xmlns:a="http://schemas.openxmlformats.org/drawingml/2006/main">
            <a:off x="3714750" y="1928813"/>
            <a:ext cx="857250" cy="0"/>
          </a:xfrm>
          <a:prstGeom xmlns:a="http://schemas.openxmlformats.org/drawingml/2006/main" prst="straightConnector1">
            <a:avLst/>
          </a:prstGeom>
          <a:ln xmlns:a="http://schemas.openxmlformats.org/drawingml/2006/main" w="19050">
            <a:solidFill>
              <a:srgbClr val="002060"/>
            </a:solidFill>
            <a:tailEnd type="arrow" w="med" len="med"/>
          </a:ln>
        </p:spPr>
      </p:cxnSp>
      <p:sp>
        <p:nvSpPr>
          <p:cNvPr id="2" name="Title 1">
            <a:extLst xmlns:a="http://schemas.openxmlformats.org/drawingml/2006/main">
              <a:ext uri="{FF2B5EF4-FFF2-40B4-BE49-F238E27FC236}">
                <a16:creationId xmlns:a16="http://schemas.microsoft.com/office/drawing/2014/main" id="{54CD393A-8365-3C41-2C17-6494BBBD7105}"/>
              </a:ext>
            </a:extLst>
          </p:cNvPr>
          <p:cNvSpPr>
            <a:spLocks xmlns:a="http://schemas.openxmlformats.org/drawingml/2006/main" noGrp="1"/>
          </p:cNvSpPr>
          <p:nvPr>
            <p:ph type="title" idx="0"/>
          </p:nvPr>
        </p:nvSpPr>
        <p:spPr>
          <a:xfrm xmlns:a="http://schemas.openxmlformats.org/drawingml/2006/main">
            <a:off x="0" y="0"/>
            <a:ext cx="12192000" cy="762000"/>
          </a:xfrm>
          <a:prstGeom xmlns:a="http://schemas.openxmlformats.org/drawingml/2006/main" prst="rect">
            <a:avLst/>
          </a:prstGeom>
          <a:solidFill xmlns:a="http://schemas.openxmlformats.org/drawingml/2006/main">
            <a:srgbClr val="002060"/>
          </a:solidFill>
        </p:spPr>
        <p:txBody>
          <a:bodyPr xmlns:a="http://schemas.openxmlformats.org/drawingml/2006/main">
            <a:normAutofit fontScale="100000"/>
          </a:bodyPr>
          <a:lstStyle xmlns:a="http://schemas.openxmlformats.org/drawingml/2006/main">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xmlns:a="http://schemas.openxmlformats.org/drawingml/2006/main">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BLE Communication Workflow</a:t>
            </a:r>
          </a:p>
        </p:txBody>
      </p:sp>
      <p:sp>
        <p:nvSpPr>
          <p:cNvPr id="4" name="Footer Placeholder 3">
            <a:extLst xmlns:a="http://schemas.openxmlformats.org/drawingml/2006/main">
              <a:ext uri="{FF2B5EF4-FFF2-40B4-BE49-F238E27FC236}">
                <a16:creationId xmlns:a16="http://schemas.microsoft.com/office/drawing/2014/main" id="{3D9C6012-FCED-4937-A4AB-8CEEC135A13C}"/>
              </a:ext>
            </a:extLst>
          </p:cNvPr>
          <p:cNvSpPr>
            <a:spLocks xmlns:a="http://schemas.openxmlformats.org/drawingml/2006/main" noGrp="1"/>
          </p:cNvSpPr>
          <p:nvPr>
            <p:ph type="ftr" idx="11"/>
          </p:nvPr>
        </p:nvSpPr>
        <p:spPr>
          <a:xfrm xmlns:a="http://schemas.openxmlformats.org/drawingml/2006/main">
            <a:off x="0" y="6492907"/>
            <a:ext cx="12192000" cy="365093"/>
          </a:xfrm>
          <a:prstGeom xmlns:a="http://schemas.openxmlformats.org/drawingml/2006/main" prst="rect">
            <a:avLst/>
          </a:prstGeom>
          <a:solidFill xmlns:a="http://schemas.openxmlformats.org/drawingml/2006/main">
            <a:srgbClr val="002060"/>
          </a:solidFill>
        </p:spPr>
        <p:txBody>
          <a:bodyPr xmlns:a="http://schemas.openxmlformats.org/drawingml/2006/main"/>
          <a:lstStyle xmlns:a="http://schemas.openxmlformats.org/drawingml/2006/main">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xmlns:a="http://schemas.openxmlformats.org/drawingml/2006/main">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sp>
        <p:nvSpPr>
          <p:cNvPr id="5" name="Scan for&#10;Smart_Ambulance">
            <a:extLst xmlns:a="http://schemas.openxmlformats.org/drawingml/2006/main">
              <a:ext uri="{FF2B5EF4-FFF2-40B4-BE49-F238E27FC236}">
                <a16:creationId xmlns:a16="http://schemas.microsoft.com/office/drawing/2014/main" id="{3EC534E1-DB52-4D82-BC53-5163A72AFED6}"/>
              </a:ext>
            </a:extLst>
          </p:cNvPr>
          <p:cNvSpPr>
            <a:spLocks xmlns:a="http://schemas.openxmlformats.org/drawingml/2006/main" noGrp="1"/>
          </p:cNvSpPr>
          <p:nvPr/>
        </p:nvSpPr>
        <p:spPr>
          <a:xfrm xmlns:a="http://schemas.openxmlformats.org/drawingml/2006/main">
            <a:off x="666750" y="1381125"/>
            <a:ext cx="3048000" cy="1095375"/>
          </a:xfrm>
          <a:prstGeom xmlns:a="http://schemas.openxmlformats.org/drawingml/2006/main" prst="rect">
            <a:avLst/>
          </a:prstGeom>
          <a:solidFill xmlns:a="http://schemas.openxmlformats.org/drawingml/2006/main">
            <a:srgbClr val="EDF3F9"/>
          </a:solidFill>
          <a:ln xmlns:a="http://schemas.openxmlformats.org/drawingml/2006/main" w="14288">
            <a:solidFill>
              <a:srgbClr val="002060"/>
            </a:solidFill>
          </a:ln>
        </p:spPr>
        <p:txBody>
          <a:bodyPr xmlns:a="http://schemas.openxmlformats.org/drawingml/2006/main" lIns="76200" tIns="76200" rIns="76200" bIns="76200" anchor="ctr"/>
          <a:lstStyle xmlns:a="http://schemas.openxmlformats.org/drawingml/2006/main">
            <a:defPPr algn="ctr">
              <a:defRPr sz="2175" b="1">
                <a:solidFill>
                  <a:srgbClr val="002060"/>
                </a:solidFill>
                <a:latin typeface="Times New Roman"/>
                <a:ea typeface="Times New Roman"/>
                <a:cs typeface="Times New Roman"/>
              </a:defRPr>
            </a:defPPr>
            <a:lvl1pPr algn="ctr">
              <a:defRPr sz="2175" b="1">
                <a:solidFill>
                  <a:srgbClr val="002060"/>
                </a:solidFill>
                <a:latin typeface="Times New Roman"/>
                <a:ea typeface="Times New Roman"/>
                <a:cs typeface="Times New Roman"/>
              </a:defRPr>
            </a:lvl1pPr>
            <a:lvl2pPr algn="ctr">
              <a:defRPr sz="2175" b="1">
                <a:solidFill>
                  <a:srgbClr val="002060"/>
                </a:solidFill>
                <a:latin typeface="Times New Roman"/>
                <a:ea typeface="Times New Roman"/>
                <a:cs typeface="Times New Roman"/>
              </a:defRPr>
            </a:lvl2pPr>
            <a:lvl3pPr algn="ctr">
              <a:defRPr sz="2175" b="1">
                <a:solidFill>
                  <a:srgbClr val="002060"/>
                </a:solidFill>
                <a:latin typeface="Times New Roman"/>
                <a:ea typeface="Times New Roman"/>
                <a:cs typeface="Times New Roman"/>
              </a:defRPr>
            </a:lvl3pPr>
            <a:lvl4pPr algn="ctr">
              <a:defRPr sz="2175" b="1">
                <a:solidFill>
                  <a:srgbClr val="002060"/>
                </a:solidFill>
                <a:latin typeface="Times New Roman"/>
                <a:ea typeface="Times New Roman"/>
                <a:cs typeface="Times New Roman"/>
              </a:defRPr>
            </a:lvl4pPr>
            <a:lvl5pPr algn="ctr">
              <a:defRPr sz="2175" b="1">
                <a:solidFill>
                  <a:srgbClr val="002060"/>
                </a:solidFill>
                <a:latin typeface="Times New Roman"/>
                <a:ea typeface="Times New Roman"/>
                <a:cs typeface="Times New Roman"/>
              </a:defRPr>
            </a:lvl5pPr>
            <a:lvl6pPr algn="ctr">
              <a:defRPr sz="2175" b="1">
                <a:solidFill>
                  <a:srgbClr val="002060"/>
                </a:solidFill>
                <a:latin typeface="Times New Roman"/>
                <a:ea typeface="Times New Roman"/>
                <a:cs typeface="Times New Roman"/>
              </a:defRPr>
            </a:lvl6pPr>
            <a:lvl7pPr algn="ctr">
              <a:defRPr sz="2175" b="1">
                <a:solidFill>
                  <a:srgbClr val="002060"/>
                </a:solidFill>
                <a:latin typeface="Times New Roman"/>
                <a:ea typeface="Times New Roman"/>
                <a:cs typeface="Times New Roman"/>
              </a:defRPr>
            </a:lvl7pPr>
            <a:lvl8pPr algn="ctr">
              <a:defRPr sz="2175" b="1">
                <a:solidFill>
                  <a:srgbClr val="002060"/>
                </a:solidFill>
                <a:latin typeface="Times New Roman"/>
                <a:ea typeface="Times New Roman"/>
                <a:cs typeface="Times New Roman"/>
              </a:defRPr>
            </a:lvl8pPr>
            <a:lvl9pPr algn="ctr">
              <a:defRPr sz="2175" b="1">
                <a:solidFill>
                  <a:srgbClr val="002060"/>
                </a:solidFill>
                <a:latin typeface="Times New Roman"/>
                <a:ea typeface="Times New Roman"/>
                <a:cs typeface="Times New Roman"/>
              </a:defRPr>
            </a:lvl9pPr>
          </a:lstStyle>
          <a:p xmlns:a="http://schemas.openxmlformats.org/drawingml/2006/main">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Scan for</a:t>
            </a:r>
          </a:p>
          <a:p xmlns:a="http://schemas.openxmlformats.org/drawingml/2006/main">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Smart_Ambulance</a:t>
            </a:r>
          </a:p>
        </p:txBody>
      </p:sp>
      <p:sp>
        <p:nvSpPr>
          <p:cNvPr id="6" name="Connect and&#10;encrypt link">
            <a:extLst xmlns:a="http://schemas.openxmlformats.org/drawingml/2006/main">
              <a:ext uri="{FF2B5EF4-FFF2-40B4-BE49-F238E27FC236}">
                <a16:creationId xmlns:a16="http://schemas.microsoft.com/office/drawing/2014/main" id="{70D61D34-2748-45DF-9DE5-B2FE4FE041BA}"/>
              </a:ext>
            </a:extLst>
          </p:cNvPr>
          <p:cNvSpPr>
            <a:spLocks xmlns:a="http://schemas.openxmlformats.org/drawingml/2006/main" noGrp="1"/>
          </p:cNvSpPr>
          <p:nvPr/>
        </p:nvSpPr>
        <p:spPr>
          <a:xfrm xmlns:a="http://schemas.openxmlformats.org/drawingml/2006/main">
            <a:off x="4572000" y="1381125"/>
            <a:ext cx="3048000" cy="1095375"/>
          </a:xfrm>
          <a:prstGeom xmlns:a="http://schemas.openxmlformats.org/drawingml/2006/main" prst="rect">
            <a:avLst/>
          </a:prstGeom>
          <a:solidFill xmlns:a="http://schemas.openxmlformats.org/drawingml/2006/main">
            <a:srgbClr val="EDF3F9"/>
          </a:solidFill>
          <a:ln xmlns:a="http://schemas.openxmlformats.org/drawingml/2006/main" w="14288">
            <a:solidFill>
              <a:srgbClr val="002060"/>
            </a:solidFill>
          </a:ln>
        </p:spPr>
        <p:txBody>
          <a:bodyPr xmlns:a="http://schemas.openxmlformats.org/drawingml/2006/main" lIns="76200" tIns="76200" rIns="76200" bIns="76200" anchor="ctr"/>
          <a:lstStyle xmlns:a="http://schemas.openxmlformats.org/drawingml/2006/main">
            <a:defPPr algn="ctr">
              <a:defRPr sz="2175" b="1">
                <a:solidFill>
                  <a:srgbClr val="002060"/>
                </a:solidFill>
                <a:latin typeface="Times New Roman"/>
                <a:ea typeface="Times New Roman"/>
                <a:cs typeface="Times New Roman"/>
              </a:defRPr>
            </a:defPPr>
            <a:lvl1pPr algn="ctr">
              <a:defRPr sz="2175" b="1">
                <a:solidFill>
                  <a:srgbClr val="002060"/>
                </a:solidFill>
                <a:latin typeface="Times New Roman"/>
                <a:ea typeface="Times New Roman"/>
                <a:cs typeface="Times New Roman"/>
              </a:defRPr>
            </a:lvl1pPr>
            <a:lvl2pPr algn="ctr">
              <a:defRPr sz="2175" b="1">
                <a:solidFill>
                  <a:srgbClr val="002060"/>
                </a:solidFill>
                <a:latin typeface="Times New Roman"/>
                <a:ea typeface="Times New Roman"/>
                <a:cs typeface="Times New Roman"/>
              </a:defRPr>
            </a:lvl2pPr>
            <a:lvl3pPr algn="ctr">
              <a:defRPr sz="2175" b="1">
                <a:solidFill>
                  <a:srgbClr val="002060"/>
                </a:solidFill>
                <a:latin typeface="Times New Roman"/>
                <a:ea typeface="Times New Roman"/>
                <a:cs typeface="Times New Roman"/>
              </a:defRPr>
            </a:lvl3pPr>
            <a:lvl4pPr algn="ctr">
              <a:defRPr sz="2175" b="1">
                <a:solidFill>
                  <a:srgbClr val="002060"/>
                </a:solidFill>
                <a:latin typeface="Times New Roman"/>
                <a:ea typeface="Times New Roman"/>
                <a:cs typeface="Times New Roman"/>
              </a:defRPr>
            </a:lvl4pPr>
            <a:lvl5pPr algn="ctr">
              <a:defRPr sz="2175" b="1">
                <a:solidFill>
                  <a:srgbClr val="002060"/>
                </a:solidFill>
                <a:latin typeface="Times New Roman"/>
                <a:ea typeface="Times New Roman"/>
                <a:cs typeface="Times New Roman"/>
              </a:defRPr>
            </a:lvl5pPr>
            <a:lvl6pPr algn="ctr">
              <a:defRPr sz="2175" b="1">
                <a:solidFill>
                  <a:srgbClr val="002060"/>
                </a:solidFill>
                <a:latin typeface="Times New Roman"/>
                <a:ea typeface="Times New Roman"/>
                <a:cs typeface="Times New Roman"/>
              </a:defRPr>
            </a:lvl6pPr>
            <a:lvl7pPr algn="ctr">
              <a:defRPr sz="2175" b="1">
                <a:solidFill>
                  <a:srgbClr val="002060"/>
                </a:solidFill>
                <a:latin typeface="Times New Roman"/>
                <a:ea typeface="Times New Roman"/>
                <a:cs typeface="Times New Roman"/>
              </a:defRPr>
            </a:lvl7pPr>
            <a:lvl8pPr algn="ctr">
              <a:defRPr sz="2175" b="1">
                <a:solidFill>
                  <a:srgbClr val="002060"/>
                </a:solidFill>
                <a:latin typeface="Times New Roman"/>
                <a:ea typeface="Times New Roman"/>
                <a:cs typeface="Times New Roman"/>
              </a:defRPr>
            </a:lvl8pPr>
            <a:lvl9pPr algn="ctr">
              <a:defRPr sz="2175" b="1">
                <a:solidFill>
                  <a:srgbClr val="002060"/>
                </a:solidFill>
                <a:latin typeface="Times New Roman"/>
                <a:ea typeface="Times New Roman"/>
                <a:cs typeface="Times New Roman"/>
              </a:defRPr>
            </a:lvl9pPr>
          </a:lstStyle>
          <a:p xmlns:a="http://schemas.openxmlformats.org/drawingml/2006/main">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Connect and</a:t>
            </a:r>
          </a:p>
          <a:p xmlns:a="http://schemas.openxmlformats.org/drawingml/2006/main">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encrypt link</a:t>
            </a:r>
          </a:p>
        </p:txBody>
      </p:sp>
      <p:sp>
        <p:nvSpPr>
          <p:cNvPr id="7" name="Discover GHSS&#10;and subscribe">
            <a:extLst xmlns:a="http://schemas.openxmlformats.org/drawingml/2006/main">
              <a:ext uri="{FF2B5EF4-FFF2-40B4-BE49-F238E27FC236}">
                <a16:creationId xmlns:a16="http://schemas.microsoft.com/office/drawing/2014/main" id="{752EE862-24C5-4C2C-BFD8-42C07AA96859}"/>
              </a:ext>
            </a:extLst>
          </p:cNvPr>
          <p:cNvSpPr>
            <a:spLocks xmlns:a="http://schemas.openxmlformats.org/drawingml/2006/main" noGrp="1"/>
          </p:cNvSpPr>
          <p:nvPr/>
        </p:nvSpPr>
        <p:spPr>
          <a:xfrm xmlns:a="http://schemas.openxmlformats.org/drawingml/2006/main">
            <a:off x="8477250" y="1381125"/>
            <a:ext cx="3048000" cy="1095375"/>
          </a:xfrm>
          <a:prstGeom xmlns:a="http://schemas.openxmlformats.org/drawingml/2006/main" prst="rect">
            <a:avLst/>
          </a:prstGeom>
          <a:solidFill xmlns:a="http://schemas.openxmlformats.org/drawingml/2006/main">
            <a:srgbClr val="EDF3F9"/>
          </a:solidFill>
          <a:ln xmlns:a="http://schemas.openxmlformats.org/drawingml/2006/main" w="14288">
            <a:solidFill>
              <a:srgbClr val="002060"/>
            </a:solidFill>
          </a:ln>
        </p:spPr>
        <p:txBody>
          <a:bodyPr xmlns:a="http://schemas.openxmlformats.org/drawingml/2006/main" lIns="76200" tIns="76200" rIns="76200" bIns="76200" anchor="ctr"/>
          <a:lstStyle xmlns:a="http://schemas.openxmlformats.org/drawingml/2006/main">
            <a:defPPr algn="ctr">
              <a:defRPr sz="2175" b="1">
                <a:solidFill>
                  <a:srgbClr val="002060"/>
                </a:solidFill>
                <a:latin typeface="Times New Roman"/>
                <a:ea typeface="Times New Roman"/>
                <a:cs typeface="Times New Roman"/>
              </a:defRPr>
            </a:defPPr>
            <a:lvl1pPr algn="ctr">
              <a:defRPr sz="2175" b="1">
                <a:solidFill>
                  <a:srgbClr val="002060"/>
                </a:solidFill>
                <a:latin typeface="Times New Roman"/>
                <a:ea typeface="Times New Roman"/>
                <a:cs typeface="Times New Roman"/>
              </a:defRPr>
            </a:lvl1pPr>
            <a:lvl2pPr algn="ctr">
              <a:defRPr sz="2175" b="1">
                <a:solidFill>
                  <a:srgbClr val="002060"/>
                </a:solidFill>
                <a:latin typeface="Times New Roman"/>
                <a:ea typeface="Times New Roman"/>
                <a:cs typeface="Times New Roman"/>
              </a:defRPr>
            </a:lvl2pPr>
            <a:lvl3pPr algn="ctr">
              <a:defRPr sz="2175" b="1">
                <a:solidFill>
                  <a:srgbClr val="002060"/>
                </a:solidFill>
                <a:latin typeface="Times New Roman"/>
                <a:ea typeface="Times New Roman"/>
                <a:cs typeface="Times New Roman"/>
              </a:defRPr>
            </a:lvl3pPr>
            <a:lvl4pPr algn="ctr">
              <a:defRPr sz="2175" b="1">
                <a:solidFill>
                  <a:srgbClr val="002060"/>
                </a:solidFill>
                <a:latin typeface="Times New Roman"/>
                <a:ea typeface="Times New Roman"/>
                <a:cs typeface="Times New Roman"/>
              </a:defRPr>
            </a:lvl4pPr>
            <a:lvl5pPr algn="ctr">
              <a:defRPr sz="2175" b="1">
                <a:solidFill>
                  <a:srgbClr val="002060"/>
                </a:solidFill>
                <a:latin typeface="Times New Roman"/>
                <a:ea typeface="Times New Roman"/>
                <a:cs typeface="Times New Roman"/>
              </a:defRPr>
            </a:lvl5pPr>
            <a:lvl6pPr algn="ctr">
              <a:defRPr sz="2175" b="1">
                <a:solidFill>
                  <a:srgbClr val="002060"/>
                </a:solidFill>
                <a:latin typeface="Times New Roman"/>
                <a:ea typeface="Times New Roman"/>
                <a:cs typeface="Times New Roman"/>
              </a:defRPr>
            </a:lvl6pPr>
            <a:lvl7pPr algn="ctr">
              <a:defRPr sz="2175" b="1">
                <a:solidFill>
                  <a:srgbClr val="002060"/>
                </a:solidFill>
                <a:latin typeface="Times New Roman"/>
                <a:ea typeface="Times New Roman"/>
                <a:cs typeface="Times New Roman"/>
              </a:defRPr>
            </a:lvl7pPr>
            <a:lvl8pPr algn="ctr">
              <a:defRPr sz="2175" b="1">
                <a:solidFill>
                  <a:srgbClr val="002060"/>
                </a:solidFill>
                <a:latin typeface="Times New Roman"/>
                <a:ea typeface="Times New Roman"/>
                <a:cs typeface="Times New Roman"/>
              </a:defRPr>
            </a:lvl8pPr>
            <a:lvl9pPr algn="ctr">
              <a:defRPr sz="2175" b="1">
                <a:solidFill>
                  <a:srgbClr val="002060"/>
                </a:solidFill>
                <a:latin typeface="Times New Roman"/>
                <a:ea typeface="Times New Roman"/>
                <a:cs typeface="Times New Roman"/>
              </a:defRPr>
            </a:lvl9pPr>
          </a:lstStyle>
          <a:p xmlns:a="http://schemas.openxmlformats.org/drawingml/2006/main">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Discover GHSS</a:t>
            </a:r>
          </a:p>
          <a:p xmlns:a="http://schemas.openxmlformats.org/drawingml/2006/main">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and subscribe</a:t>
            </a:r>
          </a:p>
        </p:txBody>
      </p:sp>
      <p:sp>
        <p:nvSpPr>
          <p:cNvPr id="8" name="Send Start&#10;command 0x01">
            <a:extLst xmlns:a="http://schemas.openxmlformats.org/drawingml/2006/main">
              <a:ext uri="{FF2B5EF4-FFF2-40B4-BE49-F238E27FC236}">
                <a16:creationId xmlns:a16="http://schemas.microsoft.com/office/drawing/2014/main" id="{A90DB280-86FD-4D1C-861B-90313F97032F}"/>
              </a:ext>
            </a:extLst>
          </p:cNvPr>
          <p:cNvSpPr>
            <a:spLocks xmlns:a="http://schemas.openxmlformats.org/drawingml/2006/main" noGrp="1"/>
          </p:cNvSpPr>
          <p:nvPr/>
        </p:nvSpPr>
        <p:spPr>
          <a:xfrm xmlns:a="http://schemas.openxmlformats.org/drawingml/2006/main">
            <a:off x="8477250" y="3762375"/>
            <a:ext cx="3048000" cy="1095375"/>
          </a:xfrm>
          <a:prstGeom xmlns:a="http://schemas.openxmlformats.org/drawingml/2006/main" prst="rect">
            <a:avLst/>
          </a:prstGeom>
          <a:solidFill xmlns:a="http://schemas.openxmlformats.org/drawingml/2006/main">
            <a:srgbClr val="EDF3F9"/>
          </a:solidFill>
          <a:ln xmlns:a="http://schemas.openxmlformats.org/drawingml/2006/main" w="14288">
            <a:solidFill>
              <a:srgbClr val="002060"/>
            </a:solidFill>
          </a:ln>
        </p:spPr>
        <p:txBody>
          <a:bodyPr xmlns:a="http://schemas.openxmlformats.org/drawingml/2006/main" lIns="76200" tIns="76200" rIns="76200" bIns="76200" anchor="ctr"/>
          <a:lstStyle xmlns:a="http://schemas.openxmlformats.org/drawingml/2006/main">
            <a:defPPr algn="ctr">
              <a:defRPr sz="2175" b="1">
                <a:solidFill>
                  <a:srgbClr val="002060"/>
                </a:solidFill>
                <a:latin typeface="Times New Roman"/>
                <a:ea typeface="Times New Roman"/>
                <a:cs typeface="Times New Roman"/>
              </a:defRPr>
            </a:defPPr>
            <a:lvl1pPr algn="ctr">
              <a:defRPr sz="2175" b="1">
                <a:solidFill>
                  <a:srgbClr val="002060"/>
                </a:solidFill>
                <a:latin typeface="Times New Roman"/>
                <a:ea typeface="Times New Roman"/>
                <a:cs typeface="Times New Roman"/>
              </a:defRPr>
            </a:lvl1pPr>
            <a:lvl2pPr algn="ctr">
              <a:defRPr sz="2175" b="1">
                <a:solidFill>
                  <a:srgbClr val="002060"/>
                </a:solidFill>
                <a:latin typeface="Times New Roman"/>
                <a:ea typeface="Times New Roman"/>
                <a:cs typeface="Times New Roman"/>
              </a:defRPr>
            </a:lvl2pPr>
            <a:lvl3pPr algn="ctr">
              <a:defRPr sz="2175" b="1">
                <a:solidFill>
                  <a:srgbClr val="002060"/>
                </a:solidFill>
                <a:latin typeface="Times New Roman"/>
                <a:ea typeface="Times New Roman"/>
                <a:cs typeface="Times New Roman"/>
              </a:defRPr>
            </a:lvl3pPr>
            <a:lvl4pPr algn="ctr">
              <a:defRPr sz="2175" b="1">
                <a:solidFill>
                  <a:srgbClr val="002060"/>
                </a:solidFill>
                <a:latin typeface="Times New Roman"/>
                <a:ea typeface="Times New Roman"/>
                <a:cs typeface="Times New Roman"/>
              </a:defRPr>
            </a:lvl4pPr>
            <a:lvl5pPr algn="ctr">
              <a:defRPr sz="2175" b="1">
                <a:solidFill>
                  <a:srgbClr val="002060"/>
                </a:solidFill>
                <a:latin typeface="Times New Roman"/>
                <a:ea typeface="Times New Roman"/>
                <a:cs typeface="Times New Roman"/>
              </a:defRPr>
            </a:lvl5pPr>
            <a:lvl6pPr algn="ctr">
              <a:defRPr sz="2175" b="1">
                <a:solidFill>
                  <a:srgbClr val="002060"/>
                </a:solidFill>
                <a:latin typeface="Times New Roman"/>
                <a:ea typeface="Times New Roman"/>
                <a:cs typeface="Times New Roman"/>
              </a:defRPr>
            </a:lvl6pPr>
            <a:lvl7pPr algn="ctr">
              <a:defRPr sz="2175" b="1">
                <a:solidFill>
                  <a:srgbClr val="002060"/>
                </a:solidFill>
                <a:latin typeface="Times New Roman"/>
                <a:ea typeface="Times New Roman"/>
                <a:cs typeface="Times New Roman"/>
              </a:defRPr>
            </a:lvl7pPr>
            <a:lvl8pPr algn="ctr">
              <a:defRPr sz="2175" b="1">
                <a:solidFill>
                  <a:srgbClr val="002060"/>
                </a:solidFill>
                <a:latin typeface="Times New Roman"/>
                <a:ea typeface="Times New Roman"/>
                <a:cs typeface="Times New Roman"/>
              </a:defRPr>
            </a:lvl8pPr>
            <a:lvl9pPr algn="ctr">
              <a:defRPr sz="2175" b="1">
                <a:solidFill>
                  <a:srgbClr val="002060"/>
                </a:solidFill>
                <a:latin typeface="Times New Roman"/>
                <a:ea typeface="Times New Roman"/>
                <a:cs typeface="Times New Roman"/>
              </a:defRPr>
            </a:lvl9pPr>
          </a:lstStyle>
          <a:p xmlns:a="http://schemas.openxmlformats.org/drawingml/2006/main">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Send Start</a:t>
            </a:r>
          </a:p>
          <a:p xmlns:a="http://schemas.openxmlformats.org/drawingml/2006/main">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command 0x01</a:t>
            </a:r>
          </a:p>
        </p:txBody>
      </p:sp>
      <p:sp>
        <p:nvSpPr>
          <p:cNvPr id="9" name="Receive simulated&#10;vital observations">
            <a:extLst xmlns:a="http://schemas.openxmlformats.org/drawingml/2006/main">
              <a:ext uri="{FF2B5EF4-FFF2-40B4-BE49-F238E27FC236}">
                <a16:creationId xmlns:a16="http://schemas.microsoft.com/office/drawing/2014/main" id="{772BE867-2CA6-458C-8A20-78D23F5D1951}"/>
              </a:ext>
            </a:extLst>
          </p:cNvPr>
          <p:cNvSpPr>
            <a:spLocks xmlns:a="http://schemas.openxmlformats.org/drawingml/2006/main" noGrp="1"/>
          </p:cNvSpPr>
          <p:nvPr/>
        </p:nvSpPr>
        <p:spPr>
          <a:xfrm xmlns:a="http://schemas.openxmlformats.org/drawingml/2006/main">
            <a:off x="4572000" y="3762375"/>
            <a:ext cx="3048000" cy="1095375"/>
          </a:xfrm>
          <a:prstGeom xmlns:a="http://schemas.openxmlformats.org/drawingml/2006/main" prst="rect">
            <a:avLst/>
          </a:prstGeom>
          <a:solidFill xmlns:a="http://schemas.openxmlformats.org/drawingml/2006/main">
            <a:srgbClr val="EDF3F9"/>
          </a:solidFill>
          <a:ln xmlns:a="http://schemas.openxmlformats.org/drawingml/2006/main" w="14288">
            <a:solidFill>
              <a:srgbClr val="002060"/>
            </a:solidFill>
          </a:ln>
        </p:spPr>
        <p:txBody>
          <a:bodyPr xmlns:a="http://schemas.openxmlformats.org/drawingml/2006/main" lIns="76200" tIns="76200" rIns="76200" bIns="76200" anchor="ctr"/>
          <a:lstStyle xmlns:a="http://schemas.openxmlformats.org/drawingml/2006/main">
            <a:defPPr algn="ctr">
              <a:defRPr sz="2175" b="1">
                <a:solidFill>
                  <a:srgbClr val="002060"/>
                </a:solidFill>
                <a:latin typeface="Times New Roman"/>
                <a:ea typeface="Times New Roman"/>
                <a:cs typeface="Times New Roman"/>
              </a:defRPr>
            </a:defPPr>
            <a:lvl1pPr algn="ctr">
              <a:defRPr sz="2175" b="1">
                <a:solidFill>
                  <a:srgbClr val="002060"/>
                </a:solidFill>
                <a:latin typeface="Times New Roman"/>
                <a:ea typeface="Times New Roman"/>
                <a:cs typeface="Times New Roman"/>
              </a:defRPr>
            </a:lvl1pPr>
            <a:lvl2pPr algn="ctr">
              <a:defRPr sz="2175" b="1">
                <a:solidFill>
                  <a:srgbClr val="002060"/>
                </a:solidFill>
                <a:latin typeface="Times New Roman"/>
                <a:ea typeface="Times New Roman"/>
                <a:cs typeface="Times New Roman"/>
              </a:defRPr>
            </a:lvl2pPr>
            <a:lvl3pPr algn="ctr">
              <a:defRPr sz="2175" b="1">
                <a:solidFill>
                  <a:srgbClr val="002060"/>
                </a:solidFill>
                <a:latin typeface="Times New Roman"/>
                <a:ea typeface="Times New Roman"/>
                <a:cs typeface="Times New Roman"/>
              </a:defRPr>
            </a:lvl3pPr>
            <a:lvl4pPr algn="ctr">
              <a:defRPr sz="2175" b="1">
                <a:solidFill>
                  <a:srgbClr val="002060"/>
                </a:solidFill>
                <a:latin typeface="Times New Roman"/>
                <a:ea typeface="Times New Roman"/>
                <a:cs typeface="Times New Roman"/>
              </a:defRPr>
            </a:lvl4pPr>
            <a:lvl5pPr algn="ctr">
              <a:defRPr sz="2175" b="1">
                <a:solidFill>
                  <a:srgbClr val="002060"/>
                </a:solidFill>
                <a:latin typeface="Times New Roman"/>
                <a:ea typeface="Times New Roman"/>
                <a:cs typeface="Times New Roman"/>
              </a:defRPr>
            </a:lvl5pPr>
            <a:lvl6pPr algn="ctr">
              <a:defRPr sz="2175" b="1">
                <a:solidFill>
                  <a:srgbClr val="002060"/>
                </a:solidFill>
                <a:latin typeface="Times New Roman"/>
                <a:ea typeface="Times New Roman"/>
                <a:cs typeface="Times New Roman"/>
              </a:defRPr>
            </a:lvl6pPr>
            <a:lvl7pPr algn="ctr">
              <a:defRPr sz="2175" b="1">
                <a:solidFill>
                  <a:srgbClr val="002060"/>
                </a:solidFill>
                <a:latin typeface="Times New Roman"/>
                <a:ea typeface="Times New Roman"/>
                <a:cs typeface="Times New Roman"/>
              </a:defRPr>
            </a:lvl7pPr>
            <a:lvl8pPr algn="ctr">
              <a:defRPr sz="2175" b="1">
                <a:solidFill>
                  <a:srgbClr val="002060"/>
                </a:solidFill>
                <a:latin typeface="Times New Roman"/>
                <a:ea typeface="Times New Roman"/>
                <a:cs typeface="Times New Roman"/>
              </a:defRPr>
            </a:lvl8pPr>
            <a:lvl9pPr algn="ctr">
              <a:defRPr sz="2175" b="1">
                <a:solidFill>
                  <a:srgbClr val="002060"/>
                </a:solidFill>
                <a:latin typeface="Times New Roman"/>
                <a:ea typeface="Times New Roman"/>
                <a:cs typeface="Times New Roman"/>
              </a:defRPr>
            </a:lvl9pPr>
          </a:lstStyle>
          <a:p xmlns:a="http://schemas.openxmlformats.org/drawingml/2006/main">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Receive simulated</a:t>
            </a:r>
          </a:p>
          <a:p xmlns:a="http://schemas.openxmlformats.org/drawingml/2006/main">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vital observations</a:t>
            </a:r>
          </a:p>
        </p:txBody>
      </p:sp>
      <p:sp>
        <p:nvSpPr>
          <p:cNvPr id="10" name="Decode and display&#10;HR, SpO2, temperature">
            <a:extLst xmlns:a="http://schemas.openxmlformats.org/drawingml/2006/main">
              <a:ext uri="{FF2B5EF4-FFF2-40B4-BE49-F238E27FC236}">
                <a16:creationId xmlns:a16="http://schemas.microsoft.com/office/drawing/2014/main" id="{9F2374F1-590F-4E20-A086-E040650A59C6}"/>
              </a:ext>
            </a:extLst>
          </p:cNvPr>
          <p:cNvSpPr>
            <a:spLocks xmlns:a="http://schemas.openxmlformats.org/drawingml/2006/main" noGrp="1"/>
          </p:cNvSpPr>
          <p:nvPr/>
        </p:nvSpPr>
        <p:spPr>
          <a:xfrm xmlns:a="http://schemas.openxmlformats.org/drawingml/2006/main">
            <a:off x="666750" y="3762375"/>
            <a:ext cx="3048000" cy="1095375"/>
          </a:xfrm>
          <a:prstGeom xmlns:a="http://schemas.openxmlformats.org/drawingml/2006/main" prst="rect">
            <a:avLst/>
          </a:prstGeom>
          <a:solidFill xmlns:a="http://schemas.openxmlformats.org/drawingml/2006/main">
            <a:srgbClr val="EDF3F9"/>
          </a:solidFill>
          <a:ln xmlns:a="http://schemas.openxmlformats.org/drawingml/2006/main" w="14288">
            <a:solidFill>
              <a:srgbClr val="002060"/>
            </a:solidFill>
          </a:ln>
        </p:spPr>
        <p:txBody>
          <a:bodyPr xmlns:a="http://schemas.openxmlformats.org/drawingml/2006/main" lIns="76200" tIns="76200" rIns="76200" bIns="76200" anchor="ctr"/>
          <a:lstStyle xmlns:a="http://schemas.openxmlformats.org/drawingml/2006/main">
            <a:defPPr algn="ctr">
              <a:defRPr sz="2175" b="1">
                <a:solidFill>
                  <a:srgbClr val="002060"/>
                </a:solidFill>
                <a:latin typeface="Times New Roman"/>
                <a:ea typeface="Times New Roman"/>
                <a:cs typeface="Times New Roman"/>
              </a:defRPr>
            </a:defPPr>
            <a:lvl1pPr algn="ctr">
              <a:defRPr sz="2175" b="1">
                <a:solidFill>
                  <a:srgbClr val="002060"/>
                </a:solidFill>
                <a:latin typeface="Times New Roman"/>
                <a:ea typeface="Times New Roman"/>
                <a:cs typeface="Times New Roman"/>
              </a:defRPr>
            </a:lvl1pPr>
            <a:lvl2pPr algn="ctr">
              <a:defRPr sz="2175" b="1">
                <a:solidFill>
                  <a:srgbClr val="002060"/>
                </a:solidFill>
                <a:latin typeface="Times New Roman"/>
                <a:ea typeface="Times New Roman"/>
                <a:cs typeface="Times New Roman"/>
              </a:defRPr>
            </a:lvl2pPr>
            <a:lvl3pPr algn="ctr">
              <a:defRPr sz="2175" b="1">
                <a:solidFill>
                  <a:srgbClr val="002060"/>
                </a:solidFill>
                <a:latin typeface="Times New Roman"/>
                <a:ea typeface="Times New Roman"/>
                <a:cs typeface="Times New Roman"/>
              </a:defRPr>
            </a:lvl3pPr>
            <a:lvl4pPr algn="ctr">
              <a:defRPr sz="2175" b="1">
                <a:solidFill>
                  <a:srgbClr val="002060"/>
                </a:solidFill>
                <a:latin typeface="Times New Roman"/>
                <a:ea typeface="Times New Roman"/>
                <a:cs typeface="Times New Roman"/>
              </a:defRPr>
            </a:lvl4pPr>
            <a:lvl5pPr algn="ctr">
              <a:defRPr sz="2175" b="1">
                <a:solidFill>
                  <a:srgbClr val="002060"/>
                </a:solidFill>
                <a:latin typeface="Times New Roman"/>
                <a:ea typeface="Times New Roman"/>
                <a:cs typeface="Times New Roman"/>
              </a:defRPr>
            </a:lvl5pPr>
            <a:lvl6pPr algn="ctr">
              <a:defRPr sz="2175" b="1">
                <a:solidFill>
                  <a:srgbClr val="002060"/>
                </a:solidFill>
                <a:latin typeface="Times New Roman"/>
                <a:ea typeface="Times New Roman"/>
                <a:cs typeface="Times New Roman"/>
              </a:defRPr>
            </a:lvl6pPr>
            <a:lvl7pPr algn="ctr">
              <a:defRPr sz="2175" b="1">
                <a:solidFill>
                  <a:srgbClr val="002060"/>
                </a:solidFill>
                <a:latin typeface="Times New Roman"/>
                <a:ea typeface="Times New Roman"/>
                <a:cs typeface="Times New Roman"/>
              </a:defRPr>
            </a:lvl7pPr>
            <a:lvl8pPr algn="ctr">
              <a:defRPr sz="2175" b="1">
                <a:solidFill>
                  <a:srgbClr val="002060"/>
                </a:solidFill>
                <a:latin typeface="Times New Roman"/>
                <a:ea typeface="Times New Roman"/>
                <a:cs typeface="Times New Roman"/>
              </a:defRPr>
            </a:lvl8pPr>
            <a:lvl9pPr algn="ctr">
              <a:defRPr sz="2175" b="1">
                <a:solidFill>
                  <a:srgbClr val="002060"/>
                </a:solidFill>
                <a:latin typeface="Times New Roman"/>
                <a:ea typeface="Times New Roman"/>
                <a:cs typeface="Times New Roman"/>
              </a:defRPr>
            </a:lvl9pPr>
          </a:lstStyle>
          <a:p xmlns:a="http://schemas.openxmlformats.org/drawingml/2006/main">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Decode and display</a:t>
            </a:r>
          </a:p>
          <a:p xmlns:a="http://schemas.openxmlformats.org/drawingml/2006/main">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HR, SpO2, temperature</a:t>
            </a:r>
          </a:p>
        </p:txBody>
      </p:sp>
      <p:sp>
        <p:nvSpPr>
          <p:cNvPr id="16" name="After subscription, the app enables start/sto">
            <a:extLst xmlns:a="http://schemas.openxmlformats.org/drawingml/2006/main">
              <a:ext uri="{FF2B5EF4-FFF2-40B4-BE49-F238E27FC236}">
                <a16:creationId xmlns:a16="http://schemas.microsoft.com/office/drawing/2014/main" id="{A9FF0872-432F-4647-9E3B-26FF09BA661E}"/>
              </a:ext>
            </a:extLst>
          </p:cNvPr>
          <p:cNvSpPr>
            <a:spLocks xmlns:a="http://schemas.openxmlformats.org/drawingml/2006/main" noGrp="1"/>
          </p:cNvSpPr>
          <p:nvPr/>
        </p:nvSpPr>
        <p:spPr>
          <a:xfrm xmlns:a="http://schemas.openxmlformats.org/drawingml/2006/main">
            <a:off x="857250" y="276225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2325" b="0">
                <a:solidFill>
                  <a:srgbClr val="0070C0"/>
                </a:solidFill>
                <a:latin typeface="Times New Roman"/>
                <a:ea typeface="Times New Roman"/>
                <a:cs typeface="Times New Roman"/>
              </a:defRPr>
            </a:defPPr>
            <a:lvl1pPr algn="l">
              <a:defRPr sz="2325" b="0">
                <a:solidFill>
                  <a:srgbClr val="0070C0"/>
                </a:solidFill>
                <a:latin typeface="Times New Roman"/>
                <a:ea typeface="Times New Roman"/>
                <a:cs typeface="Times New Roman"/>
              </a:defRPr>
            </a:lvl1pPr>
            <a:lvl2pPr algn="l">
              <a:defRPr sz="2325" b="0">
                <a:solidFill>
                  <a:srgbClr val="0070C0"/>
                </a:solidFill>
                <a:latin typeface="Times New Roman"/>
                <a:ea typeface="Times New Roman"/>
                <a:cs typeface="Times New Roman"/>
              </a:defRPr>
            </a:lvl2pPr>
            <a:lvl3pPr algn="l">
              <a:defRPr sz="2325" b="0">
                <a:solidFill>
                  <a:srgbClr val="0070C0"/>
                </a:solidFill>
                <a:latin typeface="Times New Roman"/>
                <a:ea typeface="Times New Roman"/>
                <a:cs typeface="Times New Roman"/>
              </a:defRPr>
            </a:lvl3pPr>
            <a:lvl4pPr algn="l">
              <a:defRPr sz="2325" b="0">
                <a:solidFill>
                  <a:srgbClr val="0070C0"/>
                </a:solidFill>
                <a:latin typeface="Times New Roman"/>
                <a:ea typeface="Times New Roman"/>
                <a:cs typeface="Times New Roman"/>
              </a:defRPr>
            </a:lvl4pPr>
            <a:lvl5pPr algn="l">
              <a:defRPr sz="2325" b="0">
                <a:solidFill>
                  <a:srgbClr val="0070C0"/>
                </a:solidFill>
                <a:latin typeface="Times New Roman"/>
                <a:ea typeface="Times New Roman"/>
                <a:cs typeface="Times New Roman"/>
              </a:defRPr>
            </a:lvl5pPr>
            <a:lvl6pPr algn="l">
              <a:defRPr sz="2325" b="0">
                <a:solidFill>
                  <a:srgbClr val="0070C0"/>
                </a:solidFill>
                <a:latin typeface="Times New Roman"/>
                <a:ea typeface="Times New Roman"/>
                <a:cs typeface="Times New Roman"/>
              </a:defRPr>
            </a:lvl6pPr>
            <a:lvl7pPr algn="l">
              <a:defRPr sz="2325" b="0">
                <a:solidFill>
                  <a:srgbClr val="0070C0"/>
                </a:solidFill>
                <a:latin typeface="Times New Roman"/>
                <a:ea typeface="Times New Roman"/>
                <a:cs typeface="Times New Roman"/>
              </a:defRPr>
            </a:lvl7pPr>
            <a:lvl8pPr algn="l">
              <a:defRPr sz="2325" b="0">
                <a:solidFill>
                  <a:srgbClr val="0070C0"/>
                </a:solidFill>
                <a:latin typeface="Times New Roman"/>
                <a:ea typeface="Times New Roman"/>
                <a:cs typeface="Times New Roman"/>
              </a:defRPr>
            </a:lvl8pPr>
            <a:lvl9pPr algn="l">
              <a:defRPr sz="2325" b="0">
                <a:solidFill>
                  <a:srgbClr val="0070C0"/>
                </a:solidFill>
                <a:latin typeface="Times New Roman"/>
                <a:ea typeface="Times New Roman"/>
                <a:cs typeface="Times New Roman"/>
              </a:defRPr>
            </a:lvl9pPr>
          </a:lstStyle>
          <a:p xmlns:a="http://schemas.openxmlformats.org/drawingml/2006/main">
            <a:pPr algn="l">
              <a:defRPr sz="2325" b="0">
                <a:solidFill>
                  <a:srgbClr val="0070C0"/>
                </a:solidFill>
                <a:latin typeface="Times New Roman"/>
                <a:ea typeface="Times New Roman"/>
                <a:cs typeface="Times New Roman"/>
              </a:defRPr>
            </a:pPr>
            <a:r>
              <a:rPr sz="2325" b="0">
                <a:solidFill>
                  <a:srgbClr val="0070C0"/>
                </a:solidFill>
                <a:latin typeface="Times New Roman"/>
                <a:ea typeface="Times New Roman"/>
                <a:cs typeface="Times New Roman"/>
              </a:rPr>
              <a:t>After subscription, the app enables start/stop control</a:t>
            </a:r>
          </a:p>
        </p:txBody>
      </p:sp>
      <p:sp>
        <p:nvSpPr>
          <p:cNvPr id="17" name="Stop: 0x02     Disconnect: ESP32 resumes adve">
            <a:extLst xmlns:a="http://schemas.openxmlformats.org/drawingml/2006/main">
              <a:ext uri="{FF2B5EF4-FFF2-40B4-BE49-F238E27FC236}">
                <a16:creationId xmlns:a16="http://schemas.microsoft.com/office/drawing/2014/main" id="{A971D6EE-DC0D-4018-A4B4-5B5E8D6E1384}"/>
              </a:ext>
            </a:extLst>
          </p:cNvPr>
          <p:cNvSpPr>
            <a:spLocks xmlns:a="http://schemas.openxmlformats.org/drawingml/2006/main" noGrp="1"/>
          </p:cNvSpPr>
          <p:nvPr/>
        </p:nvSpPr>
        <p:spPr>
          <a:xfrm xmlns:a="http://schemas.openxmlformats.org/drawingml/2006/main">
            <a:off x="523875" y="5857875"/>
            <a:ext cx="11144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1875" b="0">
                <a:solidFill>
                  <a:srgbClr val="0070C0"/>
                </a:solidFill>
                <a:latin typeface="Times New Roman"/>
                <a:ea typeface="Times New Roman"/>
                <a:cs typeface="Times New Roman"/>
              </a:defRPr>
            </a:defPPr>
            <a:lvl1pPr algn="l">
              <a:defRPr sz="1875" b="0">
                <a:solidFill>
                  <a:srgbClr val="0070C0"/>
                </a:solidFill>
                <a:latin typeface="Times New Roman"/>
                <a:ea typeface="Times New Roman"/>
                <a:cs typeface="Times New Roman"/>
              </a:defRPr>
            </a:lvl1pPr>
            <a:lvl2pPr algn="l">
              <a:defRPr sz="1875" b="0">
                <a:solidFill>
                  <a:srgbClr val="0070C0"/>
                </a:solidFill>
                <a:latin typeface="Times New Roman"/>
                <a:ea typeface="Times New Roman"/>
                <a:cs typeface="Times New Roman"/>
              </a:defRPr>
            </a:lvl2pPr>
            <a:lvl3pPr algn="l">
              <a:defRPr sz="1875" b="0">
                <a:solidFill>
                  <a:srgbClr val="0070C0"/>
                </a:solidFill>
                <a:latin typeface="Times New Roman"/>
                <a:ea typeface="Times New Roman"/>
                <a:cs typeface="Times New Roman"/>
              </a:defRPr>
            </a:lvl3pPr>
            <a:lvl4pPr algn="l">
              <a:defRPr sz="1875" b="0">
                <a:solidFill>
                  <a:srgbClr val="0070C0"/>
                </a:solidFill>
                <a:latin typeface="Times New Roman"/>
                <a:ea typeface="Times New Roman"/>
                <a:cs typeface="Times New Roman"/>
              </a:defRPr>
            </a:lvl4pPr>
            <a:lvl5pPr algn="l">
              <a:defRPr sz="1875" b="0">
                <a:solidFill>
                  <a:srgbClr val="0070C0"/>
                </a:solidFill>
                <a:latin typeface="Times New Roman"/>
                <a:ea typeface="Times New Roman"/>
                <a:cs typeface="Times New Roman"/>
              </a:defRPr>
            </a:lvl5pPr>
            <a:lvl6pPr algn="l">
              <a:defRPr sz="1875" b="0">
                <a:solidFill>
                  <a:srgbClr val="0070C0"/>
                </a:solidFill>
                <a:latin typeface="Times New Roman"/>
                <a:ea typeface="Times New Roman"/>
                <a:cs typeface="Times New Roman"/>
              </a:defRPr>
            </a:lvl6pPr>
            <a:lvl7pPr algn="l">
              <a:defRPr sz="1875" b="0">
                <a:solidFill>
                  <a:srgbClr val="0070C0"/>
                </a:solidFill>
                <a:latin typeface="Times New Roman"/>
                <a:ea typeface="Times New Roman"/>
                <a:cs typeface="Times New Roman"/>
              </a:defRPr>
            </a:lvl7pPr>
            <a:lvl8pPr algn="l">
              <a:defRPr sz="1875" b="0">
                <a:solidFill>
                  <a:srgbClr val="0070C0"/>
                </a:solidFill>
                <a:latin typeface="Times New Roman"/>
                <a:ea typeface="Times New Roman"/>
                <a:cs typeface="Times New Roman"/>
              </a:defRPr>
            </a:lvl8pPr>
            <a:lvl9pPr algn="l">
              <a:defRPr sz="1875" b="0">
                <a:solidFill>
                  <a:srgbClr val="0070C0"/>
                </a:solidFill>
                <a:latin typeface="Times New Roman"/>
                <a:ea typeface="Times New Roman"/>
                <a:cs typeface="Times New Roman"/>
              </a:defRPr>
            </a:lvl9pPr>
          </a:lstStyle>
          <a:p xmlns:a="http://schemas.openxmlformats.org/drawingml/2006/main">
            <a:pPr algn="l">
              <a:defRPr sz="1875" b="0">
                <a:solidFill>
                  <a:srgbClr val="0070C0"/>
                </a:solidFill>
                <a:latin typeface="Times New Roman"/>
                <a:ea typeface="Times New Roman"/>
                <a:cs typeface="Times New Roman"/>
              </a:defRPr>
            </a:pPr>
            <a:r>
              <a:rPr sz="1875" b="0">
                <a:solidFill>
                  <a:srgbClr val="0070C0"/>
                </a:solidFill>
                <a:latin typeface="Times New Roman"/>
                <a:ea typeface="Times New Roman"/>
                <a:cs typeface="Times New Roman"/>
              </a:rPr>
              <a:t>Stop: 0x02     Disconnect: ESP32 resumes advertising     Reconnect: scan and select again</a:t>
            </a:r>
          </a:p>
        </p:txBody>
      </p:sp>
      <p:sp>
        <p:nvSpPr>
          <p:cNvPr id="18" name="5">
            <a:extLst xmlns:a="http://schemas.openxmlformats.org/drawingml/2006/main">
              <a:ext uri="{FF2B5EF4-FFF2-40B4-BE49-F238E27FC236}">
                <a16:creationId xmlns:a16="http://schemas.microsoft.com/office/drawing/2014/main" id="{3BED381B-E896-48C8-87C3-BF1D1FD6DFD2}"/>
              </a:ext>
            </a:extLst>
          </p:cNvPr>
          <p:cNvSpPr>
            <a:spLocks xmlns:a="http://schemas.openxmlformats.org/drawingml/2006/main" noGrp="1"/>
          </p:cNvSpPr>
          <p:nvPr/>
        </p:nvSpPr>
        <p:spPr>
          <a:xfrm xmlns:a="http://schemas.openxmlformats.org/drawingml/2006/main">
            <a:off x="11430000" y="649605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xmlns:a="http://schemas.openxmlformats.org/drawingml/2006/main">
            <a:pPr algn="r">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5</a:t>
            </a:r>
          </a:p>
        </p:txBody>
      </p:sp>
    </p:spTree>
    <p:extLst>
      <p:ext uri="{BB962C8B-B14F-4D97-AF65-F5344CB8AC3E}">
        <p14:creationId xmlns:p14="http://schemas.microsoft.com/office/powerpoint/2010/main" val="1733596377"/>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4CD393A-8365-3C41-2C17-6494BBBD7105}"/>
              </a:ext>
            </a:extLst>
          </p:cNvPr>
          <p:cNvSpPr>
            <a:spLocks xmlns:a="http://schemas.openxmlformats.org/drawingml/2006/main" noGrp="1"/>
          </p:cNvSpPr>
          <p:nvPr>
            <p:ph type="title" idx="0"/>
          </p:nvPr>
        </p:nvSpPr>
        <p:spPr>
          <a:xfrm xmlns:a="http://schemas.openxmlformats.org/drawingml/2006/main">
            <a:off x="0" y="0"/>
            <a:ext cx="12192000" cy="762000"/>
          </a:xfrm>
          <a:prstGeom xmlns:a="http://schemas.openxmlformats.org/drawingml/2006/main" prst="rect">
            <a:avLst/>
          </a:prstGeom>
          <a:solidFill xmlns:a="http://schemas.openxmlformats.org/drawingml/2006/main">
            <a:srgbClr val="002060"/>
          </a:solidFill>
        </p:spPr>
        <p:txBody>
          <a:bodyPr xmlns:a="http://schemas.openxmlformats.org/drawingml/2006/main">
            <a:normAutofit fontScale="100000"/>
          </a:bodyPr>
          <a:lstStyle xmlns:a="http://schemas.openxmlformats.org/drawingml/2006/main">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xmlns:a="http://schemas.openxmlformats.org/drawingml/2006/main">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Methods and Design Comparison</a:t>
            </a:r>
          </a:p>
        </p:txBody>
      </p:sp>
      <p:sp>
        <p:nvSpPr>
          <p:cNvPr id="4" name="Footer Placeholder 3">
            <a:extLst xmlns:a="http://schemas.openxmlformats.org/drawingml/2006/main">
              <a:ext uri="{FF2B5EF4-FFF2-40B4-BE49-F238E27FC236}">
                <a16:creationId xmlns:a16="http://schemas.microsoft.com/office/drawing/2014/main" id="{3D9C6012-FCED-4937-A4AB-8CEEC135A13C}"/>
              </a:ext>
            </a:extLst>
          </p:cNvPr>
          <p:cNvSpPr>
            <a:spLocks xmlns:a="http://schemas.openxmlformats.org/drawingml/2006/main" noGrp="1"/>
          </p:cNvSpPr>
          <p:nvPr>
            <p:ph type="ftr" idx="11"/>
          </p:nvPr>
        </p:nvSpPr>
        <p:spPr>
          <a:xfrm xmlns:a="http://schemas.openxmlformats.org/drawingml/2006/main">
            <a:off x="0" y="6492907"/>
            <a:ext cx="12192000" cy="365093"/>
          </a:xfrm>
          <a:prstGeom xmlns:a="http://schemas.openxmlformats.org/drawingml/2006/main" prst="rect">
            <a:avLst/>
          </a:prstGeom>
          <a:solidFill xmlns:a="http://schemas.openxmlformats.org/drawingml/2006/main">
            <a:srgbClr val="002060"/>
          </a:solidFill>
        </p:spPr>
        <p:txBody>
          <a:bodyPr xmlns:a="http://schemas.openxmlformats.org/drawingml/2006/main"/>
          <a:lstStyle xmlns:a="http://schemas.openxmlformats.org/drawingml/2006/main">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xmlns:a="http://schemas.openxmlformats.org/drawingml/2006/main">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graphicFrame>
        <p:nvGraphicFramePr>
          <p:cNvPr id="5" name="">
            <a:extLst xmlns:a="http://schemas.openxmlformats.org/drawingml/2006/main">
              <a:ext uri="{FF2B5EF4-FFF2-40B4-BE49-F238E27FC236}">
                <a16:creationId xmlns:a16="http://schemas.microsoft.com/office/drawing/2014/main" id="{54F42C30-595C-440C-ADDC-23277F929579}"/>
              </a:ext>
            </a:extLst>
          </p:cNvPr>
          <p:cNvGraphicFramePr/>
          <p:nvPr/>
        </p:nvGraphicFramePr>
        <p:xfrm>
          <a:off xmlns:a="http://schemas.openxmlformats.org/drawingml/2006/main" x="523875" y="1285875"/>
          <a:ext xmlns:a="http://schemas.openxmlformats.org/drawingml/2006/main" cx="11144250" cy="4286250"/>
        </p:xfrm>
        <a:graphic xmlns:a="http://schemas.openxmlformats.org/drawingml/2006/main">
          <a:graphicData uri="http://schemas.openxmlformats.org/drawingml/2006/table">
            <a:tbl>
              <a:tblPr/>
              <a:tblGrid>
                <a:gridCol w="2571750"/>
                <a:gridCol w="4000500"/>
                <a:gridCol w="4572000"/>
              </a:tblGrid>
              <a:tr h="714375">
                <a:tc>
                  <a:txBody>
                    <a:bodyPr/>
                    <a:lstStyle/>
                    <a:p>
                      <a:r>
                        <a:rPr sz="2175" b="1">
                          <a:solidFill>
                            <a:srgbClr val="FFFFFF"/>
                          </a:solidFill>
                          <a:latin typeface="Times New Roman"/>
                          <a:ea typeface="Times New Roman"/>
                          <a:cs typeface="Times New Roman"/>
                        </a:rPr>
                        <a:t>Design aspect</a:t>
                      </a:r>
                    </a:p>
                  </a:txBody>
                  <a:tcPr marL="114300" marR="95250" marT="95250" marB="95250" anchor="ctr">
                    <a:lnL w="9525">
                      <a:solidFill>
                        <a:srgbClr val="CAD2DF"/>
                      </a:solidFill>
                    </a:lnL>
                    <a:lnR w="9525">
                      <a:solidFill>
                        <a:srgbClr val="CAD2DF"/>
                      </a:solidFill>
                    </a:lnR>
                    <a:lnT w="9525">
                      <a:solidFill>
                        <a:srgbClr val="CAD2DF"/>
                      </a:solidFill>
                    </a:lnT>
                    <a:lnB w="9525">
                      <a:solidFill>
                        <a:srgbClr val="CAD2DF"/>
                      </a:solidFill>
                    </a:lnB>
                    <a:solidFill>
                      <a:srgbClr val="002060"/>
                    </a:solidFill>
                  </a:tcPr>
                </a:tc>
                <a:tc>
                  <a:txBody>
                    <a:bodyPr/>
                    <a:lstStyle/>
                    <a:p>
                      <a:r>
                        <a:rPr sz="2175" b="1">
                          <a:solidFill>
                            <a:srgbClr val="FFFFFF"/>
                          </a:solidFill>
                          <a:latin typeface="Times New Roman"/>
                          <a:ea typeface="Times New Roman"/>
                          <a:cs typeface="Times New Roman"/>
                        </a:rPr>
                        <a:t>Current prototype</a:t>
                      </a:r>
                    </a:p>
                  </a:txBody>
                  <a:tcPr marL="114300" marR="95250" marT="95250" marB="95250" anchor="ctr">
                    <a:lnR w="9525">
                      <a:solidFill>
                        <a:srgbClr val="CAD2DF"/>
                      </a:solidFill>
                    </a:lnR>
                    <a:lnT w="9525">
                      <a:solidFill>
                        <a:srgbClr val="CAD2DF"/>
                      </a:solidFill>
                    </a:lnT>
                    <a:lnB w="9525">
                      <a:solidFill>
                        <a:srgbClr val="CAD2DF"/>
                      </a:solidFill>
                    </a:lnB>
                    <a:solidFill>
                      <a:srgbClr val="002060"/>
                    </a:solidFill>
                  </a:tcPr>
                </a:tc>
                <a:tc>
                  <a:txBody>
                    <a:bodyPr/>
                    <a:lstStyle/>
                    <a:p>
                      <a:r>
                        <a:rPr sz="2175" b="1">
                          <a:solidFill>
                            <a:srgbClr val="FFFFFF"/>
                          </a:solidFill>
                          <a:latin typeface="Times New Roman"/>
                          <a:ea typeface="Times New Roman"/>
                          <a:cs typeface="Times New Roman"/>
                        </a:rPr>
                        <a:t>Target design</a:t>
                      </a:r>
                    </a:p>
                  </a:txBody>
                  <a:tcPr marL="114300" marR="95250" marT="95250" marB="95250" anchor="ctr">
                    <a:lnR w="9525">
                      <a:solidFill>
                        <a:srgbClr val="CAD2DF"/>
                      </a:solidFill>
                    </a:lnR>
                    <a:lnT w="9525">
                      <a:solidFill>
                        <a:srgbClr val="CAD2DF"/>
                      </a:solidFill>
                    </a:lnT>
                    <a:lnB w="9525">
                      <a:solidFill>
                        <a:srgbClr val="CAD2DF"/>
                      </a:solidFill>
                    </a:lnB>
                    <a:solidFill>
                      <a:srgbClr val="002060"/>
                    </a:solidFill>
                  </a:tcPr>
                </a:tc>
              </a:tr>
              <a:tr h="714375">
                <a:tc>
                  <a:txBody>
                    <a:bodyPr/>
                    <a:lstStyle/>
                    <a:p>
                      <a:r>
                        <a:rPr sz="2175" b="0">
                          <a:solidFill>
                            <a:srgbClr val="111111"/>
                          </a:solidFill>
                          <a:latin typeface="Times New Roman"/>
                          <a:ea typeface="Times New Roman"/>
                          <a:cs typeface="Times New Roman"/>
                        </a:rPr>
                        <a:t>Device to phone</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BLE notifications</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Retain BLE gateway</a:t>
                      </a:r>
                    </a:p>
                  </a:txBody>
                  <a:tcPr marL="114300" marR="95250" marT="95250" marB="95250" anchor="ctr">
                    <a:lnR w="9525">
                      <a:solidFill>
                        <a:srgbClr val="CAD2DF"/>
                      </a:solidFill>
                    </a:lnR>
                    <a:lnB w="9525">
                      <a:solidFill>
                        <a:srgbClr val="CAD2DF"/>
                      </a:solidFill>
                    </a:lnB>
                    <a:solidFill>
                      <a:srgbClr val="EDF3F9"/>
                    </a:solidFill>
                  </a:tcPr>
                </a:tc>
              </a:tr>
              <a:tr h="714375">
                <a:tc>
                  <a:txBody>
                    <a:bodyPr/>
                    <a:lstStyle/>
                    <a:p>
                      <a:r>
                        <a:rPr sz="2175" b="0">
                          <a:solidFill>
                            <a:srgbClr val="111111"/>
                          </a:solidFill>
                          <a:latin typeface="Times New Roman"/>
                          <a:ea typeface="Times New Roman"/>
                          <a:cs typeface="Times New Roman"/>
                        </a:rPr>
                        <a:t>Wide-area upload</a:t>
                      </a:r>
                    </a:p>
                  </a:txBody>
                  <a:tcPr marL="114300" marR="95250" marT="95250" marB="95250" anchor="ctr">
                    <a:lnL w="9525">
                      <a:solidFill>
                        <a:srgbClr val="CAD2DF"/>
                      </a:solidFill>
                    </a:lnL>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Not implemented</a:t>
                      </a:r>
                    </a:p>
                  </a:txBody>
                  <a:tcPr marL="114300" marR="95250" marT="95250" marB="95250" anchor="ctr">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MQTT/TLS with CoAP fallback</a:t>
                      </a:r>
                    </a:p>
                  </a:txBody>
                  <a:tcPr marL="114300" marR="95250" marT="95250" marB="95250" anchor="ctr">
                    <a:lnR w="9525">
                      <a:solidFill>
                        <a:srgbClr val="CAD2DF"/>
                      </a:solidFill>
                    </a:lnR>
                    <a:lnB w="9525">
                      <a:solidFill>
                        <a:srgbClr val="CAD2DF"/>
                      </a:solidFill>
                    </a:lnB>
                    <a:solidFill>
                      <a:srgbClr val="FFFFFF"/>
                    </a:solidFill>
                  </a:tcPr>
                </a:tc>
              </a:tr>
              <a:tr h="714375">
                <a:tc>
                  <a:txBody>
                    <a:bodyPr/>
                    <a:lstStyle/>
                    <a:p>
                      <a:r>
                        <a:rPr sz="2175" b="0">
                          <a:solidFill>
                            <a:srgbClr val="111111"/>
                          </a:solidFill>
                          <a:latin typeface="Times New Roman"/>
                          <a:ea typeface="Times New Roman"/>
                          <a:cs typeface="Times New Roman"/>
                        </a:rPr>
                        <a:t>Data source</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Simulated observations</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Integrated physical sensors</a:t>
                      </a:r>
                    </a:p>
                  </a:txBody>
                  <a:tcPr marL="114300" marR="95250" marT="95250" marB="95250" anchor="ctr">
                    <a:lnR w="9525">
                      <a:solidFill>
                        <a:srgbClr val="CAD2DF"/>
                      </a:solidFill>
                    </a:lnR>
                    <a:lnB w="9525">
                      <a:solidFill>
                        <a:srgbClr val="CAD2DF"/>
                      </a:solidFill>
                    </a:lnB>
                    <a:solidFill>
                      <a:srgbClr val="EDF3F9"/>
                    </a:solidFill>
                  </a:tcPr>
                </a:tc>
              </a:tr>
              <a:tr h="714375">
                <a:tc>
                  <a:txBody>
                    <a:bodyPr/>
                    <a:lstStyle/>
                    <a:p>
                      <a:r>
                        <a:rPr sz="2175" b="0">
                          <a:solidFill>
                            <a:srgbClr val="111111"/>
                          </a:solidFill>
                          <a:latin typeface="Times New Roman"/>
                          <a:ea typeface="Times New Roman"/>
                          <a:cs typeface="Times New Roman"/>
                        </a:rPr>
                        <a:t>Patient assessment</a:t>
                      </a:r>
                    </a:p>
                  </a:txBody>
                  <a:tcPr marL="114300" marR="95250" marT="95250" marB="95250" anchor="ctr">
                    <a:lnL w="9525">
                      <a:solidFill>
                        <a:srgbClr val="CAD2DF"/>
                      </a:solidFill>
                    </a:lnL>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Vitals display</a:t>
                      </a:r>
                    </a:p>
                  </a:txBody>
                  <a:tcPr marL="114300" marR="95250" marT="95250" marB="95250" anchor="ctr">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ML risk classification</a:t>
                      </a:r>
                    </a:p>
                  </a:txBody>
                  <a:tcPr marL="114300" marR="95250" marT="95250" marB="95250" anchor="ctr">
                    <a:lnR w="9525">
                      <a:solidFill>
                        <a:srgbClr val="CAD2DF"/>
                      </a:solidFill>
                    </a:lnR>
                    <a:lnB w="9525">
                      <a:solidFill>
                        <a:srgbClr val="CAD2DF"/>
                      </a:solidFill>
                    </a:lnB>
                    <a:solidFill>
                      <a:srgbClr val="FFFFFF"/>
                    </a:solidFill>
                  </a:tcPr>
                </a:tc>
              </a:tr>
              <a:tr h="714375">
                <a:tc>
                  <a:txBody>
                    <a:bodyPr/>
                    <a:lstStyle/>
                    <a:p>
                      <a:r>
                        <a:rPr sz="2175" b="0">
                          <a:solidFill>
                            <a:srgbClr val="111111"/>
                          </a:solidFill>
                          <a:latin typeface="Times New Roman"/>
                          <a:ea typeface="Times New Roman"/>
                          <a:cs typeface="Times New Roman"/>
                        </a:rPr>
                        <a:t>Ambulance location</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Not implemented</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Phone GPS with ETA</a:t>
                      </a:r>
                    </a:p>
                  </a:txBody>
                  <a:tcPr marL="114300" marR="95250" marT="95250" marB="95250" anchor="ctr">
                    <a:lnR w="9525">
                      <a:solidFill>
                        <a:srgbClr val="CAD2DF"/>
                      </a:solidFill>
                    </a:lnR>
                    <a:lnB w="9525">
                      <a:solidFill>
                        <a:srgbClr val="CAD2DF"/>
                      </a:solidFill>
                    </a:lnB>
                    <a:solidFill>
                      <a:srgbClr val="EDF3F9"/>
                    </a:solidFill>
                  </a:tcPr>
                </a:tc>
              </a:tr>
            </a:tbl>
          </a:graphicData>
        </a:graphic>
      </p:graphicFrame>
      <p:sp>
        <p:nvSpPr>
          <p:cNvPr id="6" name="BLE supports the local link. Cloud transports">
            <a:extLst xmlns:a="http://schemas.openxmlformats.org/drawingml/2006/main">
              <a:ext uri="{FF2B5EF4-FFF2-40B4-BE49-F238E27FC236}">
                <a16:creationId xmlns:a16="http://schemas.microsoft.com/office/drawing/2014/main" id="{93050350-D90E-4BE7-8097-5D2C8DC53885}"/>
              </a:ext>
            </a:extLst>
          </p:cNvPr>
          <p:cNvSpPr>
            <a:spLocks xmlns:a="http://schemas.openxmlformats.org/drawingml/2006/main" noGrp="1"/>
          </p:cNvSpPr>
          <p:nvPr/>
        </p:nvSpPr>
        <p:spPr>
          <a:xfrm xmlns:a="http://schemas.openxmlformats.org/drawingml/2006/main">
            <a:off x="523875" y="5857875"/>
            <a:ext cx="11144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1875" b="0">
                <a:solidFill>
                  <a:srgbClr val="0070C0"/>
                </a:solidFill>
                <a:latin typeface="Times New Roman"/>
                <a:ea typeface="Times New Roman"/>
                <a:cs typeface="Times New Roman"/>
              </a:defRPr>
            </a:defPPr>
            <a:lvl1pPr algn="l">
              <a:defRPr sz="1875" b="0">
                <a:solidFill>
                  <a:srgbClr val="0070C0"/>
                </a:solidFill>
                <a:latin typeface="Times New Roman"/>
                <a:ea typeface="Times New Roman"/>
                <a:cs typeface="Times New Roman"/>
              </a:defRPr>
            </a:lvl1pPr>
            <a:lvl2pPr algn="l">
              <a:defRPr sz="1875" b="0">
                <a:solidFill>
                  <a:srgbClr val="0070C0"/>
                </a:solidFill>
                <a:latin typeface="Times New Roman"/>
                <a:ea typeface="Times New Roman"/>
                <a:cs typeface="Times New Roman"/>
              </a:defRPr>
            </a:lvl2pPr>
            <a:lvl3pPr algn="l">
              <a:defRPr sz="1875" b="0">
                <a:solidFill>
                  <a:srgbClr val="0070C0"/>
                </a:solidFill>
                <a:latin typeface="Times New Roman"/>
                <a:ea typeface="Times New Roman"/>
                <a:cs typeface="Times New Roman"/>
              </a:defRPr>
            </a:lvl3pPr>
            <a:lvl4pPr algn="l">
              <a:defRPr sz="1875" b="0">
                <a:solidFill>
                  <a:srgbClr val="0070C0"/>
                </a:solidFill>
                <a:latin typeface="Times New Roman"/>
                <a:ea typeface="Times New Roman"/>
                <a:cs typeface="Times New Roman"/>
              </a:defRPr>
            </a:lvl4pPr>
            <a:lvl5pPr algn="l">
              <a:defRPr sz="1875" b="0">
                <a:solidFill>
                  <a:srgbClr val="0070C0"/>
                </a:solidFill>
                <a:latin typeface="Times New Roman"/>
                <a:ea typeface="Times New Roman"/>
                <a:cs typeface="Times New Roman"/>
              </a:defRPr>
            </a:lvl5pPr>
            <a:lvl6pPr algn="l">
              <a:defRPr sz="1875" b="0">
                <a:solidFill>
                  <a:srgbClr val="0070C0"/>
                </a:solidFill>
                <a:latin typeface="Times New Roman"/>
                <a:ea typeface="Times New Roman"/>
                <a:cs typeface="Times New Roman"/>
              </a:defRPr>
            </a:lvl6pPr>
            <a:lvl7pPr algn="l">
              <a:defRPr sz="1875" b="0">
                <a:solidFill>
                  <a:srgbClr val="0070C0"/>
                </a:solidFill>
                <a:latin typeface="Times New Roman"/>
                <a:ea typeface="Times New Roman"/>
                <a:cs typeface="Times New Roman"/>
              </a:defRPr>
            </a:lvl7pPr>
            <a:lvl8pPr algn="l">
              <a:defRPr sz="1875" b="0">
                <a:solidFill>
                  <a:srgbClr val="0070C0"/>
                </a:solidFill>
                <a:latin typeface="Times New Roman"/>
                <a:ea typeface="Times New Roman"/>
                <a:cs typeface="Times New Roman"/>
              </a:defRPr>
            </a:lvl8pPr>
            <a:lvl9pPr algn="l">
              <a:defRPr sz="1875" b="0">
                <a:solidFill>
                  <a:srgbClr val="0070C0"/>
                </a:solidFill>
                <a:latin typeface="Times New Roman"/>
                <a:ea typeface="Times New Roman"/>
                <a:cs typeface="Times New Roman"/>
              </a:defRPr>
            </a:lvl9pPr>
          </a:lstStyle>
          <a:p xmlns:a="http://schemas.openxmlformats.org/drawingml/2006/main">
            <a:pPr algn="l">
              <a:defRPr sz="1875" b="0">
                <a:solidFill>
                  <a:srgbClr val="0070C0"/>
                </a:solidFill>
                <a:latin typeface="Times New Roman"/>
                <a:ea typeface="Times New Roman"/>
                <a:cs typeface="Times New Roman"/>
              </a:defRPr>
            </a:pPr>
            <a:r>
              <a:rPr sz="1875" b="0">
                <a:solidFill>
                  <a:srgbClr val="0070C0"/>
                </a:solidFill>
                <a:latin typeface="Times New Roman"/>
                <a:ea typeface="Times New Roman"/>
                <a:cs typeface="Times New Roman"/>
              </a:rPr>
              <a:t>BLE supports the local link. Cloud transports require phone internet connectivity.</a:t>
            </a:r>
          </a:p>
        </p:txBody>
      </p:sp>
      <p:sp>
        <p:nvSpPr>
          <p:cNvPr id="7" name="6">
            <a:extLst xmlns:a="http://schemas.openxmlformats.org/drawingml/2006/main">
              <a:ext uri="{FF2B5EF4-FFF2-40B4-BE49-F238E27FC236}">
                <a16:creationId xmlns:a16="http://schemas.microsoft.com/office/drawing/2014/main" id="{72F8E5FE-8578-4D96-B2E9-83E6A8A39035}"/>
              </a:ext>
            </a:extLst>
          </p:cNvPr>
          <p:cNvSpPr>
            <a:spLocks xmlns:a="http://schemas.openxmlformats.org/drawingml/2006/main" noGrp="1"/>
          </p:cNvSpPr>
          <p:nvPr/>
        </p:nvSpPr>
        <p:spPr>
          <a:xfrm xmlns:a="http://schemas.openxmlformats.org/drawingml/2006/main">
            <a:off x="11430000" y="649605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xmlns:a="http://schemas.openxmlformats.org/drawingml/2006/main">
            <a:pPr algn="r">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6</a:t>
            </a:r>
          </a:p>
        </p:txBody>
      </p:sp>
    </p:spTree>
    <p:extLst>
      <p:ext uri="{BB962C8B-B14F-4D97-AF65-F5344CB8AC3E}">
        <p14:creationId xmlns:p14="http://schemas.microsoft.com/office/powerpoint/2010/main" val="173359637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4CD393A-8365-3C41-2C17-6494BBBD7105}"/>
              </a:ext>
            </a:extLst>
          </p:cNvPr>
          <p:cNvSpPr>
            <a:spLocks xmlns:a="http://schemas.openxmlformats.org/drawingml/2006/main" noGrp="1"/>
          </p:cNvSpPr>
          <p:nvPr>
            <p:ph type="title" idx="0"/>
          </p:nvPr>
        </p:nvSpPr>
        <p:spPr>
          <a:xfrm xmlns:a="http://schemas.openxmlformats.org/drawingml/2006/main">
            <a:off x="0" y="0"/>
            <a:ext cx="12192000" cy="762000"/>
          </a:xfrm>
          <a:prstGeom xmlns:a="http://schemas.openxmlformats.org/drawingml/2006/main" prst="rect">
            <a:avLst/>
          </a:prstGeom>
          <a:solidFill xmlns:a="http://schemas.openxmlformats.org/drawingml/2006/main">
            <a:srgbClr val="002060"/>
          </a:solidFill>
        </p:spPr>
        <p:txBody>
          <a:bodyPr xmlns:a="http://schemas.openxmlformats.org/drawingml/2006/main">
            <a:normAutofit fontScale="100000"/>
          </a:bodyPr>
          <a:lstStyle xmlns:a="http://schemas.openxmlformats.org/drawingml/2006/main">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xmlns:a="http://schemas.openxmlformats.org/drawingml/2006/main">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Functional Requirements</a:t>
            </a:r>
          </a:p>
        </p:txBody>
      </p:sp>
      <p:sp>
        <p:nvSpPr>
          <p:cNvPr id="4" name="Footer Placeholder 3">
            <a:extLst xmlns:a="http://schemas.openxmlformats.org/drawingml/2006/main">
              <a:ext uri="{FF2B5EF4-FFF2-40B4-BE49-F238E27FC236}">
                <a16:creationId xmlns:a16="http://schemas.microsoft.com/office/drawing/2014/main" id="{3D9C6012-FCED-4937-A4AB-8CEEC135A13C}"/>
              </a:ext>
            </a:extLst>
          </p:cNvPr>
          <p:cNvSpPr>
            <a:spLocks xmlns:a="http://schemas.openxmlformats.org/drawingml/2006/main" noGrp="1"/>
          </p:cNvSpPr>
          <p:nvPr>
            <p:ph type="ftr" idx="11"/>
          </p:nvPr>
        </p:nvSpPr>
        <p:spPr>
          <a:xfrm xmlns:a="http://schemas.openxmlformats.org/drawingml/2006/main">
            <a:off x="0" y="6492907"/>
            <a:ext cx="12192000" cy="365093"/>
          </a:xfrm>
          <a:prstGeom xmlns:a="http://schemas.openxmlformats.org/drawingml/2006/main" prst="rect">
            <a:avLst/>
          </a:prstGeom>
          <a:solidFill xmlns:a="http://schemas.openxmlformats.org/drawingml/2006/main">
            <a:srgbClr val="002060"/>
          </a:solidFill>
        </p:spPr>
        <p:txBody>
          <a:bodyPr xmlns:a="http://schemas.openxmlformats.org/drawingml/2006/main"/>
          <a:lstStyle xmlns:a="http://schemas.openxmlformats.org/drawingml/2006/main">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xmlns:a="http://schemas.openxmlformats.org/drawingml/2006/main">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graphicFrame>
        <p:nvGraphicFramePr>
          <p:cNvPr id="5" name="">
            <a:extLst xmlns:a="http://schemas.openxmlformats.org/drawingml/2006/main">
              <a:ext uri="{FF2B5EF4-FFF2-40B4-BE49-F238E27FC236}">
                <a16:creationId xmlns:a16="http://schemas.microsoft.com/office/drawing/2014/main" id="{96AF17B3-C550-48EB-B276-006546E5C772}"/>
              </a:ext>
            </a:extLst>
          </p:cNvPr>
          <p:cNvGraphicFramePr/>
          <p:nvPr/>
        </p:nvGraphicFramePr>
        <p:xfrm>
          <a:off xmlns:a="http://schemas.openxmlformats.org/drawingml/2006/main" x="523875" y="1190625"/>
          <a:ext xmlns:a="http://schemas.openxmlformats.org/drawingml/2006/main" cx="11144250" cy="4572000"/>
        </p:xfrm>
        <a:graphic xmlns:a="http://schemas.openxmlformats.org/drawingml/2006/main">
          <a:graphicData uri="http://schemas.openxmlformats.org/drawingml/2006/table">
            <a:tbl>
              <a:tblPr/>
              <a:tblGrid>
                <a:gridCol w="952500"/>
                <a:gridCol w="6953250"/>
                <a:gridCol w="3238500"/>
              </a:tblGrid>
              <a:tr h="653143">
                <a:tc>
                  <a:txBody>
                    <a:bodyPr/>
                    <a:lstStyle/>
                    <a:p>
                      <a:r>
                        <a:rPr sz="2175" b="1">
                          <a:solidFill>
                            <a:srgbClr val="FFFFFF"/>
                          </a:solidFill>
                          <a:latin typeface="Times New Roman"/>
                          <a:ea typeface="Times New Roman"/>
                          <a:cs typeface="Times New Roman"/>
                        </a:rPr>
                        <a:t>ID</a:t>
                      </a:r>
                    </a:p>
                  </a:txBody>
                  <a:tcPr marL="114300" marR="95250" marT="95250" marB="95250" anchor="ctr">
                    <a:lnL w="9525">
                      <a:solidFill>
                        <a:srgbClr val="CAD2DF"/>
                      </a:solidFill>
                    </a:lnL>
                    <a:lnR w="9525">
                      <a:solidFill>
                        <a:srgbClr val="CAD2DF"/>
                      </a:solidFill>
                    </a:lnR>
                    <a:lnT w="9525">
                      <a:solidFill>
                        <a:srgbClr val="CAD2DF"/>
                      </a:solidFill>
                    </a:lnT>
                    <a:lnB w="9525">
                      <a:solidFill>
                        <a:srgbClr val="CAD2DF"/>
                      </a:solidFill>
                    </a:lnB>
                    <a:solidFill>
                      <a:srgbClr val="002060"/>
                    </a:solidFill>
                  </a:tcPr>
                </a:tc>
                <a:tc>
                  <a:txBody>
                    <a:bodyPr/>
                    <a:lstStyle/>
                    <a:p>
                      <a:r>
                        <a:rPr sz="2175" b="1">
                          <a:solidFill>
                            <a:srgbClr val="FFFFFF"/>
                          </a:solidFill>
                          <a:latin typeface="Times New Roman"/>
                          <a:ea typeface="Times New Roman"/>
                          <a:cs typeface="Times New Roman"/>
                        </a:rPr>
                        <a:t>Required behavior</a:t>
                      </a:r>
                    </a:p>
                  </a:txBody>
                  <a:tcPr marL="114300" marR="95250" marT="95250" marB="95250" anchor="ctr">
                    <a:lnR w="9525">
                      <a:solidFill>
                        <a:srgbClr val="CAD2DF"/>
                      </a:solidFill>
                    </a:lnR>
                    <a:lnT w="9525">
                      <a:solidFill>
                        <a:srgbClr val="CAD2DF"/>
                      </a:solidFill>
                    </a:lnT>
                    <a:lnB w="9525">
                      <a:solidFill>
                        <a:srgbClr val="CAD2DF"/>
                      </a:solidFill>
                    </a:lnB>
                    <a:solidFill>
                      <a:srgbClr val="002060"/>
                    </a:solidFill>
                  </a:tcPr>
                </a:tc>
                <a:tc>
                  <a:txBody>
                    <a:bodyPr/>
                    <a:lstStyle/>
                    <a:p>
                      <a:r>
                        <a:rPr sz="2175" b="1">
                          <a:solidFill>
                            <a:srgbClr val="FFFFFF"/>
                          </a:solidFill>
                          <a:latin typeface="Times New Roman"/>
                          <a:ea typeface="Times New Roman"/>
                          <a:cs typeface="Times New Roman"/>
                        </a:rPr>
                        <a:t>Implementation</a:t>
                      </a:r>
                    </a:p>
                  </a:txBody>
                  <a:tcPr marL="114300" marR="95250" marT="95250" marB="95250" anchor="ctr">
                    <a:lnR w="9525">
                      <a:solidFill>
                        <a:srgbClr val="CAD2DF"/>
                      </a:solidFill>
                    </a:lnR>
                    <a:lnT w="9525">
                      <a:solidFill>
                        <a:srgbClr val="CAD2DF"/>
                      </a:solidFill>
                    </a:lnT>
                    <a:lnB w="9525">
                      <a:solidFill>
                        <a:srgbClr val="CAD2DF"/>
                      </a:solidFill>
                    </a:lnB>
                    <a:solidFill>
                      <a:srgbClr val="002060"/>
                    </a:solidFill>
                  </a:tcPr>
                </a:tc>
              </a:tr>
              <a:tr h="653143">
                <a:tc>
                  <a:txBody>
                    <a:bodyPr/>
                    <a:lstStyle/>
                    <a:p>
                      <a:r>
                        <a:rPr sz="2175" b="0">
                          <a:solidFill>
                            <a:srgbClr val="111111"/>
                          </a:solidFill>
                          <a:latin typeface="Times New Roman"/>
                          <a:ea typeface="Times New Roman"/>
                          <a:cs typeface="Times New Roman"/>
                        </a:rPr>
                        <a:t>FR1</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Discover, connect and receive BLE vitals</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Code present</a:t>
                      </a:r>
                    </a:p>
                  </a:txBody>
                  <a:tcPr marL="114300" marR="95250" marT="95250" marB="95250" anchor="ctr">
                    <a:lnR w="9525">
                      <a:solidFill>
                        <a:srgbClr val="CAD2DF"/>
                      </a:solidFill>
                    </a:lnR>
                    <a:lnB w="9525">
                      <a:solidFill>
                        <a:srgbClr val="CAD2DF"/>
                      </a:solidFill>
                    </a:lnB>
                    <a:solidFill>
                      <a:srgbClr val="EDF3F9"/>
                    </a:solidFill>
                  </a:tcPr>
                </a:tc>
              </a:tr>
              <a:tr h="653143">
                <a:tc>
                  <a:txBody>
                    <a:bodyPr/>
                    <a:lstStyle/>
                    <a:p>
                      <a:r>
                        <a:rPr sz="2175" b="0">
                          <a:solidFill>
                            <a:srgbClr val="111111"/>
                          </a:solidFill>
                          <a:latin typeface="Times New Roman"/>
                          <a:ea typeface="Times New Roman"/>
                          <a:cs typeface="Times New Roman"/>
                        </a:rPr>
                        <a:t>FR2</a:t>
                      </a:r>
                    </a:p>
                  </a:txBody>
                  <a:tcPr marL="114300" marR="95250" marT="95250" marB="95250" anchor="ctr">
                    <a:lnL w="9525">
                      <a:solidFill>
                        <a:srgbClr val="CAD2DF"/>
                      </a:solidFill>
                    </a:lnL>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Start/stop telemetry from the app</a:t>
                      </a:r>
                    </a:p>
                  </a:txBody>
                  <a:tcPr marL="114300" marR="95250" marT="95250" marB="95250" anchor="ctr">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Code present</a:t>
                      </a:r>
                    </a:p>
                  </a:txBody>
                  <a:tcPr marL="114300" marR="95250" marT="95250" marB="95250" anchor="ctr">
                    <a:lnR w="9525">
                      <a:solidFill>
                        <a:srgbClr val="CAD2DF"/>
                      </a:solidFill>
                    </a:lnR>
                    <a:lnB w="9525">
                      <a:solidFill>
                        <a:srgbClr val="CAD2DF"/>
                      </a:solidFill>
                    </a:lnB>
                    <a:solidFill>
                      <a:srgbClr val="FFFFFF"/>
                    </a:solidFill>
                  </a:tcPr>
                </a:tc>
              </a:tr>
              <a:tr h="653143">
                <a:tc>
                  <a:txBody>
                    <a:bodyPr/>
                    <a:lstStyle/>
                    <a:p>
                      <a:r>
                        <a:rPr sz="2175" b="0">
                          <a:solidFill>
                            <a:srgbClr val="111111"/>
                          </a:solidFill>
                          <a:latin typeface="Times New Roman"/>
                          <a:ea typeface="Times New Roman"/>
                          <a:cs typeface="Times New Roman"/>
                        </a:rPr>
                        <a:t>FR3</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Acquire sensors and update local OLED</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Integration pending</a:t>
                      </a:r>
                    </a:p>
                  </a:txBody>
                  <a:tcPr marL="114300" marR="95250" marT="95250" marB="95250" anchor="ctr">
                    <a:lnR w="9525">
                      <a:solidFill>
                        <a:srgbClr val="CAD2DF"/>
                      </a:solidFill>
                    </a:lnR>
                    <a:lnB w="9525">
                      <a:solidFill>
                        <a:srgbClr val="CAD2DF"/>
                      </a:solidFill>
                    </a:lnB>
                    <a:solidFill>
                      <a:srgbClr val="EDF3F9"/>
                    </a:solidFill>
                  </a:tcPr>
                </a:tc>
              </a:tr>
              <a:tr h="653143">
                <a:tc>
                  <a:txBody>
                    <a:bodyPr/>
                    <a:lstStyle/>
                    <a:p>
                      <a:r>
                        <a:rPr sz="2175" b="0">
                          <a:solidFill>
                            <a:srgbClr val="111111"/>
                          </a:solidFill>
                          <a:latin typeface="Times New Roman"/>
                          <a:ea typeface="Times New Roman"/>
                          <a:cs typeface="Times New Roman"/>
                        </a:rPr>
                        <a:t>FR4</a:t>
                      </a:r>
                    </a:p>
                  </a:txBody>
                  <a:tcPr marL="114300" marR="95250" marT="95250" marB="95250" anchor="ctr">
                    <a:lnL w="9525">
                      <a:solidFill>
                        <a:srgbClr val="CAD2DF"/>
                      </a:solidFill>
                    </a:lnL>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Queue and upload telemetry to cloud</a:t>
                      </a:r>
                    </a:p>
                  </a:txBody>
                  <a:tcPr marL="114300" marR="95250" marT="95250" marB="95250" anchor="ctr">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Planned</a:t>
                      </a:r>
                    </a:p>
                  </a:txBody>
                  <a:tcPr marL="114300" marR="95250" marT="95250" marB="95250" anchor="ctr">
                    <a:lnR w="9525">
                      <a:solidFill>
                        <a:srgbClr val="CAD2DF"/>
                      </a:solidFill>
                    </a:lnR>
                    <a:lnB w="9525">
                      <a:solidFill>
                        <a:srgbClr val="CAD2DF"/>
                      </a:solidFill>
                    </a:lnB>
                    <a:solidFill>
                      <a:srgbClr val="FFFFFF"/>
                    </a:solidFill>
                  </a:tcPr>
                </a:tc>
              </a:tr>
              <a:tr h="653143">
                <a:tc>
                  <a:txBody>
                    <a:bodyPr/>
                    <a:lstStyle/>
                    <a:p>
                      <a:r>
                        <a:rPr sz="2175" b="0">
                          <a:solidFill>
                            <a:srgbClr val="111111"/>
                          </a:solidFill>
                          <a:latin typeface="Times New Roman"/>
                          <a:ea typeface="Times New Roman"/>
                          <a:cs typeface="Times New Roman"/>
                        </a:rPr>
                        <a:t>FR5</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Provide GPS location and ETA</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Planned</a:t>
                      </a:r>
                    </a:p>
                  </a:txBody>
                  <a:tcPr marL="114300" marR="95250" marT="95250" marB="95250" anchor="ctr">
                    <a:lnR w="9525">
                      <a:solidFill>
                        <a:srgbClr val="CAD2DF"/>
                      </a:solidFill>
                    </a:lnR>
                    <a:lnB w="9525">
                      <a:solidFill>
                        <a:srgbClr val="CAD2DF"/>
                      </a:solidFill>
                    </a:lnB>
                    <a:solidFill>
                      <a:srgbClr val="EDF3F9"/>
                    </a:solidFill>
                  </a:tcPr>
                </a:tc>
              </a:tr>
              <a:tr h="653143">
                <a:tc>
                  <a:txBody>
                    <a:bodyPr/>
                    <a:lstStyle/>
                    <a:p>
                      <a:r>
                        <a:rPr sz="2175" b="0">
                          <a:solidFill>
                            <a:srgbClr val="111111"/>
                          </a:solidFill>
                          <a:latin typeface="Times New Roman"/>
                          <a:ea typeface="Times New Roman"/>
                          <a:cs typeface="Times New Roman"/>
                        </a:rPr>
                        <a:t>FR6</a:t>
                      </a:r>
                    </a:p>
                  </a:txBody>
                  <a:tcPr marL="114300" marR="95250" marT="95250" marB="95250" anchor="ctr">
                    <a:lnL w="9525">
                      <a:solidFill>
                        <a:srgbClr val="CAD2DF"/>
                      </a:solidFill>
                    </a:lnL>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Predict risk and show hospital updates</a:t>
                      </a:r>
                    </a:p>
                  </a:txBody>
                  <a:tcPr marL="114300" marR="95250" marT="95250" marB="95250" anchor="ctr">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Planned</a:t>
                      </a:r>
                    </a:p>
                  </a:txBody>
                  <a:tcPr marL="114300" marR="95250" marT="95250" marB="95250" anchor="ctr">
                    <a:lnR w="9525">
                      <a:solidFill>
                        <a:srgbClr val="CAD2DF"/>
                      </a:solidFill>
                    </a:lnR>
                    <a:lnB w="9525">
                      <a:solidFill>
                        <a:srgbClr val="CAD2DF"/>
                      </a:solidFill>
                    </a:lnB>
                    <a:solidFill>
                      <a:srgbClr val="FFFFFF"/>
                    </a:solidFill>
                  </a:tcPr>
                </a:tc>
              </a:tr>
            </a:tbl>
          </a:graphicData>
        </a:graphic>
      </p:graphicFrame>
      <p:sp>
        <p:nvSpPr>
          <p:cNvPr id="6" name="7">
            <a:extLst xmlns:a="http://schemas.openxmlformats.org/drawingml/2006/main">
              <a:ext uri="{FF2B5EF4-FFF2-40B4-BE49-F238E27FC236}">
                <a16:creationId xmlns:a16="http://schemas.microsoft.com/office/drawing/2014/main" id="{DC8E7CFA-4BC5-4084-B3E0-3471A4748F1C}"/>
              </a:ext>
            </a:extLst>
          </p:cNvPr>
          <p:cNvSpPr>
            <a:spLocks xmlns:a="http://schemas.openxmlformats.org/drawingml/2006/main" noGrp="1"/>
          </p:cNvSpPr>
          <p:nvPr/>
        </p:nvSpPr>
        <p:spPr>
          <a:xfrm xmlns:a="http://schemas.openxmlformats.org/drawingml/2006/main">
            <a:off x="11430000" y="649605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xmlns:a="http://schemas.openxmlformats.org/drawingml/2006/main">
            <a:pPr algn="r">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7</a:t>
            </a:r>
          </a:p>
        </p:txBody>
      </p:sp>
    </p:spTree>
    <p:extLst>
      <p:ext uri="{BB962C8B-B14F-4D97-AF65-F5344CB8AC3E}">
        <p14:creationId xmlns:p14="http://schemas.microsoft.com/office/powerpoint/2010/main" val="1733596377"/>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4CD393A-8365-3C41-2C17-6494BBBD7105}"/>
              </a:ext>
            </a:extLst>
          </p:cNvPr>
          <p:cNvSpPr>
            <a:spLocks xmlns:a="http://schemas.openxmlformats.org/drawingml/2006/main" noGrp="1"/>
          </p:cNvSpPr>
          <p:nvPr>
            <p:ph type="title" idx="0"/>
          </p:nvPr>
        </p:nvSpPr>
        <p:spPr>
          <a:xfrm xmlns:a="http://schemas.openxmlformats.org/drawingml/2006/main">
            <a:off x="0" y="0"/>
            <a:ext cx="12192000" cy="762000"/>
          </a:xfrm>
          <a:prstGeom xmlns:a="http://schemas.openxmlformats.org/drawingml/2006/main" prst="rect">
            <a:avLst/>
          </a:prstGeom>
          <a:solidFill xmlns:a="http://schemas.openxmlformats.org/drawingml/2006/main">
            <a:srgbClr val="002060"/>
          </a:solidFill>
        </p:spPr>
        <p:txBody>
          <a:bodyPr xmlns:a="http://schemas.openxmlformats.org/drawingml/2006/main">
            <a:normAutofit fontScale="100000"/>
          </a:bodyPr>
          <a:lstStyle xmlns:a="http://schemas.openxmlformats.org/drawingml/2006/main">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xmlns:a="http://schemas.openxmlformats.org/drawingml/2006/main">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Non-Functional Requirements</a:t>
            </a:r>
          </a:p>
        </p:txBody>
      </p:sp>
      <p:sp>
        <p:nvSpPr>
          <p:cNvPr id="4" name="Footer Placeholder 3">
            <a:extLst xmlns:a="http://schemas.openxmlformats.org/drawingml/2006/main">
              <a:ext uri="{FF2B5EF4-FFF2-40B4-BE49-F238E27FC236}">
                <a16:creationId xmlns:a16="http://schemas.microsoft.com/office/drawing/2014/main" id="{3D9C6012-FCED-4937-A4AB-8CEEC135A13C}"/>
              </a:ext>
            </a:extLst>
          </p:cNvPr>
          <p:cNvSpPr>
            <a:spLocks xmlns:a="http://schemas.openxmlformats.org/drawingml/2006/main" noGrp="1"/>
          </p:cNvSpPr>
          <p:nvPr>
            <p:ph type="ftr" idx="11"/>
          </p:nvPr>
        </p:nvSpPr>
        <p:spPr>
          <a:xfrm xmlns:a="http://schemas.openxmlformats.org/drawingml/2006/main">
            <a:off x="0" y="6492907"/>
            <a:ext cx="12192000" cy="365093"/>
          </a:xfrm>
          <a:prstGeom xmlns:a="http://schemas.openxmlformats.org/drawingml/2006/main" prst="rect">
            <a:avLst/>
          </a:prstGeom>
          <a:solidFill xmlns:a="http://schemas.openxmlformats.org/drawingml/2006/main">
            <a:srgbClr val="002060"/>
          </a:solidFill>
        </p:spPr>
        <p:txBody>
          <a:bodyPr xmlns:a="http://schemas.openxmlformats.org/drawingml/2006/main"/>
          <a:lstStyle xmlns:a="http://schemas.openxmlformats.org/drawingml/2006/main">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xmlns:a="http://schemas.openxmlformats.org/drawingml/2006/main">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graphicFrame>
        <p:nvGraphicFramePr>
          <p:cNvPr id="5" name="">
            <a:extLst xmlns:a="http://schemas.openxmlformats.org/drawingml/2006/main">
              <a:ext uri="{FF2B5EF4-FFF2-40B4-BE49-F238E27FC236}">
                <a16:creationId xmlns:a16="http://schemas.microsoft.com/office/drawing/2014/main" id="{A01DF5BD-049E-48F5-9B67-EA9CB0A63420}"/>
              </a:ext>
            </a:extLst>
          </p:cNvPr>
          <p:cNvGraphicFramePr/>
          <p:nvPr/>
        </p:nvGraphicFramePr>
        <p:xfrm>
          <a:off xmlns:a="http://schemas.openxmlformats.org/drawingml/2006/main" x="523875" y="1285875"/>
          <a:ext xmlns:a="http://schemas.openxmlformats.org/drawingml/2006/main" cx="11144250" cy="4238625"/>
        </p:xfrm>
        <a:graphic xmlns:a="http://schemas.openxmlformats.org/drawingml/2006/main">
          <a:graphicData uri="http://schemas.openxmlformats.org/drawingml/2006/table">
            <a:tbl>
              <a:tblPr/>
              <a:tblGrid>
                <a:gridCol w="2238375"/>
                <a:gridCol w="5429250"/>
                <a:gridCol w="3476625"/>
              </a:tblGrid>
              <a:tr h="706438">
                <a:tc>
                  <a:txBody>
                    <a:bodyPr/>
                    <a:lstStyle/>
                    <a:p>
                      <a:r>
                        <a:rPr sz="2175" b="1">
                          <a:solidFill>
                            <a:srgbClr val="FFFFFF"/>
                          </a:solidFill>
                          <a:latin typeface="Times New Roman"/>
                          <a:ea typeface="Times New Roman"/>
                          <a:cs typeface="Times New Roman"/>
                        </a:rPr>
                        <a:t>Quality</a:t>
                      </a:r>
                    </a:p>
                  </a:txBody>
                  <a:tcPr marL="114300" marR="95250" marT="95250" marB="95250" anchor="ctr">
                    <a:lnL w="9525">
                      <a:solidFill>
                        <a:srgbClr val="CAD2DF"/>
                      </a:solidFill>
                    </a:lnL>
                    <a:lnR w="9525">
                      <a:solidFill>
                        <a:srgbClr val="CAD2DF"/>
                      </a:solidFill>
                    </a:lnR>
                    <a:lnT w="9525">
                      <a:solidFill>
                        <a:srgbClr val="CAD2DF"/>
                      </a:solidFill>
                    </a:lnT>
                    <a:lnB w="9525">
                      <a:solidFill>
                        <a:srgbClr val="CAD2DF"/>
                      </a:solidFill>
                    </a:lnB>
                    <a:solidFill>
                      <a:srgbClr val="002060"/>
                    </a:solidFill>
                  </a:tcPr>
                </a:tc>
                <a:tc>
                  <a:txBody>
                    <a:bodyPr/>
                    <a:lstStyle/>
                    <a:p>
                      <a:r>
                        <a:rPr sz="2175" b="1">
                          <a:solidFill>
                            <a:srgbClr val="FFFFFF"/>
                          </a:solidFill>
                          <a:latin typeface="Times New Roman"/>
                          <a:ea typeface="Times New Roman"/>
                          <a:cs typeface="Times New Roman"/>
                        </a:rPr>
                        <a:t>Acceptance check</a:t>
                      </a:r>
                    </a:p>
                  </a:txBody>
                  <a:tcPr marL="114300" marR="95250" marT="95250" marB="95250" anchor="ctr">
                    <a:lnR w="9525">
                      <a:solidFill>
                        <a:srgbClr val="CAD2DF"/>
                      </a:solidFill>
                    </a:lnR>
                    <a:lnT w="9525">
                      <a:solidFill>
                        <a:srgbClr val="CAD2DF"/>
                      </a:solidFill>
                    </a:lnT>
                    <a:lnB w="9525">
                      <a:solidFill>
                        <a:srgbClr val="CAD2DF"/>
                      </a:solidFill>
                    </a:lnB>
                    <a:solidFill>
                      <a:srgbClr val="002060"/>
                    </a:solidFill>
                  </a:tcPr>
                </a:tc>
                <a:tc>
                  <a:txBody>
                    <a:bodyPr/>
                    <a:lstStyle/>
                    <a:p>
                      <a:r>
                        <a:rPr sz="2175" b="1">
                          <a:solidFill>
                            <a:srgbClr val="FFFFFF"/>
                          </a:solidFill>
                          <a:latin typeface="Times New Roman"/>
                          <a:ea typeface="Times New Roman"/>
                          <a:cs typeface="Times New Roman"/>
                        </a:rPr>
                        <a:t>Evidence needed</a:t>
                      </a:r>
                    </a:p>
                  </a:txBody>
                  <a:tcPr marL="114300" marR="95250" marT="95250" marB="95250" anchor="ctr">
                    <a:lnR w="9525">
                      <a:solidFill>
                        <a:srgbClr val="CAD2DF"/>
                      </a:solidFill>
                    </a:lnR>
                    <a:lnT w="9525">
                      <a:solidFill>
                        <a:srgbClr val="CAD2DF"/>
                      </a:solidFill>
                    </a:lnT>
                    <a:lnB w="9525">
                      <a:solidFill>
                        <a:srgbClr val="CAD2DF"/>
                      </a:solidFill>
                    </a:lnB>
                    <a:solidFill>
                      <a:srgbClr val="002060"/>
                    </a:solidFill>
                  </a:tcPr>
                </a:tc>
              </a:tr>
              <a:tr h="706438">
                <a:tc>
                  <a:txBody>
                    <a:bodyPr/>
                    <a:lstStyle/>
                    <a:p>
                      <a:r>
                        <a:rPr sz="2175" b="0">
                          <a:solidFill>
                            <a:srgbClr val="111111"/>
                          </a:solidFill>
                          <a:latin typeface="Times New Roman"/>
                          <a:ea typeface="Times New Roman"/>
                          <a:cs typeface="Times New Roman"/>
                        </a:rPr>
                        <a:t>Security</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Encrypted BLE before stream control</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ESP32 encryption log</a:t>
                      </a:r>
                    </a:p>
                  </a:txBody>
                  <a:tcPr marL="114300" marR="95250" marT="95250" marB="95250" anchor="ctr">
                    <a:lnR w="9525">
                      <a:solidFill>
                        <a:srgbClr val="CAD2DF"/>
                      </a:solidFill>
                    </a:lnR>
                    <a:lnB w="9525">
                      <a:solidFill>
                        <a:srgbClr val="CAD2DF"/>
                      </a:solidFill>
                    </a:lnB>
                    <a:solidFill>
                      <a:srgbClr val="EDF3F9"/>
                    </a:solidFill>
                  </a:tcPr>
                </a:tc>
              </a:tr>
              <a:tr h="706438">
                <a:tc>
                  <a:txBody>
                    <a:bodyPr/>
                    <a:lstStyle/>
                    <a:p>
                      <a:r>
                        <a:rPr sz="2175" b="0">
                          <a:solidFill>
                            <a:srgbClr val="111111"/>
                          </a:solidFill>
                          <a:latin typeface="Times New Roman"/>
                          <a:ea typeface="Times New Roman"/>
                          <a:cs typeface="Times New Roman"/>
                        </a:rPr>
                        <a:t>Responsiveness</a:t>
                      </a:r>
                    </a:p>
                  </a:txBody>
                  <a:tcPr marL="114300" marR="95250" marT="95250" marB="95250" anchor="ctr">
                    <a:lnL w="9525">
                      <a:solidFill>
                        <a:srgbClr val="CAD2DF"/>
                      </a:solidFill>
                    </a:lnL>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Regular updates without a frozen UI</a:t>
                      </a:r>
                    </a:p>
                  </a:txBody>
                  <a:tcPr marL="114300" marR="95250" marT="95250" marB="95250" anchor="ctr">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Timed recording and logs</a:t>
                      </a:r>
                    </a:p>
                  </a:txBody>
                  <a:tcPr marL="114300" marR="95250" marT="95250" marB="95250" anchor="ctr">
                    <a:lnR w="9525">
                      <a:solidFill>
                        <a:srgbClr val="CAD2DF"/>
                      </a:solidFill>
                    </a:lnR>
                    <a:lnB w="9525">
                      <a:solidFill>
                        <a:srgbClr val="CAD2DF"/>
                      </a:solidFill>
                    </a:lnB>
                    <a:solidFill>
                      <a:srgbClr val="FFFFFF"/>
                    </a:solidFill>
                  </a:tcPr>
                </a:tc>
              </a:tr>
              <a:tr h="706438">
                <a:tc>
                  <a:txBody>
                    <a:bodyPr/>
                    <a:lstStyle/>
                    <a:p>
                      <a:r>
                        <a:rPr sz="2175" b="0">
                          <a:solidFill>
                            <a:srgbClr val="111111"/>
                          </a:solidFill>
                          <a:latin typeface="Times New Roman"/>
                          <a:ea typeface="Times New Roman"/>
                          <a:cs typeface="Times New Roman"/>
                        </a:rPr>
                        <a:t>Recovery</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Resume telemetry after reconnect</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Disconnect/reconnect recording</a:t>
                      </a:r>
                    </a:p>
                  </a:txBody>
                  <a:tcPr marL="114300" marR="95250" marT="95250" marB="95250" anchor="ctr">
                    <a:lnR w="9525">
                      <a:solidFill>
                        <a:srgbClr val="CAD2DF"/>
                      </a:solidFill>
                    </a:lnR>
                    <a:lnB w="9525">
                      <a:solidFill>
                        <a:srgbClr val="CAD2DF"/>
                      </a:solidFill>
                    </a:lnB>
                    <a:solidFill>
                      <a:srgbClr val="EDF3F9"/>
                    </a:solidFill>
                  </a:tcPr>
                </a:tc>
              </a:tr>
              <a:tr h="706438">
                <a:tc>
                  <a:txBody>
                    <a:bodyPr/>
                    <a:lstStyle/>
                    <a:p>
                      <a:r>
                        <a:rPr sz="2175" b="0">
                          <a:solidFill>
                            <a:srgbClr val="111111"/>
                          </a:solidFill>
                          <a:latin typeface="Times New Roman"/>
                          <a:ea typeface="Times New Roman"/>
                          <a:cs typeface="Times New Roman"/>
                        </a:rPr>
                        <a:t>Data integrity</a:t>
                      </a:r>
                    </a:p>
                  </a:txBody>
                  <a:tcPr marL="114300" marR="95250" marT="95250" marB="95250" anchor="ctr">
                    <a:lnL w="9525">
                      <a:solidFill>
                        <a:srgbClr val="CAD2DF"/>
                      </a:solidFill>
                    </a:lnL>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App values match transmitted values</a:t>
                      </a:r>
                    </a:p>
                  </a:txBody>
                  <a:tcPr marL="114300" marR="95250" marT="95250" marB="95250" anchor="ctr">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Matched app and serial captures</a:t>
                      </a:r>
                    </a:p>
                  </a:txBody>
                  <a:tcPr marL="114300" marR="95250" marT="95250" marB="95250" anchor="ctr">
                    <a:lnR w="9525">
                      <a:solidFill>
                        <a:srgbClr val="CAD2DF"/>
                      </a:solidFill>
                    </a:lnR>
                    <a:lnB w="9525">
                      <a:solidFill>
                        <a:srgbClr val="CAD2DF"/>
                      </a:solidFill>
                    </a:lnB>
                    <a:solidFill>
                      <a:srgbClr val="FFFFFF"/>
                    </a:solidFill>
                  </a:tcPr>
                </a:tc>
              </a:tr>
              <a:tr h="706438">
                <a:tc>
                  <a:txBody>
                    <a:bodyPr/>
                    <a:lstStyle/>
                    <a:p>
                      <a:r>
                        <a:rPr sz="2175" b="0">
                          <a:solidFill>
                            <a:srgbClr val="111111"/>
                          </a:solidFill>
                          <a:latin typeface="Times New Roman"/>
                          <a:ea typeface="Times New Roman"/>
                          <a:cs typeface="Times New Roman"/>
                        </a:rPr>
                        <a:t>Continuity</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Retain unsent readings during outage</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Future queue/retry test</a:t>
                      </a:r>
                    </a:p>
                  </a:txBody>
                  <a:tcPr marL="114300" marR="95250" marT="95250" marB="95250" anchor="ctr">
                    <a:lnR w="9525">
                      <a:solidFill>
                        <a:srgbClr val="CAD2DF"/>
                      </a:solidFill>
                    </a:lnR>
                    <a:lnB w="9525">
                      <a:solidFill>
                        <a:srgbClr val="CAD2DF"/>
                      </a:solidFill>
                    </a:lnB>
                    <a:solidFill>
                      <a:srgbClr val="EDF3F9"/>
                    </a:solidFill>
                  </a:tcPr>
                </a:tc>
              </a:tr>
            </a:tbl>
          </a:graphicData>
        </a:graphic>
      </p:graphicFrame>
      <p:sp>
        <p:nvSpPr>
          <p:cNvPr id="6" name="Latency, endurance and reliability thresholds">
            <a:extLst xmlns:a="http://schemas.openxmlformats.org/drawingml/2006/main">
              <a:ext uri="{FF2B5EF4-FFF2-40B4-BE49-F238E27FC236}">
                <a16:creationId xmlns:a16="http://schemas.microsoft.com/office/drawing/2014/main" id="{0AC70777-0095-4E86-9418-F31C399FE586}"/>
              </a:ext>
            </a:extLst>
          </p:cNvPr>
          <p:cNvSpPr>
            <a:spLocks xmlns:a="http://schemas.openxmlformats.org/drawingml/2006/main" noGrp="1"/>
          </p:cNvSpPr>
          <p:nvPr/>
        </p:nvSpPr>
        <p:spPr>
          <a:xfrm xmlns:a="http://schemas.openxmlformats.org/drawingml/2006/main">
            <a:off x="523875" y="5857875"/>
            <a:ext cx="11144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1875" b="0">
                <a:solidFill>
                  <a:srgbClr val="0070C0"/>
                </a:solidFill>
                <a:latin typeface="Times New Roman"/>
                <a:ea typeface="Times New Roman"/>
                <a:cs typeface="Times New Roman"/>
              </a:defRPr>
            </a:defPPr>
            <a:lvl1pPr algn="l">
              <a:defRPr sz="1875" b="0">
                <a:solidFill>
                  <a:srgbClr val="0070C0"/>
                </a:solidFill>
                <a:latin typeface="Times New Roman"/>
                <a:ea typeface="Times New Roman"/>
                <a:cs typeface="Times New Roman"/>
              </a:defRPr>
            </a:lvl1pPr>
            <a:lvl2pPr algn="l">
              <a:defRPr sz="1875" b="0">
                <a:solidFill>
                  <a:srgbClr val="0070C0"/>
                </a:solidFill>
                <a:latin typeface="Times New Roman"/>
                <a:ea typeface="Times New Roman"/>
                <a:cs typeface="Times New Roman"/>
              </a:defRPr>
            </a:lvl2pPr>
            <a:lvl3pPr algn="l">
              <a:defRPr sz="1875" b="0">
                <a:solidFill>
                  <a:srgbClr val="0070C0"/>
                </a:solidFill>
                <a:latin typeface="Times New Roman"/>
                <a:ea typeface="Times New Roman"/>
                <a:cs typeface="Times New Roman"/>
              </a:defRPr>
            </a:lvl3pPr>
            <a:lvl4pPr algn="l">
              <a:defRPr sz="1875" b="0">
                <a:solidFill>
                  <a:srgbClr val="0070C0"/>
                </a:solidFill>
                <a:latin typeface="Times New Roman"/>
                <a:ea typeface="Times New Roman"/>
                <a:cs typeface="Times New Roman"/>
              </a:defRPr>
            </a:lvl4pPr>
            <a:lvl5pPr algn="l">
              <a:defRPr sz="1875" b="0">
                <a:solidFill>
                  <a:srgbClr val="0070C0"/>
                </a:solidFill>
                <a:latin typeface="Times New Roman"/>
                <a:ea typeface="Times New Roman"/>
                <a:cs typeface="Times New Roman"/>
              </a:defRPr>
            </a:lvl5pPr>
            <a:lvl6pPr algn="l">
              <a:defRPr sz="1875" b="0">
                <a:solidFill>
                  <a:srgbClr val="0070C0"/>
                </a:solidFill>
                <a:latin typeface="Times New Roman"/>
                <a:ea typeface="Times New Roman"/>
                <a:cs typeface="Times New Roman"/>
              </a:defRPr>
            </a:lvl6pPr>
            <a:lvl7pPr algn="l">
              <a:defRPr sz="1875" b="0">
                <a:solidFill>
                  <a:srgbClr val="0070C0"/>
                </a:solidFill>
                <a:latin typeface="Times New Roman"/>
                <a:ea typeface="Times New Roman"/>
                <a:cs typeface="Times New Roman"/>
              </a:defRPr>
            </a:lvl7pPr>
            <a:lvl8pPr algn="l">
              <a:defRPr sz="1875" b="0">
                <a:solidFill>
                  <a:srgbClr val="0070C0"/>
                </a:solidFill>
                <a:latin typeface="Times New Roman"/>
                <a:ea typeface="Times New Roman"/>
                <a:cs typeface="Times New Roman"/>
              </a:defRPr>
            </a:lvl8pPr>
            <a:lvl9pPr algn="l">
              <a:defRPr sz="1875" b="0">
                <a:solidFill>
                  <a:srgbClr val="0070C0"/>
                </a:solidFill>
                <a:latin typeface="Times New Roman"/>
                <a:ea typeface="Times New Roman"/>
                <a:cs typeface="Times New Roman"/>
              </a:defRPr>
            </a:lvl9pPr>
          </a:lstStyle>
          <a:p xmlns:a="http://schemas.openxmlformats.org/drawingml/2006/main">
            <a:pPr algn="l">
              <a:defRPr sz="1875" b="0">
                <a:solidFill>
                  <a:srgbClr val="0070C0"/>
                </a:solidFill>
                <a:latin typeface="Times New Roman"/>
                <a:ea typeface="Times New Roman"/>
                <a:cs typeface="Times New Roman"/>
              </a:defRPr>
            </a:pPr>
            <a:r>
              <a:rPr sz="1875" b="0">
                <a:solidFill>
                  <a:srgbClr val="0070C0"/>
                </a:solidFill>
                <a:latin typeface="Times New Roman"/>
                <a:ea typeface="Times New Roman"/>
                <a:cs typeface="Times New Roman"/>
              </a:rPr>
              <a:t>Latency, endurance and reliability thresholds remain proposed until measured and agreed.</a:t>
            </a:r>
          </a:p>
        </p:txBody>
      </p:sp>
      <p:sp>
        <p:nvSpPr>
          <p:cNvPr id="7" name="8">
            <a:extLst xmlns:a="http://schemas.openxmlformats.org/drawingml/2006/main">
              <a:ext uri="{FF2B5EF4-FFF2-40B4-BE49-F238E27FC236}">
                <a16:creationId xmlns:a16="http://schemas.microsoft.com/office/drawing/2014/main" id="{EACF86FD-0354-4F71-8403-7D21C467650C}"/>
              </a:ext>
            </a:extLst>
          </p:cNvPr>
          <p:cNvSpPr>
            <a:spLocks xmlns:a="http://schemas.openxmlformats.org/drawingml/2006/main" noGrp="1"/>
          </p:cNvSpPr>
          <p:nvPr/>
        </p:nvSpPr>
        <p:spPr>
          <a:xfrm xmlns:a="http://schemas.openxmlformats.org/drawingml/2006/main">
            <a:off x="11430000" y="649605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xmlns:a="http://schemas.openxmlformats.org/drawingml/2006/main">
            <a:pPr algn="r">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8</a:t>
            </a:r>
          </a:p>
        </p:txBody>
      </p:sp>
    </p:spTree>
    <p:extLst>
      <p:ext uri="{BB962C8B-B14F-4D97-AF65-F5344CB8AC3E}">
        <p14:creationId xmlns:p14="http://schemas.microsoft.com/office/powerpoint/2010/main" val="1733596377"/>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4CD393A-8365-3C41-2C17-6494BBBD7105}"/>
              </a:ext>
            </a:extLst>
          </p:cNvPr>
          <p:cNvSpPr>
            <a:spLocks xmlns:a="http://schemas.openxmlformats.org/drawingml/2006/main" noGrp="1"/>
          </p:cNvSpPr>
          <p:nvPr>
            <p:ph type="title" idx="0"/>
          </p:nvPr>
        </p:nvSpPr>
        <p:spPr>
          <a:xfrm xmlns:a="http://schemas.openxmlformats.org/drawingml/2006/main">
            <a:off x="0" y="0"/>
            <a:ext cx="12192000" cy="762000"/>
          </a:xfrm>
          <a:prstGeom xmlns:a="http://schemas.openxmlformats.org/drawingml/2006/main" prst="rect">
            <a:avLst/>
          </a:prstGeom>
          <a:solidFill xmlns:a="http://schemas.openxmlformats.org/drawingml/2006/main">
            <a:srgbClr val="002060"/>
          </a:solidFill>
        </p:spPr>
        <p:txBody>
          <a:bodyPr xmlns:a="http://schemas.openxmlformats.org/drawingml/2006/main">
            <a:normAutofit fontScale="100000"/>
          </a:bodyPr>
          <a:lstStyle xmlns:a="http://schemas.openxmlformats.org/drawingml/2006/main">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xmlns:a="http://schemas.openxmlformats.org/drawingml/2006/main">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Wi-Fi vs BLE: Design Rationale</a:t>
            </a:r>
          </a:p>
        </p:txBody>
      </p:sp>
      <p:sp>
        <p:nvSpPr>
          <p:cNvPr id="4" name="Footer Placeholder 3">
            <a:extLst xmlns:a="http://schemas.openxmlformats.org/drawingml/2006/main">
              <a:ext uri="{FF2B5EF4-FFF2-40B4-BE49-F238E27FC236}">
                <a16:creationId xmlns:a16="http://schemas.microsoft.com/office/drawing/2014/main" id="{3D9C6012-FCED-4937-A4AB-8CEEC135A13C}"/>
              </a:ext>
            </a:extLst>
          </p:cNvPr>
          <p:cNvSpPr>
            <a:spLocks xmlns:a="http://schemas.openxmlformats.org/drawingml/2006/main" noGrp="1"/>
          </p:cNvSpPr>
          <p:nvPr>
            <p:ph type="ftr" idx="11"/>
          </p:nvPr>
        </p:nvSpPr>
        <p:spPr>
          <a:xfrm xmlns:a="http://schemas.openxmlformats.org/drawingml/2006/main">
            <a:off x="0" y="6492907"/>
            <a:ext cx="12192000" cy="365093"/>
          </a:xfrm>
          <a:prstGeom xmlns:a="http://schemas.openxmlformats.org/drawingml/2006/main" prst="rect">
            <a:avLst/>
          </a:prstGeom>
          <a:solidFill xmlns:a="http://schemas.openxmlformats.org/drawingml/2006/main">
            <a:srgbClr val="002060"/>
          </a:solidFill>
        </p:spPr>
        <p:txBody>
          <a:bodyPr xmlns:a="http://schemas.openxmlformats.org/drawingml/2006/main"/>
          <a:lstStyle xmlns:a="http://schemas.openxmlformats.org/drawingml/2006/main">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xmlns:a="http://schemas.openxmlformats.org/drawingml/2006/main">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graphicFrame>
        <p:nvGraphicFramePr>
          <p:cNvPr id="5" name="">
            <a:extLst xmlns:a="http://schemas.openxmlformats.org/drawingml/2006/main">
              <a:ext uri="{FF2B5EF4-FFF2-40B4-BE49-F238E27FC236}">
                <a16:creationId xmlns:a16="http://schemas.microsoft.com/office/drawing/2014/main" id="{322400A1-A7ED-4E0A-9976-1F301F477979}"/>
              </a:ext>
            </a:extLst>
          </p:cNvPr>
          <p:cNvGraphicFramePr/>
          <p:nvPr/>
        </p:nvGraphicFramePr>
        <p:xfrm>
          <a:off xmlns:a="http://schemas.openxmlformats.org/drawingml/2006/main" x="523875" y="1190625"/>
          <a:ext xmlns:a="http://schemas.openxmlformats.org/drawingml/2006/main" cx="11144250" cy="4286250"/>
        </p:xfrm>
        <a:graphic xmlns:a="http://schemas.openxmlformats.org/drawingml/2006/main">
          <a:graphicData uri="http://schemas.openxmlformats.org/drawingml/2006/table">
            <a:tbl>
              <a:tblPr/>
              <a:tblGrid>
                <a:gridCol w="2428875"/>
                <a:gridCol w="4286250"/>
                <a:gridCol w="4429125"/>
              </a:tblGrid>
              <a:tr h="714375">
                <a:tc>
                  <a:txBody>
                    <a:bodyPr/>
                    <a:lstStyle/>
                    <a:p>
                      <a:r>
                        <a:rPr sz="2100" b="1">
                          <a:solidFill>
                            <a:srgbClr val="FFFFFF"/>
                          </a:solidFill>
                          <a:latin typeface="Times New Roman"/>
                          <a:ea typeface="Times New Roman"/>
                          <a:cs typeface="Times New Roman"/>
                        </a:rPr>
                        <a:t>Criterion</a:t>
                      </a:r>
                    </a:p>
                  </a:txBody>
                  <a:tcPr marL="114300" marR="95250" marT="95250" marB="95250" anchor="ctr">
                    <a:lnL w="9525">
                      <a:solidFill>
                        <a:srgbClr val="CAD2DF"/>
                      </a:solidFill>
                    </a:lnL>
                    <a:lnR w="9525">
                      <a:solidFill>
                        <a:srgbClr val="CAD2DF"/>
                      </a:solidFill>
                    </a:lnR>
                    <a:lnT w="9525">
                      <a:solidFill>
                        <a:srgbClr val="CAD2DF"/>
                      </a:solidFill>
                    </a:lnT>
                    <a:lnB w="9525">
                      <a:solidFill>
                        <a:srgbClr val="CAD2DF"/>
                      </a:solidFill>
                    </a:lnB>
                    <a:solidFill>
                      <a:srgbClr val="002060"/>
                    </a:solidFill>
                  </a:tcPr>
                </a:tc>
                <a:tc>
                  <a:txBody>
                    <a:bodyPr/>
                    <a:lstStyle/>
                    <a:p>
                      <a:r>
                        <a:rPr sz="2100" b="1">
                          <a:solidFill>
                            <a:srgbClr val="FFFFFF"/>
                          </a:solidFill>
                          <a:latin typeface="Times New Roman"/>
                          <a:ea typeface="Times New Roman"/>
                          <a:cs typeface="Times New Roman"/>
                        </a:rPr>
                        <a:t>Earlier Wi-Fi approach</a:t>
                      </a:r>
                    </a:p>
                  </a:txBody>
                  <a:tcPr marL="114300" marR="95250" marT="95250" marB="95250" anchor="ctr">
                    <a:lnR w="9525">
                      <a:solidFill>
                        <a:srgbClr val="CAD2DF"/>
                      </a:solidFill>
                    </a:lnR>
                    <a:lnT w="9525">
                      <a:solidFill>
                        <a:srgbClr val="CAD2DF"/>
                      </a:solidFill>
                    </a:lnT>
                    <a:lnB w="9525">
                      <a:solidFill>
                        <a:srgbClr val="CAD2DF"/>
                      </a:solidFill>
                    </a:lnB>
                    <a:solidFill>
                      <a:srgbClr val="002060"/>
                    </a:solidFill>
                  </a:tcPr>
                </a:tc>
                <a:tc>
                  <a:txBody>
                    <a:bodyPr/>
                    <a:lstStyle/>
                    <a:p>
                      <a:r>
                        <a:rPr sz="2100" b="1">
                          <a:solidFill>
                            <a:srgbClr val="FFFFFF"/>
                          </a:solidFill>
                          <a:latin typeface="Times New Roman"/>
                          <a:ea typeface="Times New Roman"/>
                          <a:cs typeface="Times New Roman"/>
                        </a:rPr>
                        <a:t>Selected BLE approach</a:t>
                      </a:r>
                    </a:p>
                  </a:txBody>
                  <a:tcPr marL="114300" marR="95250" marT="95250" marB="95250" anchor="ctr">
                    <a:lnR w="9525">
                      <a:solidFill>
                        <a:srgbClr val="CAD2DF"/>
                      </a:solidFill>
                    </a:lnR>
                    <a:lnT w="9525">
                      <a:solidFill>
                        <a:srgbClr val="CAD2DF"/>
                      </a:solidFill>
                    </a:lnT>
                    <a:lnB w="9525">
                      <a:solidFill>
                        <a:srgbClr val="CAD2DF"/>
                      </a:solidFill>
                    </a:lnB>
                    <a:solidFill>
                      <a:srgbClr val="002060"/>
                    </a:solidFill>
                  </a:tcPr>
                </a:tc>
              </a:tr>
              <a:tr h="714375">
                <a:tc>
                  <a:txBody>
                    <a:bodyPr/>
                    <a:lstStyle/>
                    <a:p>
                      <a:r>
                        <a:rPr sz="2100" b="0">
                          <a:solidFill>
                            <a:srgbClr val="111111"/>
                          </a:solidFill>
                          <a:latin typeface="Times New Roman"/>
                          <a:ea typeface="Times New Roman"/>
                          <a:cs typeface="Times New Roman"/>
                        </a:rPr>
                        <a:t>Local connection</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ESP32 joins access point or hotspot</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ESP32 connects directly to phone</a:t>
                      </a:r>
                    </a:p>
                  </a:txBody>
                  <a:tcPr marL="114300" marR="95250" marT="95250" marB="95250" anchor="ctr">
                    <a:lnR w="9525">
                      <a:solidFill>
                        <a:srgbClr val="CAD2DF"/>
                      </a:solidFill>
                    </a:lnR>
                    <a:lnB w="9525">
                      <a:solidFill>
                        <a:srgbClr val="CAD2DF"/>
                      </a:solidFill>
                    </a:lnB>
                    <a:solidFill>
                      <a:srgbClr val="EDF3F9"/>
                    </a:solidFill>
                  </a:tcPr>
                </a:tc>
              </a:tr>
              <a:tr h="714375">
                <a:tc>
                  <a:txBody>
                    <a:bodyPr/>
                    <a:lstStyle/>
                    <a:p>
                      <a:r>
                        <a:rPr sz="2100" b="0">
                          <a:solidFill>
                            <a:srgbClr val="111111"/>
                          </a:solidFill>
                          <a:latin typeface="Times New Roman"/>
                          <a:ea typeface="Times New Roman"/>
                          <a:cs typeface="Times New Roman"/>
                        </a:rPr>
                        <a:t>Internet gateway</a:t>
                      </a:r>
                    </a:p>
                  </a:txBody>
                  <a:tcPr marL="114300" marR="95250" marT="95250" marB="95250" anchor="ctr">
                    <a:lnL w="9525">
                      <a:solidFill>
                        <a:srgbClr val="CAD2DF"/>
                      </a:solidFill>
                    </a:lnL>
                    <a:lnR w="9525">
                      <a:solidFill>
                        <a:srgbClr val="CAD2DF"/>
                      </a:solidFill>
                    </a:lnR>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ESP32 manages network uplink</a:t>
                      </a:r>
                    </a:p>
                  </a:txBody>
                  <a:tcPr marL="114300" marR="95250" marT="95250" marB="95250" anchor="ctr">
                    <a:lnR w="9525">
                      <a:solidFill>
                        <a:srgbClr val="CAD2DF"/>
                      </a:solidFill>
                    </a:lnR>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Phone handles cloud uplink (planned)</a:t>
                      </a:r>
                    </a:p>
                  </a:txBody>
                  <a:tcPr marL="114300" marR="95250" marT="95250" marB="95250" anchor="ctr">
                    <a:lnR w="9525">
                      <a:solidFill>
                        <a:srgbClr val="CAD2DF"/>
                      </a:solidFill>
                    </a:lnR>
                    <a:lnB w="9525">
                      <a:solidFill>
                        <a:srgbClr val="CAD2DF"/>
                      </a:solidFill>
                    </a:lnB>
                    <a:solidFill>
                      <a:srgbClr val="FFFFFF"/>
                    </a:solidFill>
                  </a:tcPr>
                </a:tc>
              </a:tr>
              <a:tr h="714375">
                <a:tc>
                  <a:txBody>
                    <a:bodyPr/>
                    <a:lstStyle/>
                    <a:p>
                      <a:r>
                        <a:rPr sz="2100" b="0">
                          <a:solidFill>
                            <a:srgbClr val="111111"/>
                          </a:solidFill>
                          <a:latin typeface="Times New Roman"/>
                          <a:ea typeface="Times New Roman"/>
                          <a:cs typeface="Times New Roman"/>
                        </a:rPr>
                        <a:t>Data workload</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Supports higher data throughput</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Fits small, periodic vital readings</a:t>
                      </a:r>
                    </a:p>
                  </a:txBody>
                  <a:tcPr marL="114300" marR="95250" marT="95250" marB="95250" anchor="ctr">
                    <a:lnR w="9525">
                      <a:solidFill>
                        <a:srgbClr val="CAD2DF"/>
                      </a:solidFill>
                    </a:lnR>
                    <a:lnB w="9525">
                      <a:solidFill>
                        <a:srgbClr val="CAD2DF"/>
                      </a:solidFill>
                    </a:lnB>
                    <a:solidFill>
                      <a:srgbClr val="EDF3F9"/>
                    </a:solidFill>
                  </a:tcPr>
                </a:tc>
              </a:tr>
              <a:tr h="714375">
                <a:tc>
                  <a:txBody>
                    <a:bodyPr/>
                    <a:lstStyle/>
                    <a:p>
                      <a:r>
                        <a:rPr sz="2100" b="0">
                          <a:solidFill>
                            <a:srgbClr val="111111"/>
                          </a:solidFill>
                          <a:latin typeface="Times New Roman"/>
                          <a:ea typeface="Times New Roman"/>
                          <a:cs typeface="Times New Roman"/>
                        </a:rPr>
                        <a:t>Device setup</a:t>
                      </a:r>
                    </a:p>
                  </a:txBody>
                  <a:tcPr marL="114300" marR="95250" marT="95250" marB="95250" anchor="ctr">
                    <a:lnL w="9525">
                      <a:solidFill>
                        <a:srgbClr val="CAD2DF"/>
                      </a:solidFill>
                    </a:lnL>
                    <a:lnR w="9525">
                      <a:solidFill>
                        <a:srgbClr val="CAD2DF"/>
                      </a:solidFill>
                    </a:lnR>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Configure SSID and password</a:t>
                      </a:r>
                    </a:p>
                  </a:txBody>
                  <a:tcPr marL="114300" marR="95250" marT="95250" marB="95250" anchor="ctr">
                    <a:lnR w="9525">
                      <a:solidFill>
                        <a:srgbClr val="CAD2DF"/>
                      </a:solidFill>
                    </a:lnR>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Discover device and pair</a:t>
                      </a:r>
                    </a:p>
                  </a:txBody>
                  <a:tcPr marL="114300" marR="95250" marT="95250" marB="95250" anchor="ctr">
                    <a:lnR w="9525">
                      <a:solidFill>
                        <a:srgbClr val="CAD2DF"/>
                      </a:solidFill>
                    </a:lnR>
                    <a:lnB w="9525">
                      <a:solidFill>
                        <a:srgbClr val="CAD2DF"/>
                      </a:solidFill>
                    </a:lnB>
                    <a:solidFill>
                      <a:srgbClr val="FFFFFF"/>
                    </a:solidFill>
                  </a:tcPr>
                </a:tc>
              </a:tr>
              <a:tr h="714375">
                <a:tc>
                  <a:txBody>
                    <a:bodyPr/>
                    <a:lstStyle/>
                    <a:p>
                      <a:r>
                        <a:rPr sz="2100" b="0">
                          <a:solidFill>
                            <a:srgbClr val="111111"/>
                          </a:solidFill>
                          <a:latin typeface="Times New Roman"/>
                          <a:ea typeface="Times New Roman"/>
                          <a:cs typeface="Times New Roman"/>
                        </a:rPr>
                        <a:t>Power rationale</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Measure under the same workload</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Low-power design; savings unmeasured</a:t>
                      </a:r>
                    </a:p>
                  </a:txBody>
                  <a:tcPr marL="114300" marR="95250" marT="95250" marB="95250" anchor="ctr">
                    <a:lnR w="9525">
                      <a:solidFill>
                        <a:srgbClr val="CAD2DF"/>
                      </a:solidFill>
                    </a:lnR>
                    <a:lnB w="9525">
                      <a:solidFill>
                        <a:srgbClr val="CAD2DF"/>
                      </a:solidFill>
                    </a:lnB>
                    <a:solidFill>
                      <a:srgbClr val="EDF3F9"/>
                    </a:solidFill>
                  </a:tcPr>
                </a:tc>
              </a:tr>
            </a:tbl>
          </a:graphicData>
        </a:graphic>
      </p:graphicFrame>
      <p:sp>
        <p:nvSpPr>
          <p:cNvPr id="6" name="BLE fits the phone gateway design. Phone prox">
            <a:extLst xmlns:a="http://schemas.openxmlformats.org/drawingml/2006/main">
              <a:ext uri="{FF2B5EF4-FFF2-40B4-BE49-F238E27FC236}">
                <a16:creationId xmlns:a16="http://schemas.microsoft.com/office/drawing/2014/main" id="{F572C4D4-3512-4B90-A78F-4587339B68D7}"/>
              </a:ext>
            </a:extLst>
          </p:cNvPr>
          <p:cNvSpPr>
            <a:spLocks xmlns:a="http://schemas.openxmlformats.org/drawingml/2006/main" noGrp="1"/>
          </p:cNvSpPr>
          <p:nvPr/>
        </p:nvSpPr>
        <p:spPr>
          <a:xfrm xmlns:a="http://schemas.openxmlformats.org/drawingml/2006/main">
            <a:off x="523875" y="5857875"/>
            <a:ext cx="11144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1875" b="0">
                <a:solidFill>
                  <a:srgbClr val="0070C0"/>
                </a:solidFill>
                <a:latin typeface="Times New Roman"/>
                <a:ea typeface="Times New Roman"/>
                <a:cs typeface="Times New Roman"/>
              </a:defRPr>
            </a:defPPr>
            <a:lvl1pPr algn="l">
              <a:defRPr sz="1875" b="0">
                <a:solidFill>
                  <a:srgbClr val="0070C0"/>
                </a:solidFill>
                <a:latin typeface="Times New Roman"/>
                <a:ea typeface="Times New Roman"/>
                <a:cs typeface="Times New Roman"/>
              </a:defRPr>
            </a:lvl1pPr>
            <a:lvl2pPr algn="l">
              <a:defRPr sz="1875" b="0">
                <a:solidFill>
                  <a:srgbClr val="0070C0"/>
                </a:solidFill>
                <a:latin typeface="Times New Roman"/>
                <a:ea typeface="Times New Roman"/>
                <a:cs typeface="Times New Roman"/>
              </a:defRPr>
            </a:lvl2pPr>
            <a:lvl3pPr algn="l">
              <a:defRPr sz="1875" b="0">
                <a:solidFill>
                  <a:srgbClr val="0070C0"/>
                </a:solidFill>
                <a:latin typeface="Times New Roman"/>
                <a:ea typeface="Times New Roman"/>
                <a:cs typeface="Times New Roman"/>
              </a:defRPr>
            </a:lvl3pPr>
            <a:lvl4pPr algn="l">
              <a:defRPr sz="1875" b="0">
                <a:solidFill>
                  <a:srgbClr val="0070C0"/>
                </a:solidFill>
                <a:latin typeface="Times New Roman"/>
                <a:ea typeface="Times New Roman"/>
                <a:cs typeface="Times New Roman"/>
              </a:defRPr>
            </a:lvl4pPr>
            <a:lvl5pPr algn="l">
              <a:defRPr sz="1875" b="0">
                <a:solidFill>
                  <a:srgbClr val="0070C0"/>
                </a:solidFill>
                <a:latin typeface="Times New Roman"/>
                <a:ea typeface="Times New Roman"/>
                <a:cs typeface="Times New Roman"/>
              </a:defRPr>
            </a:lvl5pPr>
            <a:lvl6pPr algn="l">
              <a:defRPr sz="1875" b="0">
                <a:solidFill>
                  <a:srgbClr val="0070C0"/>
                </a:solidFill>
                <a:latin typeface="Times New Roman"/>
                <a:ea typeface="Times New Roman"/>
                <a:cs typeface="Times New Roman"/>
              </a:defRPr>
            </a:lvl6pPr>
            <a:lvl7pPr algn="l">
              <a:defRPr sz="1875" b="0">
                <a:solidFill>
                  <a:srgbClr val="0070C0"/>
                </a:solidFill>
                <a:latin typeface="Times New Roman"/>
                <a:ea typeface="Times New Roman"/>
                <a:cs typeface="Times New Roman"/>
              </a:defRPr>
            </a:lvl7pPr>
            <a:lvl8pPr algn="l">
              <a:defRPr sz="1875" b="0">
                <a:solidFill>
                  <a:srgbClr val="0070C0"/>
                </a:solidFill>
                <a:latin typeface="Times New Roman"/>
                <a:ea typeface="Times New Roman"/>
                <a:cs typeface="Times New Roman"/>
              </a:defRPr>
            </a:lvl8pPr>
            <a:lvl9pPr algn="l">
              <a:defRPr sz="1875" b="0">
                <a:solidFill>
                  <a:srgbClr val="0070C0"/>
                </a:solidFill>
                <a:latin typeface="Times New Roman"/>
                <a:ea typeface="Times New Roman"/>
                <a:cs typeface="Times New Roman"/>
              </a:defRPr>
            </a:lvl9pPr>
          </a:lstStyle>
          <a:p xmlns:a="http://schemas.openxmlformats.org/drawingml/2006/main">
            <a:pPr algn="l">
              <a:defRPr sz="1875" b="0">
                <a:solidFill>
                  <a:srgbClr val="0070C0"/>
                </a:solidFill>
                <a:latin typeface="Times New Roman"/>
                <a:ea typeface="Times New Roman"/>
                <a:cs typeface="Times New Roman"/>
              </a:defRPr>
            </a:pPr>
            <a:r>
              <a:rPr sz="1875" b="0">
                <a:solidFill>
                  <a:srgbClr val="0070C0"/>
                </a:solidFill>
                <a:latin typeface="Times New Roman"/>
                <a:ea typeface="Times New Roman"/>
                <a:cs typeface="Times New Roman"/>
              </a:rPr>
              <a:t>BLE fits the phone gateway design. Phone proximity remains a requirement.</a:t>
            </a:r>
          </a:p>
        </p:txBody>
      </p:sp>
      <p:sp>
        <p:nvSpPr>
          <p:cNvPr id="7" name="9">
            <a:extLst xmlns:a="http://schemas.openxmlformats.org/drawingml/2006/main">
              <a:ext uri="{FF2B5EF4-FFF2-40B4-BE49-F238E27FC236}">
                <a16:creationId xmlns:a16="http://schemas.microsoft.com/office/drawing/2014/main" id="{042C8049-62C7-450C-9BDB-B813F9E82271}"/>
              </a:ext>
            </a:extLst>
          </p:cNvPr>
          <p:cNvSpPr>
            <a:spLocks xmlns:a="http://schemas.openxmlformats.org/drawingml/2006/main" noGrp="1"/>
          </p:cNvSpPr>
          <p:nvPr/>
        </p:nvSpPr>
        <p:spPr>
          <a:xfrm xmlns:a="http://schemas.openxmlformats.org/drawingml/2006/main">
            <a:off x="11430000" y="649605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xmlns:a="http://schemas.openxmlformats.org/drawingml/2006/main">
            <a:pPr algn="r">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9</a:t>
            </a:r>
          </a:p>
        </p:txBody>
      </p:sp>
    </p:spTree>
    <p:extLst>
      <p:ext uri="{BB962C8B-B14F-4D97-AF65-F5344CB8AC3E}">
        <p14:creationId xmlns:p14="http://schemas.microsoft.com/office/powerpoint/2010/main" val="1733596377"/>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4CD393A-8365-3C41-2C17-6494BBBD7105}"/>
              </a:ext>
            </a:extLst>
          </p:cNvPr>
          <p:cNvSpPr>
            <a:spLocks xmlns:a="http://schemas.openxmlformats.org/drawingml/2006/main" noGrp="1"/>
          </p:cNvSpPr>
          <p:nvPr>
            <p:ph type="title" idx="0"/>
          </p:nvPr>
        </p:nvSpPr>
        <p:spPr>
          <a:xfrm xmlns:a="http://schemas.openxmlformats.org/drawingml/2006/main">
            <a:off x="0" y="0"/>
            <a:ext cx="12192000" cy="762000"/>
          </a:xfrm>
          <a:prstGeom xmlns:a="http://schemas.openxmlformats.org/drawingml/2006/main" prst="rect">
            <a:avLst/>
          </a:prstGeom>
          <a:solidFill xmlns:a="http://schemas.openxmlformats.org/drawingml/2006/main">
            <a:srgbClr val="002060"/>
          </a:solidFill>
        </p:spPr>
        <p:txBody>
          <a:bodyPr xmlns:a="http://schemas.openxmlformats.org/drawingml/2006/main">
            <a:normAutofit fontScale="100000"/>
          </a:bodyPr>
          <a:lstStyle xmlns:a="http://schemas.openxmlformats.org/drawingml/2006/main">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xmlns:a="http://schemas.openxmlformats.org/drawingml/2006/main">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BLE Test Cases</a:t>
            </a:r>
          </a:p>
        </p:txBody>
      </p:sp>
      <p:sp>
        <p:nvSpPr>
          <p:cNvPr id="4" name="Footer Placeholder 3">
            <a:extLst xmlns:a="http://schemas.openxmlformats.org/drawingml/2006/main">
              <a:ext uri="{FF2B5EF4-FFF2-40B4-BE49-F238E27FC236}">
                <a16:creationId xmlns:a16="http://schemas.microsoft.com/office/drawing/2014/main" id="{3D9C6012-FCED-4937-A4AB-8CEEC135A13C}"/>
              </a:ext>
            </a:extLst>
          </p:cNvPr>
          <p:cNvSpPr>
            <a:spLocks xmlns:a="http://schemas.openxmlformats.org/drawingml/2006/main" noGrp="1"/>
          </p:cNvSpPr>
          <p:nvPr>
            <p:ph type="ftr" idx="11"/>
          </p:nvPr>
        </p:nvSpPr>
        <p:spPr>
          <a:xfrm xmlns:a="http://schemas.openxmlformats.org/drawingml/2006/main">
            <a:off x="0" y="6492907"/>
            <a:ext cx="12192000" cy="365093"/>
          </a:xfrm>
          <a:prstGeom xmlns:a="http://schemas.openxmlformats.org/drawingml/2006/main" prst="rect">
            <a:avLst/>
          </a:prstGeom>
          <a:solidFill xmlns:a="http://schemas.openxmlformats.org/drawingml/2006/main">
            <a:srgbClr val="002060"/>
          </a:solidFill>
        </p:spPr>
        <p:txBody>
          <a:bodyPr xmlns:a="http://schemas.openxmlformats.org/drawingml/2006/main"/>
          <a:lstStyle xmlns:a="http://schemas.openxmlformats.org/drawingml/2006/main">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xmlns:a="http://schemas.openxmlformats.org/drawingml/2006/main">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graphicFrame>
        <p:nvGraphicFramePr>
          <p:cNvPr id="5" name="">
            <a:extLst xmlns:a="http://schemas.openxmlformats.org/drawingml/2006/main">
              <a:ext uri="{FF2B5EF4-FFF2-40B4-BE49-F238E27FC236}">
                <a16:creationId xmlns:a16="http://schemas.microsoft.com/office/drawing/2014/main" id="{BA6B1BED-F14E-4A0D-B272-1890C1397E0B}"/>
              </a:ext>
            </a:extLst>
          </p:cNvPr>
          <p:cNvGraphicFramePr/>
          <p:nvPr/>
        </p:nvGraphicFramePr>
        <p:xfrm>
          <a:off xmlns:a="http://schemas.openxmlformats.org/drawingml/2006/main" x="523875" y="1285875"/>
          <a:ext xmlns:a="http://schemas.openxmlformats.org/drawingml/2006/main" cx="11144250" cy="4238625"/>
        </p:xfrm>
        <a:graphic xmlns:a="http://schemas.openxmlformats.org/drawingml/2006/main">
          <a:graphicData uri="http://schemas.openxmlformats.org/drawingml/2006/table">
            <a:tbl>
              <a:tblPr/>
              <a:tblGrid>
                <a:gridCol w="1905000"/>
                <a:gridCol w="4286250"/>
                <a:gridCol w="4953000"/>
              </a:tblGrid>
              <a:tr h="706438">
                <a:tc>
                  <a:txBody>
                    <a:bodyPr/>
                    <a:lstStyle/>
                    <a:p>
                      <a:r>
                        <a:rPr sz="2175" b="1">
                          <a:solidFill>
                            <a:srgbClr val="FFFFFF"/>
                          </a:solidFill>
                          <a:latin typeface="Times New Roman"/>
                          <a:ea typeface="Times New Roman"/>
                          <a:cs typeface="Times New Roman"/>
                        </a:rPr>
                        <a:t>Test</a:t>
                      </a:r>
                    </a:p>
                  </a:txBody>
                  <a:tcPr marL="114300" marR="95250" marT="95250" marB="95250" anchor="ctr">
                    <a:lnL w="9525">
                      <a:solidFill>
                        <a:srgbClr val="CAD2DF"/>
                      </a:solidFill>
                    </a:lnL>
                    <a:lnR w="9525">
                      <a:solidFill>
                        <a:srgbClr val="CAD2DF"/>
                      </a:solidFill>
                    </a:lnR>
                    <a:lnT w="9525">
                      <a:solidFill>
                        <a:srgbClr val="CAD2DF"/>
                      </a:solidFill>
                    </a:lnT>
                    <a:lnB w="9525">
                      <a:solidFill>
                        <a:srgbClr val="CAD2DF"/>
                      </a:solidFill>
                    </a:lnB>
                    <a:solidFill>
                      <a:srgbClr val="002060"/>
                    </a:solidFill>
                  </a:tcPr>
                </a:tc>
                <a:tc>
                  <a:txBody>
                    <a:bodyPr/>
                    <a:lstStyle/>
                    <a:p>
                      <a:r>
                        <a:rPr sz="2175" b="1">
                          <a:solidFill>
                            <a:srgbClr val="FFFFFF"/>
                          </a:solidFill>
                          <a:latin typeface="Times New Roman"/>
                          <a:ea typeface="Times New Roman"/>
                          <a:cs typeface="Times New Roman"/>
                        </a:rPr>
                        <a:t>Action</a:t>
                      </a:r>
                    </a:p>
                  </a:txBody>
                  <a:tcPr marL="114300" marR="95250" marT="95250" marB="95250" anchor="ctr">
                    <a:lnR w="9525">
                      <a:solidFill>
                        <a:srgbClr val="CAD2DF"/>
                      </a:solidFill>
                    </a:lnR>
                    <a:lnT w="9525">
                      <a:solidFill>
                        <a:srgbClr val="CAD2DF"/>
                      </a:solidFill>
                    </a:lnT>
                    <a:lnB w="9525">
                      <a:solidFill>
                        <a:srgbClr val="CAD2DF"/>
                      </a:solidFill>
                    </a:lnB>
                    <a:solidFill>
                      <a:srgbClr val="002060"/>
                    </a:solidFill>
                  </a:tcPr>
                </a:tc>
                <a:tc>
                  <a:txBody>
                    <a:bodyPr/>
                    <a:lstStyle/>
                    <a:p>
                      <a:r>
                        <a:rPr sz="2175" b="1">
                          <a:solidFill>
                            <a:srgbClr val="FFFFFF"/>
                          </a:solidFill>
                          <a:latin typeface="Times New Roman"/>
                          <a:ea typeface="Times New Roman"/>
                          <a:cs typeface="Times New Roman"/>
                        </a:rPr>
                        <a:t>Expected observation</a:t>
                      </a:r>
                    </a:p>
                  </a:txBody>
                  <a:tcPr marL="114300" marR="95250" marT="95250" marB="95250" anchor="ctr">
                    <a:lnR w="9525">
                      <a:solidFill>
                        <a:srgbClr val="CAD2DF"/>
                      </a:solidFill>
                    </a:lnR>
                    <a:lnT w="9525">
                      <a:solidFill>
                        <a:srgbClr val="CAD2DF"/>
                      </a:solidFill>
                    </a:lnT>
                    <a:lnB w="9525">
                      <a:solidFill>
                        <a:srgbClr val="CAD2DF"/>
                      </a:solidFill>
                    </a:lnB>
                    <a:solidFill>
                      <a:srgbClr val="002060"/>
                    </a:solidFill>
                  </a:tcPr>
                </a:tc>
              </a:tr>
              <a:tr h="706438">
                <a:tc>
                  <a:txBody>
                    <a:bodyPr/>
                    <a:lstStyle/>
                    <a:p>
                      <a:r>
                        <a:rPr sz="2175" b="0">
                          <a:solidFill>
                            <a:srgbClr val="111111"/>
                          </a:solidFill>
                          <a:latin typeface="Times New Roman"/>
                          <a:ea typeface="Times New Roman"/>
                          <a:cs typeface="Times New Roman"/>
                        </a:rPr>
                        <a:t>TC1 / FR1</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Scan with ESP32 advertising</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Smart_Ambulance appears</a:t>
                      </a:r>
                    </a:p>
                  </a:txBody>
                  <a:tcPr marL="114300" marR="95250" marT="95250" marB="95250" anchor="ctr">
                    <a:lnR w="9525">
                      <a:solidFill>
                        <a:srgbClr val="CAD2DF"/>
                      </a:solidFill>
                    </a:lnR>
                    <a:lnB w="9525">
                      <a:solidFill>
                        <a:srgbClr val="CAD2DF"/>
                      </a:solidFill>
                    </a:lnB>
                    <a:solidFill>
                      <a:srgbClr val="EDF3F9"/>
                    </a:solidFill>
                  </a:tcPr>
                </a:tc>
              </a:tr>
              <a:tr h="706438">
                <a:tc>
                  <a:txBody>
                    <a:bodyPr/>
                    <a:lstStyle/>
                    <a:p>
                      <a:r>
                        <a:rPr sz="2175" b="0">
                          <a:solidFill>
                            <a:srgbClr val="111111"/>
                          </a:solidFill>
                          <a:latin typeface="Times New Roman"/>
                          <a:ea typeface="Times New Roman"/>
                          <a:cs typeface="Times New Roman"/>
                        </a:rPr>
                        <a:t>TC2 / FR1</a:t>
                      </a:r>
                    </a:p>
                  </a:txBody>
                  <a:tcPr marL="114300" marR="95250" marT="95250" marB="95250" anchor="ctr">
                    <a:lnL w="9525">
                      <a:solidFill>
                        <a:srgbClr val="CAD2DF"/>
                      </a:solidFill>
                    </a:lnL>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Select device and pair</a:t>
                      </a:r>
                    </a:p>
                  </a:txBody>
                  <a:tcPr marL="114300" marR="95250" marT="95250" marB="95250" anchor="ctr">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Connected and ready status</a:t>
                      </a:r>
                    </a:p>
                  </a:txBody>
                  <a:tcPr marL="114300" marR="95250" marT="95250" marB="95250" anchor="ctr">
                    <a:lnR w="9525">
                      <a:solidFill>
                        <a:srgbClr val="CAD2DF"/>
                      </a:solidFill>
                    </a:lnR>
                    <a:lnB w="9525">
                      <a:solidFill>
                        <a:srgbClr val="CAD2DF"/>
                      </a:solidFill>
                    </a:lnB>
                    <a:solidFill>
                      <a:srgbClr val="FFFFFF"/>
                    </a:solidFill>
                  </a:tcPr>
                </a:tc>
              </a:tr>
              <a:tr h="706438">
                <a:tc>
                  <a:txBody>
                    <a:bodyPr/>
                    <a:lstStyle/>
                    <a:p>
                      <a:r>
                        <a:rPr sz="2175" b="0">
                          <a:solidFill>
                            <a:srgbClr val="111111"/>
                          </a:solidFill>
                          <a:latin typeface="Times New Roman"/>
                          <a:ea typeface="Times New Roman"/>
                          <a:cs typeface="Times New Roman"/>
                        </a:rPr>
                        <a:t>TC3 / FR1</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Start telemetry</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Vitals update and match logs</a:t>
                      </a:r>
                    </a:p>
                  </a:txBody>
                  <a:tcPr marL="114300" marR="95250" marT="95250" marB="95250" anchor="ctr">
                    <a:lnR w="9525">
                      <a:solidFill>
                        <a:srgbClr val="CAD2DF"/>
                      </a:solidFill>
                    </a:lnR>
                    <a:lnB w="9525">
                      <a:solidFill>
                        <a:srgbClr val="CAD2DF"/>
                      </a:solidFill>
                    </a:lnB>
                    <a:solidFill>
                      <a:srgbClr val="EDF3F9"/>
                    </a:solidFill>
                  </a:tcPr>
                </a:tc>
              </a:tr>
              <a:tr h="706438">
                <a:tc>
                  <a:txBody>
                    <a:bodyPr/>
                    <a:lstStyle/>
                    <a:p>
                      <a:r>
                        <a:rPr sz="2175" b="0">
                          <a:solidFill>
                            <a:srgbClr val="111111"/>
                          </a:solidFill>
                          <a:latin typeface="Times New Roman"/>
                          <a:ea typeface="Times New Roman"/>
                          <a:cs typeface="Times New Roman"/>
                        </a:rPr>
                        <a:t>TC4 / FR2</a:t>
                      </a:r>
                    </a:p>
                  </a:txBody>
                  <a:tcPr marL="114300" marR="95250" marT="95250" marB="95250" anchor="ctr">
                    <a:lnL w="9525">
                      <a:solidFill>
                        <a:srgbClr val="CAD2DF"/>
                      </a:solidFill>
                    </a:lnL>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Tap Stop</a:t>
                      </a:r>
                    </a:p>
                  </a:txBody>
                  <a:tcPr marL="114300" marR="95250" marT="95250" marB="95250" anchor="ctr">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Stop acknowledged; updates cease</a:t>
                      </a:r>
                    </a:p>
                  </a:txBody>
                  <a:tcPr marL="114300" marR="95250" marT="95250" marB="95250" anchor="ctr">
                    <a:lnR w="9525">
                      <a:solidFill>
                        <a:srgbClr val="CAD2DF"/>
                      </a:solidFill>
                    </a:lnR>
                    <a:lnB w="9525">
                      <a:solidFill>
                        <a:srgbClr val="CAD2DF"/>
                      </a:solidFill>
                    </a:lnB>
                    <a:solidFill>
                      <a:srgbClr val="FFFFFF"/>
                    </a:solidFill>
                  </a:tcPr>
                </a:tc>
              </a:tr>
              <a:tr h="706438">
                <a:tc>
                  <a:txBody>
                    <a:bodyPr/>
                    <a:lstStyle/>
                    <a:p>
                      <a:r>
                        <a:rPr sz="2175" b="0">
                          <a:solidFill>
                            <a:srgbClr val="111111"/>
                          </a:solidFill>
                          <a:latin typeface="Times New Roman"/>
                          <a:ea typeface="Times New Roman"/>
                          <a:cs typeface="Times New Roman"/>
                        </a:rPr>
                        <a:t>TC5 / FR1</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Disconnect, then scan and connect</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Telemetry can restart</a:t>
                      </a:r>
                    </a:p>
                  </a:txBody>
                  <a:tcPr marL="114300" marR="95250" marT="95250" marB="95250" anchor="ctr">
                    <a:lnR w="9525">
                      <a:solidFill>
                        <a:srgbClr val="CAD2DF"/>
                      </a:solidFill>
                    </a:lnR>
                    <a:lnB w="9525">
                      <a:solidFill>
                        <a:srgbClr val="CAD2DF"/>
                      </a:solidFill>
                    </a:lnB>
                    <a:solidFill>
                      <a:srgbClr val="EDF3F9"/>
                    </a:solidFill>
                  </a:tcPr>
                </a:tc>
              </a:tr>
            </a:tbl>
          </a:graphicData>
        </a:graphic>
      </p:graphicFrame>
      <p:sp>
        <p:nvSpPr>
          <p:cNvPr id="6" name="Execution status: evidence pending. Capture t">
            <a:extLst xmlns:a="http://schemas.openxmlformats.org/drawingml/2006/main">
              <a:ext uri="{FF2B5EF4-FFF2-40B4-BE49-F238E27FC236}">
                <a16:creationId xmlns:a16="http://schemas.microsoft.com/office/drawing/2014/main" id="{11A48837-BA84-46A2-A172-82344334FA23}"/>
              </a:ext>
            </a:extLst>
          </p:cNvPr>
          <p:cNvSpPr>
            <a:spLocks xmlns:a="http://schemas.openxmlformats.org/drawingml/2006/main" noGrp="1"/>
          </p:cNvSpPr>
          <p:nvPr/>
        </p:nvSpPr>
        <p:spPr>
          <a:xfrm xmlns:a="http://schemas.openxmlformats.org/drawingml/2006/main">
            <a:off x="523875" y="5857875"/>
            <a:ext cx="11144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1875" b="0">
                <a:solidFill>
                  <a:srgbClr val="0070C0"/>
                </a:solidFill>
                <a:latin typeface="Times New Roman"/>
                <a:ea typeface="Times New Roman"/>
                <a:cs typeface="Times New Roman"/>
              </a:defRPr>
            </a:defPPr>
            <a:lvl1pPr algn="l">
              <a:defRPr sz="1875" b="0">
                <a:solidFill>
                  <a:srgbClr val="0070C0"/>
                </a:solidFill>
                <a:latin typeface="Times New Roman"/>
                <a:ea typeface="Times New Roman"/>
                <a:cs typeface="Times New Roman"/>
              </a:defRPr>
            </a:lvl1pPr>
            <a:lvl2pPr algn="l">
              <a:defRPr sz="1875" b="0">
                <a:solidFill>
                  <a:srgbClr val="0070C0"/>
                </a:solidFill>
                <a:latin typeface="Times New Roman"/>
                <a:ea typeface="Times New Roman"/>
                <a:cs typeface="Times New Roman"/>
              </a:defRPr>
            </a:lvl2pPr>
            <a:lvl3pPr algn="l">
              <a:defRPr sz="1875" b="0">
                <a:solidFill>
                  <a:srgbClr val="0070C0"/>
                </a:solidFill>
                <a:latin typeface="Times New Roman"/>
                <a:ea typeface="Times New Roman"/>
                <a:cs typeface="Times New Roman"/>
              </a:defRPr>
            </a:lvl3pPr>
            <a:lvl4pPr algn="l">
              <a:defRPr sz="1875" b="0">
                <a:solidFill>
                  <a:srgbClr val="0070C0"/>
                </a:solidFill>
                <a:latin typeface="Times New Roman"/>
                <a:ea typeface="Times New Roman"/>
                <a:cs typeface="Times New Roman"/>
              </a:defRPr>
            </a:lvl4pPr>
            <a:lvl5pPr algn="l">
              <a:defRPr sz="1875" b="0">
                <a:solidFill>
                  <a:srgbClr val="0070C0"/>
                </a:solidFill>
                <a:latin typeface="Times New Roman"/>
                <a:ea typeface="Times New Roman"/>
                <a:cs typeface="Times New Roman"/>
              </a:defRPr>
            </a:lvl5pPr>
            <a:lvl6pPr algn="l">
              <a:defRPr sz="1875" b="0">
                <a:solidFill>
                  <a:srgbClr val="0070C0"/>
                </a:solidFill>
                <a:latin typeface="Times New Roman"/>
                <a:ea typeface="Times New Roman"/>
                <a:cs typeface="Times New Roman"/>
              </a:defRPr>
            </a:lvl6pPr>
            <a:lvl7pPr algn="l">
              <a:defRPr sz="1875" b="0">
                <a:solidFill>
                  <a:srgbClr val="0070C0"/>
                </a:solidFill>
                <a:latin typeface="Times New Roman"/>
                <a:ea typeface="Times New Roman"/>
                <a:cs typeface="Times New Roman"/>
              </a:defRPr>
            </a:lvl7pPr>
            <a:lvl8pPr algn="l">
              <a:defRPr sz="1875" b="0">
                <a:solidFill>
                  <a:srgbClr val="0070C0"/>
                </a:solidFill>
                <a:latin typeface="Times New Roman"/>
                <a:ea typeface="Times New Roman"/>
                <a:cs typeface="Times New Roman"/>
              </a:defRPr>
            </a:lvl8pPr>
            <a:lvl9pPr algn="l">
              <a:defRPr sz="1875" b="0">
                <a:solidFill>
                  <a:srgbClr val="0070C0"/>
                </a:solidFill>
                <a:latin typeface="Times New Roman"/>
                <a:ea typeface="Times New Roman"/>
                <a:cs typeface="Times New Roman"/>
              </a:defRPr>
            </a:lvl9pPr>
          </a:lstStyle>
          <a:p xmlns:a="http://schemas.openxmlformats.org/drawingml/2006/main">
            <a:pPr algn="l">
              <a:defRPr sz="1875" b="0">
                <a:solidFill>
                  <a:srgbClr val="0070C0"/>
                </a:solidFill>
                <a:latin typeface="Times New Roman"/>
                <a:ea typeface="Times New Roman"/>
                <a:cs typeface="Times New Roman"/>
              </a:defRPr>
            </a:pPr>
            <a:r>
              <a:rPr sz="1875" b="0">
                <a:solidFill>
                  <a:srgbClr val="0070C0"/>
                </a:solidFill>
                <a:latin typeface="Times New Roman"/>
                <a:ea typeface="Times New Roman"/>
                <a:cs typeface="Times New Roman"/>
              </a:rPr>
              <a:t>Execution status: evidence pending. Capture the observed outcome before marking Pass.</a:t>
            </a:r>
          </a:p>
        </p:txBody>
      </p:sp>
      <p:sp>
        <p:nvSpPr>
          <p:cNvPr id="7" name="10">
            <a:extLst xmlns:a="http://schemas.openxmlformats.org/drawingml/2006/main">
              <a:ext uri="{FF2B5EF4-FFF2-40B4-BE49-F238E27FC236}">
                <a16:creationId xmlns:a16="http://schemas.microsoft.com/office/drawing/2014/main" id="{0715AA64-A2D2-49A2-818E-9E277ADB2455}"/>
              </a:ext>
            </a:extLst>
          </p:cNvPr>
          <p:cNvSpPr>
            <a:spLocks xmlns:a="http://schemas.openxmlformats.org/drawingml/2006/main" noGrp="1"/>
          </p:cNvSpPr>
          <p:nvPr/>
        </p:nvSpPr>
        <p:spPr>
          <a:xfrm xmlns:a="http://schemas.openxmlformats.org/drawingml/2006/main">
            <a:off x="11430000" y="649605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xmlns:a="http://schemas.openxmlformats.org/drawingml/2006/main">
            <a:pPr algn="r">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10</a:t>
            </a:r>
          </a:p>
        </p:txBody>
      </p:sp>
    </p:spTree>
    <p:extLst>
      <p:ext uri="{BB962C8B-B14F-4D97-AF65-F5344CB8AC3E}">
        <p14:creationId xmlns:p14="http://schemas.microsoft.com/office/powerpoint/2010/main" val="1733596377"/>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4CD393A-8365-3C41-2C17-6494BBBD7105}"/>
              </a:ext>
            </a:extLst>
          </p:cNvPr>
          <p:cNvSpPr>
            <a:spLocks xmlns:a="http://schemas.openxmlformats.org/drawingml/2006/main" noGrp="1"/>
          </p:cNvSpPr>
          <p:nvPr>
            <p:ph type="title" idx="0"/>
          </p:nvPr>
        </p:nvSpPr>
        <p:spPr>
          <a:xfrm xmlns:a="http://schemas.openxmlformats.org/drawingml/2006/main">
            <a:off x="0" y="0"/>
            <a:ext cx="12192000" cy="762000"/>
          </a:xfrm>
          <a:prstGeom xmlns:a="http://schemas.openxmlformats.org/drawingml/2006/main" prst="rect">
            <a:avLst/>
          </a:prstGeom>
          <a:solidFill xmlns:a="http://schemas.openxmlformats.org/drawingml/2006/main">
            <a:srgbClr val="002060"/>
          </a:solidFill>
        </p:spPr>
        <p:txBody>
          <a:bodyPr xmlns:a="http://schemas.openxmlformats.org/drawingml/2006/main">
            <a:normAutofit fontScale="100000"/>
          </a:bodyPr>
          <a:lstStyle xmlns:a="http://schemas.openxmlformats.org/drawingml/2006/main">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xmlns:a="http://schemas.openxmlformats.org/drawingml/2006/main">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Planned Integration Tests</a:t>
            </a:r>
          </a:p>
        </p:txBody>
      </p:sp>
      <p:sp>
        <p:nvSpPr>
          <p:cNvPr id="4" name="Footer Placeholder 3">
            <a:extLst xmlns:a="http://schemas.openxmlformats.org/drawingml/2006/main">
              <a:ext uri="{FF2B5EF4-FFF2-40B4-BE49-F238E27FC236}">
                <a16:creationId xmlns:a16="http://schemas.microsoft.com/office/drawing/2014/main" id="{3D9C6012-FCED-4937-A4AB-8CEEC135A13C}"/>
              </a:ext>
            </a:extLst>
          </p:cNvPr>
          <p:cNvSpPr>
            <a:spLocks xmlns:a="http://schemas.openxmlformats.org/drawingml/2006/main" noGrp="1"/>
          </p:cNvSpPr>
          <p:nvPr>
            <p:ph type="ftr" idx="11"/>
          </p:nvPr>
        </p:nvSpPr>
        <p:spPr>
          <a:xfrm xmlns:a="http://schemas.openxmlformats.org/drawingml/2006/main">
            <a:off x="0" y="6492907"/>
            <a:ext cx="12192000" cy="365093"/>
          </a:xfrm>
          <a:prstGeom xmlns:a="http://schemas.openxmlformats.org/drawingml/2006/main" prst="rect">
            <a:avLst/>
          </a:prstGeom>
          <a:solidFill xmlns:a="http://schemas.openxmlformats.org/drawingml/2006/main">
            <a:srgbClr val="002060"/>
          </a:solidFill>
        </p:spPr>
        <p:txBody>
          <a:bodyPr xmlns:a="http://schemas.openxmlformats.org/drawingml/2006/main"/>
          <a:lstStyle xmlns:a="http://schemas.openxmlformats.org/drawingml/2006/main">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xmlns:a="http://schemas.openxmlformats.org/drawingml/2006/main">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graphicFrame>
        <p:nvGraphicFramePr>
          <p:cNvPr id="5" name="">
            <a:extLst xmlns:a="http://schemas.openxmlformats.org/drawingml/2006/main">
              <a:ext uri="{FF2B5EF4-FFF2-40B4-BE49-F238E27FC236}">
                <a16:creationId xmlns:a16="http://schemas.microsoft.com/office/drawing/2014/main" id="{1ABC1FB1-160B-4398-B92F-A16E5B693D69}"/>
              </a:ext>
            </a:extLst>
          </p:cNvPr>
          <p:cNvGraphicFramePr/>
          <p:nvPr/>
        </p:nvGraphicFramePr>
        <p:xfrm>
          <a:off xmlns:a="http://schemas.openxmlformats.org/drawingml/2006/main" x="523875" y="1285875"/>
          <a:ext xmlns:a="http://schemas.openxmlformats.org/drawingml/2006/main" cx="11144250" cy="4238625"/>
        </p:xfrm>
        <a:graphic xmlns:a="http://schemas.openxmlformats.org/drawingml/2006/main">
          <a:graphicData uri="http://schemas.openxmlformats.org/drawingml/2006/table">
            <a:tbl>
              <a:tblPr/>
              <a:tblGrid>
                <a:gridCol w="2428875"/>
                <a:gridCol w="4524375"/>
                <a:gridCol w="4191000"/>
              </a:tblGrid>
              <a:tr h="706438">
                <a:tc>
                  <a:txBody>
                    <a:bodyPr/>
                    <a:lstStyle/>
                    <a:p>
                      <a:r>
                        <a:rPr sz="2100" b="1">
                          <a:solidFill>
                            <a:srgbClr val="FFFFFF"/>
                          </a:solidFill>
                          <a:latin typeface="Times New Roman"/>
                          <a:ea typeface="Times New Roman"/>
                          <a:cs typeface="Times New Roman"/>
                        </a:rPr>
                        <a:t>Requirement</a:t>
                      </a:r>
                    </a:p>
                  </a:txBody>
                  <a:tcPr marL="114300" marR="95250" marT="95250" marB="95250" anchor="ctr">
                    <a:lnL w="9525">
                      <a:solidFill>
                        <a:srgbClr val="CAD2DF"/>
                      </a:solidFill>
                    </a:lnL>
                    <a:lnR w="9525">
                      <a:solidFill>
                        <a:srgbClr val="CAD2DF"/>
                      </a:solidFill>
                    </a:lnR>
                    <a:lnT w="9525">
                      <a:solidFill>
                        <a:srgbClr val="CAD2DF"/>
                      </a:solidFill>
                    </a:lnT>
                    <a:lnB w="9525">
                      <a:solidFill>
                        <a:srgbClr val="CAD2DF"/>
                      </a:solidFill>
                    </a:lnB>
                    <a:solidFill>
                      <a:srgbClr val="002060"/>
                    </a:solidFill>
                  </a:tcPr>
                </a:tc>
                <a:tc>
                  <a:txBody>
                    <a:bodyPr/>
                    <a:lstStyle/>
                    <a:p>
                      <a:r>
                        <a:rPr sz="2100" b="1">
                          <a:solidFill>
                            <a:srgbClr val="FFFFFF"/>
                          </a:solidFill>
                          <a:latin typeface="Times New Roman"/>
                          <a:ea typeface="Times New Roman"/>
                          <a:cs typeface="Times New Roman"/>
                        </a:rPr>
                        <a:t>Test scenario</a:t>
                      </a:r>
                    </a:p>
                  </a:txBody>
                  <a:tcPr marL="114300" marR="95250" marT="95250" marB="95250" anchor="ctr">
                    <a:lnR w="9525">
                      <a:solidFill>
                        <a:srgbClr val="CAD2DF"/>
                      </a:solidFill>
                    </a:lnR>
                    <a:lnT w="9525">
                      <a:solidFill>
                        <a:srgbClr val="CAD2DF"/>
                      </a:solidFill>
                    </a:lnT>
                    <a:lnB w="9525">
                      <a:solidFill>
                        <a:srgbClr val="CAD2DF"/>
                      </a:solidFill>
                    </a:lnB>
                    <a:solidFill>
                      <a:srgbClr val="002060"/>
                    </a:solidFill>
                  </a:tcPr>
                </a:tc>
                <a:tc>
                  <a:txBody>
                    <a:bodyPr/>
                    <a:lstStyle/>
                    <a:p>
                      <a:r>
                        <a:rPr sz="2100" b="1">
                          <a:solidFill>
                            <a:srgbClr val="FFFFFF"/>
                          </a:solidFill>
                          <a:latin typeface="Times New Roman"/>
                          <a:ea typeface="Times New Roman"/>
                          <a:cs typeface="Times New Roman"/>
                        </a:rPr>
                        <a:t>Expected result</a:t>
                      </a:r>
                    </a:p>
                  </a:txBody>
                  <a:tcPr marL="114300" marR="95250" marT="95250" marB="95250" anchor="ctr">
                    <a:lnR w="9525">
                      <a:solidFill>
                        <a:srgbClr val="CAD2DF"/>
                      </a:solidFill>
                    </a:lnR>
                    <a:lnT w="9525">
                      <a:solidFill>
                        <a:srgbClr val="CAD2DF"/>
                      </a:solidFill>
                    </a:lnT>
                    <a:lnB w="9525">
                      <a:solidFill>
                        <a:srgbClr val="CAD2DF"/>
                      </a:solidFill>
                    </a:lnB>
                    <a:solidFill>
                      <a:srgbClr val="002060"/>
                    </a:solidFill>
                  </a:tcPr>
                </a:tc>
              </a:tr>
              <a:tr h="706438">
                <a:tc>
                  <a:txBody>
                    <a:bodyPr/>
                    <a:lstStyle/>
                    <a:p>
                      <a:r>
                        <a:rPr sz="2100" b="0">
                          <a:solidFill>
                            <a:srgbClr val="111111"/>
                          </a:solidFill>
                          <a:latin typeface="Times New Roman"/>
                          <a:ea typeface="Times New Roman"/>
                          <a:cs typeface="Times New Roman"/>
                        </a:rPr>
                        <a:t>FR3 / Sensors</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Connect sensors and OLED</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Correct acquisition and local display</a:t>
                      </a:r>
                    </a:p>
                  </a:txBody>
                  <a:tcPr marL="114300" marR="95250" marT="95250" marB="95250" anchor="ctr">
                    <a:lnR w="9525">
                      <a:solidFill>
                        <a:srgbClr val="CAD2DF"/>
                      </a:solidFill>
                    </a:lnR>
                    <a:lnB w="9525">
                      <a:solidFill>
                        <a:srgbClr val="CAD2DF"/>
                      </a:solidFill>
                    </a:lnB>
                    <a:solidFill>
                      <a:srgbClr val="EDF3F9"/>
                    </a:solidFill>
                  </a:tcPr>
                </a:tc>
              </a:tr>
              <a:tr h="706438">
                <a:tc>
                  <a:txBody>
                    <a:bodyPr/>
                    <a:lstStyle/>
                    <a:p>
                      <a:r>
                        <a:rPr sz="2100" b="0">
                          <a:solidFill>
                            <a:srgbClr val="111111"/>
                          </a:solidFill>
                          <a:latin typeface="Times New Roman"/>
                          <a:ea typeface="Times New Roman"/>
                          <a:cs typeface="Times New Roman"/>
                        </a:rPr>
                        <a:t>FR4 / Upload</a:t>
                      </a:r>
                    </a:p>
                  </a:txBody>
                  <a:tcPr marL="114300" marR="95250" marT="95250" marB="95250" anchor="ctr">
                    <a:lnL w="9525">
                      <a:solidFill>
                        <a:srgbClr val="CAD2DF"/>
                      </a:solidFill>
                    </a:lnL>
                    <a:lnR w="9525">
                      <a:solidFill>
                        <a:srgbClr val="CAD2DF"/>
                      </a:solidFill>
                    </a:lnR>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Lose and restore phone internet</a:t>
                      </a:r>
                    </a:p>
                  </a:txBody>
                  <a:tcPr marL="114300" marR="95250" marT="95250" marB="95250" anchor="ctr">
                    <a:lnR w="9525">
                      <a:solidFill>
                        <a:srgbClr val="CAD2DF"/>
                      </a:solidFill>
                    </a:lnR>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Queue retained and uploaded once</a:t>
                      </a:r>
                    </a:p>
                  </a:txBody>
                  <a:tcPr marL="114300" marR="95250" marT="95250" marB="95250" anchor="ctr">
                    <a:lnR w="9525">
                      <a:solidFill>
                        <a:srgbClr val="CAD2DF"/>
                      </a:solidFill>
                    </a:lnR>
                    <a:lnB w="9525">
                      <a:solidFill>
                        <a:srgbClr val="CAD2DF"/>
                      </a:solidFill>
                    </a:lnB>
                    <a:solidFill>
                      <a:srgbClr val="FFFFFF"/>
                    </a:solidFill>
                  </a:tcPr>
                </a:tc>
              </a:tr>
              <a:tr h="706438">
                <a:tc>
                  <a:txBody>
                    <a:bodyPr/>
                    <a:lstStyle/>
                    <a:p>
                      <a:r>
                        <a:rPr sz="2100" b="0">
                          <a:solidFill>
                            <a:srgbClr val="111111"/>
                          </a:solidFill>
                          <a:latin typeface="Times New Roman"/>
                          <a:ea typeface="Times New Roman"/>
                          <a:cs typeface="Times New Roman"/>
                        </a:rPr>
                        <a:t>FR5 / GPS + ETA</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Move along a known route</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Location and ETA update</a:t>
                      </a:r>
                    </a:p>
                  </a:txBody>
                  <a:tcPr marL="114300" marR="95250" marT="95250" marB="95250" anchor="ctr">
                    <a:lnR w="9525">
                      <a:solidFill>
                        <a:srgbClr val="CAD2DF"/>
                      </a:solidFill>
                    </a:lnR>
                    <a:lnB w="9525">
                      <a:solidFill>
                        <a:srgbClr val="CAD2DF"/>
                      </a:solidFill>
                    </a:lnB>
                    <a:solidFill>
                      <a:srgbClr val="EDF3F9"/>
                    </a:solidFill>
                  </a:tcPr>
                </a:tc>
              </a:tr>
              <a:tr h="706438">
                <a:tc>
                  <a:txBody>
                    <a:bodyPr/>
                    <a:lstStyle/>
                    <a:p>
                      <a:r>
                        <a:rPr sz="2100" b="0">
                          <a:solidFill>
                            <a:srgbClr val="111111"/>
                          </a:solidFill>
                          <a:latin typeface="Times New Roman"/>
                          <a:ea typeface="Times New Roman"/>
                          <a:cs typeface="Times New Roman"/>
                        </a:rPr>
                        <a:t>FR6 / ML</a:t>
                      </a:r>
                    </a:p>
                  </a:txBody>
                  <a:tcPr marL="114300" marR="95250" marT="95250" marB="95250" anchor="ctr">
                    <a:lnL w="9525">
                      <a:solidFill>
                        <a:srgbClr val="CAD2DF"/>
                      </a:solidFill>
                    </a:lnL>
                    <a:lnR w="9525">
                      <a:solidFill>
                        <a:srgbClr val="CAD2DF"/>
                      </a:solidFill>
                    </a:lnR>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Evaluate a labeled held-out dataset</a:t>
                      </a:r>
                    </a:p>
                  </a:txBody>
                  <a:tcPr marL="114300" marR="95250" marT="95250" marB="95250" anchor="ctr">
                    <a:lnR w="9525">
                      <a:solidFill>
                        <a:srgbClr val="CAD2DF"/>
                      </a:solidFill>
                    </a:lnR>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Report classification metrics</a:t>
                      </a:r>
                    </a:p>
                  </a:txBody>
                  <a:tcPr marL="114300" marR="95250" marT="95250" marB="95250" anchor="ctr">
                    <a:lnR w="9525">
                      <a:solidFill>
                        <a:srgbClr val="CAD2DF"/>
                      </a:solidFill>
                    </a:lnR>
                    <a:lnB w="9525">
                      <a:solidFill>
                        <a:srgbClr val="CAD2DF"/>
                      </a:solidFill>
                    </a:lnB>
                    <a:solidFill>
                      <a:srgbClr val="FFFFFF"/>
                    </a:solidFill>
                  </a:tcPr>
                </a:tc>
              </a:tr>
              <a:tr h="706438">
                <a:tc>
                  <a:txBody>
                    <a:bodyPr/>
                    <a:lstStyle/>
                    <a:p>
                      <a:r>
                        <a:rPr sz="2100" b="0">
                          <a:solidFill>
                            <a:srgbClr val="111111"/>
                          </a:solidFill>
                          <a:latin typeface="Times New Roman"/>
                          <a:ea typeface="Times New Roman"/>
                          <a:cs typeface="Times New Roman"/>
                        </a:rPr>
                        <a:t>FR6 / Dashboard</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Deliver live and stale telemetry</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Correct values and freshness state</a:t>
                      </a:r>
                    </a:p>
                  </a:txBody>
                  <a:tcPr marL="114300" marR="95250" marT="95250" marB="95250" anchor="ctr">
                    <a:lnR w="9525">
                      <a:solidFill>
                        <a:srgbClr val="CAD2DF"/>
                      </a:solidFill>
                    </a:lnR>
                    <a:lnB w="9525">
                      <a:solidFill>
                        <a:srgbClr val="CAD2DF"/>
                      </a:solidFill>
                    </a:lnB>
                    <a:solidFill>
                      <a:srgbClr val="EDF3F9"/>
                    </a:solidFill>
                  </a:tcPr>
                </a:tc>
              </a:tr>
            </a:tbl>
          </a:graphicData>
        </a:graphic>
      </p:graphicFrame>
      <p:sp>
        <p:nvSpPr>
          <p:cNvPr id="6" name="All cases on this slide are planned. No cloud">
            <a:extLst xmlns:a="http://schemas.openxmlformats.org/drawingml/2006/main">
              <a:ext uri="{FF2B5EF4-FFF2-40B4-BE49-F238E27FC236}">
                <a16:creationId xmlns:a16="http://schemas.microsoft.com/office/drawing/2014/main" id="{445289BF-EA09-42DB-9EDC-E23C48D79124}"/>
              </a:ext>
            </a:extLst>
          </p:cNvPr>
          <p:cNvSpPr>
            <a:spLocks xmlns:a="http://schemas.openxmlformats.org/drawingml/2006/main" noGrp="1"/>
          </p:cNvSpPr>
          <p:nvPr/>
        </p:nvSpPr>
        <p:spPr>
          <a:xfrm xmlns:a="http://schemas.openxmlformats.org/drawingml/2006/main">
            <a:off x="523875" y="5857875"/>
            <a:ext cx="11144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1875" b="0">
                <a:solidFill>
                  <a:srgbClr val="0070C0"/>
                </a:solidFill>
                <a:latin typeface="Times New Roman"/>
                <a:ea typeface="Times New Roman"/>
                <a:cs typeface="Times New Roman"/>
              </a:defRPr>
            </a:defPPr>
            <a:lvl1pPr algn="l">
              <a:defRPr sz="1875" b="0">
                <a:solidFill>
                  <a:srgbClr val="0070C0"/>
                </a:solidFill>
                <a:latin typeface="Times New Roman"/>
                <a:ea typeface="Times New Roman"/>
                <a:cs typeface="Times New Roman"/>
              </a:defRPr>
            </a:lvl1pPr>
            <a:lvl2pPr algn="l">
              <a:defRPr sz="1875" b="0">
                <a:solidFill>
                  <a:srgbClr val="0070C0"/>
                </a:solidFill>
                <a:latin typeface="Times New Roman"/>
                <a:ea typeface="Times New Roman"/>
                <a:cs typeface="Times New Roman"/>
              </a:defRPr>
            </a:lvl2pPr>
            <a:lvl3pPr algn="l">
              <a:defRPr sz="1875" b="0">
                <a:solidFill>
                  <a:srgbClr val="0070C0"/>
                </a:solidFill>
                <a:latin typeface="Times New Roman"/>
                <a:ea typeface="Times New Roman"/>
                <a:cs typeface="Times New Roman"/>
              </a:defRPr>
            </a:lvl3pPr>
            <a:lvl4pPr algn="l">
              <a:defRPr sz="1875" b="0">
                <a:solidFill>
                  <a:srgbClr val="0070C0"/>
                </a:solidFill>
                <a:latin typeface="Times New Roman"/>
                <a:ea typeface="Times New Roman"/>
                <a:cs typeface="Times New Roman"/>
              </a:defRPr>
            </a:lvl4pPr>
            <a:lvl5pPr algn="l">
              <a:defRPr sz="1875" b="0">
                <a:solidFill>
                  <a:srgbClr val="0070C0"/>
                </a:solidFill>
                <a:latin typeface="Times New Roman"/>
                <a:ea typeface="Times New Roman"/>
                <a:cs typeface="Times New Roman"/>
              </a:defRPr>
            </a:lvl5pPr>
            <a:lvl6pPr algn="l">
              <a:defRPr sz="1875" b="0">
                <a:solidFill>
                  <a:srgbClr val="0070C0"/>
                </a:solidFill>
                <a:latin typeface="Times New Roman"/>
                <a:ea typeface="Times New Roman"/>
                <a:cs typeface="Times New Roman"/>
              </a:defRPr>
            </a:lvl6pPr>
            <a:lvl7pPr algn="l">
              <a:defRPr sz="1875" b="0">
                <a:solidFill>
                  <a:srgbClr val="0070C0"/>
                </a:solidFill>
                <a:latin typeface="Times New Roman"/>
                <a:ea typeface="Times New Roman"/>
                <a:cs typeface="Times New Roman"/>
              </a:defRPr>
            </a:lvl7pPr>
            <a:lvl8pPr algn="l">
              <a:defRPr sz="1875" b="0">
                <a:solidFill>
                  <a:srgbClr val="0070C0"/>
                </a:solidFill>
                <a:latin typeface="Times New Roman"/>
                <a:ea typeface="Times New Roman"/>
                <a:cs typeface="Times New Roman"/>
              </a:defRPr>
            </a:lvl8pPr>
            <a:lvl9pPr algn="l">
              <a:defRPr sz="1875" b="0">
                <a:solidFill>
                  <a:srgbClr val="0070C0"/>
                </a:solidFill>
                <a:latin typeface="Times New Roman"/>
                <a:ea typeface="Times New Roman"/>
                <a:cs typeface="Times New Roman"/>
              </a:defRPr>
            </a:lvl9pPr>
          </a:lstStyle>
          <a:p xmlns:a="http://schemas.openxmlformats.org/drawingml/2006/main">
            <a:pPr algn="l">
              <a:defRPr sz="1875" b="0">
                <a:solidFill>
                  <a:srgbClr val="0070C0"/>
                </a:solidFill>
                <a:latin typeface="Times New Roman"/>
                <a:ea typeface="Times New Roman"/>
                <a:cs typeface="Times New Roman"/>
              </a:defRPr>
            </a:pPr>
            <a:r>
              <a:rPr sz="1875" b="0">
                <a:solidFill>
                  <a:srgbClr val="0070C0"/>
                </a:solidFill>
                <a:latin typeface="Times New Roman"/>
                <a:ea typeface="Times New Roman"/>
                <a:cs typeface="Times New Roman"/>
              </a:rPr>
              <a:t>All cases on this slide are planned. No cloud, GPS, ETA or ML results are claimed.</a:t>
            </a:r>
          </a:p>
        </p:txBody>
      </p:sp>
      <p:sp>
        <p:nvSpPr>
          <p:cNvPr id="7" name="11">
            <a:extLst xmlns:a="http://schemas.openxmlformats.org/drawingml/2006/main">
              <a:ext uri="{FF2B5EF4-FFF2-40B4-BE49-F238E27FC236}">
                <a16:creationId xmlns:a16="http://schemas.microsoft.com/office/drawing/2014/main" id="{790258E3-4172-4B82-945C-A2B8BC04DE2A}"/>
              </a:ext>
            </a:extLst>
          </p:cNvPr>
          <p:cNvSpPr>
            <a:spLocks xmlns:a="http://schemas.openxmlformats.org/drawingml/2006/main" noGrp="1"/>
          </p:cNvSpPr>
          <p:nvPr/>
        </p:nvSpPr>
        <p:spPr>
          <a:xfrm xmlns:a="http://schemas.openxmlformats.org/drawingml/2006/main">
            <a:off x="11430000" y="649605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xmlns:a="http://schemas.openxmlformats.org/drawingml/2006/main">
            <a:pPr algn="r">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11</a:t>
            </a:r>
          </a:p>
        </p:txBody>
      </p:sp>
    </p:spTree>
    <p:extLst>
      <p:ext uri="{BB962C8B-B14F-4D97-AF65-F5344CB8AC3E}">
        <p14:creationId xmlns:p14="http://schemas.microsoft.com/office/powerpoint/2010/main" val="1733596377"/>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4CD393A-8365-3C41-2C17-6494BBBD7105}"/>
              </a:ext>
            </a:extLst>
          </p:cNvPr>
          <p:cNvSpPr>
            <a:spLocks xmlns:a="http://schemas.openxmlformats.org/drawingml/2006/main" noGrp="1"/>
          </p:cNvSpPr>
          <p:nvPr>
            <p:ph type="title" idx="0"/>
          </p:nvPr>
        </p:nvSpPr>
        <p:spPr>
          <a:xfrm xmlns:a="http://schemas.openxmlformats.org/drawingml/2006/main">
            <a:off x="0" y="0"/>
            <a:ext cx="12192000" cy="762000"/>
          </a:xfrm>
          <a:prstGeom xmlns:a="http://schemas.openxmlformats.org/drawingml/2006/main" prst="rect">
            <a:avLst/>
          </a:prstGeom>
          <a:solidFill xmlns:a="http://schemas.openxmlformats.org/drawingml/2006/main">
            <a:srgbClr val="002060"/>
          </a:solidFill>
        </p:spPr>
        <p:txBody>
          <a:bodyPr xmlns:a="http://schemas.openxmlformats.org/drawingml/2006/main">
            <a:normAutofit fontScale="100000"/>
          </a:bodyPr>
          <a:lstStyle xmlns:a="http://schemas.openxmlformats.org/drawingml/2006/main">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xmlns:a="http://schemas.openxmlformats.org/drawingml/2006/main">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Implementation Status</a:t>
            </a:r>
          </a:p>
        </p:txBody>
      </p:sp>
      <p:sp>
        <p:nvSpPr>
          <p:cNvPr id="4" name="Footer Placeholder 3">
            <a:extLst xmlns:a="http://schemas.openxmlformats.org/drawingml/2006/main">
              <a:ext uri="{FF2B5EF4-FFF2-40B4-BE49-F238E27FC236}">
                <a16:creationId xmlns:a16="http://schemas.microsoft.com/office/drawing/2014/main" id="{3D9C6012-FCED-4937-A4AB-8CEEC135A13C}"/>
              </a:ext>
            </a:extLst>
          </p:cNvPr>
          <p:cNvSpPr>
            <a:spLocks xmlns:a="http://schemas.openxmlformats.org/drawingml/2006/main" noGrp="1"/>
          </p:cNvSpPr>
          <p:nvPr>
            <p:ph type="ftr" idx="11"/>
          </p:nvPr>
        </p:nvSpPr>
        <p:spPr>
          <a:xfrm xmlns:a="http://schemas.openxmlformats.org/drawingml/2006/main">
            <a:off x="0" y="6492907"/>
            <a:ext cx="12192000" cy="365093"/>
          </a:xfrm>
          <a:prstGeom xmlns:a="http://schemas.openxmlformats.org/drawingml/2006/main" prst="rect">
            <a:avLst/>
          </a:prstGeom>
          <a:solidFill xmlns:a="http://schemas.openxmlformats.org/drawingml/2006/main">
            <a:srgbClr val="002060"/>
          </a:solidFill>
        </p:spPr>
        <p:txBody>
          <a:bodyPr xmlns:a="http://schemas.openxmlformats.org/drawingml/2006/main"/>
          <a:lstStyle xmlns:a="http://schemas.openxmlformats.org/drawingml/2006/main">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xmlns:a="http://schemas.openxmlformats.org/drawingml/2006/main">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graphicFrame>
        <p:nvGraphicFramePr>
          <p:cNvPr id="5" name="">
            <a:extLst xmlns:a="http://schemas.openxmlformats.org/drawingml/2006/main">
              <a:ext uri="{FF2B5EF4-FFF2-40B4-BE49-F238E27FC236}">
                <a16:creationId xmlns:a16="http://schemas.microsoft.com/office/drawing/2014/main" id="{4CF3A94D-C996-4313-B03D-B0C5436F1D81}"/>
              </a:ext>
            </a:extLst>
          </p:cNvPr>
          <p:cNvGraphicFramePr/>
          <p:nvPr/>
        </p:nvGraphicFramePr>
        <p:xfrm>
          <a:off xmlns:a="http://schemas.openxmlformats.org/drawingml/2006/main" x="523875" y="1143000"/>
          <a:ext xmlns:a="http://schemas.openxmlformats.org/drawingml/2006/main" cx="11144250" cy="4667250"/>
        </p:xfrm>
        <a:graphic xmlns:a="http://schemas.openxmlformats.org/drawingml/2006/main">
          <a:graphicData uri="http://schemas.openxmlformats.org/drawingml/2006/table">
            <a:tbl>
              <a:tblPr/>
              <a:tblGrid>
                <a:gridCol w="2476500"/>
                <a:gridCol w="4429125"/>
                <a:gridCol w="4238625"/>
              </a:tblGrid>
              <a:tr h="666750">
                <a:tc>
                  <a:txBody>
                    <a:bodyPr/>
                    <a:lstStyle/>
                    <a:p>
                      <a:r>
                        <a:rPr sz="2100" b="1">
                          <a:solidFill>
                            <a:srgbClr val="FFFFFF"/>
                          </a:solidFill>
                          <a:latin typeface="Times New Roman"/>
                          <a:ea typeface="Times New Roman"/>
                          <a:cs typeface="Times New Roman"/>
                        </a:rPr>
                        <a:t>Module</a:t>
                      </a:r>
                    </a:p>
                  </a:txBody>
                  <a:tcPr marL="114300" marR="95250" marT="95250" marB="95250" anchor="ctr">
                    <a:lnL w="9525">
                      <a:solidFill>
                        <a:srgbClr val="CAD2DF"/>
                      </a:solidFill>
                    </a:lnL>
                    <a:lnR w="9525">
                      <a:solidFill>
                        <a:srgbClr val="CAD2DF"/>
                      </a:solidFill>
                    </a:lnR>
                    <a:lnT w="9525">
                      <a:solidFill>
                        <a:srgbClr val="CAD2DF"/>
                      </a:solidFill>
                    </a:lnT>
                    <a:lnB w="9525">
                      <a:solidFill>
                        <a:srgbClr val="CAD2DF"/>
                      </a:solidFill>
                    </a:lnB>
                    <a:solidFill>
                      <a:srgbClr val="002060"/>
                    </a:solidFill>
                  </a:tcPr>
                </a:tc>
                <a:tc>
                  <a:txBody>
                    <a:bodyPr/>
                    <a:lstStyle/>
                    <a:p>
                      <a:r>
                        <a:rPr sz="2100" b="1">
                          <a:solidFill>
                            <a:srgbClr val="FFFFFF"/>
                          </a:solidFill>
                          <a:latin typeface="Times New Roman"/>
                          <a:ea typeface="Times New Roman"/>
                          <a:cs typeface="Times New Roman"/>
                        </a:rPr>
                        <a:t>Current evidence</a:t>
                      </a:r>
                    </a:p>
                  </a:txBody>
                  <a:tcPr marL="114300" marR="95250" marT="95250" marB="95250" anchor="ctr">
                    <a:lnR w="9525">
                      <a:solidFill>
                        <a:srgbClr val="CAD2DF"/>
                      </a:solidFill>
                    </a:lnR>
                    <a:lnT w="9525">
                      <a:solidFill>
                        <a:srgbClr val="CAD2DF"/>
                      </a:solidFill>
                    </a:lnT>
                    <a:lnB w="9525">
                      <a:solidFill>
                        <a:srgbClr val="CAD2DF"/>
                      </a:solidFill>
                    </a:lnB>
                    <a:solidFill>
                      <a:srgbClr val="002060"/>
                    </a:solidFill>
                  </a:tcPr>
                </a:tc>
                <a:tc>
                  <a:txBody>
                    <a:bodyPr/>
                    <a:lstStyle/>
                    <a:p>
                      <a:r>
                        <a:rPr sz="2100" b="1">
                          <a:solidFill>
                            <a:srgbClr val="FFFFFF"/>
                          </a:solidFill>
                          <a:latin typeface="Times New Roman"/>
                          <a:ea typeface="Times New Roman"/>
                          <a:cs typeface="Times New Roman"/>
                        </a:rPr>
                        <a:t>Remaining work</a:t>
                      </a:r>
                    </a:p>
                  </a:txBody>
                  <a:tcPr marL="114300" marR="95250" marT="95250" marB="95250" anchor="ctr">
                    <a:lnR w="9525">
                      <a:solidFill>
                        <a:srgbClr val="CAD2DF"/>
                      </a:solidFill>
                    </a:lnR>
                    <a:lnT w="9525">
                      <a:solidFill>
                        <a:srgbClr val="CAD2DF"/>
                      </a:solidFill>
                    </a:lnT>
                    <a:lnB w="9525">
                      <a:solidFill>
                        <a:srgbClr val="CAD2DF"/>
                      </a:solidFill>
                    </a:lnB>
                    <a:solidFill>
                      <a:srgbClr val="002060"/>
                    </a:solidFill>
                  </a:tcPr>
                </a:tc>
              </a:tr>
              <a:tr h="666750">
                <a:tc>
                  <a:txBody>
                    <a:bodyPr/>
                    <a:lstStyle/>
                    <a:p>
                      <a:r>
                        <a:rPr sz="2100" b="0">
                          <a:solidFill>
                            <a:srgbClr val="111111"/>
                          </a:solidFill>
                          <a:latin typeface="Times New Roman"/>
                          <a:ea typeface="Times New Roman"/>
                          <a:cs typeface="Times New Roman"/>
                        </a:rPr>
                        <a:t>ESP32 BLE</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Advertising, encryption, streaming code</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Device validation evidence</a:t>
                      </a:r>
                    </a:p>
                  </a:txBody>
                  <a:tcPr marL="114300" marR="95250" marT="95250" marB="95250" anchor="ctr">
                    <a:lnR w="9525">
                      <a:solidFill>
                        <a:srgbClr val="CAD2DF"/>
                      </a:solidFill>
                    </a:lnR>
                    <a:lnB w="9525">
                      <a:solidFill>
                        <a:srgbClr val="CAD2DF"/>
                      </a:solidFill>
                    </a:lnB>
                    <a:solidFill>
                      <a:srgbClr val="EDF3F9"/>
                    </a:solidFill>
                  </a:tcPr>
                </a:tc>
              </a:tr>
              <a:tr h="666750">
                <a:tc>
                  <a:txBody>
                    <a:bodyPr/>
                    <a:lstStyle/>
                    <a:p>
                      <a:r>
                        <a:rPr sz="2100" b="0">
                          <a:solidFill>
                            <a:srgbClr val="111111"/>
                          </a:solidFill>
                          <a:latin typeface="Times New Roman"/>
                          <a:ea typeface="Times New Roman"/>
                          <a:cs typeface="Times New Roman"/>
                        </a:rPr>
                        <a:t>Flutter app</a:t>
                      </a:r>
                    </a:p>
                  </a:txBody>
                  <a:tcPr marL="114300" marR="95250" marT="95250" marB="95250" anchor="ctr">
                    <a:lnL w="9525">
                      <a:solidFill>
                        <a:srgbClr val="CAD2DF"/>
                      </a:solidFill>
                    </a:lnL>
                    <a:lnR w="9525">
                      <a:solidFill>
                        <a:srgbClr val="CAD2DF"/>
                      </a:solidFill>
                    </a:lnR>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Scan, connect, display, start/stop</a:t>
                      </a:r>
                    </a:p>
                  </a:txBody>
                  <a:tcPr marL="114300" marR="95250" marT="95250" marB="95250" anchor="ctr">
                    <a:lnR w="9525">
                      <a:solidFill>
                        <a:srgbClr val="CAD2DF"/>
                      </a:solidFill>
                    </a:lnR>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Gateway persistence and uploads</a:t>
                      </a:r>
                    </a:p>
                  </a:txBody>
                  <a:tcPr marL="114300" marR="95250" marT="95250" marB="95250" anchor="ctr">
                    <a:lnR w="9525">
                      <a:solidFill>
                        <a:srgbClr val="CAD2DF"/>
                      </a:solidFill>
                    </a:lnR>
                    <a:lnB w="9525">
                      <a:solidFill>
                        <a:srgbClr val="CAD2DF"/>
                      </a:solidFill>
                    </a:lnB>
                    <a:solidFill>
                      <a:srgbClr val="FFFFFF"/>
                    </a:solidFill>
                  </a:tcPr>
                </a:tc>
              </a:tr>
              <a:tr h="666750">
                <a:tc>
                  <a:txBody>
                    <a:bodyPr/>
                    <a:lstStyle/>
                    <a:p>
                      <a:r>
                        <a:rPr sz="2100" b="0">
                          <a:solidFill>
                            <a:srgbClr val="111111"/>
                          </a:solidFill>
                          <a:latin typeface="Times New Roman"/>
                          <a:ea typeface="Times New Roman"/>
                          <a:cs typeface="Times New Roman"/>
                        </a:rPr>
                        <a:t>Sensors / OLED</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Separate sensor sketches</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Integrate into BLE firmware</a:t>
                      </a:r>
                    </a:p>
                  </a:txBody>
                  <a:tcPr marL="114300" marR="95250" marT="95250" marB="95250" anchor="ctr">
                    <a:lnR w="9525">
                      <a:solidFill>
                        <a:srgbClr val="CAD2DF"/>
                      </a:solidFill>
                    </a:lnR>
                    <a:lnB w="9525">
                      <a:solidFill>
                        <a:srgbClr val="CAD2DF"/>
                      </a:solidFill>
                    </a:lnB>
                    <a:solidFill>
                      <a:srgbClr val="EDF3F9"/>
                    </a:solidFill>
                  </a:tcPr>
                </a:tc>
              </a:tr>
              <a:tr h="666750">
                <a:tc>
                  <a:txBody>
                    <a:bodyPr/>
                    <a:lstStyle/>
                    <a:p>
                      <a:r>
                        <a:rPr sz="2100" b="0">
                          <a:solidFill>
                            <a:srgbClr val="111111"/>
                          </a:solidFill>
                          <a:latin typeface="Times New Roman"/>
                          <a:ea typeface="Times New Roman"/>
                          <a:cs typeface="Times New Roman"/>
                        </a:rPr>
                        <a:t>RTOS</a:t>
                      </a:r>
                    </a:p>
                  </a:txBody>
                  <a:tcPr marL="114300" marR="95250" marT="95250" marB="95250" anchor="ctr">
                    <a:lnL w="9525">
                      <a:solidFill>
                        <a:srgbClr val="CAD2DF"/>
                      </a:solidFill>
                    </a:lnL>
                    <a:lnR w="9525">
                      <a:solidFill>
                        <a:srgbClr val="CAD2DF"/>
                      </a:solidFill>
                    </a:lnR>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BLE host and simulation tasks</a:t>
                      </a:r>
                    </a:p>
                  </a:txBody>
                  <a:tcPr marL="114300" marR="95250" marT="95250" marB="95250" anchor="ctr">
                    <a:lnR w="9525">
                      <a:solidFill>
                        <a:srgbClr val="CAD2DF"/>
                      </a:solidFill>
                    </a:lnR>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Full acquisition/display pipeline</a:t>
                      </a:r>
                    </a:p>
                  </a:txBody>
                  <a:tcPr marL="114300" marR="95250" marT="95250" marB="95250" anchor="ctr">
                    <a:lnR w="9525">
                      <a:solidFill>
                        <a:srgbClr val="CAD2DF"/>
                      </a:solidFill>
                    </a:lnR>
                    <a:lnB w="9525">
                      <a:solidFill>
                        <a:srgbClr val="CAD2DF"/>
                      </a:solidFill>
                    </a:lnB>
                    <a:solidFill>
                      <a:srgbClr val="FFFFFF"/>
                    </a:solidFill>
                  </a:tcPr>
                </a:tc>
              </a:tr>
              <a:tr h="666750">
                <a:tc>
                  <a:txBody>
                    <a:bodyPr/>
                    <a:lstStyle/>
                    <a:p>
                      <a:r>
                        <a:rPr sz="2100" b="0">
                          <a:solidFill>
                            <a:srgbClr val="111111"/>
                          </a:solidFill>
                          <a:latin typeface="Times New Roman"/>
                          <a:ea typeface="Times New Roman"/>
                          <a:cs typeface="Times New Roman"/>
                        </a:rPr>
                        <a:t>Cloud / Dashboard</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Placeholder component folders</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Implement and integrate</a:t>
                      </a:r>
                    </a:p>
                  </a:txBody>
                  <a:tcPr marL="114300" marR="95250" marT="95250" marB="95250" anchor="ctr">
                    <a:lnR w="9525">
                      <a:solidFill>
                        <a:srgbClr val="CAD2DF"/>
                      </a:solidFill>
                    </a:lnR>
                    <a:lnB w="9525">
                      <a:solidFill>
                        <a:srgbClr val="CAD2DF"/>
                      </a:solidFill>
                    </a:lnB>
                    <a:solidFill>
                      <a:srgbClr val="EDF3F9"/>
                    </a:solidFill>
                  </a:tcPr>
                </a:tc>
              </a:tr>
              <a:tr h="666750">
                <a:tc>
                  <a:txBody>
                    <a:bodyPr/>
                    <a:lstStyle/>
                    <a:p>
                      <a:r>
                        <a:rPr sz="2100" b="0">
                          <a:solidFill>
                            <a:srgbClr val="111111"/>
                          </a:solidFill>
                          <a:latin typeface="Times New Roman"/>
                          <a:ea typeface="Times New Roman"/>
                          <a:cs typeface="Times New Roman"/>
                        </a:rPr>
                        <a:t>GPS / ETA / ML</a:t>
                      </a:r>
                    </a:p>
                  </a:txBody>
                  <a:tcPr marL="114300" marR="95250" marT="95250" marB="95250" anchor="ctr">
                    <a:lnL w="9525">
                      <a:solidFill>
                        <a:srgbClr val="CAD2DF"/>
                      </a:solidFill>
                    </a:lnL>
                    <a:lnR w="9525">
                      <a:solidFill>
                        <a:srgbClr val="CAD2DF"/>
                      </a:solidFill>
                    </a:lnR>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No implementation found</a:t>
                      </a:r>
                    </a:p>
                  </a:txBody>
                  <a:tcPr marL="114300" marR="95250" marT="95250" marB="95250" anchor="ctr">
                    <a:lnR w="9525">
                      <a:solidFill>
                        <a:srgbClr val="CAD2DF"/>
                      </a:solidFill>
                    </a:lnR>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Design, implement and evaluate</a:t>
                      </a:r>
                    </a:p>
                  </a:txBody>
                  <a:tcPr marL="114300" marR="95250" marT="95250" marB="95250" anchor="ctr">
                    <a:lnR w="9525">
                      <a:solidFill>
                        <a:srgbClr val="CAD2DF"/>
                      </a:solidFill>
                    </a:lnR>
                    <a:lnB w="9525">
                      <a:solidFill>
                        <a:srgbClr val="CAD2DF"/>
                      </a:solidFill>
                    </a:lnB>
                    <a:solidFill>
                      <a:srgbClr val="FFFFFF"/>
                    </a:solidFill>
                  </a:tcPr>
                </a:tc>
              </a:tr>
            </a:tbl>
          </a:graphicData>
        </a:graphic>
      </p:graphicFrame>
      <p:sp>
        <p:nvSpPr>
          <p:cNvPr id="6" name="12">
            <a:extLst xmlns:a="http://schemas.openxmlformats.org/drawingml/2006/main">
              <a:ext uri="{FF2B5EF4-FFF2-40B4-BE49-F238E27FC236}">
                <a16:creationId xmlns:a16="http://schemas.microsoft.com/office/drawing/2014/main" id="{B6423052-90BB-4036-A723-2A62F220BAA9}"/>
              </a:ext>
            </a:extLst>
          </p:cNvPr>
          <p:cNvSpPr>
            <a:spLocks xmlns:a="http://schemas.openxmlformats.org/drawingml/2006/main" noGrp="1"/>
          </p:cNvSpPr>
          <p:nvPr/>
        </p:nvSpPr>
        <p:spPr>
          <a:xfrm xmlns:a="http://schemas.openxmlformats.org/drawingml/2006/main">
            <a:off x="11430000" y="649605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xmlns:a="http://schemas.openxmlformats.org/drawingml/2006/main">
            <a:pPr algn="r">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12</a:t>
            </a:r>
          </a:p>
        </p:txBody>
      </p:sp>
    </p:spTree>
    <p:extLst>
      <p:ext uri="{BB962C8B-B14F-4D97-AF65-F5344CB8AC3E}">
        <p14:creationId xmlns:p14="http://schemas.microsoft.com/office/powerpoint/2010/main" val="1733596377"/>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4CD393A-8365-3C41-2C17-6494BBBD7105}"/>
              </a:ext>
            </a:extLst>
          </p:cNvPr>
          <p:cNvSpPr>
            <a:spLocks xmlns:a="http://schemas.openxmlformats.org/drawingml/2006/main" noGrp="1"/>
          </p:cNvSpPr>
          <p:nvPr>
            <p:ph type="title" idx="0"/>
          </p:nvPr>
        </p:nvSpPr>
        <p:spPr>
          <a:xfrm xmlns:a="http://schemas.openxmlformats.org/drawingml/2006/main">
            <a:off x="0" y="0"/>
            <a:ext cx="12192000" cy="762000"/>
          </a:xfrm>
          <a:prstGeom xmlns:a="http://schemas.openxmlformats.org/drawingml/2006/main" prst="rect">
            <a:avLst/>
          </a:prstGeom>
          <a:solidFill xmlns:a="http://schemas.openxmlformats.org/drawingml/2006/main">
            <a:srgbClr val="002060"/>
          </a:solidFill>
        </p:spPr>
        <p:txBody>
          <a:bodyPr xmlns:a="http://schemas.openxmlformats.org/drawingml/2006/main">
            <a:normAutofit fontScale="100000"/>
          </a:bodyPr>
          <a:lstStyle xmlns:a="http://schemas.openxmlformats.org/drawingml/2006/main">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xmlns:a="http://schemas.openxmlformats.org/drawingml/2006/main">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Prototype Evidence</a:t>
            </a:r>
          </a:p>
        </p:txBody>
      </p:sp>
      <p:sp>
        <p:nvSpPr>
          <p:cNvPr id="4" name="Footer Placeholder 3">
            <a:extLst xmlns:a="http://schemas.openxmlformats.org/drawingml/2006/main">
              <a:ext uri="{FF2B5EF4-FFF2-40B4-BE49-F238E27FC236}">
                <a16:creationId xmlns:a16="http://schemas.microsoft.com/office/drawing/2014/main" id="{3D9C6012-FCED-4937-A4AB-8CEEC135A13C}"/>
              </a:ext>
            </a:extLst>
          </p:cNvPr>
          <p:cNvSpPr>
            <a:spLocks xmlns:a="http://schemas.openxmlformats.org/drawingml/2006/main" noGrp="1"/>
          </p:cNvSpPr>
          <p:nvPr>
            <p:ph type="ftr" idx="11"/>
          </p:nvPr>
        </p:nvSpPr>
        <p:spPr>
          <a:xfrm xmlns:a="http://schemas.openxmlformats.org/drawingml/2006/main">
            <a:off x="0" y="6492907"/>
            <a:ext cx="12192000" cy="365093"/>
          </a:xfrm>
          <a:prstGeom xmlns:a="http://schemas.openxmlformats.org/drawingml/2006/main" prst="rect">
            <a:avLst/>
          </a:prstGeom>
          <a:solidFill xmlns:a="http://schemas.openxmlformats.org/drawingml/2006/main">
            <a:srgbClr val="002060"/>
          </a:solidFill>
        </p:spPr>
        <p:txBody>
          <a:bodyPr xmlns:a="http://schemas.openxmlformats.org/drawingml/2006/main"/>
          <a:lstStyle xmlns:a="http://schemas.openxmlformats.org/drawingml/2006/main">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xmlns:a="http://schemas.openxmlformats.org/drawingml/2006/main">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sp>
        <p:nvSpPr>
          <p:cNvPr id="5" name="Connected and ready">
            <a:extLst xmlns:a="http://schemas.openxmlformats.org/drawingml/2006/main">
              <a:ext uri="{FF2B5EF4-FFF2-40B4-BE49-F238E27FC236}">
                <a16:creationId xmlns:a16="http://schemas.microsoft.com/office/drawing/2014/main" id="{20B156C6-6F63-4077-B2B4-93238B036224}"/>
              </a:ext>
            </a:extLst>
          </p:cNvPr>
          <p:cNvSpPr>
            <a:spLocks xmlns:a="http://schemas.openxmlformats.org/drawingml/2006/main" noGrp="1"/>
          </p:cNvSpPr>
          <p:nvPr/>
        </p:nvSpPr>
        <p:spPr>
          <a:xfrm xmlns:a="http://schemas.openxmlformats.org/drawingml/2006/main">
            <a:off x="666750" y="1238250"/>
            <a:ext cx="304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ctr">
              <a:defRPr sz="2250" b="1">
                <a:solidFill>
                  <a:srgbClr val="002060"/>
                </a:solidFill>
                <a:latin typeface="Times New Roman"/>
                <a:ea typeface="Times New Roman"/>
                <a:cs typeface="Times New Roman"/>
              </a:defRPr>
            </a:defPPr>
            <a:lvl1pPr algn="ctr">
              <a:defRPr sz="2250" b="1">
                <a:solidFill>
                  <a:srgbClr val="002060"/>
                </a:solidFill>
                <a:latin typeface="Times New Roman"/>
                <a:ea typeface="Times New Roman"/>
                <a:cs typeface="Times New Roman"/>
              </a:defRPr>
            </a:lvl1pPr>
            <a:lvl2pPr algn="ctr">
              <a:defRPr sz="2250" b="1">
                <a:solidFill>
                  <a:srgbClr val="002060"/>
                </a:solidFill>
                <a:latin typeface="Times New Roman"/>
                <a:ea typeface="Times New Roman"/>
                <a:cs typeface="Times New Roman"/>
              </a:defRPr>
            </a:lvl2pPr>
            <a:lvl3pPr algn="ctr">
              <a:defRPr sz="2250" b="1">
                <a:solidFill>
                  <a:srgbClr val="002060"/>
                </a:solidFill>
                <a:latin typeface="Times New Roman"/>
                <a:ea typeface="Times New Roman"/>
                <a:cs typeface="Times New Roman"/>
              </a:defRPr>
            </a:lvl3pPr>
            <a:lvl4pPr algn="ctr">
              <a:defRPr sz="2250" b="1">
                <a:solidFill>
                  <a:srgbClr val="002060"/>
                </a:solidFill>
                <a:latin typeface="Times New Roman"/>
                <a:ea typeface="Times New Roman"/>
                <a:cs typeface="Times New Roman"/>
              </a:defRPr>
            </a:lvl4pPr>
            <a:lvl5pPr algn="ctr">
              <a:defRPr sz="2250" b="1">
                <a:solidFill>
                  <a:srgbClr val="002060"/>
                </a:solidFill>
                <a:latin typeface="Times New Roman"/>
                <a:ea typeface="Times New Roman"/>
                <a:cs typeface="Times New Roman"/>
              </a:defRPr>
            </a:lvl5pPr>
            <a:lvl6pPr algn="ctr">
              <a:defRPr sz="2250" b="1">
                <a:solidFill>
                  <a:srgbClr val="002060"/>
                </a:solidFill>
                <a:latin typeface="Times New Roman"/>
                <a:ea typeface="Times New Roman"/>
                <a:cs typeface="Times New Roman"/>
              </a:defRPr>
            </a:lvl6pPr>
            <a:lvl7pPr algn="ctr">
              <a:defRPr sz="2250" b="1">
                <a:solidFill>
                  <a:srgbClr val="002060"/>
                </a:solidFill>
                <a:latin typeface="Times New Roman"/>
                <a:ea typeface="Times New Roman"/>
                <a:cs typeface="Times New Roman"/>
              </a:defRPr>
            </a:lvl7pPr>
            <a:lvl8pPr algn="ctr">
              <a:defRPr sz="2250" b="1">
                <a:solidFill>
                  <a:srgbClr val="002060"/>
                </a:solidFill>
                <a:latin typeface="Times New Roman"/>
                <a:ea typeface="Times New Roman"/>
                <a:cs typeface="Times New Roman"/>
              </a:defRPr>
            </a:lvl8pPr>
            <a:lvl9pPr algn="ctr">
              <a:defRPr sz="2250" b="1">
                <a:solidFill>
                  <a:srgbClr val="002060"/>
                </a:solidFill>
                <a:latin typeface="Times New Roman"/>
                <a:ea typeface="Times New Roman"/>
                <a:cs typeface="Times New Roman"/>
              </a:defRPr>
            </a:lvl9pPr>
          </a:lstStyle>
          <a:p xmlns:a="http://schemas.openxmlformats.org/drawingml/2006/main">
            <a:pPr algn="ctr">
              <a:defRPr sz="2250" b="1">
                <a:solidFill>
                  <a:srgbClr val="002060"/>
                </a:solidFill>
                <a:latin typeface="Times New Roman"/>
                <a:ea typeface="Times New Roman"/>
                <a:cs typeface="Times New Roman"/>
              </a:defRPr>
            </a:pPr>
            <a:r>
              <a:rPr sz="2250" b="1">
                <a:solidFill>
                  <a:srgbClr val="002060"/>
                </a:solidFill>
                <a:latin typeface="Times New Roman"/>
                <a:ea typeface="Times New Roman"/>
                <a:cs typeface="Times New Roman"/>
              </a:rPr>
              <a:t>Connected and ready</a:t>
            </a:r>
          </a:p>
        </p:txBody>
      </p:sp>
      <p:sp>
        <p:nvSpPr>
          <p:cNvPr id="6" name="Screenshot pending">
            <a:extLst xmlns:a="http://schemas.openxmlformats.org/drawingml/2006/main">
              <a:ext uri="{FF2B5EF4-FFF2-40B4-BE49-F238E27FC236}">
                <a16:creationId xmlns:a16="http://schemas.microsoft.com/office/drawing/2014/main" id="{D1530123-E1C4-430C-85D3-8F552FAE3993}"/>
              </a:ext>
            </a:extLst>
          </p:cNvPr>
          <p:cNvSpPr>
            <a:spLocks xmlns:a="http://schemas.openxmlformats.org/drawingml/2006/main" noGrp="1"/>
          </p:cNvSpPr>
          <p:nvPr/>
        </p:nvSpPr>
        <p:spPr>
          <a:xfrm xmlns:a="http://schemas.openxmlformats.org/drawingml/2006/main">
            <a:off x="857250" y="2047875"/>
            <a:ext cx="2667000" cy="3048000"/>
          </a:xfrm>
          <a:prstGeom xmlns:a="http://schemas.openxmlformats.org/drawingml/2006/main" prst="rect">
            <a:avLst/>
          </a:prstGeom>
          <a:solidFill xmlns:a="http://schemas.openxmlformats.org/drawingml/2006/main">
            <a:srgbClr val="F6F6F6"/>
          </a:solidFill>
          <a:ln xmlns:a="http://schemas.openxmlformats.org/drawingml/2006/main" w="14288">
            <a:solidFill>
              <a:srgbClr val="AAB4C4"/>
            </a:solidFill>
          </a:ln>
        </p:spPr>
        <p:txBody>
          <a:bodyPr xmlns:a="http://schemas.openxmlformats.org/drawingml/2006/main" lIns="76200" tIns="76200" rIns="76200" bIns="76200" anchor="ctr"/>
          <a:lstStyle xmlns:a="http://schemas.openxmlformats.org/drawingml/2006/main">
            <a:defPPr algn="ctr">
              <a:defRPr sz="2175" b="0">
                <a:solidFill>
                  <a:srgbClr val="666666"/>
                </a:solidFill>
                <a:latin typeface="Times New Roman"/>
                <a:ea typeface="Times New Roman"/>
                <a:cs typeface="Times New Roman"/>
              </a:defRPr>
            </a:defPPr>
            <a:lvl1pPr algn="ctr">
              <a:defRPr sz="2175" b="0">
                <a:solidFill>
                  <a:srgbClr val="666666"/>
                </a:solidFill>
                <a:latin typeface="Times New Roman"/>
                <a:ea typeface="Times New Roman"/>
                <a:cs typeface="Times New Roman"/>
              </a:defRPr>
            </a:lvl1pPr>
            <a:lvl2pPr algn="ctr">
              <a:defRPr sz="2175" b="0">
                <a:solidFill>
                  <a:srgbClr val="666666"/>
                </a:solidFill>
                <a:latin typeface="Times New Roman"/>
                <a:ea typeface="Times New Roman"/>
                <a:cs typeface="Times New Roman"/>
              </a:defRPr>
            </a:lvl2pPr>
            <a:lvl3pPr algn="ctr">
              <a:defRPr sz="2175" b="0">
                <a:solidFill>
                  <a:srgbClr val="666666"/>
                </a:solidFill>
                <a:latin typeface="Times New Roman"/>
                <a:ea typeface="Times New Roman"/>
                <a:cs typeface="Times New Roman"/>
              </a:defRPr>
            </a:lvl3pPr>
            <a:lvl4pPr algn="ctr">
              <a:defRPr sz="2175" b="0">
                <a:solidFill>
                  <a:srgbClr val="666666"/>
                </a:solidFill>
                <a:latin typeface="Times New Roman"/>
                <a:ea typeface="Times New Roman"/>
                <a:cs typeface="Times New Roman"/>
              </a:defRPr>
            </a:lvl4pPr>
            <a:lvl5pPr algn="ctr">
              <a:defRPr sz="2175" b="0">
                <a:solidFill>
                  <a:srgbClr val="666666"/>
                </a:solidFill>
                <a:latin typeface="Times New Roman"/>
                <a:ea typeface="Times New Roman"/>
                <a:cs typeface="Times New Roman"/>
              </a:defRPr>
            </a:lvl5pPr>
            <a:lvl6pPr algn="ctr">
              <a:defRPr sz="2175" b="0">
                <a:solidFill>
                  <a:srgbClr val="666666"/>
                </a:solidFill>
                <a:latin typeface="Times New Roman"/>
                <a:ea typeface="Times New Roman"/>
                <a:cs typeface="Times New Roman"/>
              </a:defRPr>
            </a:lvl6pPr>
            <a:lvl7pPr algn="ctr">
              <a:defRPr sz="2175" b="0">
                <a:solidFill>
                  <a:srgbClr val="666666"/>
                </a:solidFill>
                <a:latin typeface="Times New Roman"/>
                <a:ea typeface="Times New Roman"/>
                <a:cs typeface="Times New Roman"/>
              </a:defRPr>
            </a:lvl7pPr>
            <a:lvl8pPr algn="ctr">
              <a:defRPr sz="2175" b="0">
                <a:solidFill>
                  <a:srgbClr val="666666"/>
                </a:solidFill>
                <a:latin typeface="Times New Roman"/>
                <a:ea typeface="Times New Roman"/>
                <a:cs typeface="Times New Roman"/>
              </a:defRPr>
            </a:lvl8pPr>
            <a:lvl9pPr algn="ctr">
              <a:defRPr sz="2175" b="0">
                <a:solidFill>
                  <a:srgbClr val="666666"/>
                </a:solidFill>
                <a:latin typeface="Times New Roman"/>
                <a:ea typeface="Times New Roman"/>
                <a:cs typeface="Times New Roman"/>
              </a:defRPr>
            </a:lvl9pPr>
          </a:lstStyle>
          <a:p xmlns:a="http://schemas.openxmlformats.org/drawingml/2006/main">
            <a:pPr algn="ctr">
              <a:defRPr sz="2175" b="0">
                <a:solidFill>
                  <a:srgbClr val="666666"/>
                </a:solidFill>
                <a:latin typeface="Times New Roman"/>
                <a:ea typeface="Times New Roman"/>
                <a:cs typeface="Times New Roman"/>
              </a:defRPr>
            </a:pPr>
            <a:r>
              <a:rPr sz="2175" b="0">
                <a:solidFill>
                  <a:srgbClr val="666666"/>
                </a:solidFill>
                <a:latin typeface="Times New Roman"/>
                <a:ea typeface="Times New Roman"/>
                <a:cs typeface="Times New Roman"/>
              </a:rPr>
              <a:t>Screenshot pending</a:t>
            </a:r>
          </a:p>
        </p:txBody>
      </p:sp>
      <p:sp>
        <p:nvSpPr>
          <p:cNvPr id="7" name="Simulated vitals streaming">
            <a:extLst xmlns:a="http://schemas.openxmlformats.org/drawingml/2006/main">
              <a:ext uri="{FF2B5EF4-FFF2-40B4-BE49-F238E27FC236}">
                <a16:creationId xmlns:a16="http://schemas.microsoft.com/office/drawing/2014/main" id="{36964AD3-5E81-4EF4-95EF-2FB93450507A}"/>
              </a:ext>
            </a:extLst>
          </p:cNvPr>
          <p:cNvSpPr>
            <a:spLocks xmlns:a="http://schemas.openxmlformats.org/drawingml/2006/main" noGrp="1"/>
          </p:cNvSpPr>
          <p:nvPr/>
        </p:nvSpPr>
        <p:spPr>
          <a:xfrm xmlns:a="http://schemas.openxmlformats.org/drawingml/2006/main">
            <a:off x="4572000" y="1238250"/>
            <a:ext cx="304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ctr">
              <a:defRPr sz="2250" b="1">
                <a:solidFill>
                  <a:srgbClr val="002060"/>
                </a:solidFill>
                <a:latin typeface="Times New Roman"/>
                <a:ea typeface="Times New Roman"/>
                <a:cs typeface="Times New Roman"/>
              </a:defRPr>
            </a:defPPr>
            <a:lvl1pPr algn="ctr">
              <a:defRPr sz="2250" b="1">
                <a:solidFill>
                  <a:srgbClr val="002060"/>
                </a:solidFill>
                <a:latin typeface="Times New Roman"/>
                <a:ea typeface="Times New Roman"/>
                <a:cs typeface="Times New Roman"/>
              </a:defRPr>
            </a:lvl1pPr>
            <a:lvl2pPr algn="ctr">
              <a:defRPr sz="2250" b="1">
                <a:solidFill>
                  <a:srgbClr val="002060"/>
                </a:solidFill>
                <a:latin typeface="Times New Roman"/>
                <a:ea typeface="Times New Roman"/>
                <a:cs typeface="Times New Roman"/>
              </a:defRPr>
            </a:lvl2pPr>
            <a:lvl3pPr algn="ctr">
              <a:defRPr sz="2250" b="1">
                <a:solidFill>
                  <a:srgbClr val="002060"/>
                </a:solidFill>
                <a:latin typeface="Times New Roman"/>
                <a:ea typeface="Times New Roman"/>
                <a:cs typeface="Times New Roman"/>
              </a:defRPr>
            </a:lvl3pPr>
            <a:lvl4pPr algn="ctr">
              <a:defRPr sz="2250" b="1">
                <a:solidFill>
                  <a:srgbClr val="002060"/>
                </a:solidFill>
                <a:latin typeface="Times New Roman"/>
                <a:ea typeface="Times New Roman"/>
                <a:cs typeface="Times New Roman"/>
              </a:defRPr>
            </a:lvl4pPr>
            <a:lvl5pPr algn="ctr">
              <a:defRPr sz="2250" b="1">
                <a:solidFill>
                  <a:srgbClr val="002060"/>
                </a:solidFill>
                <a:latin typeface="Times New Roman"/>
                <a:ea typeface="Times New Roman"/>
                <a:cs typeface="Times New Roman"/>
              </a:defRPr>
            </a:lvl5pPr>
            <a:lvl6pPr algn="ctr">
              <a:defRPr sz="2250" b="1">
                <a:solidFill>
                  <a:srgbClr val="002060"/>
                </a:solidFill>
                <a:latin typeface="Times New Roman"/>
                <a:ea typeface="Times New Roman"/>
                <a:cs typeface="Times New Roman"/>
              </a:defRPr>
            </a:lvl6pPr>
            <a:lvl7pPr algn="ctr">
              <a:defRPr sz="2250" b="1">
                <a:solidFill>
                  <a:srgbClr val="002060"/>
                </a:solidFill>
                <a:latin typeface="Times New Roman"/>
                <a:ea typeface="Times New Roman"/>
                <a:cs typeface="Times New Roman"/>
              </a:defRPr>
            </a:lvl7pPr>
            <a:lvl8pPr algn="ctr">
              <a:defRPr sz="2250" b="1">
                <a:solidFill>
                  <a:srgbClr val="002060"/>
                </a:solidFill>
                <a:latin typeface="Times New Roman"/>
                <a:ea typeface="Times New Roman"/>
                <a:cs typeface="Times New Roman"/>
              </a:defRPr>
            </a:lvl8pPr>
            <a:lvl9pPr algn="ctr">
              <a:defRPr sz="2250" b="1">
                <a:solidFill>
                  <a:srgbClr val="002060"/>
                </a:solidFill>
                <a:latin typeface="Times New Roman"/>
                <a:ea typeface="Times New Roman"/>
                <a:cs typeface="Times New Roman"/>
              </a:defRPr>
            </a:lvl9pPr>
          </a:lstStyle>
          <a:p xmlns:a="http://schemas.openxmlformats.org/drawingml/2006/main">
            <a:pPr algn="ctr">
              <a:defRPr sz="2250" b="1">
                <a:solidFill>
                  <a:srgbClr val="002060"/>
                </a:solidFill>
                <a:latin typeface="Times New Roman"/>
                <a:ea typeface="Times New Roman"/>
                <a:cs typeface="Times New Roman"/>
              </a:defRPr>
            </a:pPr>
            <a:r>
              <a:rPr sz="2250" b="1">
                <a:solidFill>
                  <a:srgbClr val="002060"/>
                </a:solidFill>
                <a:latin typeface="Times New Roman"/>
                <a:ea typeface="Times New Roman"/>
                <a:cs typeface="Times New Roman"/>
              </a:rPr>
              <a:t>Simulated vitals streaming</a:t>
            </a:r>
          </a:p>
        </p:txBody>
      </p:sp>
      <p:sp>
        <p:nvSpPr>
          <p:cNvPr id="8" name="Screenshot pending">
            <a:extLst xmlns:a="http://schemas.openxmlformats.org/drawingml/2006/main">
              <a:ext uri="{FF2B5EF4-FFF2-40B4-BE49-F238E27FC236}">
                <a16:creationId xmlns:a16="http://schemas.microsoft.com/office/drawing/2014/main" id="{ED237D89-32A7-47F1-ACC7-5F87B51E84B9}"/>
              </a:ext>
            </a:extLst>
          </p:cNvPr>
          <p:cNvSpPr>
            <a:spLocks xmlns:a="http://schemas.openxmlformats.org/drawingml/2006/main" noGrp="1"/>
          </p:cNvSpPr>
          <p:nvPr/>
        </p:nvSpPr>
        <p:spPr>
          <a:xfrm xmlns:a="http://schemas.openxmlformats.org/drawingml/2006/main">
            <a:off x="4762500" y="2047875"/>
            <a:ext cx="2667000" cy="3048000"/>
          </a:xfrm>
          <a:prstGeom xmlns:a="http://schemas.openxmlformats.org/drawingml/2006/main" prst="rect">
            <a:avLst/>
          </a:prstGeom>
          <a:solidFill xmlns:a="http://schemas.openxmlformats.org/drawingml/2006/main">
            <a:srgbClr val="F6F6F6"/>
          </a:solidFill>
          <a:ln xmlns:a="http://schemas.openxmlformats.org/drawingml/2006/main" w="14288">
            <a:solidFill>
              <a:srgbClr val="AAB4C4"/>
            </a:solidFill>
          </a:ln>
        </p:spPr>
        <p:txBody>
          <a:bodyPr xmlns:a="http://schemas.openxmlformats.org/drawingml/2006/main" lIns="76200" tIns="76200" rIns="76200" bIns="76200" anchor="ctr"/>
          <a:lstStyle xmlns:a="http://schemas.openxmlformats.org/drawingml/2006/main">
            <a:defPPr algn="ctr">
              <a:defRPr sz="2175" b="0">
                <a:solidFill>
                  <a:srgbClr val="666666"/>
                </a:solidFill>
                <a:latin typeface="Times New Roman"/>
                <a:ea typeface="Times New Roman"/>
                <a:cs typeface="Times New Roman"/>
              </a:defRPr>
            </a:defPPr>
            <a:lvl1pPr algn="ctr">
              <a:defRPr sz="2175" b="0">
                <a:solidFill>
                  <a:srgbClr val="666666"/>
                </a:solidFill>
                <a:latin typeface="Times New Roman"/>
                <a:ea typeface="Times New Roman"/>
                <a:cs typeface="Times New Roman"/>
              </a:defRPr>
            </a:lvl1pPr>
            <a:lvl2pPr algn="ctr">
              <a:defRPr sz="2175" b="0">
                <a:solidFill>
                  <a:srgbClr val="666666"/>
                </a:solidFill>
                <a:latin typeface="Times New Roman"/>
                <a:ea typeface="Times New Roman"/>
                <a:cs typeface="Times New Roman"/>
              </a:defRPr>
            </a:lvl2pPr>
            <a:lvl3pPr algn="ctr">
              <a:defRPr sz="2175" b="0">
                <a:solidFill>
                  <a:srgbClr val="666666"/>
                </a:solidFill>
                <a:latin typeface="Times New Roman"/>
                <a:ea typeface="Times New Roman"/>
                <a:cs typeface="Times New Roman"/>
              </a:defRPr>
            </a:lvl3pPr>
            <a:lvl4pPr algn="ctr">
              <a:defRPr sz="2175" b="0">
                <a:solidFill>
                  <a:srgbClr val="666666"/>
                </a:solidFill>
                <a:latin typeface="Times New Roman"/>
                <a:ea typeface="Times New Roman"/>
                <a:cs typeface="Times New Roman"/>
              </a:defRPr>
            </a:lvl4pPr>
            <a:lvl5pPr algn="ctr">
              <a:defRPr sz="2175" b="0">
                <a:solidFill>
                  <a:srgbClr val="666666"/>
                </a:solidFill>
                <a:latin typeface="Times New Roman"/>
                <a:ea typeface="Times New Roman"/>
                <a:cs typeface="Times New Roman"/>
              </a:defRPr>
            </a:lvl5pPr>
            <a:lvl6pPr algn="ctr">
              <a:defRPr sz="2175" b="0">
                <a:solidFill>
                  <a:srgbClr val="666666"/>
                </a:solidFill>
                <a:latin typeface="Times New Roman"/>
                <a:ea typeface="Times New Roman"/>
                <a:cs typeface="Times New Roman"/>
              </a:defRPr>
            </a:lvl6pPr>
            <a:lvl7pPr algn="ctr">
              <a:defRPr sz="2175" b="0">
                <a:solidFill>
                  <a:srgbClr val="666666"/>
                </a:solidFill>
                <a:latin typeface="Times New Roman"/>
                <a:ea typeface="Times New Roman"/>
                <a:cs typeface="Times New Roman"/>
              </a:defRPr>
            </a:lvl7pPr>
            <a:lvl8pPr algn="ctr">
              <a:defRPr sz="2175" b="0">
                <a:solidFill>
                  <a:srgbClr val="666666"/>
                </a:solidFill>
                <a:latin typeface="Times New Roman"/>
                <a:ea typeface="Times New Roman"/>
                <a:cs typeface="Times New Roman"/>
              </a:defRPr>
            </a:lvl8pPr>
            <a:lvl9pPr algn="ctr">
              <a:defRPr sz="2175" b="0">
                <a:solidFill>
                  <a:srgbClr val="666666"/>
                </a:solidFill>
                <a:latin typeface="Times New Roman"/>
                <a:ea typeface="Times New Roman"/>
                <a:cs typeface="Times New Roman"/>
              </a:defRPr>
            </a:lvl9pPr>
          </a:lstStyle>
          <a:p xmlns:a="http://schemas.openxmlformats.org/drawingml/2006/main">
            <a:pPr algn="ctr">
              <a:defRPr sz="2175" b="0">
                <a:solidFill>
                  <a:srgbClr val="666666"/>
                </a:solidFill>
                <a:latin typeface="Times New Roman"/>
                <a:ea typeface="Times New Roman"/>
                <a:cs typeface="Times New Roman"/>
              </a:defRPr>
            </a:pPr>
            <a:r>
              <a:rPr sz="2175" b="0">
                <a:solidFill>
                  <a:srgbClr val="666666"/>
                </a:solidFill>
                <a:latin typeface="Times New Roman"/>
                <a:ea typeface="Times New Roman"/>
                <a:cs typeface="Times New Roman"/>
              </a:rPr>
              <a:t>Screenshot pending</a:t>
            </a:r>
          </a:p>
        </p:txBody>
      </p:sp>
      <p:sp>
        <p:nvSpPr>
          <p:cNvPr id="9" name="Stopped or reconnected">
            <a:extLst xmlns:a="http://schemas.openxmlformats.org/drawingml/2006/main">
              <a:ext uri="{FF2B5EF4-FFF2-40B4-BE49-F238E27FC236}">
                <a16:creationId xmlns:a16="http://schemas.microsoft.com/office/drawing/2014/main" id="{1D7DFB66-01E7-49F5-B287-94FA429026DF}"/>
              </a:ext>
            </a:extLst>
          </p:cNvPr>
          <p:cNvSpPr>
            <a:spLocks xmlns:a="http://schemas.openxmlformats.org/drawingml/2006/main" noGrp="1"/>
          </p:cNvSpPr>
          <p:nvPr/>
        </p:nvSpPr>
        <p:spPr>
          <a:xfrm xmlns:a="http://schemas.openxmlformats.org/drawingml/2006/main">
            <a:off x="8477250" y="1238250"/>
            <a:ext cx="304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ctr">
              <a:defRPr sz="2250" b="1">
                <a:solidFill>
                  <a:srgbClr val="002060"/>
                </a:solidFill>
                <a:latin typeface="Times New Roman"/>
                <a:ea typeface="Times New Roman"/>
                <a:cs typeface="Times New Roman"/>
              </a:defRPr>
            </a:defPPr>
            <a:lvl1pPr algn="ctr">
              <a:defRPr sz="2250" b="1">
                <a:solidFill>
                  <a:srgbClr val="002060"/>
                </a:solidFill>
                <a:latin typeface="Times New Roman"/>
                <a:ea typeface="Times New Roman"/>
                <a:cs typeface="Times New Roman"/>
              </a:defRPr>
            </a:lvl1pPr>
            <a:lvl2pPr algn="ctr">
              <a:defRPr sz="2250" b="1">
                <a:solidFill>
                  <a:srgbClr val="002060"/>
                </a:solidFill>
                <a:latin typeface="Times New Roman"/>
                <a:ea typeface="Times New Roman"/>
                <a:cs typeface="Times New Roman"/>
              </a:defRPr>
            </a:lvl2pPr>
            <a:lvl3pPr algn="ctr">
              <a:defRPr sz="2250" b="1">
                <a:solidFill>
                  <a:srgbClr val="002060"/>
                </a:solidFill>
                <a:latin typeface="Times New Roman"/>
                <a:ea typeface="Times New Roman"/>
                <a:cs typeface="Times New Roman"/>
              </a:defRPr>
            </a:lvl3pPr>
            <a:lvl4pPr algn="ctr">
              <a:defRPr sz="2250" b="1">
                <a:solidFill>
                  <a:srgbClr val="002060"/>
                </a:solidFill>
                <a:latin typeface="Times New Roman"/>
                <a:ea typeface="Times New Roman"/>
                <a:cs typeface="Times New Roman"/>
              </a:defRPr>
            </a:lvl4pPr>
            <a:lvl5pPr algn="ctr">
              <a:defRPr sz="2250" b="1">
                <a:solidFill>
                  <a:srgbClr val="002060"/>
                </a:solidFill>
                <a:latin typeface="Times New Roman"/>
                <a:ea typeface="Times New Roman"/>
                <a:cs typeface="Times New Roman"/>
              </a:defRPr>
            </a:lvl5pPr>
            <a:lvl6pPr algn="ctr">
              <a:defRPr sz="2250" b="1">
                <a:solidFill>
                  <a:srgbClr val="002060"/>
                </a:solidFill>
                <a:latin typeface="Times New Roman"/>
                <a:ea typeface="Times New Roman"/>
                <a:cs typeface="Times New Roman"/>
              </a:defRPr>
            </a:lvl6pPr>
            <a:lvl7pPr algn="ctr">
              <a:defRPr sz="2250" b="1">
                <a:solidFill>
                  <a:srgbClr val="002060"/>
                </a:solidFill>
                <a:latin typeface="Times New Roman"/>
                <a:ea typeface="Times New Roman"/>
                <a:cs typeface="Times New Roman"/>
              </a:defRPr>
            </a:lvl7pPr>
            <a:lvl8pPr algn="ctr">
              <a:defRPr sz="2250" b="1">
                <a:solidFill>
                  <a:srgbClr val="002060"/>
                </a:solidFill>
                <a:latin typeface="Times New Roman"/>
                <a:ea typeface="Times New Roman"/>
                <a:cs typeface="Times New Roman"/>
              </a:defRPr>
            </a:lvl8pPr>
            <a:lvl9pPr algn="ctr">
              <a:defRPr sz="2250" b="1">
                <a:solidFill>
                  <a:srgbClr val="002060"/>
                </a:solidFill>
                <a:latin typeface="Times New Roman"/>
                <a:ea typeface="Times New Roman"/>
                <a:cs typeface="Times New Roman"/>
              </a:defRPr>
            </a:lvl9pPr>
          </a:lstStyle>
          <a:p xmlns:a="http://schemas.openxmlformats.org/drawingml/2006/main">
            <a:pPr algn="ctr">
              <a:defRPr sz="2250" b="1">
                <a:solidFill>
                  <a:srgbClr val="002060"/>
                </a:solidFill>
                <a:latin typeface="Times New Roman"/>
                <a:ea typeface="Times New Roman"/>
                <a:cs typeface="Times New Roman"/>
              </a:defRPr>
            </a:pPr>
            <a:r>
              <a:rPr sz="2250" b="1">
                <a:solidFill>
                  <a:srgbClr val="002060"/>
                </a:solidFill>
                <a:latin typeface="Times New Roman"/>
                <a:ea typeface="Times New Roman"/>
                <a:cs typeface="Times New Roman"/>
              </a:rPr>
              <a:t>Stopped or reconnected</a:t>
            </a:r>
          </a:p>
        </p:txBody>
      </p:sp>
      <p:sp>
        <p:nvSpPr>
          <p:cNvPr id="10" name="Screenshot pending">
            <a:extLst xmlns:a="http://schemas.openxmlformats.org/drawingml/2006/main">
              <a:ext uri="{FF2B5EF4-FFF2-40B4-BE49-F238E27FC236}">
                <a16:creationId xmlns:a16="http://schemas.microsoft.com/office/drawing/2014/main" id="{C24DD76E-497C-45C1-81D2-3DFF32F64BF3}"/>
              </a:ext>
            </a:extLst>
          </p:cNvPr>
          <p:cNvSpPr>
            <a:spLocks xmlns:a="http://schemas.openxmlformats.org/drawingml/2006/main" noGrp="1"/>
          </p:cNvSpPr>
          <p:nvPr/>
        </p:nvSpPr>
        <p:spPr>
          <a:xfrm xmlns:a="http://schemas.openxmlformats.org/drawingml/2006/main">
            <a:off x="8667750" y="2047875"/>
            <a:ext cx="2667000" cy="3048000"/>
          </a:xfrm>
          <a:prstGeom xmlns:a="http://schemas.openxmlformats.org/drawingml/2006/main" prst="rect">
            <a:avLst/>
          </a:prstGeom>
          <a:solidFill xmlns:a="http://schemas.openxmlformats.org/drawingml/2006/main">
            <a:srgbClr val="F6F6F6"/>
          </a:solidFill>
          <a:ln xmlns:a="http://schemas.openxmlformats.org/drawingml/2006/main" w="14288">
            <a:solidFill>
              <a:srgbClr val="AAB4C4"/>
            </a:solidFill>
          </a:ln>
        </p:spPr>
        <p:txBody>
          <a:bodyPr xmlns:a="http://schemas.openxmlformats.org/drawingml/2006/main" lIns="76200" tIns="76200" rIns="76200" bIns="76200" anchor="ctr"/>
          <a:lstStyle xmlns:a="http://schemas.openxmlformats.org/drawingml/2006/main">
            <a:defPPr algn="ctr">
              <a:defRPr sz="2175" b="0">
                <a:solidFill>
                  <a:srgbClr val="666666"/>
                </a:solidFill>
                <a:latin typeface="Times New Roman"/>
                <a:ea typeface="Times New Roman"/>
                <a:cs typeface="Times New Roman"/>
              </a:defRPr>
            </a:defPPr>
            <a:lvl1pPr algn="ctr">
              <a:defRPr sz="2175" b="0">
                <a:solidFill>
                  <a:srgbClr val="666666"/>
                </a:solidFill>
                <a:latin typeface="Times New Roman"/>
                <a:ea typeface="Times New Roman"/>
                <a:cs typeface="Times New Roman"/>
              </a:defRPr>
            </a:lvl1pPr>
            <a:lvl2pPr algn="ctr">
              <a:defRPr sz="2175" b="0">
                <a:solidFill>
                  <a:srgbClr val="666666"/>
                </a:solidFill>
                <a:latin typeface="Times New Roman"/>
                <a:ea typeface="Times New Roman"/>
                <a:cs typeface="Times New Roman"/>
              </a:defRPr>
            </a:lvl2pPr>
            <a:lvl3pPr algn="ctr">
              <a:defRPr sz="2175" b="0">
                <a:solidFill>
                  <a:srgbClr val="666666"/>
                </a:solidFill>
                <a:latin typeface="Times New Roman"/>
                <a:ea typeface="Times New Roman"/>
                <a:cs typeface="Times New Roman"/>
              </a:defRPr>
            </a:lvl3pPr>
            <a:lvl4pPr algn="ctr">
              <a:defRPr sz="2175" b="0">
                <a:solidFill>
                  <a:srgbClr val="666666"/>
                </a:solidFill>
                <a:latin typeface="Times New Roman"/>
                <a:ea typeface="Times New Roman"/>
                <a:cs typeface="Times New Roman"/>
              </a:defRPr>
            </a:lvl4pPr>
            <a:lvl5pPr algn="ctr">
              <a:defRPr sz="2175" b="0">
                <a:solidFill>
                  <a:srgbClr val="666666"/>
                </a:solidFill>
                <a:latin typeface="Times New Roman"/>
                <a:ea typeface="Times New Roman"/>
                <a:cs typeface="Times New Roman"/>
              </a:defRPr>
            </a:lvl5pPr>
            <a:lvl6pPr algn="ctr">
              <a:defRPr sz="2175" b="0">
                <a:solidFill>
                  <a:srgbClr val="666666"/>
                </a:solidFill>
                <a:latin typeface="Times New Roman"/>
                <a:ea typeface="Times New Roman"/>
                <a:cs typeface="Times New Roman"/>
              </a:defRPr>
            </a:lvl6pPr>
            <a:lvl7pPr algn="ctr">
              <a:defRPr sz="2175" b="0">
                <a:solidFill>
                  <a:srgbClr val="666666"/>
                </a:solidFill>
                <a:latin typeface="Times New Roman"/>
                <a:ea typeface="Times New Roman"/>
                <a:cs typeface="Times New Roman"/>
              </a:defRPr>
            </a:lvl7pPr>
            <a:lvl8pPr algn="ctr">
              <a:defRPr sz="2175" b="0">
                <a:solidFill>
                  <a:srgbClr val="666666"/>
                </a:solidFill>
                <a:latin typeface="Times New Roman"/>
                <a:ea typeface="Times New Roman"/>
                <a:cs typeface="Times New Roman"/>
              </a:defRPr>
            </a:lvl8pPr>
            <a:lvl9pPr algn="ctr">
              <a:defRPr sz="2175" b="0">
                <a:solidFill>
                  <a:srgbClr val="666666"/>
                </a:solidFill>
                <a:latin typeface="Times New Roman"/>
                <a:ea typeface="Times New Roman"/>
                <a:cs typeface="Times New Roman"/>
              </a:defRPr>
            </a:lvl9pPr>
          </a:lstStyle>
          <a:p xmlns:a="http://schemas.openxmlformats.org/drawingml/2006/main">
            <a:pPr algn="ctr">
              <a:defRPr sz="2175" b="0">
                <a:solidFill>
                  <a:srgbClr val="666666"/>
                </a:solidFill>
                <a:latin typeface="Times New Roman"/>
                <a:ea typeface="Times New Roman"/>
                <a:cs typeface="Times New Roman"/>
              </a:defRPr>
            </a:pPr>
            <a:r>
              <a:rPr sz="2175" b="0">
                <a:solidFill>
                  <a:srgbClr val="666666"/>
                </a:solidFill>
                <a:latin typeface="Times New Roman"/>
                <a:ea typeface="Times New Roman"/>
                <a:cs typeface="Times New Roman"/>
              </a:rPr>
              <a:t>Screenshot pending</a:t>
            </a:r>
          </a:p>
        </p:txBody>
      </p:sp>
      <p:sp>
        <p:nvSpPr>
          <p:cNvPr id="11" name="Use real device captures. Pair the app displa">
            <a:extLst xmlns:a="http://schemas.openxmlformats.org/drawingml/2006/main">
              <a:ext uri="{FF2B5EF4-FFF2-40B4-BE49-F238E27FC236}">
                <a16:creationId xmlns:a16="http://schemas.microsoft.com/office/drawing/2014/main" id="{10D4419E-65F8-4AF8-ABFE-000A5A89DE94}"/>
              </a:ext>
            </a:extLst>
          </p:cNvPr>
          <p:cNvSpPr>
            <a:spLocks xmlns:a="http://schemas.openxmlformats.org/drawingml/2006/main" noGrp="1"/>
          </p:cNvSpPr>
          <p:nvPr/>
        </p:nvSpPr>
        <p:spPr>
          <a:xfrm xmlns:a="http://schemas.openxmlformats.org/drawingml/2006/main">
            <a:off x="523875" y="5857875"/>
            <a:ext cx="11144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1875" b="0">
                <a:solidFill>
                  <a:srgbClr val="0070C0"/>
                </a:solidFill>
                <a:latin typeface="Times New Roman"/>
                <a:ea typeface="Times New Roman"/>
                <a:cs typeface="Times New Roman"/>
              </a:defRPr>
            </a:defPPr>
            <a:lvl1pPr algn="l">
              <a:defRPr sz="1875" b="0">
                <a:solidFill>
                  <a:srgbClr val="0070C0"/>
                </a:solidFill>
                <a:latin typeface="Times New Roman"/>
                <a:ea typeface="Times New Roman"/>
                <a:cs typeface="Times New Roman"/>
              </a:defRPr>
            </a:lvl1pPr>
            <a:lvl2pPr algn="l">
              <a:defRPr sz="1875" b="0">
                <a:solidFill>
                  <a:srgbClr val="0070C0"/>
                </a:solidFill>
                <a:latin typeface="Times New Roman"/>
                <a:ea typeface="Times New Roman"/>
                <a:cs typeface="Times New Roman"/>
              </a:defRPr>
            </a:lvl2pPr>
            <a:lvl3pPr algn="l">
              <a:defRPr sz="1875" b="0">
                <a:solidFill>
                  <a:srgbClr val="0070C0"/>
                </a:solidFill>
                <a:latin typeface="Times New Roman"/>
                <a:ea typeface="Times New Roman"/>
                <a:cs typeface="Times New Roman"/>
              </a:defRPr>
            </a:lvl3pPr>
            <a:lvl4pPr algn="l">
              <a:defRPr sz="1875" b="0">
                <a:solidFill>
                  <a:srgbClr val="0070C0"/>
                </a:solidFill>
                <a:latin typeface="Times New Roman"/>
                <a:ea typeface="Times New Roman"/>
                <a:cs typeface="Times New Roman"/>
              </a:defRPr>
            </a:lvl4pPr>
            <a:lvl5pPr algn="l">
              <a:defRPr sz="1875" b="0">
                <a:solidFill>
                  <a:srgbClr val="0070C0"/>
                </a:solidFill>
                <a:latin typeface="Times New Roman"/>
                <a:ea typeface="Times New Roman"/>
                <a:cs typeface="Times New Roman"/>
              </a:defRPr>
            </a:lvl5pPr>
            <a:lvl6pPr algn="l">
              <a:defRPr sz="1875" b="0">
                <a:solidFill>
                  <a:srgbClr val="0070C0"/>
                </a:solidFill>
                <a:latin typeface="Times New Roman"/>
                <a:ea typeface="Times New Roman"/>
                <a:cs typeface="Times New Roman"/>
              </a:defRPr>
            </a:lvl6pPr>
            <a:lvl7pPr algn="l">
              <a:defRPr sz="1875" b="0">
                <a:solidFill>
                  <a:srgbClr val="0070C0"/>
                </a:solidFill>
                <a:latin typeface="Times New Roman"/>
                <a:ea typeface="Times New Roman"/>
                <a:cs typeface="Times New Roman"/>
              </a:defRPr>
            </a:lvl7pPr>
            <a:lvl8pPr algn="l">
              <a:defRPr sz="1875" b="0">
                <a:solidFill>
                  <a:srgbClr val="0070C0"/>
                </a:solidFill>
                <a:latin typeface="Times New Roman"/>
                <a:ea typeface="Times New Roman"/>
                <a:cs typeface="Times New Roman"/>
              </a:defRPr>
            </a:lvl8pPr>
            <a:lvl9pPr algn="l">
              <a:defRPr sz="1875" b="0">
                <a:solidFill>
                  <a:srgbClr val="0070C0"/>
                </a:solidFill>
                <a:latin typeface="Times New Roman"/>
                <a:ea typeface="Times New Roman"/>
                <a:cs typeface="Times New Roman"/>
              </a:defRPr>
            </a:lvl9pPr>
          </a:lstStyle>
          <a:p xmlns:a="http://schemas.openxmlformats.org/drawingml/2006/main">
            <a:pPr algn="l">
              <a:defRPr sz="1875" b="0">
                <a:solidFill>
                  <a:srgbClr val="0070C0"/>
                </a:solidFill>
                <a:latin typeface="Times New Roman"/>
                <a:ea typeface="Times New Roman"/>
                <a:cs typeface="Times New Roman"/>
              </a:defRPr>
            </a:pPr>
            <a:r>
              <a:rPr sz="1875" b="0">
                <a:solidFill>
                  <a:srgbClr val="0070C0"/>
                </a:solidFill>
                <a:latin typeface="Times New Roman"/>
                <a:ea typeface="Times New Roman"/>
                <a:cs typeface="Times New Roman"/>
              </a:rPr>
              <a:t>Use real device captures. Pair the app display with matching ESP32 serial logs.</a:t>
            </a:r>
          </a:p>
        </p:txBody>
      </p:sp>
      <p:sp>
        <p:nvSpPr>
          <p:cNvPr id="12" name="13">
            <a:extLst xmlns:a="http://schemas.openxmlformats.org/drawingml/2006/main">
              <a:ext uri="{FF2B5EF4-FFF2-40B4-BE49-F238E27FC236}">
                <a16:creationId xmlns:a16="http://schemas.microsoft.com/office/drawing/2014/main" id="{7B76A915-D870-41E6-BAF2-B5FA79CDAC31}"/>
              </a:ext>
            </a:extLst>
          </p:cNvPr>
          <p:cNvSpPr>
            <a:spLocks xmlns:a="http://schemas.openxmlformats.org/drawingml/2006/main" noGrp="1"/>
          </p:cNvSpPr>
          <p:nvPr/>
        </p:nvSpPr>
        <p:spPr>
          <a:xfrm xmlns:a="http://schemas.openxmlformats.org/drawingml/2006/main">
            <a:off x="11430000" y="649605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xmlns:a="http://schemas.openxmlformats.org/drawingml/2006/main">
            <a:pPr algn="r">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13</a:t>
            </a:r>
          </a:p>
        </p:txBody>
      </p:sp>
    </p:spTree>
    <p:extLst>
      <p:ext uri="{BB962C8B-B14F-4D97-AF65-F5344CB8AC3E}">
        <p14:creationId xmlns:p14="http://schemas.microsoft.com/office/powerpoint/2010/main" val="1733596377"/>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4CD393A-8365-3C41-2C17-6494BBBD7105}"/>
              </a:ext>
            </a:extLst>
          </p:cNvPr>
          <p:cNvSpPr>
            <a:spLocks xmlns:a="http://schemas.openxmlformats.org/drawingml/2006/main" noGrp="1"/>
          </p:cNvSpPr>
          <p:nvPr>
            <p:ph type="title" idx="0"/>
          </p:nvPr>
        </p:nvSpPr>
        <p:spPr>
          <a:xfrm xmlns:a="http://schemas.openxmlformats.org/drawingml/2006/main">
            <a:off x="0" y="0"/>
            <a:ext cx="12192000" cy="762000"/>
          </a:xfrm>
          <a:prstGeom xmlns:a="http://schemas.openxmlformats.org/drawingml/2006/main" prst="rect">
            <a:avLst/>
          </a:prstGeom>
          <a:solidFill xmlns:a="http://schemas.openxmlformats.org/drawingml/2006/main">
            <a:srgbClr val="002060"/>
          </a:solidFill>
        </p:spPr>
        <p:txBody>
          <a:bodyPr xmlns:a="http://schemas.openxmlformats.org/drawingml/2006/main">
            <a:normAutofit fontScale="100000"/>
          </a:bodyPr>
          <a:lstStyle xmlns:a="http://schemas.openxmlformats.org/drawingml/2006/main">
            <a:defPPr algn="ctr">
              <a:defRPr sz="4050" b="1">
                <a:solidFill>
                  <a:srgbClr val="FFFFFF"/>
                </a:solidFill>
                <a:latin typeface="Times New Roman"/>
                <a:ea typeface="Times New Roman"/>
                <a:cs typeface="Times New Roman"/>
              </a:defRPr>
            </a:defPPr>
            <a:lvl1pPr algn="ctr">
              <a:buNone/>
              <a:defRPr sz="4050" b="1">
                <a:solidFill>
                  <a:srgbClr val="FFFFFF"/>
                </a:solidFill>
                <a:latin typeface="Times New Roman"/>
                <a:ea typeface="Times New Roman"/>
                <a:cs typeface="Times New Roman"/>
              </a:defRPr>
            </a:lvl1pPr>
            <a:lvl2pPr algn="ctr">
              <a:buNone/>
              <a:defRPr sz="4050" b="1">
                <a:solidFill>
                  <a:srgbClr val="FFFFFF"/>
                </a:solidFill>
                <a:latin typeface="Times New Roman"/>
                <a:ea typeface="Times New Roman"/>
                <a:cs typeface="Times New Roman"/>
              </a:defRPr>
            </a:lvl2pPr>
            <a:lvl3pPr algn="ctr">
              <a:buNone/>
              <a:defRPr sz="4050" b="1">
                <a:solidFill>
                  <a:srgbClr val="FFFFFF"/>
                </a:solidFill>
                <a:latin typeface="Times New Roman"/>
                <a:ea typeface="Times New Roman"/>
                <a:cs typeface="Times New Roman"/>
              </a:defRPr>
            </a:lvl3pPr>
            <a:lvl4pPr algn="ctr">
              <a:buNone/>
              <a:defRPr sz="4050" b="1">
                <a:solidFill>
                  <a:srgbClr val="FFFFFF"/>
                </a:solidFill>
                <a:latin typeface="Times New Roman"/>
                <a:ea typeface="Times New Roman"/>
                <a:cs typeface="Times New Roman"/>
              </a:defRPr>
            </a:lvl4pPr>
            <a:lvl5pPr algn="ctr">
              <a:buNone/>
              <a:defRPr sz="4050" b="1">
                <a:solidFill>
                  <a:srgbClr val="FFFFFF"/>
                </a:solidFill>
                <a:latin typeface="Times New Roman"/>
                <a:ea typeface="Times New Roman"/>
                <a:cs typeface="Times New Roman"/>
              </a:defRPr>
            </a:lvl5pPr>
            <a:lvl6pPr algn="ctr">
              <a:buNone/>
              <a:defRPr sz="4050" b="1">
                <a:solidFill>
                  <a:srgbClr val="FFFFFF"/>
                </a:solidFill>
                <a:latin typeface="Times New Roman"/>
                <a:ea typeface="Times New Roman"/>
                <a:cs typeface="Times New Roman"/>
              </a:defRPr>
            </a:lvl6pPr>
            <a:lvl7pPr algn="ctr">
              <a:buNone/>
              <a:defRPr sz="4050" b="1">
                <a:solidFill>
                  <a:srgbClr val="FFFFFF"/>
                </a:solidFill>
                <a:latin typeface="Times New Roman"/>
                <a:ea typeface="Times New Roman"/>
                <a:cs typeface="Times New Roman"/>
              </a:defRPr>
            </a:lvl7pPr>
            <a:lvl8pPr algn="ctr">
              <a:buNone/>
              <a:defRPr sz="4050" b="1">
                <a:solidFill>
                  <a:srgbClr val="FFFFFF"/>
                </a:solidFill>
                <a:latin typeface="Times New Roman"/>
                <a:ea typeface="Times New Roman"/>
                <a:cs typeface="Times New Roman"/>
              </a:defRPr>
            </a:lvl8pPr>
            <a:lvl9pPr algn="ctr">
              <a:buNone/>
              <a:defRPr sz="4050" b="1">
                <a:solidFill>
                  <a:srgbClr val="FFFFFF"/>
                </a:solidFill>
                <a:latin typeface="Times New Roman"/>
                <a:ea typeface="Times New Roman"/>
                <a:cs typeface="Times New Roman"/>
              </a:defRPr>
            </a:lvl9pPr>
          </a:lstStyle>
          <a:p xmlns:a="http://schemas.openxmlformats.org/drawingml/2006/main">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Conclusion and Future Work</a:t>
            </a:r>
          </a:p>
        </p:txBody>
      </p:sp>
      <p:sp>
        <p:nvSpPr>
          <p:cNvPr id="4" name="Footer Placeholder 3">
            <a:extLst xmlns:a="http://schemas.openxmlformats.org/drawingml/2006/main">
              <a:ext uri="{FF2B5EF4-FFF2-40B4-BE49-F238E27FC236}">
                <a16:creationId xmlns:a16="http://schemas.microsoft.com/office/drawing/2014/main" id="{3D9C6012-FCED-4937-A4AB-8CEEC135A13C}"/>
              </a:ext>
            </a:extLst>
          </p:cNvPr>
          <p:cNvSpPr>
            <a:spLocks xmlns:a="http://schemas.openxmlformats.org/drawingml/2006/main" noGrp="1"/>
          </p:cNvSpPr>
          <p:nvPr>
            <p:ph type="ftr" idx="11"/>
          </p:nvPr>
        </p:nvSpPr>
        <p:spPr>
          <a:xfrm xmlns:a="http://schemas.openxmlformats.org/drawingml/2006/main">
            <a:off x="0" y="6492907"/>
            <a:ext cx="12192000" cy="365093"/>
          </a:xfrm>
          <a:prstGeom xmlns:a="http://schemas.openxmlformats.org/drawingml/2006/main" prst="rect">
            <a:avLst/>
          </a:prstGeom>
          <a:solidFill xmlns:a="http://schemas.openxmlformats.org/drawingml/2006/main">
            <a:srgbClr val="002060"/>
          </a:solidFill>
        </p:spPr>
        <p:txBody>
          <a:bodyPr xmlns:a="http://schemas.openxmlformats.org/drawingml/2006/main"/>
          <a:lstStyle xmlns:a="http://schemas.openxmlformats.org/drawingml/2006/main">
            <a:defPPr>
              <a:defRPr sz="1200" b="1">
                <a:solidFill>
                  <a:srgbClr val="FFFFFF"/>
                </a:solidFill>
                <a:latin typeface="Times New Roman"/>
                <a:ea typeface="Times New Roman"/>
                <a:cs typeface="Times New Roman"/>
              </a:defRPr>
            </a:defPPr>
            <a:lvl1pPr>
              <a:buNone/>
              <a:defRPr sz="1200" b="1">
                <a:solidFill>
                  <a:srgbClr val="FFFFFF"/>
                </a:solidFill>
                <a:latin typeface="Times New Roman"/>
                <a:ea typeface="Times New Roman"/>
                <a:cs typeface="Times New Roman"/>
              </a:defRPr>
            </a:lvl1pPr>
            <a:lvl2pPr>
              <a:buNone/>
              <a:defRPr sz="1200" b="1">
                <a:solidFill>
                  <a:srgbClr val="FFFFFF"/>
                </a:solidFill>
                <a:latin typeface="Times New Roman"/>
                <a:ea typeface="Times New Roman"/>
                <a:cs typeface="Times New Roman"/>
              </a:defRPr>
            </a:lvl2pPr>
            <a:lvl3pPr>
              <a:buNone/>
              <a:defRPr sz="1200" b="1">
                <a:solidFill>
                  <a:srgbClr val="FFFFFF"/>
                </a:solidFill>
                <a:latin typeface="Times New Roman"/>
                <a:ea typeface="Times New Roman"/>
                <a:cs typeface="Times New Roman"/>
              </a:defRPr>
            </a:lvl3pPr>
            <a:lvl4pPr>
              <a:buNone/>
              <a:defRPr sz="1200" b="1">
                <a:solidFill>
                  <a:srgbClr val="FFFFFF"/>
                </a:solidFill>
                <a:latin typeface="Times New Roman"/>
                <a:ea typeface="Times New Roman"/>
                <a:cs typeface="Times New Roman"/>
              </a:defRPr>
            </a:lvl4pPr>
            <a:lvl5pPr>
              <a:buNone/>
              <a:defRPr sz="1200" b="1">
                <a:solidFill>
                  <a:srgbClr val="FFFFFF"/>
                </a:solidFill>
                <a:latin typeface="Times New Roman"/>
                <a:ea typeface="Times New Roman"/>
                <a:cs typeface="Times New Roman"/>
              </a:defRPr>
            </a:lvl5pPr>
            <a:lvl6pPr>
              <a:buNone/>
              <a:defRPr sz="1200" b="1">
                <a:solidFill>
                  <a:srgbClr val="FFFFFF"/>
                </a:solidFill>
                <a:latin typeface="Times New Roman"/>
                <a:ea typeface="Times New Roman"/>
                <a:cs typeface="Times New Roman"/>
              </a:defRPr>
            </a:lvl6pPr>
            <a:lvl7pPr>
              <a:buNone/>
              <a:defRPr sz="1200" b="1">
                <a:solidFill>
                  <a:srgbClr val="FFFFFF"/>
                </a:solidFill>
                <a:latin typeface="Times New Roman"/>
                <a:ea typeface="Times New Roman"/>
                <a:cs typeface="Times New Roman"/>
              </a:defRPr>
            </a:lvl7pPr>
            <a:lvl8pPr>
              <a:buNone/>
              <a:defRPr sz="1200" b="1">
                <a:solidFill>
                  <a:srgbClr val="FFFFFF"/>
                </a:solidFill>
                <a:latin typeface="Times New Roman"/>
                <a:ea typeface="Times New Roman"/>
                <a:cs typeface="Times New Roman"/>
              </a:defRPr>
            </a:lvl8pPr>
            <a:lvl9pPr>
              <a:buNone/>
              <a:defRPr sz="1200" b="1">
                <a:solidFill>
                  <a:srgbClr val="FFFFFF"/>
                </a:solidFill>
                <a:latin typeface="Times New Roman"/>
                <a:ea typeface="Times New Roman"/>
                <a:cs typeface="Times New Roman"/>
              </a:defRPr>
            </a:lvl9pPr>
          </a:lstStyle>
          <a:p xmlns:a="http://schemas.openxmlformats.org/drawingml/2006/main">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sp>
        <p:nvSpPr>
          <p:cNvPr id="15" name="14">
            <a:extLst xmlns:a="http://schemas.openxmlformats.org/drawingml/2006/main">
              <a:ext uri="{FF2B5EF4-FFF2-40B4-BE49-F238E27FC236}">
                <a16:creationId xmlns:a16="http://schemas.microsoft.com/office/drawing/2014/main" id="{B84EC8C5-B46C-4435-9A1C-74A4C9868B47}"/>
              </a:ext>
            </a:extLst>
          </p:cNvPr>
          <p:cNvSpPr>
            <a:spLocks xmlns:a="http://schemas.openxmlformats.org/drawingml/2006/main" noGrp="1"/>
          </p:cNvSpPr>
          <p:nvPr/>
        </p:nvSpPr>
        <p:spPr>
          <a:xfrm xmlns:a="http://schemas.openxmlformats.org/drawingml/2006/main">
            <a:off x="11430000" y="649605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r">
              <a:defRPr sz="1200" b="1">
                <a:solidFill>
                  <a:srgbClr val="FFFFFF"/>
                </a:solidFill>
                <a:latin typeface="Times New Roman"/>
                <a:ea typeface="Times New Roman"/>
                <a:cs typeface="Times New Roman"/>
              </a:defRPr>
            </a:defPPr>
            <a:lvl1pPr algn="r">
              <a:buNone/>
              <a:defRPr sz="1200" b="1">
                <a:solidFill>
                  <a:srgbClr val="FFFFFF"/>
                </a:solidFill>
                <a:latin typeface="Times New Roman"/>
                <a:ea typeface="Times New Roman"/>
                <a:cs typeface="Times New Roman"/>
              </a:defRPr>
            </a:lvl1pPr>
            <a:lvl2pPr algn="r">
              <a:buNone/>
              <a:defRPr sz="1200" b="1">
                <a:solidFill>
                  <a:srgbClr val="FFFFFF"/>
                </a:solidFill>
                <a:latin typeface="Times New Roman"/>
                <a:ea typeface="Times New Roman"/>
                <a:cs typeface="Times New Roman"/>
              </a:defRPr>
            </a:lvl2pPr>
            <a:lvl3pPr algn="r">
              <a:buNone/>
              <a:defRPr sz="1200" b="1">
                <a:solidFill>
                  <a:srgbClr val="FFFFFF"/>
                </a:solidFill>
                <a:latin typeface="Times New Roman"/>
                <a:ea typeface="Times New Roman"/>
                <a:cs typeface="Times New Roman"/>
              </a:defRPr>
            </a:lvl3pPr>
            <a:lvl4pPr algn="r">
              <a:buNone/>
              <a:defRPr sz="1200" b="1">
                <a:solidFill>
                  <a:srgbClr val="FFFFFF"/>
                </a:solidFill>
                <a:latin typeface="Times New Roman"/>
                <a:ea typeface="Times New Roman"/>
                <a:cs typeface="Times New Roman"/>
              </a:defRPr>
            </a:lvl4pPr>
            <a:lvl5pPr algn="r">
              <a:buNone/>
              <a:defRPr sz="1200" b="1">
                <a:solidFill>
                  <a:srgbClr val="FFFFFF"/>
                </a:solidFill>
                <a:latin typeface="Times New Roman"/>
                <a:ea typeface="Times New Roman"/>
                <a:cs typeface="Times New Roman"/>
              </a:defRPr>
            </a:lvl5pPr>
            <a:lvl6pPr algn="r">
              <a:buNone/>
              <a:defRPr sz="1200" b="1">
                <a:solidFill>
                  <a:srgbClr val="FFFFFF"/>
                </a:solidFill>
                <a:latin typeface="Times New Roman"/>
                <a:ea typeface="Times New Roman"/>
                <a:cs typeface="Times New Roman"/>
              </a:defRPr>
            </a:lvl6pPr>
            <a:lvl7pPr algn="r">
              <a:buNone/>
              <a:defRPr sz="1200" b="1">
                <a:solidFill>
                  <a:srgbClr val="FFFFFF"/>
                </a:solidFill>
                <a:latin typeface="Times New Roman"/>
                <a:ea typeface="Times New Roman"/>
                <a:cs typeface="Times New Roman"/>
              </a:defRPr>
            </a:lvl7pPr>
            <a:lvl8pPr algn="r">
              <a:buNone/>
              <a:defRPr sz="1200" b="1">
                <a:solidFill>
                  <a:srgbClr val="FFFFFF"/>
                </a:solidFill>
                <a:latin typeface="Times New Roman"/>
                <a:ea typeface="Times New Roman"/>
                <a:cs typeface="Times New Roman"/>
              </a:defRPr>
            </a:lvl8pPr>
            <a:lvl9pPr algn="r">
              <a:buNone/>
              <a:defRPr sz="1200" b="1">
                <a:solidFill>
                  <a:srgbClr val="FFFFFF"/>
                </a:solidFill>
                <a:latin typeface="Times New Roman"/>
                <a:ea typeface="Times New Roman"/>
                <a:cs typeface="Times New Roman"/>
              </a:defRPr>
            </a:lvl9pPr>
          </a:lstStyle>
          <a:p xmlns:a="http://schemas.openxmlformats.org/drawingml/2006/main">
            <a:pPr algn="r">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14</a:t>
            </a:r>
          </a:p>
        </p:txBody>
      </p:sp>
      <p:sp>
        <p:nvSpPr>
          <p:cNvPr id="16" name="Conclusion and future work bullets">
            <a:extLst xmlns:a="http://schemas.openxmlformats.org/drawingml/2006/main">
              <a:ext uri="{FF2B5EF4-FFF2-40B4-BE49-F238E27FC236}">
                <a16:creationId xmlns:a16="http://schemas.microsoft.com/office/drawing/2014/main" id="{E4ABBF5B-8045-467A-B70B-6EC5DD7F3F99}"/>
              </a:ext>
            </a:extLst>
          </p:cNvPr>
          <p:cNvSpPr>
            <a:spLocks xmlns:a="http://schemas.openxmlformats.org/drawingml/2006/main" noGrp="1"/>
          </p:cNvSpPr>
          <p:nvPr/>
        </p:nvSpPr>
        <p:spPr>
          <a:xfrm xmlns:a="http://schemas.openxmlformats.org/drawingml/2006/main">
            <a:off x="762000" y="1333500"/>
            <a:ext cx="10668000" cy="452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625">
                <a:solidFill>
                  <a:srgbClr val="111111"/>
                </a:solidFill>
                <a:latin typeface="Times New Roman"/>
                <a:ea typeface="Times New Roman"/>
                <a:cs typeface="Times New Roman"/>
              </a:defRPr>
            </a:defPPr>
            <a:lvl1pPr>
              <a:defRPr sz="2625">
                <a:solidFill>
                  <a:srgbClr val="111111"/>
                </a:solidFill>
                <a:latin typeface="Times New Roman"/>
                <a:ea typeface="Times New Roman"/>
                <a:cs typeface="Times New Roman"/>
              </a:defRPr>
            </a:lvl1pPr>
            <a:lvl2pPr>
              <a:defRPr sz="2625">
                <a:solidFill>
                  <a:srgbClr val="111111"/>
                </a:solidFill>
                <a:latin typeface="Times New Roman"/>
                <a:ea typeface="Times New Roman"/>
                <a:cs typeface="Times New Roman"/>
              </a:defRPr>
            </a:lvl2pPr>
            <a:lvl3pPr>
              <a:defRPr sz="2625">
                <a:solidFill>
                  <a:srgbClr val="111111"/>
                </a:solidFill>
                <a:latin typeface="Times New Roman"/>
                <a:ea typeface="Times New Roman"/>
                <a:cs typeface="Times New Roman"/>
              </a:defRPr>
            </a:lvl3pPr>
            <a:lvl4pPr>
              <a:defRPr sz="2625">
                <a:solidFill>
                  <a:srgbClr val="111111"/>
                </a:solidFill>
                <a:latin typeface="Times New Roman"/>
                <a:ea typeface="Times New Roman"/>
                <a:cs typeface="Times New Roman"/>
              </a:defRPr>
            </a:lvl4pPr>
            <a:lvl5pPr>
              <a:defRPr sz="2625">
                <a:solidFill>
                  <a:srgbClr val="111111"/>
                </a:solidFill>
                <a:latin typeface="Times New Roman"/>
                <a:ea typeface="Times New Roman"/>
                <a:cs typeface="Times New Roman"/>
              </a:defRPr>
            </a:lvl5pPr>
            <a:lvl6pPr>
              <a:defRPr sz="2625">
                <a:solidFill>
                  <a:srgbClr val="111111"/>
                </a:solidFill>
                <a:latin typeface="Times New Roman"/>
                <a:ea typeface="Times New Roman"/>
                <a:cs typeface="Times New Roman"/>
              </a:defRPr>
            </a:lvl6pPr>
            <a:lvl7pPr>
              <a:defRPr sz="2625">
                <a:solidFill>
                  <a:srgbClr val="111111"/>
                </a:solidFill>
                <a:latin typeface="Times New Roman"/>
                <a:ea typeface="Times New Roman"/>
                <a:cs typeface="Times New Roman"/>
              </a:defRPr>
            </a:lvl7pPr>
            <a:lvl8pPr>
              <a:defRPr sz="2625">
                <a:solidFill>
                  <a:srgbClr val="111111"/>
                </a:solidFill>
                <a:latin typeface="Times New Roman"/>
                <a:ea typeface="Times New Roman"/>
                <a:cs typeface="Times New Roman"/>
              </a:defRPr>
            </a:lvl8pPr>
            <a:lvl9pPr>
              <a:defRPr sz="2625">
                <a:solidFill>
                  <a:srgbClr val="111111"/>
                </a:solidFill>
                <a:latin typeface="Times New Roman"/>
                <a:ea typeface="Times New Roman"/>
                <a:cs typeface="Times New Roman"/>
              </a:defRPr>
            </a:lvl9pPr>
          </a:lstStyle>
          <a:p xmlns:a="http://schemas.openxmlformats.org/drawingml/2006/main">
            <a:pPr marL="304800" indent="-152400">
              <a:spcAft>
                <a:spcPts val="2000"/>
              </a:spcAft>
              <a:buChar char="•"/>
              <a:defRPr sz="2625">
                <a:solidFill>
                  <a:srgbClr val="111111"/>
                </a:solidFill>
                <a:latin typeface="Times New Roman"/>
                <a:ea typeface="Times New Roman"/>
                <a:cs typeface="Times New Roman"/>
              </a:defRPr>
            </a:pPr>
            <a:r>
              <a:rPr sz="2625">
                <a:solidFill>
                  <a:srgbClr val="111111"/>
                </a:solidFill>
                <a:latin typeface="Times New Roman"/>
                <a:ea typeface="Times New Roman"/>
                <a:cs typeface="Times New Roman"/>
              </a:rPr>
              <a:t>Implemented ESP32 BLE communication and a Flutter app for simulated vitals.</a:t>
            </a:r>
          </a:p>
          <a:p xmlns:a="http://schemas.openxmlformats.org/drawingml/2006/main">
            <a:pPr marL="304800" indent="-152400">
              <a:spcAft>
                <a:spcPts val="2000"/>
              </a:spcAft>
              <a:buChar char="•"/>
              <a:defRPr sz="2625">
                <a:solidFill>
                  <a:srgbClr val="111111"/>
                </a:solidFill>
                <a:latin typeface="Times New Roman"/>
                <a:ea typeface="Times New Roman"/>
                <a:cs typeface="Times New Roman"/>
              </a:defRPr>
            </a:pPr>
            <a:r>
              <a:rPr sz="2625">
                <a:solidFill>
                  <a:srgbClr val="111111"/>
                </a:solidFill>
                <a:latin typeface="Times New Roman"/>
                <a:ea typeface="Times New Roman"/>
                <a:cs typeface="Times New Roman"/>
              </a:rPr>
              <a:t>Supported device discovery, encrypted connection and start/stop control.</a:t>
            </a:r>
          </a:p>
          <a:p xmlns:a="http://schemas.openxmlformats.org/drawingml/2006/main">
            <a:pPr marL="304800" indent="-152400">
              <a:spcAft>
                <a:spcPts val="2000"/>
              </a:spcAft>
              <a:buChar char="•"/>
              <a:defRPr sz="2625">
                <a:solidFill>
                  <a:srgbClr val="111111"/>
                </a:solidFill>
                <a:latin typeface="Times New Roman"/>
                <a:ea typeface="Times New Roman"/>
                <a:cs typeface="Times New Roman"/>
              </a:defRPr>
            </a:pPr>
            <a:r>
              <a:rPr sz="2625">
                <a:solidFill>
                  <a:srgbClr val="111111"/>
                </a:solidFill>
                <a:latin typeface="Times New Roman"/>
                <a:ea typeface="Times New Roman"/>
                <a:cs typeface="Times New Roman"/>
              </a:rPr>
              <a:t>Integrate physical sensors, OLED and the full RTOS task pipeline.</a:t>
            </a:r>
          </a:p>
          <a:p xmlns:a="http://schemas.openxmlformats.org/drawingml/2006/main">
            <a:pPr marL="304800" indent="-152400">
              <a:spcAft>
                <a:spcPts val="2000"/>
              </a:spcAft>
              <a:buChar char="•"/>
              <a:defRPr sz="2625">
                <a:solidFill>
                  <a:srgbClr val="111111"/>
                </a:solidFill>
                <a:latin typeface="Times New Roman"/>
                <a:ea typeface="Times New Roman"/>
                <a:cs typeface="Times New Roman"/>
              </a:defRPr>
            </a:pPr>
            <a:r>
              <a:rPr sz="2625">
                <a:solidFill>
                  <a:srgbClr val="111111"/>
                </a:solidFill>
                <a:latin typeface="Times New Roman"/>
                <a:ea typeface="Times New Roman"/>
                <a:cs typeface="Times New Roman"/>
              </a:rPr>
              <a:t>Add persistent uploads, cloud services and the hospital dashboard.</a:t>
            </a:r>
          </a:p>
          <a:p xmlns:a="http://schemas.openxmlformats.org/drawingml/2006/main">
            <a:pPr marL="304800" indent="-152400">
              <a:spcAft>
                <a:spcPts val="2000"/>
              </a:spcAft>
              <a:buChar char="•"/>
              <a:defRPr sz="2625">
                <a:solidFill>
                  <a:srgbClr val="111111"/>
                </a:solidFill>
                <a:latin typeface="Times New Roman"/>
                <a:ea typeface="Times New Roman"/>
                <a:cs typeface="Times New Roman"/>
              </a:defRPr>
            </a:pPr>
            <a:r>
              <a:rPr sz="2625">
                <a:solidFill>
                  <a:srgbClr val="111111"/>
                </a:solidFill>
                <a:latin typeface="Times New Roman"/>
                <a:ea typeface="Times New Roman"/>
                <a:cs typeface="Times New Roman"/>
              </a:rPr>
              <a:t>Develop GPS tracking, ETA estimation and ML risk prediction.</a:t>
            </a:r>
          </a:p>
        </p:txBody>
      </p:sp>
    </p:spTree>
    <p:extLst>
      <p:ext uri="{BB962C8B-B14F-4D97-AF65-F5344CB8AC3E}">
        <p14:creationId xmlns:p14="http://schemas.microsoft.com/office/powerpoint/2010/main" val="1733596377"/>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4CD393A-8365-3C41-2C17-6494BBBD7105}"/>
              </a:ext>
            </a:extLst>
          </p:cNvPr>
          <p:cNvSpPr>
            <a:spLocks xmlns:a="http://schemas.openxmlformats.org/drawingml/2006/main" noGrp="1"/>
          </p:cNvSpPr>
          <p:nvPr>
            <p:ph type="title" idx="0"/>
          </p:nvPr>
        </p:nvSpPr>
        <p:spPr>
          <a:xfrm xmlns:a="http://schemas.openxmlformats.org/drawingml/2006/main">
            <a:off x="0" y="1"/>
            <a:ext cx="12192000" cy="765809"/>
          </a:xfrm>
          <a:prstGeom xmlns:a="http://schemas.openxmlformats.org/drawingml/2006/main" prst="rect">
            <a:avLst/>
          </a:prstGeom>
          <a:solidFill xmlns:a="http://schemas.openxmlformats.org/drawingml/2006/main">
            <a:srgbClr val="002060"/>
          </a:solidFill>
        </p:spPr>
        <p:txBody>
          <a:bodyPr xmlns:a="http://schemas.openxmlformats.org/drawingml/2006/main">
            <a:normAutofit/>
          </a:bodyPr>
          <a:lstStyle xmlns:a="http://schemas.openxmlformats.org/drawingml/2006/main"/>
          <a:p xmlns:a="http://schemas.openxmlformats.org/drawingml/2006/main">
            <a:pPr algn="ctr">
              <a:buNone/>
            </a:pPr>
            <a:endParaRPr sz="3600" b="1">
              <a:solidFill>
                <a:schemeClr val="bg1"/>
              </a:solidFill>
              <a:latin typeface="Times New Roman"/>
              <a:ea typeface="Times New Roman"/>
              <a:cs typeface="Times New Roman"/>
            </a:endParaRPr>
          </a:p>
        </p:txBody>
      </p:sp>
      <p:sp>
        <p:nvSpPr>
          <p:cNvPr id="4" name="Footer Placeholder 3">
            <a:extLst xmlns:a="http://schemas.openxmlformats.org/drawingml/2006/main">
              <a:ext uri="{FF2B5EF4-FFF2-40B4-BE49-F238E27FC236}">
                <a16:creationId xmlns:a16="http://schemas.microsoft.com/office/drawing/2014/main" id="{3D9C6012-FCED-4937-A4AB-8CEEC135A13C}"/>
              </a:ext>
            </a:extLst>
          </p:cNvPr>
          <p:cNvSpPr>
            <a:spLocks xmlns:a="http://schemas.openxmlformats.org/drawingml/2006/main" noGrp="1"/>
          </p:cNvSpPr>
          <p:nvPr>
            <p:ph type="ftr" idx="11"/>
          </p:nvPr>
        </p:nvSpPr>
        <p:spPr>
          <a:xfrm xmlns:a="http://schemas.openxmlformats.org/drawingml/2006/main">
            <a:off x="0" y="6492907"/>
            <a:ext cx="12192000" cy="365093"/>
          </a:xfrm>
          <a:prstGeom xmlns:a="http://schemas.openxmlformats.org/drawingml/2006/main" prst="rect">
            <a:avLst/>
          </a:prstGeom>
          <a:solidFill xmlns:a="http://schemas.openxmlformats.org/drawingml/2006/main">
            <a:srgbClr val="002060"/>
          </a:solidFill>
        </p:spPr>
        <p:txBody>
          <a:bodyPr xmlns:a="http://schemas.openxmlformats.org/drawingml/2006/main"/>
          <a:lstStyle xmlns:a="http://schemas.openxmlformats.org/drawingml/2006/main">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xmlns:a="http://schemas.openxmlformats.org/drawingml/2006/main">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sp>
        <p:nvSpPr>
          <p:cNvPr id="7" name="TextBox 6">
            <a:extLst xmlns:a="http://schemas.openxmlformats.org/drawingml/2006/main">
              <a:ext uri="{FF2B5EF4-FFF2-40B4-BE49-F238E27FC236}">
                <a16:creationId xmlns:a16="http://schemas.microsoft.com/office/drawing/2014/main" id="{1C9D027C-64E9-914D-D965-A429BBC87943}"/>
              </a:ext>
            </a:extLst>
          </p:cNvPr>
          <p:cNvSpPr>
            <a:spLocks xmlns:a="http://schemas.openxmlformats.org/drawingml/2006/main" noGrp="1"/>
          </p:cNvSpPr>
          <p:nvPr/>
        </p:nvSpPr>
        <p:spPr>
          <a:xfrm xmlns:a="http://schemas.openxmlformats.org/drawingml/2006/main">
            <a:off x="4563762" y="3429000"/>
            <a:ext cx="3387722" cy="1015663"/>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sz="6000">
                <a:solidFill>
                  <a:srgbClr val="0070C0"/>
                </a:solidFill>
              </a:rPr>
              <a:t>Thank You</a:t>
            </a:r>
          </a:p>
        </p:txBody>
      </p:sp>
      <p:sp>
        <p:nvSpPr>
          <p:cNvPr id="8" name="15">
            <a:extLst xmlns:a="http://schemas.openxmlformats.org/drawingml/2006/main">
              <a:ext uri="{FF2B5EF4-FFF2-40B4-BE49-F238E27FC236}">
                <a16:creationId xmlns:a16="http://schemas.microsoft.com/office/drawing/2014/main" id="{5A51434F-8A9A-48B7-AE15-5E50A8D5B94F}"/>
              </a:ext>
            </a:extLst>
          </p:cNvPr>
          <p:cNvSpPr>
            <a:spLocks xmlns:a="http://schemas.openxmlformats.org/drawingml/2006/main" noGrp="1"/>
          </p:cNvSpPr>
          <p:nvPr/>
        </p:nvSpPr>
        <p:spPr>
          <a:xfrm xmlns:a="http://schemas.openxmlformats.org/drawingml/2006/main">
            <a:off x="11430000" y="649605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xmlns:a="http://schemas.openxmlformats.org/drawingml/2006/main">
            <a:pPr algn="r">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15</a:t>
            </a:r>
          </a:p>
        </p:txBody>
      </p:sp>
    </p:spTree>
    <p:extLst>
      <p:ext uri="{BB962C8B-B14F-4D97-AF65-F5344CB8AC3E}">
        <p14:creationId xmlns:p14="http://schemas.microsoft.com/office/powerpoint/2010/main" val="3105312193"/>
      </p:ext>
    </p:extLst>
  </p:cSld>
</p:sld>
</file>

<file path=ppt/theme/restored_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restored_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2026-10-19T06:24:58.8180000Z</dcterms:created>
  <dcterms:modified xsi:type="dcterms:W3CDTF">2026-10-19T06:24:58.8180000Z</dcterms:modified>
</coreProperties>
</file>