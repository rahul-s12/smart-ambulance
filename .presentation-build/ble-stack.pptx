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0e829b21034a59" /><Relationship Type="http://schemas.openxmlformats.org/officeDocument/2006/relationships/extended-properties" Target="/docProps/app.xml" Id="R0563a9439c8e410f" /><Relationship Type="http://schemas.openxmlformats.org/officeDocument/2006/relationships/officeDocument" Target="/ppt/presentation.xml" Id="Rce9f3cee5202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8fd3dca9d446b5"/>
  </p:sldMasterIdLst>
  <p:notesMasterIdLst>
    <p:notesMasterId xmlns:r="http://schemas.openxmlformats.org/officeDocument/2006/relationships" r:id="R7264a701bf774491"/>
  </p:notesMasterIdLst>
  <p:sldIdLst>
    <p:sldId xmlns:r="http://schemas.openxmlformats.org/officeDocument/2006/relationships" id="256" r:id="R97b4f964de8c4e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fa60cf9ec440c" /><Relationship Type="http://schemas.openxmlformats.org/officeDocument/2006/relationships/slideMaster" Target="/ppt/slideMasters/slideMaster1.xml" Id="R408fd3dca9d446b5" /><Relationship Type="http://schemas.openxmlformats.org/officeDocument/2006/relationships/notesMaster" Target="/ppt/notesMasters/notesMaster1.xml" Id="R7264a701bf774491" /><Relationship Type="http://schemas.openxmlformats.org/officeDocument/2006/relationships/presProps" Target="/ppt/presProps.xml" Id="R94089bb1eafe47c5" /><Relationship Type="http://schemas.openxmlformats.org/officeDocument/2006/relationships/tableStyles" Target="/ppt/tableStyles.xml" Id="R8bc53fcb921e48b2" /><Relationship Type="http://schemas.openxmlformats.org/officeDocument/2006/relationships/slide" Target="/ppt/slides/slide1.xml" Id="R97b4f964de8c4e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3ab520c63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f4982013784c56" /><Relationship Type="http://schemas.openxmlformats.org/officeDocument/2006/relationships/notesMaster" Target="/ppt/notesMasters/notesMaster1.xml" Id="Raaa3c8d238ae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Layered architecture inside the ESP32-C6. The application uses NimBLE host APIs. The host includes GAP, GATT/ATT, SMP and L2CAP. The HCI/VHCI boundary connects the host with the Espressif Bluetooth controller. The controller includes Link Layer functions and PHY support. The PHY/radio is shown as the hardware-facing layer, not a separate external microcontroller. Bidirectional arrows represent commands, events and BLE data. Firmware sources: esp32/components/ble/ble.c, ble_gap.c, ble_gatt.c; sdkconfig confirms esp32c6, NimBLE host and enabled Bluetooth controller. Official references: https://docs.espressif.com/projects/esp-idf/en/stable/esp32c6/api-reference/bluetooth/nimble/index.html and https://docs.espressif.com/projects/esp-idf/en/stable/esp32c6/api-guides/ble/get-started/ble-introduction.html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94ce6f14b41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d9b63b58b49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a09a829574e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5ef14dcab4b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677cfb7214b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b5ca83201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8C58E9-3DDC-4248-97CE-1846C7A74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37CB8F-4C83-497A-B387-D0A47FB872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4A23E6-33EE-46AB-A701-893E23C57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60A944-B4EC-40BB-92C1-CB00DB682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E3CA0D-DDFE-4538-BBB0-5FD43D8C60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FBDB20-FA6C-4F99-907D-E40773B49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017BE6-8B27-4CE4-9F21-A577E6F3A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B11D7E-7789-4CCE-B74D-FCAFA57288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3C23E-ABE8-442D-A37D-4C27826AF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CEF3D2-1887-4232-B3A0-682B5F953C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d7975f8444cd7" /><Relationship Type="http://schemas.openxmlformats.org/officeDocument/2006/relationships/slideLayout" Target="/ppt/slideLayouts/slideLayout1.xml" Id="R91e4583bbd2c470a" /><Relationship Type="http://schemas.openxmlformats.org/officeDocument/2006/relationships/slideLayout" Target="/ppt/slideLayouts/slideLayout2.xml" Id="R7ec83921cfe0406c" /><Relationship Type="http://schemas.openxmlformats.org/officeDocument/2006/relationships/slideLayout" Target="/ppt/slideLayouts/slideLayout3.xml" Id="R075510e1fa754db7" /><Relationship Type="http://schemas.openxmlformats.org/officeDocument/2006/relationships/slideLayout" Target="/ppt/slideLayouts/slideLayout4.xml" Id="R76c222045d2748c0" /><Relationship Type="http://schemas.openxmlformats.org/officeDocument/2006/relationships/slideLayout" Target="/ppt/slideLayouts/slideLayout5.xml" Id="R4b1d7cba83904b9a" /><Relationship Type="http://schemas.openxmlformats.org/officeDocument/2006/relationships/slideLayout" Target="/ppt/slideLayouts/slideLayout6.xml" Id="Rb1ffbf4db646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4583bbd2c470a"/>
    <p:sldLayoutId xmlns:r="http://schemas.openxmlformats.org/officeDocument/2006/relationships" id="2147483650" r:id="R7ec83921cfe0406c"/>
    <p:sldLayoutId xmlns:r="http://schemas.openxmlformats.org/officeDocument/2006/relationships" id="2147483651" r:id="R075510e1fa754db7"/>
    <p:sldLayoutId xmlns:r="http://schemas.openxmlformats.org/officeDocument/2006/relationships" id="2147483652" r:id="R76c222045d2748c0"/>
    <p:sldLayoutId xmlns:r="http://schemas.openxmlformats.org/officeDocument/2006/relationships" id="2147483653" r:id="R4b1d7cba83904b9a"/>
    <p:sldLayoutId xmlns:r="http://schemas.openxmlformats.org/officeDocument/2006/relationships" id="2147483654" r:id="Rb1ffbf4db646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2c9f4932640f0" /><Relationship Type="http://schemas.openxmlformats.org/officeDocument/2006/relationships/notesSlide" Target="/ppt/notesSlides/notesSlide1.xml" Id="Rdd13db4b720e4e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2C32-B14B-4ED2-ABEE-24008D86173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48768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73AE6-3827-4E89-A771-1BBF72BCF005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38481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D51A7-2A1A-4F49-A8C3-6AFDACFDB6BE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8194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48F23-96A2-428C-ADF1-E3974670921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6096000" y="17907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060"/>
            </a:solidFill>
            <a:headEnd type="arrow" w="med" len="med"/>
            <a:tailEnd type="arrow" w="med" len="med"/>
          </a:ln>
        </p:spPr>
      </p:cxnSp>
      <p:sp>
        <p:nvSpPr>
          <p:cNvPr id="13" name="BLE Stack Architecture on ESP32">
            <a:extLst xmlns:a="http://schemas.openxmlformats.org/drawingml/2006/main">
              <a:ext uri="{FF2B5EF4-FFF2-40B4-BE49-F238E27FC236}">
                <a16:creationId xmlns:a16="http://schemas.microsoft.com/office/drawing/2014/main" id="{4550D5D2-43D7-4807-A1B2-F1ED779F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BLE Stack Architecture on ESP32</a:t>
            </a:r>
          </a:p>
        </p:txBody>
      </p:sp>
      <p:sp>
        <p:nvSpPr>
          <p:cNvPr id="2" name="Application layer&#10;Vital data generation and stre">
            <a:extLst xmlns:a="http://schemas.openxmlformats.org/drawingml/2006/main">
              <a:ext uri="{FF2B5EF4-FFF2-40B4-BE49-F238E27FC236}">
                <a16:creationId xmlns:a16="http://schemas.microsoft.com/office/drawing/2014/main" id="{A7B9365C-7206-452F-A833-073B757D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047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Application layer</a:t>
            </a:r>
          </a:p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Vital data generation and stream control</a:t>
            </a:r>
          </a:p>
        </p:txBody>
      </p:sp>
      <p:sp>
        <p:nvSpPr>
          <p:cNvPr id="3" name="BLE host: NimBLE&#10;GAP, GATT, ATT, SMP and L2CAP">
            <a:extLst xmlns:a="http://schemas.openxmlformats.org/drawingml/2006/main">
              <a:ext uri="{FF2B5EF4-FFF2-40B4-BE49-F238E27FC236}">
                <a16:creationId xmlns:a16="http://schemas.microsoft.com/office/drawing/2014/main" id="{1590856F-E9AD-42BD-851E-3B1B241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764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BLE host: NimBLE</a:t>
            </a:r>
          </a:p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GAP, GATT, ATT, SMP and L2CAP</a:t>
            </a:r>
          </a:p>
        </p:txBody>
      </p:sp>
      <p:sp>
        <p:nvSpPr>
          <p:cNvPr id="4" name="Host–controller interface: HCI / VHCI&#10;Commands, ">
            <a:extLst xmlns:a="http://schemas.openxmlformats.org/drawingml/2006/main">
              <a:ext uri="{FF2B5EF4-FFF2-40B4-BE49-F238E27FC236}">
                <a16:creationId xmlns:a16="http://schemas.microsoft.com/office/drawing/2014/main" id="{3AC62986-60A5-46C6-BF90-A3D9DDA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Host–controller interface: HCI / VHCI</a:t>
            </a:r>
          </a:p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Commands, events and data transport</a:t>
            </a:r>
          </a:p>
        </p:txBody>
      </p:sp>
      <p:sp>
        <p:nvSpPr>
          <p:cNvPr id="5" name="Bluetooth controller: Link Layer&#10;Packet scheduli">
            <a:extLst xmlns:a="http://schemas.openxmlformats.org/drawingml/2006/main">
              <a:ext uri="{FF2B5EF4-FFF2-40B4-BE49-F238E27FC236}">
                <a16:creationId xmlns:a16="http://schemas.microsoft.com/office/drawing/2014/main" id="{3074CFCC-5E32-4636-8671-3564F4A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338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Bluetooth controller: Link Layer</a:t>
            </a:r>
          </a:p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Packet scheduling, connections and link encryption</a:t>
            </a:r>
          </a:p>
        </p:txBody>
      </p:sp>
      <p:sp>
        <p:nvSpPr>
          <p:cNvPr id="6" name="ESP32-C6 hardware: PHY and radio&#10;2.4 GHz wireles">
            <a:extLst xmlns:a="http://schemas.openxmlformats.org/drawingml/2006/main">
              <a:ext uri="{FF2B5EF4-FFF2-40B4-BE49-F238E27FC236}">
                <a16:creationId xmlns:a16="http://schemas.microsoft.com/office/drawing/2014/main" id="{01CE8DC4-C181-4E27-981C-4AD79D6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ESP32-C6 hardware: PHY and radio</a:t>
            </a:r>
          </a:p>
          <a:p xmlns:a="http://schemas.openxmlformats.org/drawingml/2006/main">
            <a:pPr algn="ctr">
              <a:def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2.4 GHz wireless transmission and reception</a:t>
            </a:r>
          </a:p>
        </p:txBody>
      </p:sp>
      <p:sp>
        <p:nvSpPr>
          <p:cNvPr id="11" name="Application and host run under FreeRTOS on the E">
            <a:extLst xmlns:a="http://schemas.openxmlformats.org/drawingml/2006/main">
              <a:ext uri="{FF2B5EF4-FFF2-40B4-BE49-F238E27FC236}">
                <a16:creationId xmlns:a16="http://schemas.microsoft.com/office/drawing/2014/main" id="{54468EC6-EEBB-4A43-949D-E8303C9A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Application and host run under FreeRTOS on the ESP32-C6</a:t>
            </a:r>
          </a:p>
        </p:txBody>
      </p:sp>
      <p:sp>
        <p:nvSpPr>
          <p:cNvPr id="12" name="Dept. of Electronics and Communication Engineeri">
            <a:extLst xmlns:a="http://schemas.openxmlformats.org/drawingml/2006/main">
              <a:ext uri="{FF2B5EF4-FFF2-40B4-BE49-F238E27FC236}">
                <a16:creationId xmlns:a16="http://schemas.microsoft.com/office/drawing/2014/main" id="{C70F6609-6C1D-4F96-9ED5-EDF1C843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907"/>
            <a:ext cx="12192000" cy="365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15240">
            <a:solidFill>
              <a:srgbClr val="002060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Dept. of Electronics and Communication Engineering, NMIT, Bengaluru</a:t>
            </a:r>
          </a:p>
        </p:txBody>
      </p:sp>
    </p:spTree>
    <p:extLst>
      <p:ext uri="{BB962C8B-B14F-4D97-AF65-F5344CB8AC3E}">
        <p14:creationId xmlns:p14="http://schemas.microsoft.com/office/powerpoint/2010/main" val="1527833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2026-10-19T08:22:25.0990000Z</dcterms:created>
  <dcterms:modified xsi:type="dcterms:W3CDTF">2026-10-19T08:22:25.1000000Z</dcterms:modified>
</coreProperties>
</file>