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1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6F3D40A-EC1A-4F6F-BB68-EFB07E1011F1}" type="slidenum">
              <a:rPr lang="en-IN"/>
              <a:t>1</a:t>
            </a:fld>
            <a:endParaRPr lang="en-IN"/>
          </a:p>
        </p:txBody>
      </p:sp>
    </p:spTree>
    <p:extLst>
      <p:ext uri="{BB962C8B-B14F-4D97-AF65-F5344CB8AC3E}">
        <p14:creationId xmlns:p14="http://schemas.microsoft.com/office/powerpoint/2010/main" val="14888506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GHSS UUID 0x1840; observations 0x2B8B; control point 0x2BF4. Firmware creates simulated readings on a nominal one-second task interval. The two rows show setup followed by telemetry, with editable step objects. Automatic app reconnection is not implemented.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Comparison describes observed implementation versus the user-approved target, without claiming measured superiority over competing protocols. No backend stack or risk model is finalized in the current repository.</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FR1 and FR2 are implemented in source but need hardware evidence. Sensor sketches exist separately. Persistent queueing, cloud transport, GPS, ETA, ML and hospital dashboard are requirements for subsequent integration.</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Security code uses LE Secure Connections with Just Works and NVS bonds. This does not establish authenticated protection against active interception. No measured latency, delivery ratio, endurance or clinical accuracy is available.</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Design rationale, not measured Wi-Fi versus BLE test results. The earlier project README describes direct ESP32 Wi-Fi MQTT/TLS upload. The current architecture moves internet upload, GPS and planned buffering to the phone, while BLE carries nearby vital observations. Wi-Fi also supports local communication without internet, and a phone hotspot can provide a Wi-Fi uplink. The selected design removes Wi-Fi credentials and cloud connection handling from the ESP32 local link; it does not establish better latency, reliability, range or measured power consumption. BLE is designed for low-power point-to-point data exchange, including health monitoring. A fair empirical comparison would use the same board, workload, distance and observation duration, recording current draw, delivery ratio, update interval and recovery time. Sources: https://www.bluetooth.com/learn-about-bluetooth/topology-options/ ; https://www.bluetooth.com/bluetooth-le-primer/ ; https://docs.espressif.com/projects/esp-idf/en/latest/esp32/api-reference/bluetooth/bt_le.html ; earlier project README at D:/Academ/Projects/Major Project 2026-27/Coding Part/Smart Ambulance/README.md.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cases validate the current BLE prototype. Capture at least two updates for TC3, and a recording or timestamped logs for TC4 and TC5. A stopped app may retain the last displayed values. Reconnection is manual.</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Future tests need a defined telemetry contract and acceptance thresholds. ETA should be compared with actual arrival times on test routes. ML evaluation requires a selected dataset, labels, model and held-out split. Do not invent accuracy figures.</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Main repository checked at D:/Academ/git-local/smart-ambulance. The older Coding Part/Smart Ambulance README describes a Wi-Fi/cloud design, but the inspected backend/frontend folders contain remnants rather than a complete current implementation. Status follows current source and the user confirmation, not older README claims.</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Evidence slots intentionally await user screenshots. Suggested captures: connected-ready status; streaming HR/SpO2/temperature; stopped status or successful manual reconnection. A recording must establish changing readings and cessation of updates. All readings in the current demonstration are simulated.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Conclusions distinguish implemented code from demonstrated hardware results. The full system remains a prototype. ML risk assessment is a project objective and requires dataset/model selection and evaluation.</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End of Review 2 presentation.</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4D745-0B20-BBAA-074F-EF62988991C7}"/>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B2EFF7C1-57C4-8D79-46D3-BDDCA99C45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33CCF0EC-6478-6AA0-39C5-5817AD45084B}"/>
              </a:ext>
            </a:extLst>
          </p:cNvPr>
          <p:cNvSpPr>
            <a:spLocks noGrp="1"/>
          </p:cNvSpPr>
          <p:nvPr>
            <p:ph type="dt" idx="10"/>
          </p:nvPr>
        </p:nvSpPr>
        <p:spPr/>
        <p:txBody>
          <a:bodyPr/>
          <a:lstStyle/>
          <a:p>
            <a:fld id="{DCC65D64-61A9-40CD-B94D-857C621C06A3}" type="datetime1">
              <a:t>10/19/2026</a:t>
            </a:fld>
            <a:endParaRPr/>
          </a:p>
        </p:txBody>
      </p:sp>
      <p:sp>
        <p:nvSpPr>
          <p:cNvPr id="5" name="Footer Placeholder 4">
            <a:extLst>
              <a:ext uri="{FF2B5EF4-FFF2-40B4-BE49-F238E27FC236}">
                <a16:creationId xmlns:a16="http://schemas.microsoft.com/office/drawing/2014/main" id="{698BCB53-894F-5921-306C-CB1B74E5C147}"/>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70334AD7-6A1F-1788-A433-EC6F920012BA}"/>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E90A8-DEF0-CAF0-21F0-8DA2786EE903}"/>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D7C1FC8-0708-512D-2CA8-4E94945F6E87}"/>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EA0AE94-1A7F-8535-63EB-8091A1D29503}"/>
              </a:ext>
            </a:extLst>
          </p:cNvPr>
          <p:cNvSpPr>
            <a:spLocks noGrp="1"/>
          </p:cNvSpPr>
          <p:nvPr>
            <p:ph type="dt" idx="10"/>
          </p:nvPr>
        </p:nvSpPr>
        <p:spPr/>
        <p:txBody>
          <a:bodyPr/>
          <a:lstStyle/>
          <a:p>
            <a:fld id="{E250B2B8-E89D-450D-848F-CCC0D3A80066}" type="datetime1">
              <a:t>10/19/2026</a:t>
            </a:fld>
            <a:endParaRPr/>
          </a:p>
        </p:txBody>
      </p:sp>
      <p:sp>
        <p:nvSpPr>
          <p:cNvPr id="5" name="Footer Placeholder 4">
            <a:extLst>
              <a:ext uri="{FF2B5EF4-FFF2-40B4-BE49-F238E27FC236}">
                <a16:creationId xmlns:a16="http://schemas.microsoft.com/office/drawing/2014/main" id="{832C18AA-665C-9174-40C7-2700EFF77BF1}"/>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CE2C036A-33A8-E88E-99D0-2903B7C5EA4E}"/>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FBD5-1561-3932-E297-A14174187F05}"/>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2C63A73B-59E7-B791-E521-B97995C4F9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95F228BA-5DBB-745C-5F7F-6B4CA6E1B336}"/>
              </a:ext>
            </a:extLst>
          </p:cNvPr>
          <p:cNvSpPr>
            <a:spLocks noGrp="1"/>
          </p:cNvSpPr>
          <p:nvPr>
            <p:ph type="dt" idx="10"/>
          </p:nvPr>
        </p:nvSpPr>
        <p:spPr/>
        <p:txBody>
          <a:bodyPr/>
          <a:lstStyle/>
          <a:p>
            <a:fld id="{6E451025-BBAB-4BD1-9DF2-DE64D763EA4D}" type="datetime1">
              <a:t>10/19/2026</a:t>
            </a:fld>
            <a:endParaRPr/>
          </a:p>
        </p:txBody>
      </p:sp>
      <p:sp>
        <p:nvSpPr>
          <p:cNvPr id="5" name="Footer Placeholder 4">
            <a:extLst>
              <a:ext uri="{FF2B5EF4-FFF2-40B4-BE49-F238E27FC236}">
                <a16:creationId xmlns:a16="http://schemas.microsoft.com/office/drawing/2014/main" id="{80566780-0A65-9A5C-D8B4-219B02057C89}"/>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C3372F2B-5703-1917-0A03-01068F1345A8}"/>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012EB-C7E9-76BE-0540-9539DA88967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BCFC33C-641D-27E9-8511-1DA0B2D9E4E4}"/>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226661FD-66D9-9C58-FC7C-869A43023EC5}"/>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95E4514F-A4CC-1761-9CEA-1FC19B4F7B7F}"/>
              </a:ext>
            </a:extLst>
          </p:cNvPr>
          <p:cNvSpPr>
            <a:spLocks noGrp="1"/>
          </p:cNvSpPr>
          <p:nvPr>
            <p:ph type="dt" idx="10"/>
          </p:nvPr>
        </p:nvSpPr>
        <p:spPr/>
        <p:txBody>
          <a:bodyPr/>
          <a:lstStyle/>
          <a:p>
            <a:fld id="{3C7DA566-B459-4C7A-85E5-C2A7C24A1420}" type="datetime1">
              <a:t>10/19/2026</a:t>
            </a:fld>
            <a:endParaRPr/>
          </a:p>
        </p:txBody>
      </p:sp>
      <p:sp>
        <p:nvSpPr>
          <p:cNvPr id="6" name="Footer Placeholder 5">
            <a:extLst>
              <a:ext uri="{FF2B5EF4-FFF2-40B4-BE49-F238E27FC236}">
                <a16:creationId xmlns:a16="http://schemas.microsoft.com/office/drawing/2014/main" id="{B1F1B018-A66A-E116-D076-220E61B8E72C}"/>
              </a:ext>
            </a:extLst>
          </p:cNvPr>
          <p:cNvSpPr>
            <a:spLocks noGrp="1"/>
          </p:cNvSpPr>
          <p:nvPr>
            <p:ph type="ftr" idx="11"/>
          </p:nvPr>
        </p:nvSpPr>
        <p:spPr/>
        <p:txBody>
          <a:bodyPr/>
          <a:lstStyle/>
          <a:p>
            <a:r>
              <a:t>Dept. of ECE, NMIT, Bengaluru</a:t>
            </a:r>
          </a:p>
        </p:txBody>
      </p:sp>
      <p:sp>
        <p:nvSpPr>
          <p:cNvPr id="7" name="Slide Number Placeholder 6">
            <a:extLst>
              <a:ext uri="{FF2B5EF4-FFF2-40B4-BE49-F238E27FC236}">
                <a16:creationId xmlns:a16="http://schemas.microsoft.com/office/drawing/2014/main" id="{CB2419CD-4D96-32BF-7F1C-E1BF7EE6154D}"/>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14BB9-4AB7-8C6A-8BFF-A3621A872B39}"/>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3E21CF5D-7A32-863B-E9E6-6BA58C5B3B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5ADB264E-C915-888B-18DA-22E34FCD2A3F}"/>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5F5859C3-3260-535B-BAB4-EA190AE0E0D5}"/>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8E67C906-088A-950B-EF70-FA0DAFD933C1}"/>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6A5F40AF-125E-31C4-B571-B32EF373BB06}"/>
              </a:ext>
            </a:extLst>
          </p:cNvPr>
          <p:cNvSpPr>
            <a:spLocks noGrp="1"/>
          </p:cNvSpPr>
          <p:nvPr>
            <p:ph type="dt" idx="10"/>
          </p:nvPr>
        </p:nvSpPr>
        <p:spPr/>
        <p:txBody>
          <a:bodyPr/>
          <a:lstStyle/>
          <a:p>
            <a:fld id="{15763DEA-064E-425A-A301-4B3BA0502A3F}" type="datetime1">
              <a:t>10/19/2026</a:t>
            </a:fld>
            <a:endParaRPr/>
          </a:p>
        </p:txBody>
      </p:sp>
      <p:sp>
        <p:nvSpPr>
          <p:cNvPr id="8" name="Footer Placeholder 7">
            <a:extLst>
              <a:ext uri="{FF2B5EF4-FFF2-40B4-BE49-F238E27FC236}">
                <a16:creationId xmlns:a16="http://schemas.microsoft.com/office/drawing/2014/main" id="{7F1D0E3D-EC0A-214F-AE51-D3A6DA70B7F5}"/>
              </a:ext>
            </a:extLst>
          </p:cNvPr>
          <p:cNvSpPr>
            <a:spLocks noGrp="1"/>
          </p:cNvSpPr>
          <p:nvPr>
            <p:ph type="ftr" idx="11"/>
          </p:nvPr>
        </p:nvSpPr>
        <p:spPr/>
        <p:txBody>
          <a:bodyPr/>
          <a:lstStyle/>
          <a:p>
            <a:r>
              <a:t>Dept. of ECE, NMIT, Bengaluru</a:t>
            </a:r>
          </a:p>
        </p:txBody>
      </p:sp>
      <p:sp>
        <p:nvSpPr>
          <p:cNvPr id="9" name="Slide Number Placeholder 8">
            <a:extLst>
              <a:ext uri="{FF2B5EF4-FFF2-40B4-BE49-F238E27FC236}">
                <a16:creationId xmlns:a16="http://schemas.microsoft.com/office/drawing/2014/main" id="{C11E67A1-465D-9A8A-60C8-9F260A5F3124}"/>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29077-248C-58C0-5973-D9AC97BC11C4}"/>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ECDA6BA2-43B1-8708-AB4E-AA8A134DE086}"/>
              </a:ext>
            </a:extLst>
          </p:cNvPr>
          <p:cNvSpPr>
            <a:spLocks noGrp="1"/>
          </p:cNvSpPr>
          <p:nvPr>
            <p:ph type="dt" idx="10"/>
          </p:nvPr>
        </p:nvSpPr>
        <p:spPr/>
        <p:txBody>
          <a:bodyPr/>
          <a:lstStyle/>
          <a:p>
            <a:fld id="{438D0107-E616-461D-9207-52B0BDAA9751}" type="datetime1">
              <a:t>10/19/2026</a:t>
            </a:fld>
            <a:endParaRPr/>
          </a:p>
        </p:txBody>
      </p:sp>
      <p:sp>
        <p:nvSpPr>
          <p:cNvPr id="4" name="Footer Placeholder 3">
            <a:extLst>
              <a:ext uri="{FF2B5EF4-FFF2-40B4-BE49-F238E27FC236}">
                <a16:creationId xmlns:a16="http://schemas.microsoft.com/office/drawing/2014/main" id="{69113DAA-528F-ACAE-BCFF-72E4C3714E9F}"/>
              </a:ext>
            </a:extLst>
          </p:cNvPr>
          <p:cNvSpPr>
            <a:spLocks noGrp="1"/>
          </p:cNvSpPr>
          <p:nvPr>
            <p:ph type="ftr" idx="11"/>
          </p:nvPr>
        </p:nvSpPr>
        <p:spPr/>
        <p:txBody>
          <a:bodyPr/>
          <a:lstStyle/>
          <a:p>
            <a:r>
              <a:t>Dept. of ECE, NMIT, Bengaluru</a:t>
            </a:r>
          </a:p>
        </p:txBody>
      </p:sp>
      <p:sp>
        <p:nvSpPr>
          <p:cNvPr id="5" name="Slide Number Placeholder 4">
            <a:extLst>
              <a:ext uri="{FF2B5EF4-FFF2-40B4-BE49-F238E27FC236}">
                <a16:creationId xmlns:a16="http://schemas.microsoft.com/office/drawing/2014/main" id="{96EE596D-B02B-5ECD-DEA8-8B5F226A5680}"/>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A7191E-B112-54E5-E29A-F71A7DF454CB}"/>
              </a:ext>
            </a:extLst>
          </p:cNvPr>
          <p:cNvSpPr>
            <a:spLocks noGrp="1"/>
          </p:cNvSpPr>
          <p:nvPr>
            <p:ph type="dt" idx="10"/>
          </p:nvPr>
        </p:nvSpPr>
        <p:spPr/>
        <p:txBody>
          <a:bodyPr/>
          <a:lstStyle/>
          <a:p>
            <a:fld id="{050B6DF2-7F2A-4D21-830E-C34D54E5DB26}" type="datetime1">
              <a:t>10/19/2026</a:t>
            </a:fld>
            <a:endParaRPr/>
          </a:p>
        </p:txBody>
      </p:sp>
      <p:sp>
        <p:nvSpPr>
          <p:cNvPr id="3" name="Footer Placeholder 2">
            <a:extLst>
              <a:ext uri="{FF2B5EF4-FFF2-40B4-BE49-F238E27FC236}">
                <a16:creationId xmlns:a16="http://schemas.microsoft.com/office/drawing/2014/main" id="{D33BDEFE-732E-C016-6AB1-9E18E867B587}"/>
              </a:ext>
            </a:extLst>
          </p:cNvPr>
          <p:cNvSpPr>
            <a:spLocks noGrp="1"/>
          </p:cNvSpPr>
          <p:nvPr>
            <p:ph type="ftr" idx="11"/>
          </p:nvPr>
        </p:nvSpPr>
        <p:spPr/>
        <p:txBody>
          <a:bodyPr/>
          <a:lstStyle/>
          <a:p>
            <a:r>
              <a:t>Dept. of ECE, NMIT, Bengaluru</a:t>
            </a:r>
          </a:p>
        </p:txBody>
      </p:sp>
      <p:sp>
        <p:nvSpPr>
          <p:cNvPr id="4" name="Slide Number Placeholder 3">
            <a:extLst>
              <a:ext uri="{FF2B5EF4-FFF2-40B4-BE49-F238E27FC236}">
                <a16:creationId xmlns:a16="http://schemas.microsoft.com/office/drawing/2014/main" id="{417B749E-E48B-CAF5-E430-6FE27ED57E7F}"/>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4B7CA-0679-E8C0-23AD-92B1DFE0E6DA}"/>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79A98F6F-E9AC-DC82-132D-29B0BBC4F473}"/>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960FA807-3DD8-13E7-498A-153246EE0A06}"/>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E7B0A236-2402-8ACA-6847-F03201A03C88}"/>
              </a:ext>
            </a:extLst>
          </p:cNvPr>
          <p:cNvSpPr>
            <a:spLocks noGrp="1"/>
          </p:cNvSpPr>
          <p:nvPr>
            <p:ph type="dt" idx="10"/>
          </p:nvPr>
        </p:nvSpPr>
        <p:spPr/>
        <p:txBody>
          <a:bodyPr/>
          <a:lstStyle/>
          <a:p>
            <a:fld id="{7E140C3B-5552-4017-A7F7-1D3DC73ABB6C}" type="datetime1">
              <a:t>10/19/2026</a:t>
            </a:fld>
            <a:endParaRPr/>
          </a:p>
        </p:txBody>
      </p:sp>
      <p:sp>
        <p:nvSpPr>
          <p:cNvPr id="6" name="Footer Placeholder 5">
            <a:extLst>
              <a:ext uri="{FF2B5EF4-FFF2-40B4-BE49-F238E27FC236}">
                <a16:creationId xmlns:a16="http://schemas.microsoft.com/office/drawing/2014/main" id="{9FA06F1D-F4E2-655D-0ECB-0762E4A519FB}"/>
              </a:ext>
            </a:extLst>
          </p:cNvPr>
          <p:cNvSpPr>
            <a:spLocks noGrp="1"/>
          </p:cNvSpPr>
          <p:nvPr>
            <p:ph type="ftr" idx="11"/>
          </p:nvPr>
        </p:nvSpPr>
        <p:spPr/>
        <p:txBody>
          <a:bodyPr/>
          <a:lstStyle/>
          <a:p>
            <a:r>
              <a:t>Dept. of ECE, NMIT, Bengaluru</a:t>
            </a:r>
          </a:p>
        </p:txBody>
      </p:sp>
      <p:sp>
        <p:nvSpPr>
          <p:cNvPr id="7" name="Slide Number Placeholder 6">
            <a:extLst>
              <a:ext uri="{FF2B5EF4-FFF2-40B4-BE49-F238E27FC236}">
                <a16:creationId xmlns:a16="http://schemas.microsoft.com/office/drawing/2014/main" id="{9D059C62-9D81-A148-F3A8-E735B1A707C3}"/>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A4FF6-EEF0-8B97-696A-746280ACA59A}"/>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F2097AEC-9604-18F5-B68A-9DDAC80CB6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ABF86077-F677-6962-4FED-10D159B67E32}"/>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B3114E18-CA26-8F9E-AC5A-76906484DCB9}"/>
              </a:ext>
            </a:extLst>
          </p:cNvPr>
          <p:cNvSpPr>
            <a:spLocks noGrp="1"/>
          </p:cNvSpPr>
          <p:nvPr>
            <p:ph type="dt" idx="10"/>
          </p:nvPr>
        </p:nvSpPr>
        <p:spPr/>
        <p:txBody>
          <a:bodyPr/>
          <a:lstStyle/>
          <a:p>
            <a:fld id="{08762C1D-5720-48A1-898D-8041400C55BC}" type="datetime1">
              <a:t>10/19/2026</a:t>
            </a:fld>
            <a:endParaRPr/>
          </a:p>
        </p:txBody>
      </p:sp>
      <p:sp>
        <p:nvSpPr>
          <p:cNvPr id="6" name="Footer Placeholder 5">
            <a:extLst>
              <a:ext uri="{FF2B5EF4-FFF2-40B4-BE49-F238E27FC236}">
                <a16:creationId xmlns:a16="http://schemas.microsoft.com/office/drawing/2014/main" id="{7AA36461-552C-E633-1CF0-DB8BC7B43996}"/>
              </a:ext>
            </a:extLst>
          </p:cNvPr>
          <p:cNvSpPr>
            <a:spLocks noGrp="1"/>
          </p:cNvSpPr>
          <p:nvPr>
            <p:ph type="ftr" idx="11"/>
          </p:nvPr>
        </p:nvSpPr>
        <p:spPr/>
        <p:txBody>
          <a:bodyPr/>
          <a:lstStyle/>
          <a:p>
            <a:r>
              <a:t>Dept. of ECE, NMIT, Bengaluru</a:t>
            </a:r>
          </a:p>
        </p:txBody>
      </p:sp>
      <p:sp>
        <p:nvSpPr>
          <p:cNvPr id="7" name="Slide Number Placeholder 6">
            <a:extLst>
              <a:ext uri="{FF2B5EF4-FFF2-40B4-BE49-F238E27FC236}">
                <a16:creationId xmlns:a16="http://schemas.microsoft.com/office/drawing/2014/main" id="{4365D169-0627-C229-C26B-84AA64B38361}"/>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5CB26-31EA-5AE3-3E63-6F2EFEC5C15A}"/>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36815B1A-9C33-E8AE-6618-E625DB8E7DA4}"/>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088B927-04A1-6ACB-7D83-CF9A45497181}"/>
              </a:ext>
            </a:extLst>
          </p:cNvPr>
          <p:cNvSpPr>
            <a:spLocks noGrp="1"/>
          </p:cNvSpPr>
          <p:nvPr>
            <p:ph type="dt" idx="10"/>
          </p:nvPr>
        </p:nvSpPr>
        <p:spPr/>
        <p:txBody>
          <a:bodyPr/>
          <a:lstStyle/>
          <a:p>
            <a:fld id="{D1C140E7-F52A-4119-97FF-78F9513B4388}" type="datetime1">
              <a:t>10/19/2026</a:t>
            </a:fld>
            <a:endParaRPr/>
          </a:p>
        </p:txBody>
      </p:sp>
      <p:sp>
        <p:nvSpPr>
          <p:cNvPr id="5" name="Footer Placeholder 4">
            <a:extLst>
              <a:ext uri="{FF2B5EF4-FFF2-40B4-BE49-F238E27FC236}">
                <a16:creationId xmlns:a16="http://schemas.microsoft.com/office/drawing/2014/main" id="{E7E9898D-9F32-B8B8-1CB9-8DAEBCCF6BC0}"/>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C3F0E129-A7D7-908A-2DB9-C14597E8F088}"/>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2730AC-48F0-F0FE-FE21-835054F7282A}"/>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F894533-AC0F-B196-504E-399428B58639}"/>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42A9436-E8A2-F71D-A637-B20EA1490A07}"/>
              </a:ext>
            </a:extLst>
          </p:cNvPr>
          <p:cNvSpPr>
            <a:spLocks noGrp="1"/>
          </p:cNvSpPr>
          <p:nvPr>
            <p:ph type="dt" idx="10"/>
          </p:nvPr>
        </p:nvSpPr>
        <p:spPr/>
        <p:txBody>
          <a:bodyPr/>
          <a:lstStyle/>
          <a:p>
            <a:fld id="{34E1CFB4-31DA-40A2-AE2B-F9FC033D0834}" type="datetime1">
              <a:t>10/19/2026</a:t>
            </a:fld>
            <a:endParaRPr/>
          </a:p>
        </p:txBody>
      </p:sp>
      <p:sp>
        <p:nvSpPr>
          <p:cNvPr id="5" name="Footer Placeholder 4">
            <a:extLst>
              <a:ext uri="{FF2B5EF4-FFF2-40B4-BE49-F238E27FC236}">
                <a16:creationId xmlns:a16="http://schemas.microsoft.com/office/drawing/2014/main" id="{3A1BF561-DBF4-21B8-CB10-BC790D209410}"/>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F2FADF1E-7BDA-43E8-BEF6-6F3FA39F5E6B}"/>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4D745-0B20-BBAA-074F-EF62988991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2EFF7C1-57C4-8D79-46D3-BDDCA99C45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3CCF0EC-6478-6AA0-39C5-5817AD45084B}"/>
              </a:ext>
            </a:extLst>
          </p:cNvPr>
          <p:cNvSpPr>
            <a:spLocks noGrp="1"/>
          </p:cNvSpPr>
          <p:nvPr>
            <p:ph type="dt" sz="half" idx="10"/>
          </p:nvPr>
        </p:nvSpPr>
        <p:spPr/>
        <p:txBody>
          <a:bodyPr/>
          <a:lstStyle/>
          <a:p>
            <a:fld id="{DCC65D64-61A9-40CD-B94D-857C621C06A3}" type="datetime1">
              <a:rPr lang="en-IN"/>
              <a:t>19-10-2026</a:t>
            </a:fld>
            <a:endParaRPr lang="en-IN"/>
          </a:p>
        </p:txBody>
      </p:sp>
      <p:sp>
        <p:nvSpPr>
          <p:cNvPr id="5" name="Footer Placeholder 4">
            <a:extLst>
              <a:ext uri="{FF2B5EF4-FFF2-40B4-BE49-F238E27FC236}">
                <a16:creationId xmlns:a16="http://schemas.microsoft.com/office/drawing/2014/main" id="{698BCB53-894F-5921-306C-CB1B74E5C147}"/>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70334AD7-6A1F-1788-A433-EC6F920012BA}"/>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5598052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E90A8-DEF0-CAF0-21F0-8DA2786EE9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7C1FC8-0708-512D-2CA8-4E94945F6E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A0AE94-1A7F-8535-63EB-8091A1D29503}"/>
              </a:ext>
            </a:extLst>
          </p:cNvPr>
          <p:cNvSpPr>
            <a:spLocks noGrp="1"/>
          </p:cNvSpPr>
          <p:nvPr>
            <p:ph type="dt" sz="half" idx="10"/>
          </p:nvPr>
        </p:nvSpPr>
        <p:spPr/>
        <p:txBody>
          <a:bodyPr/>
          <a:lstStyle/>
          <a:p>
            <a:fld id="{E250B2B8-E89D-450D-848F-CCC0D3A80066}" type="datetime1">
              <a:rPr lang="en-IN"/>
              <a:t>19-10-2026</a:t>
            </a:fld>
            <a:endParaRPr lang="en-IN"/>
          </a:p>
        </p:txBody>
      </p:sp>
      <p:sp>
        <p:nvSpPr>
          <p:cNvPr id="5" name="Footer Placeholder 4">
            <a:extLst>
              <a:ext uri="{FF2B5EF4-FFF2-40B4-BE49-F238E27FC236}">
                <a16:creationId xmlns:a16="http://schemas.microsoft.com/office/drawing/2014/main" id="{832C18AA-665C-9174-40C7-2700EFF77BF1}"/>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E2C036A-33A8-E88E-99D0-2903B7C5EA4E}"/>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2517909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FBD5-1561-3932-E297-A14174187F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C63A73B-59E7-B791-E521-B97995C4F9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F228BA-5DBB-745C-5F7F-6B4CA6E1B336}"/>
              </a:ext>
            </a:extLst>
          </p:cNvPr>
          <p:cNvSpPr>
            <a:spLocks noGrp="1"/>
          </p:cNvSpPr>
          <p:nvPr>
            <p:ph type="dt" sz="half" idx="10"/>
          </p:nvPr>
        </p:nvSpPr>
        <p:spPr/>
        <p:txBody>
          <a:bodyPr/>
          <a:lstStyle/>
          <a:p>
            <a:fld id="{6E451025-BBAB-4BD1-9DF2-DE64D763EA4D}" type="datetime1">
              <a:rPr lang="en-IN"/>
              <a:t>19-10-2026</a:t>
            </a:fld>
            <a:endParaRPr lang="en-IN"/>
          </a:p>
        </p:txBody>
      </p:sp>
      <p:sp>
        <p:nvSpPr>
          <p:cNvPr id="5" name="Footer Placeholder 4">
            <a:extLst>
              <a:ext uri="{FF2B5EF4-FFF2-40B4-BE49-F238E27FC236}">
                <a16:creationId xmlns:a16="http://schemas.microsoft.com/office/drawing/2014/main" id="{80566780-0A65-9A5C-D8B4-219B02057C89}"/>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3372F2B-5703-1917-0A03-01068F1345A8}"/>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9493980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012EB-C7E9-76BE-0540-9539DA8896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CFC33C-641D-27E9-8511-1DA0B2D9E4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26661FD-66D9-9C58-FC7C-869A43023E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E4514F-A4CC-1761-9CEA-1FC19B4F7B7F}"/>
              </a:ext>
            </a:extLst>
          </p:cNvPr>
          <p:cNvSpPr>
            <a:spLocks noGrp="1"/>
          </p:cNvSpPr>
          <p:nvPr>
            <p:ph type="dt" sz="half" idx="10"/>
          </p:nvPr>
        </p:nvSpPr>
        <p:spPr/>
        <p:txBody>
          <a:bodyPr/>
          <a:lstStyle/>
          <a:p>
            <a:fld id="{3C7DA566-B459-4C7A-85E5-C2A7C24A1420}" type="datetime1">
              <a:rPr lang="en-IN"/>
              <a:t>19-10-2026</a:t>
            </a:fld>
            <a:endParaRPr lang="en-IN"/>
          </a:p>
        </p:txBody>
      </p:sp>
      <p:sp>
        <p:nvSpPr>
          <p:cNvPr id="6" name="Footer Placeholder 5">
            <a:extLst>
              <a:ext uri="{FF2B5EF4-FFF2-40B4-BE49-F238E27FC236}">
                <a16:creationId xmlns:a16="http://schemas.microsoft.com/office/drawing/2014/main" id="{B1F1B018-A66A-E116-D076-220E61B8E72C}"/>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CB2419CD-4D96-32BF-7F1C-E1BF7EE6154D}"/>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2235594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14BB9-4AB7-8C6A-8BFF-A3621A872B3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E21CF5D-7A32-863B-E9E6-6BA58C5B3B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DB264E-C915-888B-18DA-22E34FCD2A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F5859C3-3260-535B-BAB4-EA190AE0E0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67C906-088A-950B-EF70-FA0DAFD933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5F40AF-125E-31C4-B571-B32EF373BB06}"/>
              </a:ext>
            </a:extLst>
          </p:cNvPr>
          <p:cNvSpPr>
            <a:spLocks noGrp="1"/>
          </p:cNvSpPr>
          <p:nvPr>
            <p:ph type="dt" sz="half" idx="10"/>
          </p:nvPr>
        </p:nvSpPr>
        <p:spPr/>
        <p:txBody>
          <a:bodyPr/>
          <a:lstStyle/>
          <a:p>
            <a:fld id="{15763DEA-064E-425A-A301-4B3BA0502A3F}" type="datetime1">
              <a:rPr lang="en-IN"/>
              <a:t>19-10-2026</a:t>
            </a:fld>
            <a:endParaRPr lang="en-IN"/>
          </a:p>
        </p:txBody>
      </p:sp>
      <p:sp>
        <p:nvSpPr>
          <p:cNvPr id="8" name="Footer Placeholder 7">
            <a:extLst>
              <a:ext uri="{FF2B5EF4-FFF2-40B4-BE49-F238E27FC236}">
                <a16:creationId xmlns:a16="http://schemas.microsoft.com/office/drawing/2014/main" id="{7F1D0E3D-EC0A-214F-AE51-D3A6DA70B7F5}"/>
              </a:ext>
            </a:extLst>
          </p:cNvPr>
          <p:cNvSpPr>
            <a:spLocks noGrp="1"/>
          </p:cNvSpPr>
          <p:nvPr>
            <p:ph type="ftr" sz="quarter" idx="11"/>
          </p:nvPr>
        </p:nvSpPr>
        <p:spPr/>
        <p:txBody>
          <a:bodyPr/>
          <a:lstStyle/>
          <a:p>
            <a:r>
              <a:rPr lang="en-US"/>
              <a:t>Dept. of ECE, NMIT, Bengaluru</a:t>
            </a:r>
            <a:endParaRPr lang="en-IN"/>
          </a:p>
        </p:txBody>
      </p:sp>
      <p:sp>
        <p:nvSpPr>
          <p:cNvPr id="9" name="Slide Number Placeholder 8">
            <a:extLst>
              <a:ext uri="{FF2B5EF4-FFF2-40B4-BE49-F238E27FC236}">
                <a16:creationId xmlns:a16="http://schemas.microsoft.com/office/drawing/2014/main" id="{C11E67A1-465D-9A8A-60C8-9F260A5F3124}"/>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18158929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29077-248C-58C0-5973-D9AC97BC11C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CDA6BA2-43B1-8708-AB4E-AA8A134DE086}"/>
              </a:ext>
            </a:extLst>
          </p:cNvPr>
          <p:cNvSpPr>
            <a:spLocks noGrp="1"/>
          </p:cNvSpPr>
          <p:nvPr>
            <p:ph type="dt" sz="half" idx="10"/>
          </p:nvPr>
        </p:nvSpPr>
        <p:spPr/>
        <p:txBody>
          <a:bodyPr/>
          <a:lstStyle/>
          <a:p>
            <a:fld id="{438D0107-E616-461D-9207-52B0BDAA9751}" type="datetime1">
              <a:rPr lang="en-IN"/>
              <a:t>19-10-2026</a:t>
            </a:fld>
            <a:endParaRPr lang="en-IN"/>
          </a:p>
        </p:txBody>
      </p:sp>
      <p:sp>
        <p:nvSpPr>
          <p:cNvPr id="4" name="Footer Placeholder 3">
            <a:extLst>
              <a:ext uri="{FF2B5EF4-FFF2-40B4-BE49-F238E27FC236}">
                <a16:creationId xmlns:a16="http://schemas.microsoft.com/office/drawing/2014/main" id="{69113DAA-528F-ACAE-BCFF-72E4C3714E9F}"/>
              </a:ext>
            </a:extLst>
          </p:cNvPr>
          <p:cNvSpPr>
            <a:spLocks noGrp="1"/>
          </p:cNvSpPr>
          <p:nvPr>
            <p:ph type="ftr" sz="quarter" idx="11"/>
          </p:nvPr>
        </p:nvSpPr>
        <p:spPr/>
        <p:txBody>
          <a:bodyPr/>
          <a:lstStyle/>
          <a:p>
            <a:r>
              <a:rPr lang="en-US"/>
              <a:t>Dept. of ECE, NMIT, Bengaluru</a:t>
            </a:r>
            <a:endParaRPr lang="en-IN"/>
          </a:p>
        </p:txBody>
      </p:sp>
      <p:sp>
        <p:nvSpPr>
          <p:cNvPr id="5" name="Slide Number Placeholder 4">
            <a:extLst>
              <a:ext uri="{FF2B5EF4-FFF2-40B4-BE49-F238E27FC236}">
                <a16:creationId xmlns:a16="http://schemas.microsoft.com/office/drawing/2014/main" id="{96EE596D-B02B-5ECD-DEA8-8B5F226A5680}"/>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5627191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A7191E-B112-54E5-E29A-F71A7DF454CB}"/>
              </a:ext>
            </a:extLst>
          </p:cNvPr>
          <p:cNvSpPr>
            <a:spLocks noGrp="1"/>
          </p:cNvSpPr>
          <p:nvPr>
            <p:ph type="dt" sz="half" idx="10"/>
          </p:nvPr>
        </p:nvSpPr>
        <p:spPr/>
        <p:txBody>
          <a:bodyPr/>
          <a:lstStyle/>
          <a:p>
            <a:fld id="{050B6DF2-7F2A-4D21-830E-C34D54E5DB26}" type="datetime1">
              <a:rPr lang="en-IN"/>
              <a:t>19-10-2026</a:t>
            </a:fld>
            <a:endParaRPr lang="en-IN"/>
          </a:p>
        </p:txBody>
      </p:sp>
      <p:sp>
        <p:nvSpPr>
          <p:cNvPr id="3" name="Footer Placeholder 2">
            <a:extLst>
              <a:ext uri="{FF2B5EF4-FFF2-40B4-BE49-F238E27FC236}">
                <a16:creationId xmlns:a16="http://schemas.microsoft.com/office/drawing/2014/main" id="{D33BDEFE-732E-C016-6AB1-9E18E867B587}"/>
              </a:ext>
            </a:extLst>
          </p:cNvPr>
          <p:cNvSpPr>
            <a:spLocks noGrp="1"/>
          </p:cNvSpPr>
          <p:nvPr>
            <p:ph type="ftr" sz="quarter" idx="11"/>
          </p:nvPr>
        </p:nvSpPr>
        <p:spPr/>
        <p:txBody>
          <a:bodyPr/>
          <a:lstStyle/>
          <a:p>
            <a:r>
              <a:rPr lang="en-US"/>
              <a:t>Dept. of ECE, NMIT, Bengaluru</a:t>
            </a:r>
            <a:endParaRPr lang="en-IN"/>
          </a:p>
        </p:txBody>
      </p:sp>
      <p:sp>
        <p:nvSpPr>
          <p:cNvPr id="4" name="Slide Number Placeholder 3">
            <a:extLst>
              <a:ext uri="{FF2B5EF4-FFF2-40B4-BE49-F238E27FC236}">
                <a16:creationId xmlns:a16="http://schemas.microsoft.com/office/drawing/2014/main" id="{417B749E-E48B-CAF5-E430-6FE27ED57E7F}"/>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29324828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4B7CA-0679-E8C0-23AD-92B1DFE0E6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9A98F6F-E9AC-DC82-132D-29B0BBC4F4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60FA807-3DD8-13E7-498A-153246EE0A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B0A236-2402-8ACA-6847-F03201A03C88}"/>
              </a:ext>
            </a:extLst>
          </p:cNvPr>
          <p:cNvSpPr>
            <a:spLocks noGrp="1"/>
          </p:cNvSpPr>
          <p:nvPr>
            <p:ph type="dt" sz="half" idx="10"/>
          </p:nvPr>
        </p:nvSpPr>
        <p:spPr/>
        <p:txBody>
          <a:bodyPr/>
          <a:lstStyle/>
          <a:p>
            <a:fld id="{7E140C3B-5552-4017-A7F7-1D3DC73ABB6C}" type="datetime1">
              <a:rPr lang="en-IN"/>
              <a:t>19-10-2026</a:t>
            </a:fld>
            <a:endParaRPr lang="en-IN"/>
          </a:p>
        </p:txBody>
      </p:sp>
      <p:sp>
        <p:nvSpPr>
          <p:cNvPr id="6" name="Footer Placeholder 5">
            <a:extLst>
              <a:ext uri="{FF2B5EF4-FFF2-40B4-BE49-F238E27FC236}">
                <a16:creationId xmlns:a16="http://schemas.microsoft.com/office/drawing/2014/main" id="{9FA06F1D-F4E2-655D-0ECB-0762E4A519FB}"/>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9D059C62-9D81-A148-F3A8-E735B1A707C3}"/>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41993549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A4FF6-EEF0-8B97-696A-746280ACA5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097AEC-9604-18F5-B68A-9DDAC80CB6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BF86077-F677-6962-4FED-10D159B67E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114E18-CA26-8F9E-AC5A-76906484DCB9}"/>
              </a:ext>
            </a:extLst>
          </p:cNvPr>
          <p:cNvSpPr>
            <a:spLocks noGrp="1"/>
          </p:cNvSpPr>
          <p:nvPr>
            <p:ph type="dt" sz="half" idx="10"/>
          </p:nvPr>
        </p:nvSpPr>
        <p:spPr/>
        <p:txBody>
          <a:bodyPr/>
          <a:lstStyle/>
          <a:p>
            <a:fld id="{08762C1D-5720-48A1-898D-8041400C55BC}" type="datetime1">
              <a:rPr lang="en-IN"/>
              <a:t>19-10-2026</a:t>
            </a:fld>
            <a:endParaRPr lang="en-IN"/>
          </a:p>
        </p:txBody>
      </p:sp>
      <p:sp>
        <p:nvSpPr>
          <p:cNvPr id="6" name="Footer Placeholder 5">
            <a:extLst>
              <a:ext uri="{FF2B5EF4-FFF2-40B4-BE49-F238E27FC236}">
                <a16:creationId xmlns:a16="http://schemas.microsoft.com/office/drawing/2014/main" id="{7AA36461-552C-E633-1CF0-DB8BC7B43996}"/>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4365D169-0627-C229-C26B-84AA64B38361}"/>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1705029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5CB26-31EA-5AE3-3E63-6F2EFEC5C15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815B1A-9C33-E8AE-6618-E625DB8E7D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88B927-04A1-6ACB-7D83-CF9A45497181}"/>
              </a:ext>
            </a:extLst>
          </p:cNvPr>
          <p:cNvSpPr>
            <a:spLocks noGrp="1"/>
          </p:cNvSpPr>
          <p:nvPr>
            <p:ph type="dt" sz="half" idx="10"/>
          </p:nvPr>
        </p:nvSpPr>
        <p:spPr/>
        <p:txBody>
          <a:bodyPr/>
          <a:lstStyle/>
          <a:p>
            <a:fld id="{D1C140E7-F52A-4119-97FF-78F9513B4388}" type="datetime1">
              <a:rPr lang="en-IN"/>
              <a:t>19-10-2026</a:t>
            </a:fld>
            <a:endParaRPr lang="en-IN"/>
          </a:p>
        </p:txBody>
      </p:sp>
      <p:sp>
        <p:nvSpPr>
          <p:cNvPr id="5" name="Footer Placeholder 4">
            <a:extLst>
              <a:ext uri="{FF2B5EF4-FFF2-40B4-BE49-F238E27FC236}">
                <a16:creationId xmlns:a16="http://schemas.microsoft.com/office/drawing/2014/main" id="{E7E9898D-9F32-B8B8-1CB9-8DAEBCCF6BC0}"/>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3F0E129-A7D7-908A-2DB9-C14597E8F088}"/>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1575373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2730AC-48F0-F0FE-FE21-835054F7282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894533-AC0F-B196-504E-399428B586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2A9436-E8A2-F71D-A637-B20EA1490A07}"/>
              </a:ext>
            </a:extLst>
          </p:cNvPr>
          <p:cNvSpPr>
            <a:spLocks noGrp="1"/>
          </p:cNvSpPr>
          <p:nvPr>
            <p:ph type="dt" sz="half" idx="10"/>
          </p:nvPr>
        </p:nvSpPr>
        <p:spPr/>
        <p:txBody>
          <a:bodyPr/>
          <a:lstStyle/>
          <a:p>
            <a:fld id="{34E1CFB4-31DA-40A2-AE2B-F9FC033D0834}" type="datetime1">
              <a:rPr lang="en-IN"/>
              <a:t>19-10-2026</a:t>
            </a:fld>
            <a:endParaRPr lang="en-IN"/>
          </a:p>
        </p:txBody>
      </p:sp>
      <p:sp>
        <p:nvSpPr>
          <p:cNvPr id="5" name="Footer Placeholder 4">
            <a:extLst>
              <a:ext uri="{FF2B5EF4-FFF2-40B4-BE49-F238E27FC236}">
                <a16:creationId xmlns:a16="http://schemas.microsoft.com/office/drawing/2014/main" id="{3A1BF561-DBF4-21B8-CB10-BC790D209410}"/>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F2FADF1E-7BDA-43E8-BEF6-6F3FA39F5E6B}"/>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0342071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D4D9F3-48CF-9F1F-5BF9-D29B73C5EE1F}"/>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D05C8141-6A62-88D2-9C9C-A178134DFAD7}"/>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506B990C-8F8B-41B6-BFA9-D2812EADA711}"/>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B3E8678F-226F-4E2D-9FCF-8D6254E13B72}" type="datetime1">
              <a:t>10/19/2026</a:t>
            </a:fld>
            <a:endParaRPr/>
          </a:p>
        </p:txBody>
      </p:sp>
      <p:sp>
        <p:nvSpPr>
          <p:cNvPr id="5" name="Footer Placeholder 4">
            <a:extLst>
              <a:ext uri="{FF2B5EF4-FFF2-40B4-BE49-F238E27FC236}">
                <a16:creationId xmlns:a16="http://schemas.microsoft.com/office/drawing/2014/main" id="{451F15A3-C5A8-D8EF-2CC0-B9FB4E8C3655}"/>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r>
              <a:t>Dept. of ECE, NMIT, Bengaluru</a:t>
            </a:r>
          </a:p>
        </p:txBody>
      </p:sp>
      <p:sp>
        <p:nvSpPr>
          <p:cNvPr id="6" name="Slide Number Placeholder 5">
            <a:extLst>
              <a:ext uri="{FF2B5EF4-FFF2-40B4-BE49-F238E27FC236}">
                <a16:creationId xmlns:a16="http://schemas.microsoft.com/office/drawing/2014/main" id="{D3726CD6-7954-5145-9A9B-B583B27B2BD4}"/>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75249B9C-BF50-4540-B2D1-32A225E7564A}"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D4D9F3-48CF-9F1F-5BF9-D29B73C5EE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5C8141-6A62-88D2-9C9C-A178134DFA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6B990C-8F8B-41B6-BFA9-D2812EADA7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E8678F-226F-4E2D-9FCF-8D6254E13B72}" type="datetime1">
              <a:rPr lang="en-IN"/>
              <a:t>19-10-2026</a:t>
            </a:fld>
            <a:endParaRPr lang="en-IN"/>
          </a:p>
        </p:txBody>
      </p:sp>
      <p:sp>
        <p:nvSpPr>
          <p:cNvPr id="5" name="Footer Placeholder 4">
            <a:extLst>
              <a:ext uri="{FF2B5EF4-FFF2-40B4-BE49-F238E27FC236}">
                <a16:creationId xmlns:a16="http://schemas.microsoft.com/office/drawing/2014/main" id="{451F15A3-C5A8-D8EF-2CC0-B9FB4E8C36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Dept. of ECE, NMIT, Bengaluru</a:t>
            </a:r>
            <a:endParaRPr lang="en-IN"/>
          </a:p>
        </p:txBody>
      </p:sp>
      <p:sp>
        <p:nvSpPr>
          <p:cNvPr id="6" name="Slide Number Placeholder 5">
            <a:extLst>
              <a:ext uri="{FF2B5EF4-FFF2-40B4-BE49-F238E27FC236}">
                <a16:creationId xmlns:a16="http://schemas.microsoft.com/office/drawing/2014/main" id="{D3726CD6-7954-5145-9A9B-B583B27B2B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249B9C-BF50-4540-B2D1-32A225E7564A}" type="slidenum">
              <a:rPr lang="en-IN"/>
              <a:t>‹#›</a:t>
            </a:fld>
            <a:endParaRPr lang="en-IN"/>
          </a:p>
        </p:txBody>
      </p:sp>
    </p:spTree>
    <p:extLst>
      <p:ext uri="{BB962C8B-B14F-4D97-AF65-F5344CB8AC3E}">
        <p14:creationId xmlns:p14="http://schemas.microsoft.com/office/powerpoint/2010/main" val="496431597"/>
      </p:ext>
    </p:extLst>
  </p:cSld>
  <p:clrMap bg1="lt1" tx1="dk1" bg2="lt2" tx2="dk2" accent1="accent1" accent2="accent2" accent3="accent3" accent4="accent4" accent5="accent5" accent6="accent6" hlink="hlink" folHlink="folHlink"/>
  <p:sldLayoutIdLst>
    <p:sldLayoutId id="3000000000" r:id="rId1"/>
    <p:sldLayoutId id="3000000001" r:id="rId2"/>
    <p:sldLayoutId id="3000000002" r:id="rId3"/>
    <p:sldLayoutId id="3000000003" r:id="rId4"/>
    <p:sldLayoutId id="3000000004" r:id="rId5"/>
    <p:sldLayoutId id="3000000005" r:id="rId6"/>
    <p:sldLayoutId id="3000000006" r:id="rId7"/>
    <p:sldLayoutId id="3000000007" r:id="rId8"/>
    <p:sldLayoutId id="3000000008" r:id="rId9"/>
    <p:sldLayoutId id="3000000009" r:id="rId10"/>
    <p:sldLayoutId id="3000000010"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1074655"/>
          </a:xfrm>
          <a:solidFill>
            <a:srgbClr val="002060"/>
          </a:solidFill>
        </p:spPr>
        <p:txBody>
          <a:bodyPr>
            <a:normAutofit fontScale="90000"/>
          </a:bodyPr>
          <a:lstStyle/>
          <a:p>
            <a:pPr algn="ctr">
              <a:lnSpc>
                <a:spcPct val="115000"/>
              </a:lnSpc>
              <a:spcAft>
                <a:spcPts val="1000"/>
              </a:spcAft>
            </a:pPr>
            <a: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t>Project Work Phase-2       </a:t>
            </a:r>
            <a:b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br>
            <a: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t>7th semester  AY: 2026-27</a:t>
            </a:r>
            <a:endParaRPr lang="en-IN" sz="4000" dirty="0">
              <a:solidFill>
                <a:schemeClr val="bg1"/>
              </a:solidFill>
              <a:effectLst/>
              <a:latin typeface="Calibri" panose="020F0502020204030204" pitchFamily="34" charset="0"/>
              <a:ea typeface="Calibri" panose="020F0502020204030204" pitchFamily="34" charset="0"/>
              <a:cs typeface="Gautami" panose="020B0502040204020203" pitchFamily="34" charset="0"/>
            </a:endParaRPr>
          </a:p>
        </p:txBody>
      </p:sp>
      <p:sp>
        <p:nvSpPr>
          <p:cNvPr id="3" name="Content Placeholder 2">
            <a:extLst>
              <a:ext uri="{FF2B5EF4-FFF2-40B4-BE49-F238E27FC236}">
                <a16:creationId xmlns:a16="http://schemas.microsoft.com/office/drawing/2014/main" id="{3B6D72A9-5B77-2FAD-A296-659695D34C01}"/>
              </a:ext>
            </a:extLst>
          </p:cNvPr>
          <p:cNvSpPr>
            <a:spLocks noGrp="1"/>
          </p:cNvSpPr>
          <p:nvPr>
            <p:ph idx="1"/>
          </p:nvPr>
        </p:nvSpPr>
        <p:spPr>
          <a:xfrm>
            <a:off x="-1" y="1382565"/>
            <a:ext cx="12191999" cy="4980528"/>
          </a:xfrm>
        </p:spPr>
        <p:txBody>
          <a:bodyPr>
            <a:normAutofit fontScale="92500" lnSpcReduction="10000"/>
          </a:bodyPr>
          <a:lstStyle/>
          <a:p>
            <a:pPr marL="0" indent="0" algn="ctr">
              <a:buNone/>
            </a:pPr>
            <a:r>
              <a:rPr lang="en-US" sz="3600" b="1" dirty="0">
                <a:solidFill>
                  <a:srgbClr val="FF0000"/>
                </a:solidFill>
                <a:latin typeface="Times New Roman" panose="02020603050405020304" pitchFamily="18" charset="0"/>
                <a:cs typeface="Times New Roman" panose="02020603050405020304" pitchFamily="18" charset="0"/>
              </a:rPr>
              <a:t>Review 2 Presentation </a:t>
            </a:r>
          </a:p>
          <a:p>
            <a:pPr marL="0" indent="0">
              <a:buNone/>
            </a:pPr>
            <a:r>
              <a:rPr lang="en-US" sz="3300" b="1" dirty="0">
                <a:solidFill>
                  <a:srgbClr val="0070C0"/>
                </a:solidFill>
                <a:latin typeface="Times New Roman" panose="02020603050405020304" pitchFamily="18" charset="0"/>
                <a:cs typeface="Times New Roman" panose="02020603050405020304" pitchFamily="18" charset="0"/>
              </a:rPr>
              <a:t>Project Title: Enhancing Emergency Response Through IoT-Integrated 		     Smart Ambulance and GPS Monitoring</a:t>
            </a:r>
          </a:p>
          <a:p>
            <a:pPr marL="0" indent="0" algn="ctr">
              <a:buNone/>
            </a:pPr>
            <a:endParaRPr lang="en-US" b="1" dirty="0">
              <a:latin typeface="Times New Roman" panose="02020603050405020304" pitchFamily="18" charset="0"/>
              <a:cs typeface="Times New Roman" panose="02020603050405020304" pitchFamily="18" charset="0"/>
            </a:endParaRPr>
          </a:p>
          <a:p>
            <a:pPr marL="0" indent="0" algn="ctr">
              <a:buNone/>
            </a:pPr>
            <a:r>
              <a:rPr lang="en-US" sz="2400" b="1" dirty="0">
                <a:latin typeface="Times New Roman" panose="02020603050405020304" pitchFamily="18" charset="0"/>
                <a:cs typeface="Times New Roman" panose="02020603050405020304" pitchFamily="18" charset="0"/>
              </a:rPr>
              <a:t>Presented By</a:t>
            </a:r>
          </a:p>
          <a:p>
            <a:pPr marL="0" indent="0" algn="ctr">
              <a:buNone/>
            </a:pPr>
            <a:r>
              <a:rPr lang="en-US" sz="2100" dirty="0">
                <a:latin typeface="Times New Roman" panose="02020603050405020304" pitchFamily="18" charset="0"/>
                <a:cs typeface="Times New Roman" panose="02020603050405020304" pitchFamily="18" charset="0"/>
              </a:rPr>
              <a:t>Rahul S (1NT23EC120)</a:t>
            </a:r>
          </a:p>
          <a:p>
            <a:pPr marL="0" indent="0" algn="ctr">
              <a:buNone/>
            </a:pPr>
            <a:r>
              <a:rPr lang="en-US" sz="2100" dirty="0">
                <a:latin typeface="Times New Roman" panose="02020603050405020304" pitchFamily="18" charset="0"/>
                <a:cs typeface="Times New Roman" panose="02020603050405020304" pitchFamily="18" charset="0"/>
              </a:rPr>
              <a:t>Rakshita S Wagge (1NT23EC124)</a:t>
            </a:r>
          </a:p>
          <a:p>
            <a:pPr marL="0" indent="0" algn="ctr">
              <a:buNone/>
            </a:pPr>
            <a:r>
              <a:rPr lang="en-US" sz="2400" b="1" dirty="0">
                <a:latin typeface="Times New Roman" panose="02020603050405020304" pitchFamily="18" charset="0"/>
                <a:cs typeface="Times New Roman" panose="02020603050405020304" pitchFamily="18" charset="0"/>
              </a:rPr>
              <a:t>            </a:t>
            </a:r>
          </a:p>
          <a:p>
            <a:pPr marL="0" indent="0" algn="ctr">
              <a:buNone/>
            </a:pPr>
            <a:r>
              <a:rPr lang="en-US" sz="2400" b="1" dirty="0">
                <a:latin typeface="Times New Roman" panose="02020603050405020304" pitchFamily="18" charset="0"/>
                <a:cs typeface="Times New Roman" panose="02020603050405020304" pitchFamily="18" charset="0"/>
              </a:rPr>
              <a:t>               Project Supervisor 	</a:t>
            </a:r>
          </a:p>
          <a:p>
            <a:pPr marL="0" indent="0" algn="ctr">
              <a:buNone/>
            </a:pPr>
            <a:r>
              <a:rPr lang="en-US" sz="1600" dirty="0">
                <a:latin typeface="Times New Roman" panose="02020603050405020304" pitchFamily="18" charset="0"/>
                <a:cs typeface="Times New Roman" panose="02020603050405020304" pitchFamily="18" charset="0"/>
              </a:rPr>
              <a:t>            Dr. Manjula B M</a:t>
            </a:r>
          </a:p>
          <a:p>
            <a:pPr marL="0" indent="0" algn="ctr">
              <a:buNone/>
            </a:pPr>
            <a:r>
              <a:rPr lang="en-US" sz="1600" dirty="0">
                <a:latin typeface="Times New Roman" panose="02020603050405020304" pitchFamily="18" charset="0"/>
                <a:cs typeface="Times New Roman" panose="02020603050405020304" pitchFamily="18" charset="0"/>
              </a:rPr>
              <a:t>              Professor</a:t>
            </a:r>
          </a:p>
          <a:p>
            <a:pPr marL="0" indent="0" algn="ctr">
              <a:buNone/>
            </a:pPr>
            <a:r>
              <a:rPr lang="en-US" sz="1600" dirty="0">
                <a:latin typeface="Times New Roman" panose="02020603050405020304" pitchFamily="18" charset="0"/>
                <a:cs typeface="Times New Roman" panose="02020603050405020304" pitchFamily="18" charset="0"/>
              </a:rPr>
              <a:t>Dept. of Electronics and Communication Engineering</a:t>
            </a:r>
          </a:p>
          <a:p>
            <a:pPr marL="0" indent="0" algn="ctr">
              <a:buNone/>
            </a:pPr>
            <a:r>
              <a:rPr lang="en-US" sz="1600" dirty="0">
                <a:latin typeface="Times New Roman" panose="02020603050405020304" pitchFamily="18" charset="0"/>
                <a:cs typeface="Times New Roman" panose="02020603050405020304" pitchFamily="18" charset="0"/>
              </a:rPr>
              <a:t>         Nitte Meenakshi Institute of Technology, Yelahanka, Bangalore-560064</a:t>
            </a:r>
          </a:p>
          <a:p>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1                     </a:t>
            </a:r>
            <a:endParaRPr lang="en-IN" b="1"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E8516B0-35CE-4CCF-9551-DDE8B782C558}"/>
              </a:ext>
            </a:extLst>
          </p:cNvPr>
          <p:cNvPicPr>
            <a:picLocks noChangeAspect="1"/>
          </p:cNvPicPr>
          <p:nvPr/>
        </p:nvPicPr>
        <p:blipFill>
          <a:blip r:embed="rId3"/>
          <a:stretch>
            <a:fillRect/>
          </a:stretch>
        </p:blipFill>
        <p:spPr>
          <a:xfrm>
            <a:off x="0" y="155183"/>
            <a:ext cx="3443603" cy="770103"/>
          </a:xfrm>
          <a:prstGeom prst="rect">
            <a:avLst/>
          </a:prstGeom>
        </p:spPr>
      </p:pic>
    </p:spTree>
    <p:extLst>
      <p:ext uri="{BB962C8B-B14F-4D97-AF65-F5344CB8AC3E}">
        <p14:creationId xmlns:p14="http://schemas.microsoft.com/office/powerpoint/2010/main" val="4097255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628649"/>
          </a:xfrm>
          <a:solidFill>
            <a:srgbClr val="002060"/>
          </a:solidFill>
        </p:spPr>
        <p:txBody>
          <a:bodyPr>
            <a:normAutofit fontScale="90000"/>
          </a:bodyPr>
          <a:lstStyle/>
          <a:p>
            <a:pPr algn="ctr"/>
            <a:r>
              <a:rPr lang="en-US" sz="4800" b="1" dirty="0">
                <a:solidFill>
                  <a:schemeClr val="bg1"/>
                </a:solidFill>
                <a:latin typeface="Times New Roman" panose="02020603050405020304" pitchFamily="18" charset="0"/>
                <a:cs typeface="Times New Roman" panose="02020603050405020304" pitchFamily="18" charset="0"/>
              </a:rPr>
              <a:t>Presentation Outline</a:t>
            </a:r>
            <a:endParaRPr lang="en-IN" sz="48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B6D72A9-5B77-2FAD-A296-659695D34C01}"/>
              </a:ext>
            </a:extLst>
          </p:cNvPr>
          <p:cNvSpPr>
            <a:spLocks noGrp="1"/>
          </p:cNvSpPr>
          <p:nvPr>
            <p:ph idx="1"/>
          </p:nvPr>
        </p:nvSpPr>
        <p:spPr>
          <a:xfrm>
            <a:off x="544286" y="1382565"/>
            <a:ext cx="11038114" cy="4980528"/>
          </a:xfrm>
        </p:spPr>
        <p:txBody>
          <a:bodyPr>
            <a:normAutofit/>
          </a:bodyPr>
          <a:lstStyle/>
          <a:p>
            <a:r>
              <a:rPr lang="en-US" dirty="0">
                <a:latin typeface="Times New Roman" panose="02020603050405020304" pitchFamily="18" charset="0"/>
                <a:cs typeface="Times New Roman" panose="02020603050405020304" pitchFamily="18" charset="0"/>
              </a:rPr>
              <a:t>Objectives</a:t>
            </a:r>
          </a:p>
          <a:p>
            <a:r>
              <a:rPr lang="en-US" dirty="0">
                <a:latin typeface="Times New Roman" panose="02020603050405020304" pitchFamily="18" charset="0"/>
                <a:cs typeface="Times New Roman" panose="02020603050405020304" pitchFamily="18" charset="0"/>
              </a:rPr>
              <a:t>​Detailed Architecture &amp; Design Finalization</a:t>
            </a:r>
          </a:p>
          <a:p>
            <a:r>
              <a:rPr lang="en-US" dirty="0">
                <a:latin typeface="Times New Roman" panose="02020603050405020304" pitchFamily="18" charset="0"/>
                <a:cs typeface="Times New Roman" panose="02020603050405020304" pitchFamily="18" charset="0"/>
              </a:rPr>
              <a:t>Techniques/methods/approaches used for the proposed work</a:t>
            </a:r>
          </a:p>
          <a:p>
            <a:r>
              <a:rPr lang="en-US" dirty="0">
                <a:latin typeface="Times New Roman" panose="02020603050405020304" pitchFamily="18" charset="0"/>
                <a:cs typeface="Times New Roman" panose="02020603050405020304" pitchFamily="18" charset="0"/>
              </a:rPr>
              <a:t>​</a:t>
            </a:r>
            <a:r>
              <a:rPr lang="en-US" b="1" dirty="0">
                <a:solidFill>
                  <a:srgbClr val="0070C0"/>
                </a:solidFill>
                <a:latin typeface="Times New Roman" panose="02020603050405020304" pitchFamily="18" charset="0"/>
                <a:cs typeface="Times New Roman" panose="02020603050405020304" pitchFamily="18" charset="0"/>
              </a:rPr>
              <a:t>Functional Requirements </a:t>
            </a:r>
          </a:p>
          <a:p>
            <a:r>
              <a:rPr lang="en-US" b="1" dirty="0">
                <a:solidFill>
                  <a:srgbClr val="0070C0"/>
                </a:solidFill>
                <a:latin typeface="Times New Roman" panose="02020603050405020304" pitchFamily="18" charset="0"/>
                <a:cs typeface="Times New Roman" panose="02020603050405020304" pitchFamily="18" charset="0"/>
              </a:rPr>
              <a:t>​Non-Functional Requirements</a:t>
            </a:r>
          </a:p>
          <a:p>
            <a:r>
              <a:rPr lang="en-US" b="1" dirty="0">
                <a:solidFill>
                  <a:srgbClr val="0070C0"/>
                </a:solidFill>
                <a:latin typeface="Times New Roman" panose="02020603050405020304" pitchFamily="18" charset="0"/>
                <a:cs typeface="Times New Roman" panose="02020603050405020304" pitchFamily="18" charset="0"/>
              </a:rPr>
              <a:t>Corresponding Test Scenarios </a:t>
            </a:r>
          </a:p>
          <a:p>
            <a:r>
              <a:rPr lang="en-US" b="1" dirty="0">
                <a:solidFill>
                  <a:srgbClr val="0070C0"/>
                </a:solidFill>
                <a:latin typeface="Times New Roman" panose="02020603050405020304" pitchFamily="18" charset="0"/>
                <a:cs typeface="Times New Roman" panose="02020603050405020304" pitchFamily="18" charset="0"/>
              </a:rPr>
              <a:t>Test Cases  to validate each requirement</a:t>
            </a:r>
          </a:p>
          <a:p>
            <a:r>
              <a:rPr lang="en-US" dirty="0">
                <a:latin typeface="Times New Roman" panose="02020603050405020304" pitchFamily="18" charset="0"/>
                <a:cs typeface="Times New Roman" panose="02020603050405020304" pitchFamily="18" charset="0"/>
              </a:rPr>
              <a:t>Conclusion and Future Work</a:t>
            </a:r>
          </a:p>
          <a:p>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2                     </a:t>
            </a:r>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7401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662939"/>
          </a:xfrm>
          <a:solidFill>
            <a:srgbClr val="002060"/>
          </a:solidFill>
        </p:spPr>
        <p:txBody>
          <a:bodyPr>
            <a:normAutofit fontScale="90000"/>
          </a:bodyPr>
          <a:lstStyle/>
          <a:p>
            <a:pPr algn="ctr"/>
            <a:r>
              <a:rPr lang="en-US" sz="4800" b="1" dirty="0">
                <a:solidFill>
                  <a:schemeClr val="bg1"/>
                </a:solidFill>
                <a:latin typeface="Times New Roman" panose="02020603050405020304" pitchFamily="18" charset="0"/>
                <a:cs typeface="Times New Roman" panose="02020603050405020304" pitchFamily="18" charset="0"/>
              </a:rPr>
              <a:t>Project Objectives</a:t>
            </a:r>
            <a:endParaRPr lang="en-IN" sz="48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B6D72A9-5B77-2FAD-A296-659695D34C01}"/>
              </a:ext>
            </a:extLst>
          </p:cNvPr>
          <p:cNvSpPr>
            <a:spLocks noGrp="1"/>
          </p:cNvSpPr>
          <p:nvPr>
            <p:ph idx="1"/>
          </p:nvPr>
        </p:nvSpPr>
        <p:spPr>
          <a:xfrm>
            <a:off x="1" y="1087643"/>
            <a:ext cx="12191999" cy="4980528"/>
          </a:xfrm>
        </p:spPr>
        <p:txBody>
          <a:bodyPr>
            <a:normAutofit/>
          </a:bodyPr>
          <a:lstStyle/>
          <a:p>
            <a:pPr marL="0" indent="0" algn="just">
              <a:lnSpc>
                <a:spcPct val="115000"/>
              </a:lnSpc>
              <a:spcAft>
                <a:spcPts val="1000"/>
              </a:spcAft>
              <a:buNone/>
            </a:pPr>
            <a:r>
              <a:rPr lang="en-US" sz="2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The following are the </a:t>
            </a:r>
            <a:r>
              <a:rPr lang="en-US" sz="24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Finalized </a:t>
            </a:r>
            <a:r>
              <a:rPr lang="en-US" sz="2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objectives of the project:</a:t>
            </a:r>
            <a:endParaRPr lang="en-IN" sz="2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1. To develop a BLE-based mobile communication backbone for transmitting real-time patient vitals to a mobile application, which securely forwards data to the cloud using MQTT over TLS, with CoAP as a backup.</a:t>
            </a:r>
          </a:p>
          <a:p>
            <a:pPr marL="0" indent="0">
              <a:buNone/>
            </a:pPr>
            <a:r>
              <a:rPr lang="en-US" sz="2400" dirty="0">
                <a:latin typeface="Times New Roman" panose="02020603050405020304" pitchFamily="18" charset="0"/>
                <a:cs typeface="Times New Roman" panose="02020603050405020304" pitchFamily="18" charset="0"/>
              </a:rPr>
              <a:t>2. To integrate the existing patient health monitoring system with the mobile communication backbone for continuous vital acquisition, transmission, and remote monitoring during ambulance transit.</a:t>
            </a:r>
          </a:p>
          <a:p>
            <a:pPr marL="0" indent="0">
              <a:buNone/>
            </a:pPr>
            <a:r>
              <a:rPr lang="en-US" sz="2400" dirty="0">
                <a:latin typeface="Times New Roman" panose="02020603050405020304" pitchFamily="18" charset="0"/>
                <a:cs typeface="Times New Roman" panose="02020603050405020304" pitchFamily="18" charset="0"/>
              </a:rPr>
              <a:t>3. To implement RTOS-based concurrent task management for sensor acquisition, vital processing, communication, and local display, ensuring responsive and reliable operation.</a:t>
            </a:r>
          </a:p>
          <a:p>
            <a:pPr marL="0" indent="0">
              <a:buNone/>
            </a:pPr>
            <a:r>
              <a:rPr lang="en-US" sz="2400" dirty="0">
                <a:latin typeface="Times New Roman" panose="02020603050405020304" pitchFamily="18" charset="0"/>
                <a:cs typeface="Times New Roman" panose="02020603050405020304" pitchFamily="18" charset="0"/>
              </a:rPr>
              <a:t>4. To develop an ML-based patient risk prediction module that analyses real-time vitals, identifies potential deterioration, and classifies patient risk levels for early clinical assessment.</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8                     </a:t>
            </a:r>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3428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720089"/>
          </a:xfrm>
          <a:solidFill>
            <a:srgbClr val="002060"/>
          </a:solidFill>
        </p:spPr>
        <p:txBody>
          <a:bodyPr>
            <a:normAutofit fontScale="90000"/>
          </a:bodyPr>
          <a:lstStyle/>
          <a:p>
            <a:pPr algn="ctr"/>
            <a:r>
              <a:rPr lang="en-US" sz="4800" b="1" dirty="0">
                <a:solidFill>
                  <a:schemeClr val="bg1"/>
                </a:solidFill>
                <a:latin typeface="Times New Roman" panose="02020603050405020304" pitchFamily="18" charset="0"/>
                <a:cs typeface="Times New Roman" panose="02020603050405020304" pitchFamily="18" charset="0"/>
              </a:rPr>
              <a:t>Architecture</a:t>
            </a:r>
          </a:p>
        </p:txBody>
      </p:sp>
      <p:pic>
        <p:nvPicPr>
          <p:cNvPr id="6" name="Content Placeholder 5">
            <a:extLst>
              <a:ext uri="{FF2B5EF4-FFF2-40B4-BE49-F238E27FC236}">
                <a16:creationId xmlns:a16="http://schemas.microsoft.com/office/drawing/2014/main" id="{B5C16895-2E20-D22E-D3B7-58A798CEE4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44661" y="717979"/>
            <a:ext cx="7702677" cy="5777008"/>
          </a:xfrm>
          <a:prstGeom prst="rect">
            <a:avLst/>
          </a:prstGeom>
        </p:spPr>
      </p:pic>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8                     </a:t>
            </a:r>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3596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Arrow Connector 14">
            <a:extLst>
              <a:ext uri="{FF2B5EF4-FFF2-40B4-BE49-F238E27FC236}">
                <a16:creationId xmlns:a16="http://schemas.microsoft.com/office/drawing/2014/main" id="{543147E5-7AE6-4C6D-98A7-186F80DD2148}"/>
              </a:ext>
            </a:extLst>
          </p:cNvPr>
          <p:cNvCxnSpPr>
            <a:stCxn id="9" idx="1"/>
            <a:endCxn id="10" idx="3"/>
          </p:cNvCxnSpPr>
          <p:nvPr/>
        </p:nvCxnSpPr>
        <p:spPr>
          <a:xfrm flipH="1">
            <a:off x="3714750" y="4310063"/>
            <a:ext cx="857250" cy="0"/>
          </a:xfrm>
          <a:prstGeom prst="straightConnector1">
            <a:avLst/>
          </a:prstGeom>
          <a:ln w="19050">
            <a:solidFill>
              <a:srgbClr val="002060"/>
            </a:solidFill>
            <a:tailEnd type="arrow" w="med" len="med"/>
          </a:ln>
        </p:spPr>
      </p:cxnSp>
      <p:cxnSp>
        <p:nvCxnSpPr>
          <p:cNvPr id="14" name="Straight Arrow Connector 13">
            <a:extLst>
              <a:ext uri="{FF2B5EF4-FFF2-40B4-BE49-F238E27FC236}">
                <a16:creationId xmlns:a16="http://schemas.microsoft.com/office/drawing/2014/main" id="{510E4F8F-4B8D-4A3B-9DF5-1E376261B473}"/>
              </a:ext>
            </a:extLst>
          </p:cNvPr>
          <p:cNvCxnSpPr>
            <a:stCxn id="8" idx="1"/>
            <a:endCxn id="9" idx="3"/>
          </p:cNvCxnSpPr>
          <p:nvPr/>
        </p:nvCxnSpPr>
        <p:spPr>
          <a:xfrm flipH="1">
            <a:off x="7620000" y="4310063"/>
            <a:ext cx="857250" cy="0"/>
          </a:xfrm>
          <a:prstGeom prst="straightConnector1">
            <a:avLst/>
          </a:prstGeom>
          <a:ln w="19050">
            <a:solidFill>
              <a:srgbClr val="002060"/>
            </a:solidFill>
            <a:tailEnd type="arrow" w="med" len="med"/>
          </a:ln>
        </p:spPr>
      </p:cxnSp>
      <p:cxnSp>
        <p:nvCxnSpPr>
          <p:cNvPr id="13" name="Straight Arrow Connector 12">
            <a:extLst>
              <a:ext uri="{FF2B5EF4-FFF2-40B4-BE49-F238E27FC236}">
                <a16:creationId xmlns:a16="http://schemas.microsoft.com/office/drawing/2014/main" id="{B73E4117-5B76-4E5A-8BB5-34C221B82F7E}"/>
              </a:ext>
            </a:extLst>
          </p:cNvPr>
          <p:cNvCxnSpPr>
            <a:stCxn id="7" idx="2"/>
            <a:endCxn id="8" idx="0"/>
          </p:cNvCxnSpPr>
          <p:nvPr/>
        </p:nvCxnSpPr>
        <p:spPr>
          <a:xfrm>
            <a:off x="10001250" y="2476500"/>
            <a:ext cx="0" cy="1285875"/>
          </a:xfrm>
          <a:prstGeom prst="straightConnector1">
            <a:avLst/>
          </a:prstGeom>
          <a:ln w="19050">
            <a:solidFill>
              <a:srgbClr val="002060"/>
            </a:solidFill>
            <a:tailEnd type="arrow" w="med" len="med"/>
          </a:ln>
        </p:spPr>
      </p:cxnSp>
      <p:cxnSp>
        <p:nvCxnSpPr>
          <p:cNvPr id="12" name="Straight Arrow Connector 11">
            <a:extLst>
              <a:ext uri="{FF2B5EF4-FFF2-40B4-BE49-F238E27FC236}">
                <a16:creationId xmlns:a16="http://schemas.microsoft.com/office/drawing/2014/main" id="{09070000-C21C-4BC7-BF91-30BCC364F0F6}"/>
              </a:ext>
            </a:extLst>
          </p:cNvPr>
          <p:cNvCxnSpPr>
            <a:stCxn id="6" idx="3"/>
            <a:endCxn id="7" idx="1"/>
          </p:cNvCxnSpPr>
          <p:nvPr/>
        </p:nvCxnSpPr>
        <p:spPr>
          <a:xfrm>
            <a:off x="7620000" y="1928813"/>
            <a:ext cx="857250" cy="0"/>
          </a:xfrm>
          <a:prstGeom prst="straightConnector1">
            <a:avLst/>
          </a:prstGeom>
          <a:ln w="19050">
            <a:solidFill>
              <a:srgbClr val="002060"/>
            </a:solidFill>
            <a:tailEnd type="arrow" w="med" len="med"/>
          </a:ln>
        </p:spPr>
      </p:cxnSp>
      <p:cxnSp>
        <p:nvCxnSpPr>
          <p:cNvPr id="11" name="Straight Arrow Connector 10">
            <a:extLst>
              <a:ext uri="{FF2B5EF4-FFF2-40B4-BE49-F238E27FC236}">
                <a16:creationId xmlns:a16="http://schemas.microsoft.com/office/drawing/2014/main" id="{004B0B8E-68C5-4015-ABFD-87E112F549F5}"/>
              </a:ext>
            </a:extLst>
          </p:cNvPr>
          <p:cNvCxnSpPr>
            <a:stCxn id="5" idx="3"/>
            <a:endCxn id="6" idx="1"/>
          </p:cNvCxnSpPr>
          <p:nvPr/>
        </p:nvCxnSpPr>
        <p:spPr>
          <a:xfrm>
            <a:off x="3714750" y="1928813"/>
            <a:ext cx="857250" cy="0"/>
          </a:xfrm>
          <a:prstGeom prst="straightConnector1">
            <a:avLst/>
          </a:prstGeom>
          <a:ln w="19050">
            <a:solidFill>
              <a:srgbClr val="002060"/>
            </a:solidFill>
            <a:tailEnd type="arrow" w="med" len="med"/>
          </a:ln>
        </p:spPr>
      </p:cxnSp>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Communication Workflow</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Scan for&#10;Smart_Ambulance">
            <a:extLst>
              <a:ext uri="{FF2B5EF4-FFF2-40B4-BE49-F238E27FC236}">
                <a16:creationId xmlns:a16="http://schemas.microsoft.com/office/drawing/2014/main" id="{3EC534E1-DB52-4D82-BC53-5163A72AFED6}"/>
              </a:ext>
            </a:extLst>
          </p:cNvPr>
          <p:cNvSpPr>
            <a:spLocks noGrp="1"/>
          </p:cNvSpPr>
          <p:nvPr/>
        </p:nvSpPr>
        <p:spPr>
          <a:xfrm>
            <a:off x="666750" y="1381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Scan for</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Smart_Ambulance</a:t>
            </a:r>
          </a:p>
        </p:txBody>
      </p:sp>
      <p:sp>
        <p:nvSpPr>
          <p:cNvPr id="6" name="Connect and&#10;encrypt link">
            <a:extLst>
              <a:ext uri="{FF2B5EF4-FFF2-40B4-BE49-F238E27FC236}">
                <a16:creationId xmlns:a16="http://schemas.microsoft.com/office/drawing/2014/main" id="{70D61D34-2748-45DF-9DE5-B2FE4FE041BA}"/>
              </a:ext>
            </a:extLst>
          </p:cNvPr>
          <p:cNvSpPr>
            <a:spLocks noGrp="1"/>
          </p:cNvSpPr>
          <p:nvPr/>
        </p:nvSpPr>
        <p:spPr>
          <a:xfrm>
            <a:off x="4572000" y="1381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Connect and</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encrypt link</a:t>
            </a:r>
          </a:p>
        </p:txBody>
      </p:sp>
      <p:sp>
        <p:nvSpPr>
          <p:cNvPr id="7" name="Discover GHSS&#10;and subscribe">
            <a:extLst>
              <a:ext uri="{FF2B5EF4-FFF2-40B4-BE49-F238E27FC236}">
                <a16:creationId xmlns:a16="http://schemas.microsoft.com/office/drawing/2014/main" id="{752EE862-24C5-4C2C-BFD8-42C07AA96859}"/>
              </a:ext>
            </a:extLst>
          </p:cNvPr>
          <p:cNvSpPr>
            <a:spLocks noGrp="1"/>
          </p:cNvSpPr>
          <p:nvPr/>
        </p:nvSpPr>
        <p:spPr>
          <a:xfrm>
            <a:off x="8477250" y="1381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Discover GHSS</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and subscribe</a:t>
            </a:r>
          </a:p>
        </p:txBody>
      </p:sp>
      <p:sp>
        <p:nvSpPr>
          <p:cNvPr id="8" name="Send Start&#10;command 0x01">
            <a:extLst>
              <a:ext uri="{FF2B5EF4-FFF2-40B4-BE49-F238E27FC236}">
                <a16:creationId xmlns:a16="http://schemas.microsoft.com/office/drawing/2014/main" id="{A90DB280-86FD-4D1C-861B-90313F97032F}"/>
              </a:ext>
            </a:extLst>
          </p:cNvPr>
          <p:cNvSpPr>
            <a:spLocks noGrp="1"/>
          </p:cNvSpPr>
          <p:nvPr/>
        </p:nvSpPr>
        <p:spPr>
          <a:xfrm>
            <a:off x="8477250" y="376237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Send Start</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command 0x01</a:t>
            </a:r>
          </a:p>
        </p:txBody>
      </p:sp>
      <p:sp>
        <p:nvSpPr>
          <p:cNvPr id="9" name="Receive simulated&#10;vital observations">
            <a:extLst>
              <a:ext uri="{FF2B5EF4-FFF2-40B4-BE49-F238E27FC236}">
                <a16:creationId xmlns:a16="http://schemas.microsoft.com/office/drawing/2014/main" id="{772BE867-2CA6-458C-8A20-78D23F5D1951}"/>
              </a:ext>
            </a:extLst>
          </p:cNvPr>
          <p:cNvSpPr>
            <a:spLocks noGrp="1"/>
          </p:cNvSpPr>
          <p:nvPr/>
        </p:nvSpPr>
        <p:spPr>
          <a:xfrm>
            <a:off x="4572000" y="376237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Receive simulated</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vital observations</a:t>
            </a:r>
          </a:p>
        </p:txBody>
      </p:sp>
      <p:sp>
        <p:nvSpPr>
          <p:cNvPr id="10" name="Decode and display&#10;HR, SpO2, temperature">
            <a:extLst>
              <a:ext uri="{FF2B5EF4-FFF2-40B4-BE49-F238E27FC236}">
                <a16:creationId xmlns:a16="http://schemas.microsoft.com/office/drawing/2014/main" id="{9F2374F1-590F-4E20-A086-E040650A59C6}"/>
              </a:ext>
            </a:extLst>
          </p:cNvPr>
          <p:cNvSpPr>
            <a:spLocks noGrp="1"/>
          </p:cNvSpPr>
          <p:nvPr/>
        </p:nvSpPr>
        <p:spPr>
          <a:xfrm>
            <a:off x="666750" y="376237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Decode and display</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HR, SpO2, temperature</a:t>
            </a:r>
          </a:p>
        </p:txBody>
      </p:sp>
      <p:sp>
        <p:nvSpPr>
          <p:cNvPr id="16" name="After subscription, the app enables start/sto">
            <a:extLst>
              <a:ext uri="{FF2B5EF4-FFF2-40B4-BE49-F238E27FC236}">
                <a16:creationId xmlns:a16="http://schemas.microsoft.com/office/drawing/2014/main" id="{A9FF0872-432F-4647-9E3B-26FF09BA661E}"/>
              </a:ext>
            </a:extLst>
          </p:cNvPr>
          <p:cNvSpPr>
            <a:spLocks noGrp="1"/>
          </p:cNvSpPr>
          <p:nvPr/>
        </p:nvSpPr>
        <p:spPr>
          <a:xfrm>
            <a:off x="857250" y="2762250"/>
            <a:ext cx="10477500" cy="571500"/>
          </a:xfrm>
          <a:prstGeom prst="rect">
            <a:avLst/>
          </a:prstGeom>
          <a:noFill/>
          <a:ln w="0">
            <a:noFill/>
          </a:ln>
        </p:spPr>
        <p:txBody>
          <a:bodyPr lIns="76200" tIns="76200" rIns="76200" bIns="76200" anchor="ctr"/>
          <a:lstStyle>
            <a:defPPr algn="l">
              <a:defRPr sz="2325" b="0">
                <a:solidFill>
                  <a:srgbClr val="0070C0"/>
                </a:solidFill>
                <a:latin typeface="Times New Roman"/>
                <a:ea typeface="Times New Roman"/>
                <a:cs typeface="Times New Roman"/>
              </a:defRPr>
            </a:defPPr>
            <a:lvl1pPr algn="l">
              <a:defRPr sz="2325" b="0">
                <a:solidFill>
                  <a:srgbClr val="0070C0"/>
                </a:solidFill>
                <a:latin typeface="Times New Roman"/>
                <a:ea typeface="Times New Roman"/>
                <a:cs typeface="Times New Roman"/>
              </a:defRPr>
            </a:lvl1pPr>
            <a:lvl2pPr algn="l">
              <a:defRPr sz="2325" b="0">
                <a:solidFill>
                  <a:srgbClr val="0070C0"/>
                </a:solidFill>
                <a:latin typeface="Times New Roman"/>
                <a:ea typeface="Times New Roman"/>
                <a:cs typeface="Times New Roman"/>
              </a:defRPr>
            </a:lvl2pPr>
            <a:lvl3pPr algn="l">
              <a:defRPr sz="2325" b="0">
                <a:solidFill>
                  <a:srgbClr val="0070C0"/>
                </a:solidFill>
                <a:latin typeface="Times New Roman"/>
                <a:ea typeface="Times New Roman"/>
                <a:cs typeface="Times New Roman"/>
              </a:defRPr>
            </a:lvl3pPr>
            <a:lvl4pPr algn="l">
              <a:defRPr sz="2325" b="0">
                <a:solidFill>
                  <a:srgbClr val="0070C0"/>
                </a:solidFill>
                <a:latin typeface="Times New Roman"/>
                <a:ea typeface="Times New Roman"/>
                <a:cs typeface="Times New Roman"/>
              </a:defRPr>
            </a:lvl4pPr>
            <a:lvl5pPr algn="l">
              <a:defRPr sz="2325" b="0">
                <a:solidFill>
                  <a:srgbClr val="0070C0"/>
                </a:solidFill>
                <a:latin typeface="Times New Roman"/>
                <a:ea typeface="Times New Roman"/>
                <a:cs typeface="Times New Roman"/>
              </a:defRPr>
            </a:lvl5pPr>
            <a:lvl6pPr algn="l">
              <a:defRPr sz="2325" b="0">
                <a:solidFill>
                  <a:srgbClr val="0070C0"/>
                </a:solidFill>
                <a:latin typeface="Times New Roman"/>
                <a:ea typeface="Times New Roman"/>
                <a:cs typeface="Times New Roman"/>
              </a:defRPr>
            </a:lvl6pPr>
            <a:lvl7pPr algn="l">
              <a:defRPr sz="2325" b="0">
                <a:solidFill>
                  <a:srgbClr val="0070C0"/>
                </a:solidFill>
                <a:latin typeface="Times New Roman"/>
                <a:ea typeface="Times New Roman"/>
                <a:cs typeface="Times New Roman"/>
              </a:defRPr>
            </a:lvl7pPr>
            <a:lvl8pPr algn="l">
              <a:defRPr sz="2325" b="0">
                <a:solidFill>
                  <a:srgbClr val="0070C0"/>
                </a:solidFill>
                <a:latin typeface="Times New Roman"/>
                <a:ea typeface="Times New Roman"/>
                <a:cs typeface="Times New Roman"/>
              </a:defRPr>
            </a:lvl8pPr>
            <a:lvl9pPr algn="l">
              <a:defRPr sz="2325" b="0">
                <a:solidFill>
                  <a:srgbClr val="0070C0"/>
                </a:solidFill>
                <a:latin typeface="Times New Roman"/>
                <a:ea typeface="Times New Roman"/>
                <a:cs typeface="Times New Roman"/>
              </a:defRPr>
            </a:lvl9pPr>
          </a:lstStyle>
          <a:p>
            <a:pPr algn="l">
              <a:defRPr sz="2325" b="0">
                <a:solidFill>
                  <a:srgbClr val="0070C0"/>
                </a:solidFill>
                <a:latin typeface="Times New Roman"/>
                <a:ea typeface="Times New Roman"/>
                <a:cs typeface="Times New Roman"/>
              </a:defRPr>
            </a:pPr>
            <a:r>
              <a:rPr sz="2325" b="0">
                <a:solidFill>
                  <a:srgbClr val="0070C0"/>
                </a:solidFill>
                <a:latin typeface="Times New Roman"/>
                <a:ea typeface="Times New Roman"/>
                <a:cs typeface="Times New Roman"/>
              </a:rPr>
              <a:t>After subscription, the app enables start/stop control</a:t>
            </a:r>
          </a:p>
        </p:txBody>
      </p:sp>
      <p:sp>
        <p:nvSpPr>
          <p:cNvPr id="17" name="Stop: 0x02     Disconnect: ESP32 resumes adve">
            <a:extLst>
              <a:ext uri="{FF2B5EF4-FFF2-40B4-BE49-F238E27FC236}">
                <a16:creationId xmlns:a16="http://schemas.microsoft.com/office/drawing/2014/main" id="{A971D6EE-DC0D-4018-A4B4-5B5E8D6E1384}"/>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Stop: 0x02     Disconnect: ESP32 resumes advertising     Reconnect: scan and select again</a:t>
            </a:r>
          </a:p>
        </p:txBody>
      </p:sp>
      <p:sp>
        <p:nvSpPr>
          <p:cNvPr id="18" name="5">
            <a:extLst>
              <a:ext uri="{FF2B5EF4-FFF2-40B4-BE49-F238E27FC236}">
                <a16:creationId xmlns:a16="http://schemas.microsoft.com/office/drawing/2014/main" id="{3BED381B-E896-48C8-87C3-BF1D1FD6DFD2}"/>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5</a:t>
            </a:r>
          </a:p>
        </p:txBody>
      </p:sp>
    </p:spTree>
    <p:extLst>
      <p:ext uri="{BB962C8B-B14F-4D97-AF65-F5344CB8AC3E}">
        <p14:creationId xmlns:p14="http://schemas.microsoft.com/office/powerpoint/2010/main" val="1733596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Methods and Design Comparison</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54F42C30-595C-440C-ADDC-23277F929579}"/>
              </a:ext>
            </a:extLst>
          </p:cNvPr>
          <p:cNvGraphicFramePr/>
          <p:nvPr/>
        </p:nvGraphicFramePr>
        <p:xfrm>
          <a:off x="523875" y="1285875"/>
          <a:ext cx="11144250" cy="4286250"/>
        </p:xfrm>
        <a:graphic>
          <a:graphicData uri="http://schemas.openxmlformats.org/drawingml/2006/table">
            <a:tbl>
              <a:tblPr/>
              <a:tblGrid>
                <a:gridCol w="257175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714375">
                <a:tc>
                  <a:txBody>
                    <a:bodyPr/>
                    <a:lstStyle/>
                    <a:p>
                      <a:r>
                        <a:rPr sz="2175" b="1">
                          <a:solidFill>
                            <a:srgbClr val="FFFFFF"/>
                          </a:solidFill>
                          <a:latin typeface="Times New Roman"/>
                          <a:ea typeface="Times New Roman"/>
                          <a:cs typeface="Times New Roman"/>
                        </a:rPr>
                        <a:t>Design aspect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Current prototype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Target design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14375">
                <a:tc>
                  <a:txBody>
                    <a:bodyPr/>
                    <a:lstStyle/>
                    <a:p>
                      <a:r>
                        <a:rPr sz="2175" b="0">
                          <a:solidFill>
                            <a:srgbClr val="111111"/>
                          </a:solidFill>
                          <a:latin typeface="Times New Roman"/>
                          <a:ea typeface="Times New Roman"/>
                          <a:cs typeface="Times New Roman"/>
                        </a:rPr>
                        <a:t>Device to phone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BLE notifications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Retain BLE gateway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14375">
                <a:tc>
                  <a:txBody>
                    <a:bodyPr/>
                    <a:lstStyle/>
                    <a:p>
                      <a:r>
                        <a:rPr sz="2175" b="0">
                          <a:solidFill>
                            <a:srgbClr val="111111"/>
                          </a:solidFill>
                          <a:latin typeface="Times New Roman"/>
                          <a:ea typeface="Times New Roman"/>
                          <a:cs typeface="Times New Roman"/>
                        </a:rPr>
                        <a:t>Wide-area upload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Not implemented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MQTT/TLS with CoAP fallback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14375">
                <a:tc>
                  <a:txBody>
                    <a:bodyPr/>
                    <a:lstStyle/>
                    <a:p>
                      <a:r>
                        <a:rPr sz="2175" b="0">
                          <a:solidFill>
                            <a:srgbClr val="111111"/>
                          </a:solidFill>
                          <a:latin typeface="Times New Roman"/>
                          <a:ea typeface="Times New Roman"/>
                          <a:cs typeface="Times New Roman"/>
                        </a:rPr>
                        <a:t>Data source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Simulated observations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Integrated physical sensors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14375">
                <a:tc>
                  <a:txBody>
                    <a:bodyPr/>
                    <a:lstStyle/>
                    <a:p>
                      <a:r>
                        <a:rPr sz="2175" b="0">
                          <a:solidFill>
                            <a:srgbClr val="111111"/>
                          </a:solidFill>
                          <a:latin typeface="Times New Roman"/>
                          <a:ea typeface="Times New Roman"/>
                          <a:cs typeface="Times New Roman"/>
                        </a:rPr>
                        <a:t>Patient assessment</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Vitals display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ML risk classification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14375">
                <a:tc>
                  <a:txBody>
                    <a:bodyPr/>
                    <a:lstStyle/>
                    <a:p>
                      <a:r>
                        <a:rPr sz="2175" b="0">
                          <a:solidFill>
                            <a:srgbClr val="111111"/>
                          </a:solidFill>
                          <a:latin typeface="Times New Roman"/>
                          <a:ea typeface="Times New Roman"/>
                          <a:cs typeface="Times New Roman"/>
                        </a:rPr>
                        <a:t>Ambulance location</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Not implemented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Phone GPS with ETA</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BLE supports the local link. Cloud transports">
            <a:extLst>
              <a:ext uri="{FF2B5EF4-FFF2-40B4-BE49-F238E27FC236}">
                <a16:creationId xmlns:a16="http://schemas.microsoft.com/office/drawing/2014/main" id="{93050350-D90E-4BE7-8097-5D2C8DC53885}"/>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BLE supports the local link. Cloud transports require phone internet connectivity.</a:t>
            </a:r>
          </a:p>
        </p:txBody>
      </p:sp>
      <p:sp>
        <p:nvSpPr>
          <p:cNvPr id="7" name="6">
            <a:extLst>
              <a:ext uri="{FF2B5EF4-FFF2-40B4-BE49-F238E27FC236}">
                <a16:creationId xmlns:a16="http://schemas.microsoft.com/office/drawing/2014/main" id="{72F8E5FE-8578-4D96-B2E9-83E6A8A39035}"/>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6</a:t>
            </a:r>
          </a:p>
        </p:txBody>
      </p:sp>
    </p:spTree>
    <p:extLst>
      <p:ext uri="{BB962C8B-B14F-4D97-AF65-F5344CB8AC3E}">
        <p14:creationId xmlns:p14="http://schemas.microsoft.com/office/powerpoint/2010/main" val="1733596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Functional Requirements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96AF17B3-C550-48EB-B276-006546E5C772}"/>
              </a:ext>
            </a:extLst>
          </p:cNvPr>
          <p:cNvGraphicFramePr/>
          <p:nvPr/>
        </p:nvGraphicFramePr>
        <p:xfrm>
          <a:off x="523875" y="1190625"/>
          <a:ext cx="11144250" cy="4572000"/>
        </p:xfrm>
        <a:graphic>
          <a:graphicData uri="http://schemas.openxmlformats.org/drawingml/2006/table">
            <a:tbl>
              <a:tblPr/>
              <a:tblGrid>
                <a:gridCol w="952500">
                  <a:extLst>
                    <a:ext uri="{9D8B030D-6E8A-4147-A177-3AD203B41FA5}">
                      <a16:colId xmlns:a16="http://schemas.microsoft.com/office/drawing/2014/main" val="20000"/>
                    </a:ext>
                  </a:extLst>
                </a:gridCol>
                <a:gridCol w="6953250">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tblGrid>
              <a:tr h="653143">
                <a:tc>
                  <a:txBody>
                    <a:bodyPr/>
                    <a:lstStyle/>
                    <a:p>
                      <a:r>
                        <a:rPr sz="2175" b="1">
                          <a:solidFill>
                            <a:srgbClr val="FFFFFF"/>
                          </a:solidFill>
                          <a:latin typeface="Times New Roman"/>
                          <a:ea typeface="Times New Roman"/>
                          <a:cs typeface="Times New Roman"/>
                        </a:rPr>
                        <a:t>ID</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Required behavior</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Implementation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653143">
                <a:tc>
                  <a:txBody>
                    <a:bodyPr/>
                    <a:lstStyle/>
                    <a:p>
                      <a:r>
                        <a:rPr sz="2175" b="0">
                          <a:solidFill>
                            <a:srgbClr val="111111"/>
                          </a:solidFill>
                          <a:latin typeface="Times New Roman"/>
                          <a:ea typeface="Times New Roman"/>
                          <a:cs typeface="Times New Roman"/>
                        </a:rPr>
                        <a:t>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Discover, connect and receive BLE vitals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653143">
                <a:tc>
                  <a:txBody>
                    <a:bodyPr/>
                    <a:lstStyle/>
                    <a:p>
                      <a:r>
                        <a:rPr sz="2175" b="0">
                          <a:solidFill>
                            <a:srgbClr val="111111"/>
                          </a:solidFill>
                          <a:latin typeface="Times New Roman"/>
                          <a:ea typeface="Times New Roman"/>
                          <a:cs typeface="Times New Roman"/>
                        </a:rPr>
                        <a:t>FR2</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Start/stop telemetry from the app</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653143">
                <a:tc>
                  <a:txBody>
                    <a:bodyPr/>
                    <a:lstStyle/>
                    <a:p>
                      <a:r>
                        <a:rPr sz="2175" b="0">
                          <a:solidFill>
                            <a:srgbClr val="111111"/>
                          </a:solidFill>
                          <a:latin typeface="Times New Roman"/>
                          <a:ea typeface="Times New Roman"/>
                          <a:cs typeface="Times New Roman"/>
                        </a:rPr>
                        <a:t>FR3</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Acquire sensors and update local OLED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Integration pending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653143">
                <a:tc>
                  <a:txBody>
                    <a:bodyPr/>
                    <a:lstStyle/>
                    <a:p>
                      <a:r>
                        <a:rPr sz="2175" b="0">
                          <a:solidFill>
                            <a:srgbClr val="111111"/>
                          </a:solidFill>
                          <a:latin typeface="Times New Roman"/>
                          <a:ea typeface="Times New Roman"/>
                          <a:cs typeface="Times New Roman"/>
                        </a:rPr>
                        <a:t>FR4</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Queue and upload telemetry to cloud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653143">
                <a:tc>
                  <a:txBody>
                    <a:bodyPr/>
                    <a:lstStyle/>
                    <a:p>
                      <a:r>
                        <a:rPr sz="2175" b="0">
                          <a:solidFill>
                            <a:srgbClr val="111111"/>
                          </a:solidFill>
                          <a:latin typeface="Times New Roman"/>
                          <a:ea typeface="Times New Roman"/>
                          <a:cs typeface="Times New Roman"/>
                        </a:rPr>
                        <a:t>FR5</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Provide GPS location and ETA</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r h="653143">
                <a:tc>
                  <a:txBody>
                    <a:bodyPr/>
                    <a:lstStyle/>
                    <a:p>
                      <a:r>
                        <a:rPr sz="2175" b="0">
                          <a:solidFill>
                            <a:srgbClr val="111111"/>
                          </a:solidFill>
                          <a:latin typeface="Times New Roman"/>
                          <a:ea typeface="Times New Roman"/>
                          <a:cs typeface="Times New Roman"/>
                        </a:rPr>
                        <a:t>FR6</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Predict risk and show hospital updates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6"/>
                  </a:ext>
                </a:extLst>
              </a:tr>
            </a:tbl>
          </a:graphicData>
        </a:graphic>
      </p:graphicFrame>
      <p:sp>
        <p:nvSpPr>
          <p:cNvPr id="6" name="7">
            <a:extLst>
              <a:ext uri="{FF2B5EF4-FFF2-40B4-BE49-F238E27FC236}">
                <a16:creationId xmlns:a16="http://schemas.microsoft.com/office/drawing/2014/main" id="{DC8E7CFA-4BC5-4084-B3E0-3471A4748F1C}"/>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7</a:t>
            </a:r>
          </a:p>
        </p:txBody>
      </p:sp>
    </p:spTree>
    <p:extLst>
      <p:ext uri="{BB962C8B-B14F-4D97-AF65-F5344CB8AC3E}">
        <p14:creationId xmlns:p14="http://schemas.microsoft.com/office/powerpoint/2010/main" val="1733596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Non-Functional Requirements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A01DF5BD-049E-48F5-9B67-EA9CB0A63420}"/>
              </a:ext>
            </a:extLst>
          </p:cNvPr>
          <p:cNvGraphicFramePr/>
          <p:nvPr/>
        </p:nvGraphicFramePr>
        <p:xfrm>
          <a:off x="523875" y="1285875"/>
          <a:ext cx="11144250" cy="4238625"/>
        </p:xfrm>
        <a:graphic>
          <a:graphicData uri="http://schemas.openxmlformats.org/drawingml/2006/table">
            <a:tbl>
              <a:tblPr/>
              <a:tblGrid>
                <a:gridCol w="2238375">
                  <a:extLst>
                    <a:ext uri="{9D8B030D-6E8A-4147-A177-3AD203B41FA5}">
                      <a16:colId xmlns:a16="http://schemas.microsoft.com/office/drawing/2014/main" val="20000"/>
                    </a:ext>
                  </a:extLst>
                </a:gridCol>
                <a:gridCol w="5429250">
                  <a:extLst>
                    <a:ext uri="{9D8B030D-6E8A-4147-A177-3AD203B41FA5}">
                      <a16:colId xmlns:a16="http://schemas.microsoft.com/office/drawing/2014/main" val="20001"/>
                    </a:ext>
                  </a:extLst>
                </a:gridCol>
                <a:gridCol w="3476625">
                  <a:extLst>
                    <a:ext uri="{9D8B030D-6E8A-4147-A177-3AD203B41FA5}">
                      <a16:colId xmlns:a16="http://schemas.microsoft.com/office/drawing/2014/main" val="20002"/>
                    </a:ext>
                  </a:extLst>
                </a:gridCol>
              </a:tblGrid>
              <a:tr h="706438">
                <a:tc>
                  <a:txBody>
                    <a:bodyPr/>
                    <a:lstStyle/>
                    <a:p>
                      <a:r>
                        <a:rPr sz="2175" b="1">
                          <a:solidFill>
                            <a:srgbClr val="FFFFFF"/>
                          </a:solidFill>
                          <a:latin typeface="Times New Roman"/>
                          <a:ea typeface="Times New Roman"/>
                          <a:cs typeface="Times New Roman"/>
                        </a:rPr>
                        <a:t>Quality</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Acceptance check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Evidence needed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06438">
                <a:tc>
                  <a:txBody>
                    <a:bodyPr/>
                    <a:lstStyle/>
                    <a:p>
                      <a:r>
                        <a:rPr sz="2175" b="0">
                          <a:solidFill>
                            <a:srgbClr val="111111"/>
                          </a:solidFill>
                          <a:latin typeface="Times New Roman"/>
                          <a:ea typeface="Times New Roman"/>
                          <a:cs typeface="Times New Roman"/>
                        </a:rPr>
                        <a:t>Security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Encrypted BLE before stream control</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ESP32 encryption log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06438">
                <a:tc>
                  <a:txBody>
                    <a:bodyPr/>
                    <a:lstStyle/>
                    <a:p>
                      <a:r>
                        <a:rPr sz="2175" b="0">
                          <a:solidFill>
                            <a:srgbClr val="111111"/>
                          </a:solidFill>
                          <a:latin typeface="Times New Roman"/>
                          <a:ea typeface="Times New Roman"/>
                          <a:cs typeface="Times New Roman"/>
                        </a:rPr>
                        <a:t>Responsiveness</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Regular updates without a frozen UI</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Timed recording and logs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06438">
                <a:tc>
                  <a:txBody>
                    <a:bodyPr/>
                    <a:lstStyle/>
                    <a:p>
                      <a:r>
                        <a:rPr sz="2175" b="0">
                          <a:solidFill>
                            <a:srgbClr val="111111"/>
                          </a:solidFill>
                          <a:latin typeface="Times New Roman"/>
                          <a:ea typeface="Times New Roman"/>
                          <a:cs typeface="Times New Roman"/>
                        </a:rPr>
                        <a:t>Recovery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Resume telemetry after reconnect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Disconnect/reconnect recording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06438">
                <a:tc>
                  <a:txBody>
                    <a:bodyPr/>
                    <a:lstStyle/>
                    <a:p>
                      <a:r>
                        <a:rPr sz="2175" b="0">
                          <a:solidFill>
                            <a:srgbClr val="111111"/>
                          </a:solidFill>
                          <a:latin typeface="Times New Roman"/>
                          <a:ea typeface="Times New Roman"/>
                          <a:cs typeface="Times New Roman"/>
                        </a:rPr>
                        <a:t>Data integrity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App values match transmitted values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Matched app and serial captures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06438">
                <a:tc>
                  <a:txBody>
                    <a:bodyPr/>
                    <a:lstStyle/>
                    <a:p>
                      <a:r>
                        <a:rPr sz="2175" b="0">
                          <a:solidFill>
                            <a:srgbClr val="111111"/>
                          </a:solidFill>
                          <a:latin typeface="Times New Roman"/>
                          <a:ea typeface="Times New Roman"/>
                          <a:cs typeface="Times New Roman"/>
                        </a:rPr>
                        <a:t>Continuity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Retain unsent readings during outage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Future queue/retry test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Latency, endurance and reliability thresholds">
            <a:extLst>
              <a:ext uri="{FF2B5EF4-FFF2-40B4-BE49-F238E27FC236}">
                <a16:creationId xmlns:a16="http://schemas.microsoft.com/office/drawing/2014/main" id="{0AC70777-0095-4E86-9418-F31C399FE586}"/>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Latency, endurance and reliability thresholds remain proposed until measured and agreed.</a:t>
            </a:r>
          </a:p>
        </p:txBody>
      </p:sp>
      <p:sp>
        <p:nvSpPr>
          <p:cNvPr id="7" name="8">
            <a:extLst>
              <a:ext uri="{FF2B5EF4-FFF2-40B4-BE49-F238E27FC236}">
                <a16:creationId xmlns:a16="http://schemas.microsoft.com/office/drawing/2014/main" id="{EACF86FD-0354-4F71-8403-7D21C467650C}"/>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8</a:t>
            </a:r>
          </a:p>
        </p:txBody>
      </p:sp>
    </p:spTree>
    <p:extLst>
      <p:ext uri="{BB962C8B-B14F-4D97-AF65-F5344CB8AC3E}">
        <p14:creationId xmlns:p14="http://schemas.microsoft.com/office/powerpoint/2010/main" val="1733596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Wi-Fi vs BLE: Design Rationale</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322400A1-A7ED-4E0A-9976-1F301F477979}"/>
              </a:ext>
            </a:extLst>
          </p:cNvPr>
          <p:cNvGraphicFramePr/>
          <p:nvPr/>
        </p:nvGraphicFramePr>
        <p:xfrm>
          <a:off x="523875" y="1190625"/>
          <a:ext cx="11144250" cy="4286250"/>
        </p:xfrm>
        <a:graphic>
          <a:graphicData uri="http://schemas.openxmlformats.org/drawingml/2006/table">
            <a:tbl>
              <a:tblPr/>
              <a:tblGrid>
                <a:gridCol w="2428875">
                  <a:extLst>
                    <a:ext uri="{9D8B030D-6E8A-4147-A177-3AD203B41FA5}">
                      <a16:colId xmlns:a16="http://schemas.microsoft.com/office/drawing/2014/main" val="20000"/>
                    </a:ext>
                  </a:extLst>
                </a:gridCol>
                <a:gridCol w="4286250">
                  <a:extLst>
                    <a:ext uri="{9D8B030D-6E8A-4147-A177-3AD203B41FA5}">
                      <a16:colId xmlns:a16="http://schemas.microsoft.com/office/drawing/2014/main" val="20001"/>
                    </a:ext>
                  </a:extLst>
                </a:gridCol>
                <a:gridCol w="4429125">
                  <a:extLst>
                    <a:ext uri="{9D8B030D-6E8A-4147-A177-3AD203B41FA5}">
                      <a16:colId xmlns:a16="http://schemas.microsoft.com/office/drawing/2014/main" val="20002"/>
                    </a:ext>
                  </a:extLst>
                </a:gridCol>
              </a:tblGrid>
              <a:tr h="714375">
                <a:tc>
                  <a:txBody>
                    <a:bodyPr/>
                    <a:lstStyle/>
                    <a:p>
                      <a:r>
                        <a:rPr sz="2100" b="1">
                          <a:solidFill>
                            <a:srgbClr val="FFFFFF"/>
                          </a:solidFill>
                          <a:latin typeface="Times New Roman"/>
                          <a:ea typeface="Times New Roman"/>
                          <a:cs typeface="Times New Roman"/>
                        </a:rPr>
                        <a:t>Criterion</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Earlier Wi-Fi approach</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Selected BLE approach</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14375">
                <a:tc>
                  <a:txBody>
                    <a:bodyPr/>
                    <a:lstStyle/>
                    <a:p>
                      <a:r>
                        <a:rPr sz="2100" b="0">
                          <a:solidFill>
                            <a:srgbClr val="111111"/>
                          </a:solidFill>
                          <a:latin typeface="Times New Roman"/>
                          <a:ea typeface="Times New Roman"/>
                          <a:cs typeface="Times New Roman"/>
                        </a:rPr>
                        <a:t>Local connection</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ESP32 joins access point or hotspot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ESP32 connects directly to phone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14375">
                <a:tc>
                  <a:txBody>
                    <a:bodyPr/>
                    <a:lstStyle/>
                    <a:p>
                      <a:r>
                        <a:rPr sz="2100" b="0">
                          <a:solidFill>
                            <a:srgbClr val="111111"/>
                          </a:solidFill>
                          <a:latin typeface="Times New Roman"/>
                          <a:ea typeface="Times New Roman"/>
                          <a:cs typeface="Times New Roman"/>
                        </a:rPr>
                        <a:t>Internet gateway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ESP32 manages network uplink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Phone handles cloud uplink (planned)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14375">
                <a:tc>
                  <a:txBody>
                    <a:bodyPr/>
                    <a:lstStyle/>
                    <a:p>
                      <a:r>
                        <a:rPr sz="2100" b="0">
                          <a:solidFill>
                            <a:srgbClr val="111111"/>
                          </a:solidFill>
                          <a:latin typeface="Times New Roman"/>
                          <a:ea typeface="Times New Roman"/>
                          <a:cs typeface="Times New Roman"/>
                        </a:rPr>
                        <a:t>Data workload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Supports higher data throughput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Fits small, periodic vital readings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14375">
                <a:tc>
                  <a:txBody>
                    <a:bodyPr/>
                    <a:lstStyle/>
                    <a:p>
                      <a:r>
                        <a:rPr sz="2100" b="0">
                          <a:solidFill>
                            <a:srgbClr val="111111"/>
                          </a:solidFill>
                          <a:latin typeface="Times New Roman"/>
                          <a:ea typeface="Times New Roman"/>
                          <a:cs typeface="Times New Roman"/>
                        </a:rPr>
                        <a:t>Device setup</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Configure SSID and password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Discover device and pair</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14375">
                <a:tc>
                  <a:txBody>
                    <a:bodyPr/>
                    <a:lstStyle/>
                    <a:p>
                      <a:r>
                        <a:rPr sz="2100" b="0">
                          <a:solidFill>
                            <a:srgbClr val="111111"/>
                          </a:solidFill>
                          <a:latin typeface="Times New Roman"/>
                          <a:ea typeface="Times New Roman"/>
                          <a:cs typeface="Times New Roman"/>
                        </a:rPr>
                        <a:t>Power rationale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Measure under the same workload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Low-power design; savings unmeasured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BLE fits the phone gateway design. Phone prox">
            <a:extLst>
              <a:ext uri="{FF2B5EF4-FFF2-40B4-BE49-F238E27FC236}">
                <a16:creationId xmlns:a16="http://schemas.microsoft.com/office/drawing/2014/main" id="{F572C4D4-3512-4B90-A78F-4587339B68D7}"/>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BLE fits the phone gateway design. Phone proximity remains a requirement.</a:t>
            </a:r>
          </a:p>
        </p:txBody>
      </p:sp>
      <p:sp>
        <p:nvSpPr>
          <p:cNvPr id="7" name="9">
            <a:extLst>
              <a:ext uri="{FF2B5EF4-FFF2-40B4-BE49-F238E27FC236}">
                <a16:creationId xmlns:a16="http://schemas.microsoft.com/office/drawing/2014/main" id="{042C8049-62C7-450C-9BDB-B813F9E82271}"/>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9</a:t>
            </a:r>
          </a:p>
        </p:txBody>
      </p:sp>
    </p:spTree>
    <p:extLst>
      <p:ext uri="{BB962C8B-B14F-4D97-AF65-F5344CB8AC3E}">
        <p14:creationId xmlns:p14="http://schemas.microsoft.com/office/powerpoint/2010/main" val="1733596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Test Cases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BA6B1BED-F14E-4A0D-B272-1890C1397E0B}"/>
              </a:ext>
            </a:extLst>
          </p:cNvPr>
          <p:cNvGraphicFramePr/>
          <p:nvPr/>
        </p:nvGraphicFramePr>
        <p:xfrm>
          <a:off x="523875" y="1285875"/>
          <a:ext cx="11144250" cy="4238625"/>
        </p:xfrm>
        <a:graphic>
          <a:graphicData uri="http://schemas.openxmlformats.org/drawingml/2006/table">
            <a:tbl>
              <a:tblPr/>
              <a:tblGrid>
                <a:gridCol w="1905000">
                  <a:extLst>
                    <a:ext uri="{9D8B030D-6E8A-4147-A177-3AD203B41FA5}">
                      <a16:colId xmlns:a16="http://schemas.microsoft.com/office/drawing/2014/main" val="20000"/>
                    </a:ext>
                  </a:extLst>
                </a:gridCol>
                <a:gridCol w="4286250">
                  <a:extLst>
                    <a:ext uri="{9D8B030D-6E8A-4147-A177-3AD203B41FA5}">
                      <a16:colId xmlns:a16="http://schemas.microsoft.com/office/drawing/2014/main" val="20001"/>
                    </a:ext>
                  </a:extLst>
                </a:gridCol>
                <a:gridCol w="4953000">
                  <a:extLst>
                    <a:ext uri="{9D8B030D-6E8A-4147-A177-3AD203B41FA5}">
                      <a16:colId xmlns:a16="http://schemas.microsoft.com/office/drawing/2014/main" val="20002"/>
                    </a:ext>
                  </a:extLst>
                </a:gridCol>
              </a:tblGrid>
              <a:tr h="706438">
                <a:tc>
                  <a:txBody>
                    <a:bodyPr/>
                    <a:lstStyle/>
                    <a:p>
                      <a:r>
                        <a:rPr sz="2175" b="1">
                          <a:solidFill>
                            <a:srgbClr val="FFFFFF"/>
                          </a:solidFill>
                          <a:latin typeface="Times New Roman"/>
                          <a:ea typeface="Times New Roman"/>
                          <a:cs typeface="Times New Roman"/>
                        </a:rPr>
                        <a:t>Test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Expected observation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06438">
                <a:tc>
                  <a:txBody>
                    <a:bodyPr/>
                    <a:lstStyle/>
                    <a:p>
                      <a:r>
                        <a:rPr sz="2175" b="0">
                          <a:solidFill>
                            <a:srgbClr val="111111"/>
                          </a:solidFill>
                          <a:latin typeface="Times New Roman"/>
                          <a:ea typeface="Times New Roman"/>
                          <a:cs typeface="Times New Roman"/>
                        </a:rPr>
                        <a:t>TC1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Scan with ESP32 advertising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Smart_Ambulance appears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06438">
                <a:tc>
                  <a:txBody>
                    <a:bodyPr/>
                    <a:lstStyle/>
                    <a:p>
                      <a:r>
                        <a:rPr sz="2175" b="0">
                          <a:solidFill>
                            <a:srgbClr val="111111"/>
                          </a:solidFill>
                          <a:latin typeface="Times New Roman"/>
                          <a:ea typeface="Times New Roman"/>
                          <a:cs typeface="Times New Roman"/>
                        </a:rPr>
                        <a:t>TC2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Select device and pair</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Connected and ready status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06438">
                <a:tc>
                  <a:txBody>
                    <a:bodyPr/>
                    <a:lstStyle/>
                    <a:p>
                      <a:r>
                        <a:rPr sz="2175" b="0">
                          <a:solidFill>
                            <a:srgbClr val="111111"/>
                          </a:solidFill>
                          <a:latin typeface="Times New Roman"/>
                          <a:ea typeface="Times New Roman"/>
                          <a:cs typeface="Times New Roman"/>
                        </a:rPr>
                        <a:t>TC3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Start telemetry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Vitals update and match logs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06438">
                <a:tc>
                  <a:txBody>
                    <a:bodyPr/>
                    <a:lstStyle/>
                    <a:p>
                      <a:r>
                        <a:rPr sz="2175" b="0">
                          <a:solidFill>
                            <a:srgbClr val="111111"/>
                          </a:solidFill>
                          <a:latin typeface="Times New Roman"/>
                          <a:ea typeface="Times New Roman"/>
                          <a:cs typeface="Times New Roman"/>
                        </a:rPr>
                        <a:t>TC4 / FR2</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Tap Stop</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Stop acknowledged; updates cease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06438">
                <a:tc>
                  <a:txBody>
                    <a:bodyPr/>
                    <a:lstStyle/>
                    <a:p>
                      <a:r>
                        <a:rPr sz="2175" b="0">
                          <a:solidFill>
                            <a:srgbClr val="111111"/>
                          </a:solidFill>
                          <a:latin typeface="Times New Roman"/>
                          <a:ea typeface="Times New Roman"/>
                          <a:cs typeface="Times New Roman"/>
                        </a:rPr>
                        <a:t>TC5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 then scan and connect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Telemetry can restart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Execution status: evidence pending. Capture t">
            <a:extLst>
              <a:ext uri="{FF2B5EF4-FFF2-40B4-BE49-F238E27FC236}">
                <a16:creationId xmlns:a16="http://schemas.microsoft.com/office/drawing/2014/main" id="{11A48837-BA84-46A2-A172-82344334FA23}"/>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Execution status: evidence pending. Capture the observed outcome before marking Pass.</a:t>
            </a:r>
          </a:p>
        </p:txBody>
      </p:sp>
      <p:sp>
        <p:nvSpPr>
          <p:cNvPr id="7" name="10">
            <a:extLst>
              <a:ext uri="{FF2B5EF4-FFF2-40B4-BE49-F238E27FC236}">
                <a16:creationId xmlns:a16="http://schemas.microsoft.com/office/drawing/2014/main" id="{0715AA64-A2D2-49A2-818E-9E277ADB2455}"/>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10</a:t>
            </a:r>
          </a:p>
        </p:txBody>
      </p:sp>
    </p:spTree>
    <p:extLst>
      <p:ext uri="{BB962C8B-B14F-4D97-AF65-F5344CB8AC3E}">
        <p14:creationId xmlns:p14="http://schemas.microsoft.com/office/powerpoint/2010/main" val="1733596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Planned Integration Tests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1ABC1FB1-160B-4398-B92F-A16E5B693D69}"/>
              </a:ext>
            </a:extLst>
          </p:cNvPr>
          <p:cNvGraphicFramePr/>
          <p:nvPr/>
        </p:nvGraphicFramePr>
        <p:xfrm>
          <a:off x="523875" y="1285875"/>
          <a:ext cx="11144250" cy="4238625"/>
        </p:xfrm>
        <a:graphic>
          <a:graphicData uri="http://schemas.openxmlformats.org/drawingml/2006/table">
            <a:tbl>
              <a:tblPr/>
              <a:tblGrid>
                <a:gridCol w="2428875">
                  <a:extLst>
                    <a:ext uri="{9D8B030D-6E8A-4147-A177-3AD203B41FA5}">
                      <a16:colId xmlns:a16="http://schemas.microsoft.com/office/drawing/2014/main" val="20000"/>
                    </a:ext>
                  </a:extLst>
                </a:gridCol>
                <a:gridCol w="4524375">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706438">
                <a:tc>
                  <a:txBody>
                    <a:bodyPr/>
                    <a:lstStyle/>
                    <a:p>
                      <a:r>
                        <a:rPr sz="2100" b="1">
                          <a:solidFill>
                            <a:srgbClr val="FFFFFF"/>
                          </a:solidFill>
                          <a:latin typeface="Times New Roman"/>
                          <a:ea typeface="Times New Roman"/>
                          <a:cs typeface="Times New Roman"/>
                        </a:rPr>
                        <a:t>Requirement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Test scenario</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Expected result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06438">
                <a:tc>
                  <a:txBody>
                    <a:bodyPr/>
                    <a:lstStyle/>
                    <a:p>
                      <a:r>
                        <a:rPr sz="2100" b="0">
                          <a:solidFill>
                            <a:srgbClr val="111111"/>
                          </a:solidFill>
                          <a:latin typeface="Times New Roman"/>
                          <a:ea typeface="Times New Roman"/>
                          <a:cs typeface="Times New Roman"/>
                        </a:rPr>
                        <a:t>FR3 / Sensors</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Connect sensors and OLED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acquisition and local display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06438">
                <a:tc>
                  <a:txBody>
                    <a:bodyPr/>
                    <a:lstStyle/>
                    <a:p>
                      <a:r>
                        <a:rPr sz="2100" b="0">
                          <a:solidFill>
                            <a:srgbClr val="111111"/>
                          </a:solidFill>
                          <a:latin typeface="Times New Roman"/>
                          <a:ea typeface="Times New Roman"/>
                          <a:cs typeface="Times New Roman"/>
                        </a:rPr>
                        <a:t>FR4 / Upload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Lose and restore phone internet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Queue retained and uploaded once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06438">
                <a:tc>
                  <a:txBody>
                    <a:bodyPr/>
                    <a:lstStyle/>
                    <a:p>
                      <a:r>
                        <a:rPr sz="2100" b="0">
                          <a:solidFill>
                            <a:srgbClr val="111111"/>
                          </a:solidFill>
                          <a:latin typeface="Times New Roman"/>
                          <a:ea typeface="Times New Roman"/>
                          <a:cs typeface="Times New Roman"/>
                        </a:rPr>
                        <a:t>FR5 / GPS + ETA</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Move along a known route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Location and ETA update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06438">
                <a:tc>
                  <a:txBody>
                    <a:bodyPr/>
                    <a:lstStyle/>
                    <a:p>
                      <a:r>
                        <a:rPr sz="2100" b="0">
                          <a:solidFill>
                            <a:srgbClr val="111111"/>
                          </a:solidFill>
                          <a:latin typeface="Times New Roman"/>
                          <a:ea typeface="Times New Roman"/>
                          <a:cs typeface="Times New Roman"/>
                        </a:rPr>
                        <a:t>FR6 / ML</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Evaluate a labeled held-out dataset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Report classification metrics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06438">
                <a:tc>
                  <a:txBody>
                    <a:bodyPr/>
                    <a:lstStyle/>
                    <a:p>
                      <a:r>
                        <a:rPr sz="2100" b="0">
                          <a:solidFill>
                            <a:srgbClr val="111111"/>
                          </a:solidFill>
                          <a:latin typeface="Times New Roman"/>
                          <a:ea typeface="Times New Roman"/>
                          <a:cs typeface="Times New Roman"/>
                        </a:rPr>
                        <a:t>FR6 / Dashboard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Deliver live and stale telemetry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values and freshness state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All cases on this slide are planned. No cloud">
            <a:extLst>
              <a:ext uri="{FF2B5EF4-FFF2-40B4-BE49-F238E27FC236}">
                <a16:creationId xmlns:a16="http://schemas.microsoft.com/office/drawing/2014/main" id="{445289BF-EA09-42DB-9EDC-E23C48D79124}"/>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All cases on this slide are planned. No cloud, GPS, ETA or ML results are claimed.</a:t>
            </a:r>
          </a:p>
        </p:txBody>
      </p:sp>
      <p:sp>
        <p:nvSpPr>
          <p:cNvPr id="7" name="11">
            <a:extLst>
              <a:ext uri="{FF2B5EF4-FFF2-40B4-BE49-F238E27FC236}">
                <a16:creationId xmlns:a16="http://schemas.microsoft.com/office/drawing/2014/main" id="{790258E3-4172-4B82-945C-A2B8BC04DE2A}"/>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11</a:t>
            </a:r>
          </a:p>
        </p:txBody>
      </p:sp>
    </p:spTree>
    <p:extLst>
      <p:ext uri="{BB962C8B-B14F-4D97-AF65-F5344CB8AC3E}">
        <p14:creationId xmlns:p14="http://schemas.microsoft.com/office/powerpoint/2010/main" val="1733596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Implementation Status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4CF3A94D-C996-4313-B03D-B0C5436F1D81}"/>
              </a:ext>
            </a:extLst>
          </p:cNvPr>
          <p:cNvGraphicFramePr/>
          <p:nvPr/>
        </p:nvGraphicFramePr>
        <p:xfrm>
          <a:off x="523875" y="1143000"/>
          <a:ext cx="11144250" cy="4667250"/>
        </p:xfrm>
        <a:graphic>
          <a:graphicData uri="http://schemas.openxmlformats.org/drawingml/2006/table">
            <a:tbl>
              <a:tblPr/>
              <a:tblGrid>
                <a:gridCol w="2476500">
                  <a:extLst>
                    <a:ext uri="{9D8B030D-6E8A-4147-A177-3AD203B41FA5}">
                      <a16:colId xmlns:a16="http://schemas.microsoft.com/office/drawing/2014/main" val="20000"/>
                    </a:ext>
                  </a:extLst>
                </a:gridCol>
                <a:gridCol w="4429125">
                  <a:extLst>
                    <a:ext uri="{9D8B030D-6E8A-4147-A177-3AD203B41FA5}">
                      <a16:colId xmlns:a16="http://schemas.microsoft.com/office/drawing/2014/main" val="20001"/>
                    </a:ext>
                  </a:extLst>
                </a:gridCol>
                <a:gridCol w="4238625">
                  <a:extLst>
                    <a:ext uri="{9D8B030D-6E8A-4147-A177-3AD203B41FA5}">
                      <a16:colId xmlns:a16="http://schemas.microsoft.com/office/drawing/2014/main" val="20002"/>
                    </a:ext>
                  </a:extLst>
                </a:gridCol>
              </a:tblGrid>
              <a:tr h="666750">
                <a:tc>
                  <a:txBody>
                    <a:bodyPr/>
                    <a:lstStyle/>
                    <a:p>
                      <a:r>
                        <a:rPr sz="2100" b="1">
                          <a:solidFill>
                            <a:srgbClr val="FFFFFF"/>
                          </a:solidFill>
                          <a:latin typeface="Times New Roman"/>
                          <a:ea typeface="Times New Roman"/>
                          <a:cs typeface="Times New Roman"/>
                        </a:rPr>
                        <a:t>Module</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Current evidence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Remaining work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666750">
                <a:tc>
                  <a:txBody>
                    <a:bodyPr/>
                    <a:lstStyle/>
                    <a:p>
                      <a:r>
                        <a:rPr sz="2100" b="0">
                          <a:solidFill>
                            <a:srgbClr val="111111"/>
                          </a:solidFill>
                          <a:latin typeface="Times New Roman"/>
                          <a:ea typeface="Times New Roman"/>
                          <a:cs typeface="Times New Roman"/>
                        </a:rPr>
                        <a:t>ESP32 BLE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Advertising, encryption, streaming code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Device validation evidence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666750">
                <a:tc>
                  <a:txBody>
                    <a:bodyPr/>
                    <a:lstStyle/>
                    <a:p>
                      <a:r>
                        <a:rPr sz="2100" b="0">
                          <a:solidFill>
                            <a:srgbClr val="111111"/>
                          </a:solidFill>
                          <a:latin typeface="Times New Roman"/>
                          <a:ea typeface="Times New Roman"/>
                          <a:cs typeface="Times New Roman"/>
                        </a:rPr>
                        <a:t>Flutter app</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Scan, connect, display, start/stop</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Gateway persistence and uploads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666750">
                <a:tc>
                  <a:txBody>
                    <a:bodyPr/>
                    <a:lstStyle/>
                    <a:p>
                      <a:r>
                        <a:rPr sz="2100" b="0">
                          <a:solidFill>
                            <a:srgbClr val="111111"/>
                          </a:solidFill>
                          <a:latin typeface="Times New Roman"/>
                          <a:ea typeface="Times New Roman"/>
                          <a:cs typeface="Times New Roman"/>
                        </a:rPr>
                        <a:t>Sensors / OLED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Separate sensor sketches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Integrate into BLE firmware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666750">
                <a:tc>
                  <a:txBody>
                    <a:bodyPr/>
                    <a:lstStyle/>
                    <a:p>
                      <a:r>
                        <a:rPr sz="2100" b="0">
                          <a:solidFill>
                            <a:srgbClr val="111111"/>
                          </a:solidFill>
                          <a:latin typeface="Times New Roman"/>
                          <a:ea typeface="Times New Roman"/>
                          <a:cs typeface="Times New Roman"/>
                        </a:rPr>
                        <a:t>RTOS</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BLE host and simulation tasks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Full acquisition/display pipeline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666750">
                <a:tc>
                  <a:txBody>
                    <a:bodyPr/>
                    <a:lstStyle/>
                    <a:p>
                      <a:r>
                        <a:rPr sz="2100" b="0">
                          <a:solidFill>
                            <a:srgbClr val="111111"/>
                          </a:solidFill>
                          <a:latin typeface="Times New Roman"/>
                          <a:ea typeface="Times New Roman"/>
                          <a:cs typeface="Times New Roman"/>
                        </a:rPr>
                        <a:t>Cloud / Dashboard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Placeholder component folders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Implement and integrate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r h="666750">
                <a:tc>
                  <a:txBody>
                    <a:bodyPr/>
                    <a:lstStyle/>
                    <a:p>
                      <a:r>
                        <a:rPr sz="2100" b="0">
                          <a:solidFill>
                            <a:srgbClr val="111111"/>
                          </a:solidFill>
                          <a:latin typeface="Times New Roman"/>
                          <a:ea typeface="Times New Roman"/>
                          <a:cs typeface="Times New Roman"/>
                        </a:rPr>
                        <a:t>GPS / ETA / ML</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No implementation found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Design, implement and evaluate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6"/>
                  </a:ext>
                </a:extLst>
              </a:tr>
            </a:tbl>
          </a:graphicData>
        </a:graphic>
      </p:graphicFrame>
      <p:sp>
        <p:nvSpPr>
          <p:cNvPr id="6" name="12">
            <a:extLst>
              <a:ext uri="{FF2B5EF4-FFF2-40B4-BE49-F238E27FC236}">
                <a16:creationId xmlns:a16="http://schemas.microsoft.com/office/drawing/2014/main" id="{B6423052-90BB-4036-A723-2A62F220BAA9}"/>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12</a:t>
            </a:r>
          </a:p>
        </p:txBody>
      </p:sp>
    </p:spTree>
    <p:extLst>
      <p:ext uri="{BB962C8B-B14F-4D97-AF65-F5344CB8AC3E}">
        <p14:creationId xmlns:p14="http://schemas.microsoft.com/office/powerpoint/2010/main" val="1733596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Prototype Evidence</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nnected and ready">
            <a:extLst>
              <a:ext uri="{FF2B5EF4-FFF2-40B4-BE49-F238E27FC236}">
                <a16:creationId xmlns:a16="http://schemas.microsoft.com/office/drawing/2014/main" id="{20B156C6-6F63-4077-B2B4-93238B036224}"/>
              </a:ext>
            </a:extLst>
          </p:cNvPr>
          <p:cNvSpPr>
            <a:spLocks noGrp="1"/>
          </p:cNvSpPr>
          <p:nvPr/>
        </p:nvSpPr>
        <p:spPr>
          <a:xfrm>
            <a:off x="6667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Connected and ready</a:t>
            </a:r>
          </a:p>
        </p:txBody>
      </p:sp>
      <p:sp>
        <p:nvSpPr>
          <p:cNvPr id="6" name="Screenshot pending">
            <a:extLst>
              <a:ext uri="{FF2B5EF4-FFF2-40B4-BE49-F238E27FC236}">
                <a16:creationId xmlns:a16="http://schemas.microsoft.com/office/drawing/2014/main" id="{D1530123-E1C4-430C-85D3-8F552FAE3993}"/>
              </a:ext>
            </a:extLst>
          </p:cNvPr>
          <p:cNvSpPr>
            <a:spLocks noGrp="1"/>
          </p:cNvSpPr>
          <p:nvPr/>
        </p:nvSpPr>
        <p:spPr>
          <a:xfrm>
            <a:off x="85725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7" name="Simulated vitals streaming">
            <a:extLst>
              <a:ext uri="{FF2B5EF4-FFF2-40B4-BE49-F238E27FC236}">
                <a16:creationId xmlns:a16="http://schemas.microsoft.com/office/drawing/2014/main" id="{36964AD3-5E81-4EF4-95EF-2FB93450507A}"/>
              </a:ext>
            </a:extLst>
          </p:cNvPr>
          <p:cNvSpPr>
            <a:spLocks noGrp="1"/>
          </p:cNvSpPr>
          <p:nvPr/>
        </p:nvSpPr>
        <p:spPr>
          <a:xfrm>
            <a:off x="457200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Simulated vitals streaming</a:t>
            </a:r>
          </a:p>
        </p:txBody>
      </p:sp>
      <p:sp>
        <p:nvSpPr>
          <p:cNvPr id="8" name="Screenshot pending">
            <a:extLst>
              <a:ext uri="{FF2B5EF4-FFF2-40B4-BE49-F238E27FC236}">
                <a16:creationId xmlns:a16="http://schemas.microsoft.com/office/drawing/2014/main" id="{ED237D89-32A7-47F1-ACC7-5F87B51E84B9}"/>
              </a:ext>
            </a:extLst>
          </p:cNvPr>
          <p:cNvSpPr>
            <a:spLocks noGrp="1"/>
          </p:cNvSpPr>
          <p:nvPr/>
        </p:nvSpPr>
        <p:spPr>
          <a:xfrm>
            <a:off x="476250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9" name="Stopped or reconnected">
            <a:extLst>
              <a:ext uri="{FF2B5EF4-FFF2-40B4-BE49-F238E27FC236}">
                <a16:creationId xmlns:a16="http://schemas.microsoft.com/office/drawing/2014/main" id="{1D7DFB66-01E7-49F5-B287-94FA429026DF}"/>
              </a:ext>
            </a:extLst>
          </p:cNvPr>
          <p:cNvSpPr>
            <a:spLocks noGrp="1"/>
          </p:cNvSpPr>
          <p:nvPr/>
        </p:nvSpPr>
        <p:spPr>
          <a:xfrm>
            <a:off x="84772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Stopped or reconnected</a:t>
            </a:r>
          </a:p>
        </p:txBody>
      </p:sp>
      <p:sp>
        <p:nvSpPr>
          <p:cNvPr id="10" name="Screenshot pending">
            <a:extLst>
              <a:ext uri="{FF2B5EF4-FFF2-40B4-BE49-F238E27FC236}">
                <a16:creationId xmlns:a16="http://schemas.microsoft.com/office/drawing/2014/main" id="{C24DD76E-497C-45C1-81D2-3DFF32F64BF3}"/>
              </a:ext>
            </a:extLst>
          </p:cNvPr>
          <p:cNvSpPr>
            <a:spLocks noGrp="1"/>
          </p:cNvSpPr>
          <p:nvPr/>
        </p:nvSpPr>
        <p:spPr>
          <a:xfrm>
            <a:off x="866775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11" name="Use real device captures. Pair the app displa">
            <a:extLst>
              <a:ext uri="{FF2B5EF4-FFF2-40B4-BE49-F238E27FC236}">
                <a16:creationId xmlns:a16="http://schemas.microsoft.com/office/drawing/2014/main" id="{10D4419E-65F8-4AF8-ABFE-000A5A89DE94}"/>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Use real device captures. Pair the app display with matching ESP32 serial logs.</a:t>
            </a:r>
          </a:p>
        </p:txBody>
      </p:sp>
      <p:sp>
        <p:nvSpPr>
          <p:cNvPr id="12" name="13">
            <a:extLst>
              <a:ext uri="{FF2B5EF4-FFF2-40B4-BE49-F238E27FC236}">
                <a16:creationId xmlns:a16="http://schemas.microsoft.com/office/drawing/2014/main" id="{7B76A915-D870-41E6-BAF2-B5FA79CDAC31}"/>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13</a:t>
            </a:r>
          </a:p>
        </p:txBody>
      </p:sp>
    </p:spTree>
    <p:extLst>
      <p:ext uri="{BB962C8B-B14F-4D97-AF65-F5344CB8AC3E}">
        <p14:creationId xmlns:p14="http://schemas.microsoft.com/office/powerpoint/2010/main" val="1733596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buNone/>
              <a:defRPr sz="4050" b="1">
                <a:solidFill>
                  <a:srgbClr val="FFFFFF"/>
                </a:solidFill>
                <a:latin typeface="Times New Roman"/>
                <a:ea typeface="Times New Roman"/>
                <a:cs typeface="Times New Roman"/>
              </a:defRPr>
            </a:lvl1pPr>
            <a:lvl2pPr algn="ctr">
              <a:buNone/>
              <a:defRPr sz="4050" b="1">
                <a:solidFill>
                  <a:srgbClr val="FFFFFF"/>
                </a:solidFill>
                <a:latin typeface="Times New Roman"/>
                <a:ea typeface="Times New Roman"/>
                <a:cs typeface="Times New Roman"/>
              </a:defRPr>
            </a:lvl2pPr>
            <a:lvl3pPr algn="ctr">
              <a:buNone/>
              <a:defRPr sz="4050" b="1">
                <a:solidFill>
                  <a:srgbClr val="FFFFFF"/>
                </a:solidFill>
                <a:latin typeface="Times New Roman"/>
                <a:ea typeface="Times New Roman"/>
                <a:cs typeface="Times New Roman"/>
              </a:defRPr>
            </a:lvl3pPr>
            <a:lvl4pPr algn="ctr">
              <a:buNone/>
              <a:defRPr sz="4050" b="1">
                <a:solidFill>
                  <a:srgbClr val="FFFFFF"/>
                </a:solidFill>
                <a:latin typeface="Times New Roman"/>
                <a:ea typeface="Times New Roman"/>
                <a:cs typeface="Times New Roman"/>
              </a:defRPr>
            </a:lvl4pPr>
            <a:lvl5pPr algn="ctr">
              <a:buNone/>
              <a:defRPr sz="4050" b="1">
                <a:solidFill>
                  <a:srgbClr val="FFFFFF"/>
                </a:solidFill>
                <a:latin typeface="Times New Roman"/>
                <a:ea typeface="Times New Roman"/>
                <a:cs typeface="Times New Roman"/>
              </a:defRPr>
            </a:lvl5pPr>
            <a:lvl6pPr algn="ctr">
              <a:buNone/>
              <a:defRPr sz="4050" b="1">
                <a:solidFill>
                  <a:srgbClr val="FFFFFF"/>
                </a:solidFill>
                <a:latin typeface="Times New Roman"/>
                <a:ea typeface="Times New Roman"/>
                <a:cs typeface="Times New Roman"/>
              </a:defRPr>
            </a:lvl6pPr>
            <a:lvl7pPr algn="ctr">
              <a:buNone/>
              <a:defRPr sz="4050" b="1">
                <a:solidFill>
                  <a:srgbClr val="FFFFFF"/>
                </a:solidFill>
                <a:latin typeface="Times New Roman"/>
                <a:ea typeface="Times New Roman"/>
                <a:cs typeface="Times New Roman"/>
              </a:defRPr>
            </a:lvl7pPr>
            <a:lvl8pPr algn="ctr">
              <a:buNone/>
              <a:defRPr sz="4050" b="1">
                <a:solidFill>
                  <a:srgbClr val="FFFFFF"/>
                </a:solidFill>
                <a:latin typeface="Times New Roman"/>
                <a:ea typeface="Times New Roman"/>
                <a:cs typeface="Times New Roman"/>
              </a:defRPr>
            </a:lvl8pPr>
            <a:lvl9pPr algn="ctr">
              <a:buNone/>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Conclusion and Future Work</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buNone/>
              <a:defRPr sz="1200" b="1">
                <a:solidFill>
                  <a:srgbClr val="FFFFFF"/>
                </a:solidFill>
                <a:latin typeface="Times New Roman"/>
                <a:ea typeface="Times New Roman"/>
                <a:cs typeface="Times New Roman"/>
              </a:defRPr>
            </a:lvl1pPr>
            <a:lvl2pPr>
              <a:buNone/>
              <a:defRPr sz="1200" b="1">
                <a:solidFill>
                  <a:srgbClr val="FFFFFF"/>
                </a:solidFill>
                <a:latin typeface="Times New Roman"/>
                <a:ea typeface="Times New Roman"/>
                <a:cs typeface="Times New Roman"/>
              </a:defRPr>
            </a:lvl2pPr>
            <a:lvl3pPr>
              <a:buNone/>
              <a:defRPr sz="1200" b="1">
                <a:solidFill>
                  <a:srgbClr val="FFFFFF"/>
                </a:solidFill>
                <a:latin typeface="Times New Roman"/>
                <a:ea typeface="Times New Roman"/>
                <a:cs typeface="Times New Roman"/>
              </a:defRPr>
            </a:lvl3pPr>
            <a:lvl4pPr>
              <a:buNone/>
              <a:defRPr sz="1200" b="1">
                <a:solidFill>
                  <a:srgbClr val="FFFFFF"/>
                </a:solidFill>
                <a:latin typeface="Times New Roman"/>
                <a:ea typeface="Times New Roman"/>
                <a:cs typeface="Times New Roman"/>
              </a:defRPr>
            </a:lvl4pPr>
            <a:lvl5pPr>
              <a:buNone/>
              <a:defRPr sz="1200" b="1">
                <a:solidFill>
                  <a:srgbClr val="FFFFFF"/>
                </a:solidFill>
                <a:latin typeface="Times New Roman"/>
                <a:ea typeface="Times New Roman"/>
                <a:cs typeface="Times New Roman"/>
              </a:defRPr>
            </a:lvl5pPr>
            <a:lvl6pPr>
              <a:buNone/>
              <a:defRPr sz="1200" b="1">
                <a:solidFill>
                  <a:srgbClr val="FFFFFF"/>
                </a:solidFill>
                <a:latin typeface="Times New Roman"/>
                <a:ea typeface="Times New Roman"/>
                <a:cs typeface="Times New Roman"/>
              </a:defRPr>
            </a:lvl6pPr>
            <a:lvl7pPr>
              <a:buNone/>
              <a:defRPr sz="1200" b="1">
                <a:solidFill>
                  <a:srgbClr val="FFFFFF"/>
                </a:solidFill>
                <a:latin typeface="Times New Roman"/>
                <a:ea typeface="Times New Roman"/>
                <a:cs typeface="Times New Roman"/>
              </a:defRPr>
            </a:lvl7pPr>
            <a:lvl8pPr>
              <a:buNone/>
              <a:defRPr sz="1200" b="1">
                <a:solidFill>
                  <a:srgbClr val="FFFFFF"/>
                </a:solidFill>
                <a:latin typeface="Times New Roman"/>
                <a:ea typeface="Times New Roman"/>
                <a:cs typeface="Times New Roman"/>
              </a:defRPr>
            </a:lvl8pPr>
            <a:lvl9pPr>
              <a:buNone/>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15" name="14">
            <a:extLst>
              <a:ext uri="{FF2B5EF4-FFF2-40B4-BE49-F238E27FC236}">
                <a16:creationId xmlns:a16="http://schemas.microsoft.com/office/drawing/2014/main" id="{B84EC8C5-B46C-4435-9A1C-74A4C9868B47}"/>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buNone/>
              <a:defRPr sz="1200" b="1">
                <a:solidFill>
                  <a:srgbClr val="FFFFFF"/>
                </a:solidFill>
                <a:latin typeface="Times New Roman"/>
                <a:ea typeface="Times New Roman"/>
                <a:cs typeface="Times New Roman"/>
              </a:defRPr>
            </a:lvl1pPr>
            <a:lvl2pPr algn="r">
              <a:buNone/>
              <a:defRPr sz="1200" b="1">
                <a:solidFill>
                  <a:srgbClr val="FFFFFF"/>
                </a:solidFill>
                <a:latin typeface="Times New Roman"/>
                <a:ea typeface="Times New Roman"/>
                <a:cs typeface="Times New Roman"/>
              </a:defRPr>
            </a:lvl2pPr>
            <a:lvl3pPr algn="r">
              <a:buNone/>
              <a:defRPr sz="1200" b="1">
                <a:solidFill>
                  <a:srgbClr val="FFFFFF"/>
                </a:solidFill>
                <a:latin typeface="Times New Roman"/>
                <a:ea typeface="Times New Roman"/>
                <a:cs typeface="Times New Roman"/>
              </a:defRPr>
            </a:lvl3pPr>
            <a:lvl4pPr algn="r">
              <a:buNone/>
              <a:defRPr sz="1200" b="1">
                <a:solidFill>
                  <a:srgbClr val="FFFFFF"/>
                </a:solidFill>
                <a:latin typeface="Times New Roman"/>
                <a:ea typeface="Times New Roman"/>
                <a:cs typeface="Times New Roman"/>
              </a:defRPr>
            </a:lvl4pPr>
            <a:lvl5pPr algn="r">
              <a:buNone/>
              <a:defRPr sz="1200" b="1">
                <a:solidFill>
                  <a:srgbClr val="FFFFFF"/>
                </a:solidFill>
                <a:latin typeface="Times New Roman"/>
                <a:ea typeface="Times New Roman"/>
                <a:cs typeface="Times New Roman"/>
              </a:defRPr>
            </a:lvl5pPr>
            <a:lvl6pPr algn="r">
              <a:buNone/>
              <a:defRPr sz="1200" b="1">
                <a:solidFill>
                  <a:srgbClr val="FFFFFF"/>
                </a:solidFill>
                <a:latin typeface="Times New Roman"/>
                <a:ea typeface="Times New Roman"/>
                <a:cs typeface="Times New Roman"/>
              </a:defRPr>
            </a:lvl6pPr>
            <a:lvl7pPr algn="r">
              <a:buNone/>
              <a:defRPr sz="1200" b="1">
                <a:solidFill>
                  <a:srgbClr val="FFFFFF"/>
                </a:solidFill>
                <a:latin typeface="Times New Roman"/>
                <a:ea typeface="Times New Roman"/>
                <a:cs typeface="Times New Roman"/>
              </a:defRPr>
            </a:lvl7pPr>
            <a:lvl8pPr algn="r">
              <a:buNone/>
              <a:defRPr sz="1200" b="1">
                <a:solidFill>
                  <a:srgbClr val="FFFFFF"/>
                </a:solidFill>
                <a:latin typeface="Times New Roman"/>
                <a:ea typeface="Times New Roman"/>
                <a:cs typeface="Times New Roman"/>
              </a:defRPr>
            </a:lvl8pPr>
            <a:lvl9pPr algn="r">
              <a:buNone/>
              <a:defRPr sz="1200" b="1">
                <a:solidFill>
                  <a:srgbClr val="FFFFFF"/>
                </a:solidFill>
                <a:latin typeface="Times New Roman"/>
                <a:ea typeface="Times New Roman"/>
                <a:cs typeface="Times New Roman"/>
              </a:defRPr>
            </a:lvl9pPr>
          </a:lstStyle>
          <a:p>
            <a:pPr algn="r">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14</a:t>
            </a:r>
          </a:p>
        </p:txBody>
      </p:sp>
      <p:sp>
        <p:nvSpPr>
          <p:cNvPr id="16" name="Conclusion and future work bullets">
            <a:extLst>
              <a:ext uri="{FF2B5EF4-FFF2-40B4-BE49-F238E27FC236}">
                <a16:creationId xmlns:a16="http://schemas.microsoft.com/office/drawing/2014/main" id="{E4ABBF5B-8045-467A-B70B-6EC5DD7F3F99}"/>
              </a:ext>
            </a:extLst>
          </p:cNvPr>
          <p:cNvSpPr>
            <a:spLocks noGrp="1"/>
          </p:cNvSpPr>
          <p:nvPr/>
        </p:nvSpPr>
        <p:spPr>
          <a:xfrm>
            <a:off x="762000" y="1333500"/>
            <a:ext cx="10668000" cy="4524375"/>
          </a:xfrm>
          <a:prstGeom prst="rect">
            <a:avLst/>
          </a:prstGeom>
          <a:noFill/>
          <a:ln w="0">
            <a:noFill/>
          </a:ln>
        </p:spPr>
        <p:txBody>
          <a:bodyPr lIns="0" tIns="0" rIns="0" bIns="0">
            <a:noAutofit/>
          </a:bodyPr>
          <a:lstStyle>
            <a:defPPr>
              <a:defRPr sz="2625">
                <a:solidFill>
                  <a:srgbClr val="111111"/>
                </a:solidFill>
                <a:latin typeface="Times New Roman"/>
                <a:ea typeface="Times New Roman"/>
                <a:cs typeface="Times New Roman"/>
              </a:defRPr>
            </a:defPPr>
            <a:lvl1pPr>
              <a:defRPr sz="2625">
                <a:solidFill>
                  <a:srgbClr val="111111"/>
                </a:solidFill>
                <a:latin typeface="Times New Roman"/>
                <a:ea typeface="Times New Roman"/>
                <a:cs typeface="Times New Roman"/>
              </a:defRPr>
            </a:lvl1pPr>
            <a:lvl2pPr>
              <a:defRPr sz="2625">
                <a:solidFill>
                  <a:srgbClr val="111111"/>
                </a:solidFill>
                <a:latin typeface="Times New Roman"/>
                <a:ea typeface="Times New Roman"/>
                <a:cs typeface="Times New Roman"/>
              </a:defRPr>
            </a:lvl2pPr>
            <a:lvl3pPr>
              <a:defRPr sz="2625">
                <a:solidFill>
                  <a:srgbClr val="111111"/>
                </a:solidFill>
                <a:latin typeface="Times New Roman"/>
                <a:ea typeface="Times New Roman"/>
                <a:cs typeface="Times New Roman"/>
              </a:defRPr>
            </a:lvl3pPr>
            <a:lvl4pPr>
              <a:defRPr sz="2625">
                <a:solidFill>
                  <a:srgbClr val="111111"/>
                </a:solidFill>
                <a:latin typeface="Times New Roman"/>
                <a:ea typeface="Times New Roman"/>
                <a:cs typeface="Times New Roman"/>
              </a:defRPr>
            </a:lvl4pPr>
            <a:lvl5pPr>
              <a:defRPr sz="2625">
                <a:solidFill>
                  <a:srgbClr val="111111"/>
                </a:solidFill>
                <a:latin typeface="Times New Roman"/>
                <a:ea typeface="Times New Roman"/>
                <a:cs typeface="Times New Roman"/>
              </a:defRPr>
            </a:lvl5pPr>
            <a:lvl6pPr>
              <a:defRPr sz="2625">
                <a:solidFill>
                  <a:srgbClr val="111111"/>
                </a:solidFill>
                <a:latin typeface="Times New Roman"/>
                <a:ea typeface="Times New Roman"/>
                <a:cs typeface="Times New Roman"/>
              </a:defRPr>
            </a:lvl6pPr>
            <a:lvl7pPr>
              <a:defRPr sz="2625">
                <a:solidFill>
                  <a:srgbClr val="111111"/>
                </a:solidFill>
                <a:latin typeface="Times New Roman"/>
                <a:ea typeface="Times New Roman"/>
                <a:cs typeface="Times New Roman"/>
              </a:defRPr>
            </a:lvl7pPr>
            <a:lvl8pPr>
              <a:defRPr sz="2625">
                <a:solidFill>
                  <a:srgbClr val="111111"/>
                </a:solidFill>
                <a:latin typeface="Times New Roman"/>
                <a:ea typeface="Times New Roman"/>
                <a:cs typeface="Times New Roman"/>
              </a:defRPr>
            </a:lvl8pPr>
            <a:lvl9pPr>
              <a:defRPr sz="2625">
                <a:solidFill>
                  <a:srgbClr val="111111"/>
                </a:solidFill>
                <a:latin typeface="Times New Roman"/>
                <a:ea typeface="Times New Roman"/>
                <a:cs typeface="Times New Roman"/>
              </a:defRPr>
            </a:lvl9pPr>
          </a:lstStyle>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Implemented ESP32 BLE communication and a Flutter app for simulated vitals.</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Supported device discovery, encrypted connection and start/stop control.</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Integrate physical sensors, OLED and the full RTOS task pipeline.</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Add persistent uploads, cloud services and the hospital dashboard.</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Develop GPS tracking, ETA estimation and ML risk prediction.</a:t>
            </a:r>
          </a:p>
        </p:txBody>
      </p:sp>
    </p:spTree>
    <p:extLst>
      <p:ext uri="{BB962C8B-B14F-4D97-AF65-F5344CB8AC3E}">
        <p14:creationId xmlns:p14="http://schemas.microsoft.com/office/powerpoint/2010/main" val="17335963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765809"/>
          </a:xfrm>
          <a:prstGeom prst="rect">
            <a:avLst/>
          </a:prstGeom>
          <a:solidFill>
            <a:srgbClr val="002060"/>
          </a:solidFill>
        </p:spPr>
        <p:txBody>
          <a:bodyPr>
            <a:normAutofit/>
          </a:bodyPr>
          <a:lstStyle/>
          <a:p>
            <a:pPr algn="ctr">
              <a:buNone/>
            </a:pPr>
            <a:endParaRPr sz="3600" b="1">
              <a:solidFill>
                <a:schemeClr val="bg1"/>
              </a:solidFill>
              <a:latin typeface="Times New Roman"/>
              <a:ea typeface="Times New Roman"/>
              <a:cs typeface="Times New Roman"/>
            </a:endParaRP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7" name="TextBox 6">
            <a:extLst>
              <a:ext uri="{FF2B5EF4-FFF2-40B4-BE49-F238E27FC236}">
                <a16:creationId xmlns:a16="http://schemas.microsoft.com/office/drawing/2014/main" id="{1C9D027C-64E9-914D-D965-A429BBC87943}"/>
              </a:ext>
            </a:extLst>
          </p:cNvPr>
          <p:cNvSpPr>
            <a:spLocks noGrp="1"/>
          </p:cNvSpPr>
          <p:nvPr/>
        </p:nvSpPr>
        <p:spPr>
          <a:xfrm>
            <a:off x="4563762" y="3429000"/>
            <a:ext cx="3387722" cy="1015663"/>
          </a:xfrm>
          <a:prstGeom prst="rect">
            <a:avLst/>
          </a:prstGeom>
          <a:noFill/>
        </p:spPr>
        <p:txBody>
          <a:bodyPr wrap="none">
            <a:spAutoFit/>
          </a:bodyPr>
          <a:lstStyle/>
          <a:p>
            <a:r>
              <a:rPr sz="6000">
                <a:solidFill>
                  <a:srgbClr val="0070C0"/>
                </a:solidFill>
              </a:rPr>
              <a:t>Thank You</a:t>
            </a:r>
          </a:p>
        </p:txBody>
      </p:sp>
      <p:sp>
        <p:nvSpPr>
          <p:cNvPr id="8" name="15">
            <a:extLst>
              <a:ext uri="{FF2B5EF4-FFF2-40B4-BE49-F238E27FC236}">
                <a16:creationId xmlns:a16="http://schemas.microsoft.com/office/drawing/2014/main" id="{5A51434F-8A9A-48B7-AE15-5E50A8D5B94F}"/>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15</a:t>
            </a:r>
          </a:p>
        </p:txBody>
      </p:sp>
    </p:spTree>
    <p:extLst>
      <p:ext uri="{BB962C8B-B14F-4D97-AF65-F5344CB8AC3E}">
        <p14:creationId xmlns:p14="http://schemas.microsoft.com/office/powerpoint/2010/main" val="3105312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2369</Words>
  <Application>Microsoft Office PowerPoint</Application>
  <DocSecurity>0</DocSecurity>
  <PresentationFormat>Widescreen</PresentationFormat>
  <Paragraphs>252</Paragraphs>
  <Slides>15</Slides>
  <Notes>12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15</vt:i4>
      </vt:variant>
    </vt:vector>
  </HeadingPairs>
  <TitlesOfParts>
    <vt:vector size="21" baseType="lpstr">
      <vt:lpstr>Arial</vt:lpstr>
      <vt:lpstr>Calibri</vt:lpstr>
      <vt:lpstr>Calibri Light</vt:lpstr>
      <vt:lpstr>Times New Roman</vt:lpstr>
      <vt:lpstr>Office Theme</vt:lpstr>
      <vt:lpstr>Office Theme</vt:lpstr>
      <vt:lpstr>Project Work Phase-2        7th semester  AY: 2026-27</vt:lpstr>
      <vt:lpstr>Presentation Outline</vt:lpstr>
      <vt:lpstr>Project Objectives</vt:lpstr>
      <vt:lpstr>Architecture</vt:lpstr>
      <vt:lpstr>BLE Communication Workflow</vt:lpstr>
      <vt:lpstr>Methods and Design Comparison</vt:lpstr>
      <vt:lpstr>Functional Requirements</vt:lpstr>
      <vt:lpstr>Non-Functional Requirements</vt:lpstr>
      <vt:lpstr>Wi-Fi vs BLE: Design Rationale</vt:lpstr>
      <vt:lpstr>BLE Test Cases</vt:lpstr>
      <vt:lpstr>Planned Integration Tests</vt:lpstr>
      <vt:lpstr>Implementation Status</vt:lpstr>
      <vt:lpstr>Prototype Evidence</vt:lpstr>
      <vt:lpstr>Conclusion and Future Work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Rahul S</cp:lastModifiedBy>
  <cp:revision>1</cp:revision>
  <dcterms:created xsi:type="dcterms:W3CDTF">2026-10-19T06:24:58Z</dcterms:created>
  <dcterms:modified xsi:type="dcterms:W3CDTF">2026-10-19T06:41:20Z</dcterms:modified>
</cp:coreProperties>
</file>