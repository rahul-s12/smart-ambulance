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Layered architecture inside the ESP32-C6. The application uses NimBLE host APIs. The host includes GAP, GATT/ATT, SMP and L2CAP. The HCI/VHCI boundary connects the host with the Espressif Bluetooth controller. The controller includes Link Layer functions and PHY support. The PHY/radio is shown as the hardware-facing layer, not a separate external microcontroller. Bidirectional arrows represent commands, events and BLE data. Firmware sources: esp32/components/ble/ble.c, ble_gap.c, ble_gatt.c; sdkconfig confirms esp32c6, NimBLE host and enabled Bluetooth controller. Official references: https://docs.espressif.com/projects/esp-idf/en/stable/esp32c6/api-reference/bluetooth/nimble/index.html and https://docs.espressif.com/projects/esp-idf/en/stable/esp32c6/api-guides/ble/get-started/ble-introduction.html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78C58E9-3DDC-4248-97CE-1846C7A74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A237CB8F-4C83-497A-B387-D0A47FB87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F84A23E6-33EE-46AB-A701-893E23C57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560A944-B4EC-40BB-92C1-CB00DB682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BE3CA0D-DDFE-4538-BBB0-5FD43D8C6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87FBDB20-FA6C-4F99-907D-E40773B49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4017BE6-8B27-4CE4-9F21-A577E6F3A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5DB11D7E-7789-4CCE-B74D-FCAFA572888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023C23E-ABE8-442D-A37D-4C27826AF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3FCEF3D2-1887-4232-B3A0-682B5F953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F5D2C32-B14B-4ED2-ABEE-24008D861733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6096000" y="4876800"/>
            <a:ext cx="0" cy="285750"/>
          </a:xfrm>
          <a:prstGeom prst="straightConnector1">
            <a:avLst/>
          </a:prstGeom>
          <a:ln w="19050">
            <a:solidFill>
              <a:srgbClr val="002060"/>
            </a:solidFill>
            <a:headEnd type="arrow" w="med" len="med"/>
            <a:tailEnd type="arrow" w="med" len="med"/>
          </a:ln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2573AE6-3827-4E89-A771-1BBF72BCF005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6096000" y="3848100"/>
            <a:ext cx="0" cy="285750"/>
          </a:xfrm>
          <a:prstGeom prst="straightConnector1">
            <a:avLst/>
          </a:prstGeom>
          <a:ln w="19050">
            <a:solidFill>
              <a:srgbClr val="002060"/>
            </a:solidFill>
            <a:headEnd type="arrow" w="med" len="med"/>
            <a:tailEnd type="arrow" w="med" len="med"/>
          </a:ln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95D51A7-2A1A-4F49-A8C3-6AFDACFDB6BE}"/>
              </a:ext>
            </a:extLst>
          </p:cNvPr>
          <p:cNvCxnSpPr>
            <a:stCxn id="3" idx="2"/>
            <a:endCxn id="4" idx="0"/>
          </p:cNvCxnSpPr>
          <p:nvPr/>
        </p:nvCxnSpPr>
        <p:spPr>
          <a:xfrm>
            <a:off x="6096000" y="2819400"/>
            <a:ext cx="0" cy="285750"/>
          </a:xfrm>
          <a:prstGeom prst="straightConnector1">
            <a:avLst/>
          </a:prstGeom>
          <a:ln w="19050">
            <a:solidFill>
              <a:srgbClr val="002060"/>
            </a:solidFill>
            <a:headEnd type="arrow" w="med" len="med"/>
            <a:tailEnd type="arrow" w="med" len="med"/>
          </a:ln>
        </p:spPr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D148F23-96A2-428C-ADF1-E39746709211}"/>
              </a:ext>
            </a:extLst>
          </p:cNvPr>
          <p:cNvCxnSpPr>
            <a:stCxn id="2" idx="2"/>
            <a:endCxn id="3" idx="0"/>
          </p:cNvCxnSpPr>
          <p:nvPr/>
        </p:nvCxnSpPr>
        <p:spPr>
          <a:xfrm>
            <a:off x="6096000" y="1790700"/>
            <a:ext cx="0" cy="285750"/>
          </a:xfrm>
          <a:prstGeom prst="straightConnector1">
            <a:avLst/>
          </a:prstGeom>
          <a:ln w="19050">
            <a:solidFill>
              <a:srgbClr val="002060"/>
            </a:solidFill>
            <a:headEnd type="arrow" w="med" len="med"/>
            <a:tailEnd type="arrow" w="med" len="med"/>
          </a:ln>
        </p:spPr>
      </p:cxnSp>
      <p:sp>
        <p:nvSpPr>
          <p:cNvPr id="13" name="BLE Stack Architecture on ESP32">
            <a:extLst>
              <a:ext uri="{FF2B5EF4-FFF2-40B4-BE49-F238E27FC236}">
                <a16:creationId xmlns:a16="http://schemas.microsoft.com/office/drawing/2014/main" id="{4550D5D2-43D7-4807-A1B2-F1ED779FCA8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2060"/>
          </a:solidFill>
          <a:ln w="15240">
            <a:solidFill>
              <a:srgbClr val="002060"/>
            </a:solidFill>
          </a:ln>
        </p:spPr>
        <p:txBody>
          <a:bodyPr lIns="57150" tIns="57150" rIns="57150" bIns="57150" anchor="ctr"/>
          <a:lstStyle>
            <a:defPPr algn="ctr">
              <a:defRPr sz="39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39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39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39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39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39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39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39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39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39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defRPr sz="39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9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BLE Stack Architecture on ESP32</a:t>
            </a:r>
          </a:p>
        </p:txBody>
      </p:sp>
      <p:sp>
        <p:nvSpPr>
          <p:cNvPr id="2" name="Application layer&#10;Vital data generation and stre">
            <a:extLst>
              <a:ext uri="{FF2B5EF4-FFF2-40B4-BE49-F238E27FC236}">
                <a16:creationId xmlns:a16="http://schemas.microsoft.com/office/drawing/2014/main" id="{A7B9365C-7206-452F-A833-073B757D144E}"/>
              </a:ext>
            </a:extLst>
          </p:cNvPr>
          <p:cNvSpPr>
            <a:spLocks noGrp="1"/>
          </p:cNvSpPr>
          <p:nvPr/>
        </p:nvSpPr>
        <p:spPr>
          <a:xfrm>
            <a:off x="1809750" y="1047750"/>
            <a:ext cx="8572500" cy="742950"/>
          </a:xfrm>
          <a:prstGeom prst="rect">
            <a:avLst/>
          </a:prstGeom>
          <a:solidFill>
            <a:srgbClr val="EDF3F9"/>
          </a:solidFill>
          <a:ln w="15240">
            <a:solidFill>
              <a:srgbClr val="002060"/>
            </a:solidFill>
          </a:ln>
        </p:spPr>
        <p:txBody>
          <a:bodyPr lIns="57150" tIns="57150" rIns="57150" bIns="57150" anchor="ctr"/>
          <a:lstStyle>
            <a:def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Application layer</a:t>
            </a:r>
          </a:p>
          <a:p>
            <a: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Vital data generation and stream control</a:t>
            </a:r>
          </a:p>
        </p:txBody>
      </p:sp>
      <p:sp>
        <p:nvSpPr>
          <p:cNvPr id="3" name="BLE host: NimBLE&#10;GAP, GATT, ATT, SMP and L2CAP">
            <a:extLst>
              <a:ext uri="{FF2B5EF4-FFF2-40B4-BE49-F238E27FC236}">
                <a16:creationId xmlns:a16="http://schemas.microsoft.com/office/drawing/2014/main" id="{1590856F-E9AD-42BD-851E-3B1B2416733B}"/>
              </a:ext>
            </a:extLst>
          </p:cNvPr>
          <p:cNvSpPr>
            <a:spLocks noGrp="1"/>
          </p:cNvSpPr>
          <p:nvPr/>
        </p:nvSpPr>
        <p:spPr>
          <a:xfrm>
            <a:off x="1809750" y="2076450"/>
            <a:ext cx="8572500" cy="742950"/>
          </a:xfrm>
          <a:prstGeom prst="rect">
            <a:avLst/>
          </a:prstGeom>
          <a:solidFill>
            <a:srgbClr val="EDF3F9"/>
          </a:solidFill>
          <a:ln w="15240">
            <a:solidFill>
              <a:srgbClr val="002060"/>
            </a:solidFill>
          </a:ln>
        </p:spPr>
        <p:txBody>
          <a:bodyPr lIns="57150" tIns="57150" rIns="57150" bIns="57150" anchor="ctr"/>
          <a:lstStyle>
            <a:def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BLE host: NimBLE</a:t>
            </a:r>
          </a:p>
          <a:p>
            <a: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GAP, GATT, ATT, SMP and L2CAP</a:t>
            </a:r>
          </a:p>
        </p:txBody>
      </p:sp>
      <p:sp>
        <p:nvSpPr>
          <p:cNvPr id="4" name="Host–controller interface: HCI / VHCI&#10;Commands, ">
            <a:extLst>
              <a:ext uri="{FF2B5EF4-FFF2-40B4-BE49-F238E27FC236}">
                <a16:creationId xmlns:a16="http://schemas.microsoft.com/office/drawing/2014/main" id="{3AC62986-60A5-46C6-BF90-A3D9DDAB0DC6}"/>
              </a:ext>
            </a:extLst>
          </p:cNvPr>
          <p:cNvSpPr>
            <a:spLocks noGrp="1"/>
          </p:cNvSpPr>
          <p:nvPr/>
        </p:nvSpPr>
        <p:spPr>
          <a:xfrm>
            <a:off x="1809750" y="3105150"/>
            <a:ext cx="8572500" cy="742950"/>
          </a:xfrm>
          <a:prstGeom prst="rect">
            <a:avLst/>
          </a:prstGeom>
          <a:solidFill>
            <a:srgbClr val="EDF3F9"/>
          </a:solidFill>
          <a:ln w="15240">
            <a:solidFill>
              <a:srgbClr val="002060"/>
            </a:solidFill>
          </a:ln>
        </p:spPr>
        <p:txBody>
          <a:bodyPr lIns="57150" tIns="57150" rIns="57150" bIns="57150" anchor="ctr"/>
          <a:lstStyle>
            <a:def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Host–controller interface: HCI / VHCI</a:t>
            </a:r>
          </a:p>
          <a:p>
            <a: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Commands, events and data transport</a:t>
            </a:r>
          </a:p>
        </p:txBody>
      </p:sp>
      <p:sp>
        <p:nvSpPr>
          <p:cNvPr id="5" name="Bluetooth controller: Link Layer&#10;Packet scheduli">
            <a:extLst>
              <a:ext uri="{FF2B5EF4-FFF2-40B4-BE49-F238E27FC236}">
                <a16:creationId xmlns:a16="http://schemas.microsoft.com/office/drawing/2014/main" id="{3074CFCC-5E32-4636-8671-3564F4A903E8}"/>
              </a:ext>
            </a:extLst>
          </p:cNvPr>
          <p:cNvSpPr>
            <a:spLocks noGrp="1"/>
          </p:cNvSpPr>
          <p:nvPr/>
        </p:nvSpPr>
        <p:spPr>
          <a:xfrm>
            <a:off x="1809750" y="4133850"/>
            <a:ext cx="8572500" cy="742950"/>
          </a:xfrm>
          <a:prstGeom prst="rect">
            <a:avLst/>
          </a:prstGeom>
          <a:solidFill>
            <a:srgbClr val="EDF3F9"/>
          </a:solidFill>
          <a:ln w="15240">
            <a:solidFill>
              <a:srgbClr val="002060"/>
            </a:solidFill>
          </a:ln>
        </p:spPr>
        <p:txBody>
          <a:bodyPr lIns="57150" tIns="57150" rIns="57150" bIns="57150" anchor="ctr"/>
          <a:lstStyle>
            <a:def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Bluetooth controller: Link Layer</a:t>
            </a:r>
          </a:p>
          <a:p>
            <a: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Packet scheduling, connections and link encryption</a:t>
            </a:r>
          </a:p>
        </p:txBody>
      </p:sp>
      <p:sp>
        <p:nvSpPr>
          <p:cNvPr id="6" name="ESP32-C6 hardware: PHY and radio&#10;2.4 GHz wireles">
            <a:extLst>
              <a:ext uri="{FF2B5EF4-FFF2-40B4-BE49-F238E27FC236}">
                <a16:creationId xmlns:a16="http://schemas.microsoft.com/office/drawing/2014/main" id="{01CE8DC4-C181-4E27-981C-4AD79D6FE16F}"/>
              </a:ext>
            </a:extLst>
          </p:cNvPr>
          <p:cNvSpPr>
            <a:spLocks noGrp="1"/>
          </p:cNvSpPr>
          <p:nvPr/>
        </p:nvSpPr>
        <p:spPr>
          <a:xfrm>
            <a:off x="1809750" y="5162550"/>
            <a:ext cx="8572500" cy="742950"/>
          </a:xfrm>
          <a:prstGeom prst="rect">
            <a:avLst/>
          </a:prstGeom>
          <a:solidFill>
            <a:srgbClr val="DCE8F4"/>
          </a:solidFill>
          <a:ln w="15240">
            <a:solidFill>
              <a:srgbClr val="002060"/>
            </a:solidFill>
          </a:ln>
        </p:spPr>
        <p:txBody>
          <a:bodyPr lIns="57150" tIns="57150" rIns="57150" bIns="57150" anchor="ctr"/>
          <a:lstStyle>
            <a:def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ESP32-C6 hardware: PHY and radio</a:t>
            </a:r>
          </a:p>
          <a:p>
            <a: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2.4 GHz wireless transmission and reception</a:t>
            </a:r>
          </a:p>
        </p:txBody>
      </p:sp>
      <p:sp>
        <p:nvSpPr>
          <p:cNvPr id="11" name="Application and host run under FreeRTOS on the E">
            <a:extLst>
              <a:ext uri="{FF2B5EF4-FFF2-40B4-BE49-F238E27FC236}">
                <a16:creationId xmlns:a16="http://schemas.microsoft.com/office/drawing/2014/main" id="{54468EC6-EEBB-4A43-949D-E8303C9A1959}"/>
              </a:ext>
            </a:extLst>
          </p:cNvPr>
          <p:cNvSpPr>
            <a:spLocks noGrp="1"/>
          </p:cNvSpPr>
          <p:nvPr/>
        </p:nvSpPr>
        <p:spPr>
          <a:xfrm>
            <a:off x="666750" y="6019800"/>
            <a:ext cx="10858500" cy="333375"/>
          </a:xfrm>
          <a:prstGeom prst="rect">
            <a:avLst/>
          </a:prstGeom>
          <a:noFill/>
          <a:ln w="0">
            <a:noFill/>
          </a:ln>
        </p:spPr>
        <p:txBody>
          <a:bodyPr lIns="57150" tIns="57150" rIns="57150" bIns="57150" anchor="ctr"/>
          <a:lstStyle>
            <a:defPPr algn="ctr">
              <a:defRPr sz="1875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75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75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75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75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75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75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75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75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75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defRPr sz="1875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Application and host run under FreeRTOS on the ESP32-C6</a:t>
            </a:r>
          </a:p>
        </p:txBody>
      </p:sp>
      <p:sp>
        <p:nvSpPr>
          <p:cNvPr id="12" name="Dept. of Electronics and Communication Engineeri">
            <a:extLst>
              <a:ext uri="{FF2B5EF4-FFF2-40B4-BE49-F238E27FC236}">
                <a16:creationId xmlns:a16="http://schemas.microsoft.com/office/drawing/2014/main" id="{C70F6609-6C1D-4F96-9ED5-EDF1C843FE10}"/>
              </a:ext>
            </a:extLst>
          </p:cNvPr>
          <p:cNvSpPr>
            <a:spLocks noGrp="1"/>
          </p:cNvSpPr>
          <p:nvPr/>
        </p:nvSpPr>
        <p:spPr>
          <a:xfrm>
            <a:off x="0" y="6492907"/>
            <a:ext cx="12192000" cy="365093"/>
          </a:xfrm>
          <a:prstGeom prst="rect">
            <a:avLst/>
          </a:prstGeom>
          <a:solidFill>
            <a:srgbClr val="002060"/>
          </a:solidFill>
          <a:ln w="15240">
            <a:solidFill>
              <a:srgbClr val="002060"/>
            </a:solidFill>
          </a:ln>
        </p:spPr>
        <p:txBody>
          <a:bodyPr lIns="57150" tIns="57150" rIns="57150" bIns="57150" anchor="ctr"/>
          <a:lstStyle>
            <a:def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Dept. of Electronics and Communication Engineering, NMIT, Bengaluru</a:t>
            </a:r>
          </a:p>
        </p:txBody>
      </p:sp>
    </p:spTree>
    <p:extLst>
      <p:ext uri="{BB962C8B-B14F-4D97-AF65-F5344CB8AC3E}">
        <p14:creationId xmlns:p14="http://schemas.microsoft.com/office/powerpoint/2010/main" val="152783389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</Words>
  <Application>Microsoft Office PowerPoint</Application>
  <DocSecurity>0</DocSecurity>
  <PresentationFormat>Widescreen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</vt:lpstr>
      <vt:lpstr>Times New Roman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Rahul S</cp:lastModifiedBy>
  <cp:revision>1</cp:revision>
  <dcterms:created xsi:type="dcterms:W3CDTF">2026-10-19T08:22:25Z</dcterms:created>
  <dcterms:modified xsi:type="dcterms:W3CDTF">2026-10-19T08:23:41Z</dcterms:modified>
</cp:coreProperties>
</file>