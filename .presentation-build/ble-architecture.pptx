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1f038c7390484d" /><Relationship Type="http://schemas.openxmlformats.org/officeDocument/2006/relationships/extended-properties" Target="/docProps/app.xml" Id="R16943c1230d44acc" /><Relationship Type="http://schemas.openxmlformats.org/officeDocument/2006/relationships/officeDocument" Target="/ppt/presentation.xml" Id="R4d5a4c2d48854e2f" /></Relationships>
</file>

<file path=ppt/presentation.xml><?xml version="1.0" encoding="utf-8"?>
<p:presentation xmlns:p="http://schemas.openxmlformats.org/presentationml/2006/main">
  <p:sldMasterIdLst>
    <p:sldMasterId xmlns:r="http://schemas.openxmlformats.org/officeDocument/2006/relationships" id="2147483648" r:id="R79cbfff3efbc4242"/>
  </p:sldMasterIdLst>
  <p:notesMasterIdLst>
    <p:notesMasterId xmlns:r="http://schemas.openxmlformats.org/officeDocument/2006/relationships" r:id="R668327c10a3b47cd"/>
  </p:notesMasterIdLst>
  <p:sldIdLst>
    <p:sldId xmlns:r="http://schemas.openxmlformats.org/officeDocument/2006/relationships" id="256" r:id="R6d8a2a777d644b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9f53c9ea6e4e0f" /><Relationship Type="http://schemas.openxmlformats.org/officeDocument/2006/relationships/slideMaster" Target="/ppt/slideMasters/slideMaster1.xml" Id="R79cbfff3efbc4242" /><Relationship Type="http://schemas.openxmlformats.org/officeDocument/2006/relationships/notesMaster" Target="/ppt/notesMasters/notesMaster1.xml" Id="R668327c10a3b47cd" /><Relationship Type="http://schemas.openxmlformats.org/officeDocument/2006/relationships/presProps" Target="/ppt/presProps.xml" Id="R90567896987a4774" /><Relationship Type="http://schemas.openxmlformats.org/officeDocument/2006/relationships/tableStyles" Target="/ppt/tableStyles.xml" Id="R165134f8e9af46d5" /><Relationship Type="http://schemas.openxmlformats.org/officeDocument/2006/relationships/slide" Target="/ppt/slides/slide1.xml" Id="R6d8a2a777d644b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0a44350b1742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6f86c17d804fcb" /><Relationship Type="http://schemas.openxmlformats.org/officeDocument/2006/relationships/notesMaster" Target="/ppt/notesMasters/notesMaster1.xml" Id="R6ac69ceb24814e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of the implemented ESP32-to-phone BLE prototype. The Flutter app is the BLE central/GATT client. ESP32 advertises as Smart_Ambulance and hosts GHSS 0x1840. App start 0x01 and stop 0x02 commands use control point 0x2BF4. Firmware requires link encryption and subscribed indications, validates the command, sets stream state, and indicates acknowledgement 0x80. The simulated-vitals task emits heart rate, SpO2 and temperature observations through notifications on 0x2B8B. Physical sensor integration is planned. Sources: current app/lib/main.dart and esp32/components/ble/ble.c, ble_gap.c, ble_gatt.c.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e9f2804f434f3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443dc62d264f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5c1488d75440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d23604db2b4f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3b70fdf76bb4b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115e78d5d041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44AEE9-8EF9-4CD9-B58D-A613560B5D6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CC40589-0DEA-40C4-862A-ED8E9094F5B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486D13-B014-4821-9A9C-94FC23BB956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3B6192-A977-4DB5-A2F7-47C0B0897F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8D3563C-FE56-4C78-9930-526159C6E2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E65E878-24EA-465D-BA75-44A71054F9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817807-573F-4D69-97A9-C807FCF2C3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EF0779-B41D-47B5-86F8-5AB58FEFD89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2C1991-D29C-4951-A3BA-0C71ACB763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658959-0129-4F08-9CA1-2567F0CFEF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82f37dc4224938" /><Relationship Type="http://schemas.openxmlformats.org/officeDocument/2006/relationships/slideLayout" Target="/ppt/slideLayouts/slideLayout1.xml" Id="Rb2bf62426aac41fd" /><Relationship Type="http://schemas.openxmlformats.org/officeDocument/2006/relationships/slideLayout" Target="/ppt/slideLayouts/slideLayout2.xml" Id="R09715b05660643cf" /><Relationship Type="http://schemas.openxmlformats.org/officeDocument/2006/relationships/slideLayout" Target="/ppt/slideLayouts/slideLayout3.xml" Id="Ree21ce3cf8d54484" /><Relationship Type="http://schemas.openxmlformats.org/officeDocument/2006/relationships/slideLayout" Target="/ppt/slideLayouts/slideLayout4.xml" Id="R1a1e444c2af3444e" /><Relationship Type="http://schemas.openxmlformats.org/officeDocument/2006/relationships/slideLayout" Target="/ppt/slideLayouts/slideLayout5.xml" Id="Re39c841a1b7149aa" /><Relationship Type="http://schemas.openxmlformats.org/officeDocument/2006/relationships/slideLayout" Target="/ppt/slideLayouts/slideLayout6.xml" Id="Ra41ec516ef804f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bf62426aac41fd"/>
    <p:sldLayoutId xmlns:r="http://schemas.openxmlformats.org/officeDocument/2006/relationships" id="2147483650" r:id="R09715b05660643cf"/>
    <p:sldLayoutId xmlns:r="http://schemas.openxmlformats.org/officeDocument/2006/relationships" id="2147483651" r:id="Ree21ce3cf8d54484"/>
    <p:sldLayoutId xmlns:r="http://schemas.openxmlformats.org/officeDocument/2006/relationships" id="2147483652" r:id="R1a1e444c2af3444e"/>
    <p:sldLayoutId xmlns:r="http://schemas.openxmlformats.org/officeDocument/2006/relationships" id="2147483653" r:id="Re39c841a1b7149aa"/>
    <p:sldLayoutId xmlns:r="http://schemas.openxmlformats.org/officeDocument/2006/relationships" id="2147483654" r:id="Ra41ec516ef804f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3e0064cf864777" /><Relationship Type="http://schemas.openxmlformats.org/officeDocument/2006/relationships/notesSlide" Target="/ppt/notesSlides/notesSlide1.xml" Id="R70116c5a205b46b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E70DEC41-7626-496F-964D-EE6EAB9B9264}"/>
              </a:ext>
            </a:extLst>
          </p:cNvPr>
          <p:cNvCxnSpPr>
            <a:stCxn xmlns:a="http://schemas.openxmlformats.org/drawingml/2006/main" id="10" idx="1"/>
            <a:endCxn xmlns:a="http://schemas.openxmlformats.org/drawingml/2006/main" id="9" idx="3"/>
          </p:cNvCxnSpPr>
          <p:nvPr/>
        </p:nvCxnSpPr>
        <p:spPr>
          <a:xfrm xmlns:a="http://schemas.openxmlformats.org/drawingml/2006/main" flipH="1">
            <a:off x="3571875" y="4976813"/>
            <a:ext cx="1000125"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4" name="">
            <a:extLst xmlns:a="http://schemas.openxmlformats.org/drawingml/2006/main">
              <a:ext uri="{FF2B5EF4-FFF2-40B4-BE49-F238E27FC236}">
                <a16:creationId xmlns:a16="http://schemas.microsoft.com/office/drawing/2014/main" id="{506C3621-069C-47DF-99B5-4BCA1E4BA575}"/>
              </a:ext>
            </a:extLst>
          </p:cNvPr>
          <p:cNvCxnSpPr>
            <a:stCxn xmlns:a="http://schemas.openxmlformats.org/drawingml/2006/main" id="11" idx="1"/>
            <a:endCxn xmlns:a="http://schemas.openxmlformats.org/drawingml/2006/main" id="10" idx="3"/>
          </p:cNvCxnSpPr>
          <p:nvPr/>
        </p:nvCxnSpPr>
        <p:spPr>
          <a:xfrm xmlns:a="http://schemas.openxmlformats.org/drawingml/2006/main" flipH="1">
            <a:off x="7620000" y="4976813"/>
            <a:ext cx="1000125"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3" name="">
            <a:extLst xmlns:a="http://schemas.openxmlformats.org/drawingml/2006/main">
              <a:ext uri="{FF2B5EF4-FFF2-40B4-BE49-F238E27FC236}">
                <a16:creationId xmlns:a16="http://schemas.microsoft.com/office/drawing/2014/main" id="{19B83905-76F3-402C-B744-8C68C3CE0C6C}"/>
              </a:ext>
            </a:extLst>
          </p:cNvPr>
          <p:cNvCxnSpPr>
            <a:stCxn xmlns:a="http://schemas.openxmlformats.org/drawingml/2006/main" id="7" idx="3"/>
            <a:endCxn xmlns:a="http://schemas.openxmlformats.org/drawingml/2006/main" id="8" idx="1"/>
          </p:cNvCxnSpPr>
          <p:nvPr/>
        </p:nvCxnSpPr>
        <p:spPr>
          <a:xfrm xmlns:a="http://schemas.openxmlformats.org/drawingml/2006/main">
            <a:off x="7620000" y="3167063"/>
            <a:ext cx="1000125"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2" name="">
            <a:extLst xmlns:a="http://schemas.openxmlformats.org/drawingml/2006/main">
              <a:ext uri="{FF2B5EF4-FFF2-40B4-BE49-F238E27FC236}">
                <a16:creationId xmlns:a16="http://schemas.microsoft.com/office/drawing/2014/main" id="{66492FCD-B7FD-45E6-B9BB-C73D45D399D5}"/>
              </a:ext>
            </a:extLst>
          </p:cNvPr>
          <p:cNvCxnSpPr>
            <a:stCxn xmlns:a="http://schemas.openxmlformats.org/drawingml/2006/main" id="6" idx="3"/>
            <a:endCxn xmlns:a="http://schemas.openxmlformats.org/drawingml/2006/main" id="7" idx="1"/>
          </p:cNvCxnSpPr>
          <p:nvPr/>
        </p:nvCxnSpPr>
        <p:spPr>
          <a:xfrm xmlns:a="http://schemas.openxmlformats.org/drawingml/2006/main">
            <a:off x="3571875" y="3167063"/>
            <a:ext cx="1000125"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19" name="BLE Architecture: Flutter to ESP32">
            <a:extLst xmlns:a="http://schemas.openxmlformats.org/drawingml/2006/main">
              <a:ext uri="{FF2B5EF4-FFF2-40B4-BE49-F238E27FC236}">
                <a16:creationId xmlns:a16="http://schemas.microsoft.com/office/drawing/2014/main" id="{D51F3475-2963-4DC4-84C8-8D9EFE4E3FB4}"/>
              </a:ext>
            </a:extLst>
          </p:cNvPr>
          <p:cNvSpPr>
            <a:spLocks xmlns:a="http://schemas.openxmlformats.org/drawingml/2006/main" noGrp="1"/>
          </p:cNvSpPr>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3900" b="1">
                <a:solidFill>
                  <a:srgbClr val="FFFFFF"/>
                </a:solidFill>
                <a:latin typeface="Times New Roman"/>
                <a:ea typeface="Times New Roman"/>
                <a:cs typeface="Times New Roman"/>
              </a:defRPr>
            </a:defPPr>
            <a:lvl1pPr algn="ctr">
              <a:defRPr sz="3900" b="1">
                <a:solidFill>
                  <a:srgbClr val="FFFFFF"/>
                </a:solidFill>
                <a:latin typeface="Times New Roman"/>
                <a:ea typeface="Times New Roman"/>
                <a:cs typeface="Times New Roman"/>
              </a:defRPr>
            </a:lvl1pPr>
            <a:lvl2pPr algn="ctr">
              <a:defRPr sz="3900" b="1">
                <a:solidFill>
                  <a:srgbClr val="FFFFFF"/>
                </a:solidFill>
                <a:latin typeface="Times New Roman"/>
                <a:ea typeface="Times New Roman"/>
                <a:cs typeface="Times New Roman"/>
              </a:defRPr>
            </a:lvl2pPr>
            <a:lvl3pPr algn="ctr">
              <a:defRPr sz="3900" b="1">
                <a:solidFill>
                  <a:srgbClr val="FFFFFF"/>
                </a:solidFill>
                <a:latin typeface="Times New Roman"/>
                <a:ea typeface="Times New Roman"/>
                <a:cs typeface="Times New Roman"/>
              </a:defRPr>
            </a:lvl3pPr>
            <a:lvl4pPr algn="ctr">
              <a:defRPr sz="3900" b="1">
                <a:solidFill>
                  <a:srgbClr val="FFFFFF"/>
                </a:solidFill>
                <a:latin typeface="Times New Roman"/>
                <a:ea typeface="Times New Roman"/>
                <a:cs typeface="Times New Roman"/>
              </a:defRPr>
            </a:lvl4pPr>
            <a:lvl5pPr algn="ctr">
              <a:defRPr sz="3900" b="1">
                <a:solidFill>
                  <a:srgbClr val="FFFFFF"/>
                </a:solidFill>
                <a:latin typeface="Times New Roman"/>
                <a:ea typeface="Times New Roman"/>
                <a:cs typeface="Times New Roman"/>
              </a:defRPr>
            </a:lvl5pPr>
            <a:lvl6pPr algn="ctr">
              <a:defRPr sz="3900" b="1">
                <a:solidFill>
                  <a:srgbClr val="FFFFFF"/>
                </a:solidFill>
                <a:latin typeface="Times New Roman"/>
                <a:ea typeface="Times New Roman"/>
                <a:cs typeface="Times New Roman"/>
              </a:defRPr>
            </a:lvl6pPr>
            <a:lvl7pPr algn="ctr">
              <a:defRPr sz="3900" b="1">
                <a:solidFill>
                  <a:srgbClr val="FFFFFF"/>
                </a:solidFill>
                <a:latin typeface="Times New Roman"/>
                <a:ea typeface="Times New Roman"/>
                <a:cs typeface="Times New Roman"/>
              </a:defRPr>
            </a:lvl7pPr>
            <a:lvl8pPr algn="ctr">
              <a:defRPr sz="3900" b="1">
                <a:solidFill>
                  <a:srgbClr val="FFFFFF"/>
                </a:solidFill>
                <a:latin typeface="Times New Roman"/>
                <a:ea typeface="Times New Roman"/>
                <a:cs typeface="Times New Roman"/>
              </a:defRPr>
            </a:lvl8pPr>
            <a:lvl9pPr algn="ctr">
              <a:defRPr sz="3900" b="1">
                <a:solidFill>
                  <a:srgbClr val="FFFFFF"/>
                </a:solidFill>
                <a:latin typeface="Times New Roman"/>
                <a:ea typeface="Times New Roman"/>
                <a:cs typeface="Times New Roman"/>
              </a:defRPr>
            </a:lvl9pPr>
          </a:lstStyle>
          <a:p xmlns:a="http://schemas.openxmlformats.org/drawingml/2006/main">
            <a:pPr algn="ctr">
              <a:defRPr sz="3900" b="1">
                <a:solidFill>
                  <a:srgbClr val="FFFFFF"/>
                </a:solidFill>
                <a:latin typeface="Times New Roman"/>
                <a:ea typeface="Times New Roman"/>
                <a:cs typeface="Times New Roman"/>
              </a:defRPr>
            </a:pPr>
            <a:r>
              <a:rPr sz="3900" b="1">
                <a:solidFill>
                  <a:srgbClr val="FFFFFF"/>
                </a:solidFill>
                <a:latin typeface="Times New Roman"/>
                <a:ea typeface="Times New Roman"/>
                <a:cs typeface="Times New Roman"/>
              </a:rPr>
              <a:t>BLE Architecture: Flutter to ESP32</a:t>
            </a:r>
          </a:p>
        </p:txBody>
      </p:sp>
      <p:sp>
        <p:nvSpPr>
          <p:cNvPr id="2" name="Generic Health Sensor Service (GHSS): 0x1840">
            <a:extLst xmlns:a="http://schemas.openxmlformats.org/drawingml/2006/main">
              <a:ext uri="{FF2B5EF4-FFF2-40B4-BE49-F238E27FC236}">
                <a16:creationId xmlns:a16="http://schemas.microsoft.com/office/drawing/2014/main" id="{27437D42-42D1-49EA-8015-94BE8E2D70D1}"/>
              </a:ext>
            </a:extLst>
          </p:cNvPr>
          <p:cNvSpPr>
            <a:spLocks xmlns:a="http://schemas.openxmlformats.org/drawingml/2006/main" noGrp="1"/>
          </p:cNvSpPr>
          <p:nvPr/>
        </p:nvSpPr>
        <p:spPr>
          <a:xfrm xmlns:a="http://schemas.openxmlformats.org/drawingml/2006/main">
            <a:off x="762000" y="1000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400" b="1">
                <a:solidFill>
                  <a:srgbClr val="002060"/>
                </a:solidFill>
                <a:latin typeface="Times New Roman"/>
                <a:ea typeface="Times New Roman"/>
                <a:cs typeface="Times New Roman"/>
              </a:defRPr>
            </a:defPPr>
            <a:lvl1pPr algn="ctr">
              <a:defRPr sz="2400" b="1">
                <a:solidFill>
                  <a:srgbClr val="002060"/>
                </a:solidFill>
                <a:latin typeface="Times New Roman"/>
                <a:ea typeface="Times New Roman"/>
                <a:cs typeface="Times New Roman"/>
              </a:defRPr>
            </a:lvl1pPr>
            <a:lvl2pPr algn="ctr">
              <a:defRPr sz="2400" b="1">
                <a:solidFill>
                  <a:srgbClr val="002060"/>
                </a:solidFill>
                <a:latin typeface="Times New Roman"/>
                <a:ea typeface="Times New Roman"/>
                <a:cs typeface="Times New Roman"/>
              </a:defRPr>
            </a:lvl2pPr>
            <a:lvl3pPr algn="ctr">
              <a:defRPr sz="2400" b="1">
                <a:solidFill>
                  <a:srgbClr val="002060"/>
                </a:solidFill>
                <a:latin typeface="Times New Roman"/>
                <a:ea typeface="Times New Roman"/>
                <a:cs typeface="Times New Roman"/>
              </a:defRPr>
            </a:lvl3pPr>
            <a:lvl4pPr algn="ctr">
              <a:defRPr sz="2400" b="1">
                <a:solidFill>
                  <a:srgbClr val="002060"/>
                </a:solidFill>
                <a:latin typeface="Times New Roman"/>
                <a:ea typeface="Times New Roman"/>
                <a:cs typeface="Times New Roman"/>
              </a:defRPr>
            </a:lvl4pPr>
            <a:lvl5pPr algn="ctr">
              <a:defRPr sz="2400" b="1">
                <a:solidFill>
                  <a:srgbClr val="002060"/>
                </a:solidFill>
                <a:latin typeface="Times New Roman"/>
                <a:ea typeface="Times New Roman"/>
                <a:cs typeface="Times New Roman"/>
              </a:defRPr>
            </a:lvl5pPr>
            <a:lvl6pPr algn="ctr">
              <a:defRPr sz="2400" b="1">
                <a:solidFill>
                  <a:srgbClr val="002060"/>
                </a:solidFill>
                <a:latin typeface="Times New Roman"/>
                <a:ea typeface="Times New Roman"/>
                <a:cs typeface="Times New Roman"/>
              </a:defRPr>
            </a:lvl6pPr>
            <a:lvl7pPr algn="ctr">
              <a:defRPr sz="2400" b="1">
                <a:solidFill>
                  <a:srgbClr val="002060"/>
                </a:solidFill>
                <a:latin typeface="Times New Roman"/>
                <a:ea typeface="Times New Roman"/>
                <a:cs typeface="Times New Roman"/>
              </a:defRPr>
            </a:lvl7pPr>
            <a:lvl8pPr algn="ctr">
              <a:defRPr sz="2400" b="1">
                <a:solidFill>
                  <a:srgbClr val="002060"/>
                </a:solidFill>
                <a:latin typeface="Times New Roman"/>
                <a:ea typeface="Times New Roman"/>
                <a:cs typeface="Times New Roman"/>
              </a:defRPr>
            </a:lvl8pPr>
            <a:lvl9pPr algn="ctr">
              <a:defRPr sz="2400" b="1">
                <a:solidFill>
                  <a:srgbClr val="002060"/>
                </a:solidFill>
                <a:latin typeface="Times New Roman"/>
                <a:ea typeface="Times New Roman"/>
                <a:cs typeface="Times New Roman"/>
              </a:defRPr>
            </a:lvl9pPr>
          </a:lstStyle>
          <a:p xmlns:a="http://schemas.openxmlformats.org/drawingml/2006/main">
            <a:pPr algn="ctr">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Generic Health Sensor Service (GHSS): 0x1840</a:t>
            </a:r>
          </a:p>
        </p:txBody>
      </p:sp>
      <p:sp>
        <p:nvSpPr>
          <p:cNvPr id="3" name="Flutter app&#10;BLE central / GATT client">
            <a:extLst xmlns:a="http://schemas.openxmlformats.org/drawingml/2006/main">
              <a:ext uri="{FF2B5EF4-FFF2-40B4-BE49-F238E27FC236}">
                <a16:creationId xmlns:a16="http://schemas.microsoft.com/office/drawing/2014/main" id="{7CE81280-4A50-487E-8E65-C43A4215C3C3}"/>
              </a:ext>
            </a:extLst>
          </p:cNvPr>
          <p:cNvSpPr>
            <a:spLocks xmlns:a="http://schemas.openxmlformats.org/drawingml/2006/main" noGrp="1"/>
          </p:cNvSpPr>
          <p:nvPr/>
        </p:nvSpPr>
        <p:spPr>
          <a:xfrm xmlns:a="http://schemas.openxmlformats.org/drawingml/2006/main">
            <a:off x="523875" y="15716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70C0"/>
                </a:solidFill>
                <a:latin typeface="Times New Roman"/>
                <a:ea typeface="Times New Roman"/>
                <a:cs typeface="Times New Roman"/>
              </a:defRPr>
            </a:defPPr>
            <a:lvl1pPr algn="ctr">
              <a:defRPr sz="2250" b="1">
                <a:solidFill>
                  <a:srgbClr val="0070C0"/>
                </a:solidFill>
                <a:latin typeface="Times New Roman"/>
                <a:ea typeface="Times New Roman"/>
                <a:cs typeface="Times New Roman"/>
              </a:defRPr>
            </a:lvl1pPr>
            <a:lvl2pPr algn="ctr">
              <a:defRPr sz="2250" b="1">
                <a:solidFill>
                  <a:srgbClr val="0070C0"/>
                </a:solidFill>
                <a:latin typeface="Times New Roman"/>
                <a:ea typeface="Times New Roman"/>
                <a:cs typeface="Times New Roman"/>
              </a:defRPr>
            </a:lvl2pPr>
            <a:lvl3pPr algn="ctr">
              <a:defRPr sz="2250" b="1">
                <a:solidFill>
                  <a:srgbClr val="0070C0"/>
                </a:solidFill>
                <a:latin typeface="Times New Roman"/>
                <a:ea typeface="Times New Roman"/>
                <a:cs typeface="Times New Roman"/>
              </a:defRPr>
            </a:lvl3pPr>
            <a:lvl4pPr algn="ctr">
              <a:defRPr sz="2250" b="1">
                <a:solidFill>
                  <a:srgbClr val="0070C0"/>
                </a:solidFill>
                <a:latin typeface="Times New Roman"/>
                <a:ea typeface="Times New Roman"/>
                <a:cs typeface="Times New Roman"/>
              </a:defRPr>
            </a:lvl4pPr>
            <a:lvl5pPr algn="ctr">
              <a:defRPr sz="2250" b="1">
                <a:solidFill>
                  <a:srgbClr val="0070C0"/>
                </a:solidFill>
                <a:latin typeface="Times New Roman"/>
                <a:ea typeface="Times New Roman"/>
                <a:cs typeface="Times New Roman"/>
              </a:defRPr>
            </a:lvl5pPr>
            <a:lvl6pPr algn="ctr">
              <a:defRPr sz="2250" b="1">
                <a:solidFill>
                  <a:srgbClr val="0070C0"/>
                </a:solidFill>
                <a:latin typeface="Times New Roman"/>
                <a:ea typeface="Times New Roman"/>
                <a:cs typeface="Times New Roman"/>
              </a:defRPr>
            </a:lvl6pPr>
            <a:lvl7pPr algn="ctr">
              <a:defRPr sz="2250" b="1">
                <a:solidFill>
                  <a:srgbClr val="0070C0"/>
                </a:solidFill>
                <a:latin typeface="Times New Roman"/>
                <a:ea typeface="Times New Roman"/>
                <a:cs typeface="Times New Roman"/>
              </a:defRPr>
            </a:lvl7pPr>
            <a:lvl8pPr algn="ctr">
              <a:defRPr sz="2250" b="1">
                <a:solidFill>
                  <a:srgbClr val="0070C0"/>
                </a:solidFill>
                <a:latin typeface="Times New Roman"/>
                <a:ea typeface="Times New Roman"/>
                <a:cs typeface="Times New Roman"/>
              </a:defRPr>
            </a:lvl8pPr>
            <a:lvl9pPr algn="ctr">
              <a:defRPr sz="2250" b="1">
                <a:solidFill>
                  <a:srgbClr val="0070C0"/>
                </a:solidFill>
                <a:latin typeface="Times New Roman"/>
                <a:ea typeface="Times New Roman"/>
                <a:cs typeface="Times New Roman"/>
              </a:defRPr>
            </a:lvl9pPr>
          </a:lstStyle>
          <a:p xmlns:a="http://schemas.openxmlformats.org/drawingml/2006/main">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Flutter app</a:t>
            </a:r>
          </a:p>
          <a:p xmlns:a="http://schemas.openxmlformats.org/drawingml/2006/main">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BLE central / GATT client</a:t>
            </a:r>
          </a:p>
        </p:txBody>
      </p:sp>
      <p:sp>
        <p:nvSpPr>
          <p:cNvPr id="4" name="Encrypted BLE connection">
            <a:extLst xmlns:a="http://schemas.openxmlformats.org/drawingml/2006/main">
              <a:ext uri="{FF2B5EF4-FFF2-40B4-BE49-F238E27FC236}">
                <a16:creationId xmlns:a16="http://schemas.microsoft.com/office/drawing/2014/main" id="{C37768A7-5F73-4276-B324-CD1A9491BF36}"/>
              </a:ext>
            </a:extLst>
          </p:cNvPr>
          <p:cNvSpPr>
            <a:spLocks xmlns:a="http://schemas.openxmlformats.org/drawingml/2006/main" noGrp="1"/>
          </p:cNvSpPr>
          <p:nvPr/>
        </p:nvSpPr>
        <p:spPr>
          <a:xfrm xmlns:a="http://schemas.openxmlformats.org/drawingml/2006/main">
            <a:off x="4572000" y="15716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70C0"/>
                </a:solidFill>
                <a:latin typeface="Times New Roman"/>
                <a:ea typeface="Times New Roman"/>
                <a:cs typeface="Times New Roman"/>
              </a:defRPr>
            </a:defPPr>
            <a:lvl1pPr algn="ctr">
              <a:defRPr sz="2250" b="1">
                <a:solidFill>
                  <a:srgbClr val="0070C0"/>
                </a:solidFill>
                <a:latin typeface="Times New Roman"/>
                <a:ea typeface="Times New Roman"/>
                <a:cs typeface="Times New Roman"/>
              </a:defRPr>
            </a:lvl1pPr>
            <a:lvl2pPr algn="ctr">
              <a:defRPr sz="2250" b="1">
                <a:solidFill>
                  <a:srgbClr val="0070C0"/>
                </a:solidFill>
                <a:latin typeface="Times New Roman"/>
                <a:ea typeface="Times New Roman"/>
                <a:cs typeface="Times New Roman"/>
              </a:defRPr>
            </a:lvl2pPr>
            <a:lvl3pPr algn="ctr">
              <a:defRPr sz="2250" b="1">
                <a:solidFill>
                  <a:srgbClr val="0070C0"/>
                </a:solidFill>
                <a:latin typeface="Times New Roman"/>
                <a:ea typeface="Times New Roman"/>
                <a:cs typeface="Times New Roman"/>
              </a:defRPr>
            </a:lvl3pPr>
            <a:lvl4pPr algn="ctr">
              <a:defRPr sz="2250" b="1">
                <a:solidFill>
                  <a:srgbClr val="0070C0"/>
                </a:solidFill>
                <a:latin typeface="Times New Roman"/>
                <a:ea typeface="Times New Roman"/>
                <a:cs typeface="Times New Roman"/>
              </a:defRPr>
            </a:lvl4pPr>
            <a:lvl5pPr algn="ctr">
              <a:defRPr sz="2250" b="1">
                <a:solidFill>
                  <a:srgbClr val="0070C0"/>
                </a:solidFill>
                <a:latin typeface="Times New Roman"/>
                <a:ea typeface="Times New Roman"/>
                <a:cs typeface="Times New Roman"/>
              </a:defRPr>
            </a:lvl5pPr>
            <a:lvl6pPr algn="ctr">
              <a:defRPr sz="2250" b="1">
                <a:solidFill>
                  <a:srgbClr val="0070C0"/>
                </a:solidFill>
                <a:latin typeface="Times New Roman"/>
                <a:ea typeface="Times New Roman"/>
                <a:cs typeface="Times New Roman"/>
              </a:defRPr>
            </a:lvl6pPr>
            <a:lvl7pPr algn="ctr">
              <a:defRPr sz="2250" b="1">
                <a:solidFill>
                  <a:srgbClr val="0070C0"/>
                </a:solidFill>
                <a:latin typeface="Times New Roman"/>
                <a:ea typeface="Times New Roman"/>
                <a:cs typeface="Times New Roman"/>
              </a:defRPr>
            </a:lvl7pPr>
            <a:lvl8pPr algn="ctr">
              <a:defRPr sz="2250" b="1">
                <a:solidFill>
                  <a:srgbClr val="0070C0"/>
                </a:solidFill>
                <a:latin typeface="Times New Roman"/>
                <a:ea typeface="Times New Roman"/>
                <a:cs typeface="Times New Roman"/>
              </a:defRPr>
            </a:lvl8pPr>
            <a:lvl9pPr algn="ctr">
              <a:defRPr sz="2250" b="1">
                <a:solidFill>
                  <a:srgbClr val="0070C0"/>
                </a:solidFill>
                <a:latin typeface="Times New Roman"/>
                <a:ea typeface="Times New Roman"/>
                <a:cs typeface="Times New Roman"/>
              </a:defRPr>
            </a:lvl9pPr>
          </a:lstStyle>
          <a:p xmlns:a="http://schemas.openxmlformats.org/drawingml/2006/main">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Encrypted BLE connection</a:t>
            </a:r>
          </a:p>
        </p:txBody>
      </p:sp>
      <p:sp>
        <p:nvSpPr>
          <p:cNvPr id="5" name="ESP32&#10;BLE peripheral / GATT server">
            <a:extLst xmlns:a="http://schemas.openxmlformats.org/drawingml/2006/main">
              <a:ext uri="{FF2B5EF4-FFF2-40B4-BE49-F238E27FC236}">
                <a16:creationId xmlns:a16="http://schemas.microsoft.com/office/drawing/2014/main" id="{FCFA2F24-EA84-441A-9E4E-727FF8FE4979}"/>
              </a:ext>
            </a:extLst>
          </p:cNvPr>
          <p:cNvSpPr>
            <a:spLocks xmlns:a="http://schemas.openxmlformats.org/drawingml/2006/main" noGrp="1"/>
          </p:cNvSpPr>
          <p:nvPr/>
        </p:nvSpPr>
        <p:spPr>
          <a:xfrm xmlns:a="http://schemas.openxmlformats.org/drawingml/2006/main">
            <a:off x="8620125" y="15716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70C0"/>
                </a:solidFill>
                <a:latin typeface="Times New Roman"/>
                <a:ea typeface="Times New Roman"/>
                <a:cs typeface="Times New Roman"/>
              </a:defRPr>
            </a:defPPr>
            <a:lvl1pPr algn="ctr">
              <a:defRPr sz="2250" b="1">
                <a:solidFill>
                  <a:srgbClr val="0070C0"/>
                </a:solidFill>
                <a:latin typeface="Times New Roman"/>
                <a:ea typeface="Times New Roman"/>
                <a:cs typeface="Times New Roman"/>
              </a:defRPr>
            </a:lvl1pPr>
            <a:lvl2pPr algn="ctr">
              <a:defRPr sz="2250" b="1">
                <a:solidFill>
                  <a:srgbClr val="0070C0"/>
                </a:solidFill>
                <a:latin typeface="Times New Roman"/>
                <a:ea typeface="Times New Roman"/>
                <a:cs typeface="Times New Roman"/>
              </a:defRPr>
            </a:lvl2pPr>
            <a:lvl3pPr algn="ctr">
              <a:defRPr sz="2250" b="1">
                <a:solidFill>
                  <a:srgbClr val="0070C0"/>
                </a:solidFill>
                <a:latin typeface="Times New Roman"/>
                <a:ea typeface="Times New Roman"/>
                <a:cs typeface="Times New Roman"/>
              </a:defRPr>
            </a:lvl3pPr>
            <a:lvl4pPr algn="ctr">
              <a:defRPr sz="2250" b="1">
                <a:solidFill>
                  <a:srgbClr val="0070C0"/>
                </a:solidFill>
                <a:latin typeface="Times New Roman"/>
                <a:ea typeface="Times New Roman"/>
                <a:cs typeface="Times New Roman"/>
              </a:defRPr>
            </a:lvl4pPr>
            <a:lvl5pPr algn="ctr">
              <a:defRPr sz="2250" b="1">
                <a:solidFill>
                  <a:srgbClr val="0070C0"/>
                </a:solidFill>
                <a:latin typeface="Times New Roman"/>
                <a:ea typeface="Times New Roman"/>
                <a:cs typeface="Times New Roman"/>
              </a:defRPr>
            </a:lvl5pPr>
            <a:lvl6pPr algn="ctr">
              <a:defRPr sz="2250" b="1">
                <a:solidFill>
                  <a:srgbClr val="0070C0"/>
                </a:solidFill>
                <a:latin typeface="Times New Roman"/>
                <a:ea typeface="Times New Roman"/>
                <a:cs typeface="Times New Roman"/>
              </a:defRPr>
            </a:lvl6pPr>
            <a:lvl7pPr algn="ctr">
              <a:defRPr sz="2250" b="1">
                <a:solidFill>
                  <a:srgbClr val="0070C0"/>
                </a:solidFill>
                <a:latin typeface="Times New Roman"/>
                <a:ea typeface="Times New Roman"/>
                <a:cs typeface="Times New Roman"/>
              </a:defRPr>
            </a:lvl7pPr>
            <a:lvl8pPr algn="ctr">
              <a:defRPr sz="2250" b="1">
                <a:solidFill>
                  <a:srgbClr val="0070C0"/>
                </a:solidFill>
                <a:latin typeface="Times New Roman"/>
                <a:ea typeface="Times New Roman"/>
                <a:cs typeface="Times New Roman"/>
              </a:defRPr>
            </a:lvl8pPr>
            <a:lvl9pPr algn="ctr">
              <a:defRPr sz="2250" b="1">
                <a:solidFill>
                  <a:srgbClr val="0070C0"/>
                </a:solidFill>
                <a:latin typeface="Times New Roman"/>
                <a:ea typeface="Times New Roman"/>
                <a:cs typeface="Times New Roman"/>
              </a:defRPr>
            </a:lvl9pPr>
          </a:lstStyle>
          <a:p xmlns:a="http://schemas.openxmlformats.org/drawingml/2006/main">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ESP32</a:t>
            </a:r>
          </a:p>
          <a:p xmlns:a="http://schemas.openxmlformats.org/drawingml/2006/main">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BLE peripheral / GATT server</a:t>
            </a:r>
          </a:p>
        </p:txBody>
      </p:sp>
      <p:sp>
        <p:nvSpPr>
          <p:cNvPr id="6" name="Start / Stop&#10;commands">
            <a:extLst xmlns:a="http://schemas.openxmlformats.org/drawingml/2006/main">
              <a:ext uri="{FF2B5EF4-FFF2-40B4-BE49-F238E27FC236}">
                <a16:creationId xmlns:a16="http://schemas.microsoft.com/office/drawing/2014/main" id="{A4B4FAF7-FA84-40FC-B435-AB067016497E}"/>
              </a:ext>
            </a:extLst>
          </p:cNvPr>
          <p:cNvSpPr>
            <a:spLocks xmlns:a="http://schemas.openxmlformats.org/drawingml/2006/main" noGrp="1"/>
          </p:cNvSpPr>
          <p:nvPr/>
        </p:nvSpPr>
        <p:spPr>
          <a:xfrm xmlns:a="http://schemas.openxmlformats.org/drawingml/2006/main">
            <a:off x="523875" y="2619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325" b="1">
                <a:solidFill>
                  <a:srgbClr val="002060"/>
                </a:solidFill>
                <a:latin typeface="Times New Roman"/>
                <a:ea typeface="Times New Roman"/>
                <a:cs typeface="Times New Roman"/>
              </a:defRPr>
            </a:defPPr>
            <a:lvl1pPr algn="ctr">
              <a:defRPr sz="2325" b="1">
                <a:solidFill>
                  <a:srgbClr val="002060"/>
                </a:solidFill>
                <a:latin typeface="Times New Roman"/>
                <a:ea typeface="Times New Roman"/>
                <a:cs typeface="Times New Roman"/>
              </a:defRPr>
            </a:lvl1pPr>
            <a:lvl2pPr algn="ctr">
              <a:defRPr sz="2325" b="1">
                <a:solidFill>
                  <a:srgbClr val="002060"/>
                </a:solidFill>
                <a:latin typeface="Times New Roman"/>
                <a:ea typeface="Times New Roman"/>
                <a:cs typeface="Times New Roman"/>
              </a:defRPr>
            </a:lvl2pPr>
            <a:lvl3pPr algn="ctr">
              <a:defRPr sz="2325" b="1">
                <a:solidFill>
                  <a:srgbClr val="002060"/>
                </a:solidFill>
                <a:latin typeface="Times New Roman"/>
                <a:ea typeface="Times New Roman"/>
                <a:cs typeface="Times New Roman"/>
              </a:defRPr>
            </a:lvl3pPr>
            <a:lvl4pPr algn="ctr">
              <a:defRPr sz="2325" b="1">
                <a:solidFill>
                  <a:srgbClr val="002060"/>
                </a:solidFill>
                <a:latin typeface="Times New Roman"/>
                <a:ea typeface="Times New Roman"/>
                <a:cs typeface="Times New Roman"/>
              </a:defRPr>
            </a:lvl4pPr>
            <a:lvl5pPr algn="ctr">
              <a:defRPr sz="2325" b="1">
                <a:solidFill>
                  <a:srgbClr val="002060"/>
                </a:solidFill>
                <a:latin typeface="Times New Roman"/>
                <a:ea typeface="Times New Roman"/>
                <a:cs typeface="Times New Roman"/>
              </a:defRPr>
            </a:lvl5pPr>
            <a:lvl6pPr algn="ctr">
              <a:defRPr sz="2325" b="1">
                <a:solidFill>
                  <a:srgbClr val="002060"/>
                </a:solidFill>
                <a:latin typeface="Times New Roman"/>
                <a:ea typeface="Times New Roman"/>
                <a:cs typeface="Times New Roman"/>
              </a:defRPr>
            </a:lvl6pPr>
            <a:lvl7pPr algn="ctr">
              <a:defRPr sz="2325" b="1">
                <a:solidFill>
                  <a:srgbClr val="002060"/>
                </a:solidFill>
                <a:latin typeface="Times New Roman"/>
                <a:ea typeface="Times New Roman"/>
                <a:cs typeface="Times New Roman"/>
              </a:defRPr>
            </a:lvl7pPr>
            <a:lvl8pPr algn="ctr">
              <a:defRPr sz="2325" b="1">
                <a:solidFill>
                  <a:srgbClr val="002060"/>
                </a:solidFill>
                <a:latin typeface="Times New Roman"/>
                <a:ea typeface="Times New Roman"/>
                <a:cs typeface="Times New Roman"/>
              </a:defRPr>
            </a:lvl8pPr>
            <a:lvl9pPr algn="ctr">
              <a:defRPr sz="2325" b="1">
                <a:solidFill>
                  <a:srgbClr val="002060"/>
                </a:solidFill>
                <a:latin typeface="Times New Roman"/>
                <a:ea typeface="Times New Roman"/>
                <a:cs typeface="Times New Roman"/>
              </a:defRPr>
            </a:lvl9pPr>
          </a:lstStyle>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Start / Stop</a:t>
            </a:r>
          </a:p>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commands</a:t>
            </a:r>
          </a:p>
        </p:txBody>
      </p:sp>
      <p:sp>
        <p:nvSpPr>
          <p:cNvPr id="7" name="GHS Control Point&#10;0x2BF4&#10;Write and indicate">
            <a:extLst xmlns:a="http://schemas.openxmlformats.org/drawingml/2006/main">
              <a:ext uri="{FF2B5EF4-FFF2-40B4-BE49-F238E27FC236}">
                <a16:creationId xmlns:a16="http://schemas.microsoft.com/office/drawing/2014/main" id="{73F97D9E-8CE8-43FB-9FC8-21AA1A84CE8D}"/>
              </a:ext>
            </a:extLst>
          </p:cNvPr>
          <p:cNvSpPr>
            <a:spLocks xmlns:a="http://schemas.openxmlformats.org/drawingml/2006/main" noGrp="1"/>
          </p:cNvSpPr>
          <p:nvPr/>
        </p:nvSpPr>
        <p:spPr>
          <a:xfrm xmlns:a="http://schemas.openxmlformats.org/drawingml/2006/main">
            <a:off x="4572000" y="2619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GHS Control Point</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0x2BF4</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Write and indicate</a:t>
            </a:r>
          </a:p>
        </p:txBody>
      </p:sp>
      <p:sp>
        <p:nvSpPr>
          <p:cNvPr id="8" name="Validate command&#10;Enable / disable&#10;telemetry stream">
            <a:extLst xmlns:a="http://schemas.openxmlformats.org/drawingml/2006/main">
              <a:ext uri="{FF2B5EF4-FFF2-40B4-BE49-F238E27FC236}">
                <a16:creationId xmlns:a16="http://schemas.microsoft.com/office/drawing/2014/main" id="{BB2AD6D1-C7A3-4E0C-9CF8-29C2DC2646FD}"/>
              </a:ext>
            </a:extLst>
          </p:cNvPr>
          <p:cNvSpPr>
            <a:spLocks xmlns:a="http://schemas.openxmlformats.org/drawingml/2006/main" noGrp="1"/>
          </p:cNvSpPr>
          <p:nvPr/>
        </p:nvSpPr>
        <p:spPr>
          <a:xfrm xmlns:a="http://schemas.openxmlformats.org/drawingml/2006/main">
            <a:off x="8620125" y="2619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Validate command</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Enable / disable</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telemetry stream</a:t>
            </a:r>
          </a:p>
        </p:txBody>
      </p:sp>
      <p:sp>
        <p:nvSpPr>
          <p:cNvPr id="9" name="Decode and display&#10;HR, SpO2, temperature">
            <a:extLst xmlns:a="http://schemas.openxmlformats.org/drawingml/2006/main">
              <a:ext uri="{FF2B5EF4-FFF2-40B4-BE49-F238E27FC236}">
                <a16:creationId xmlns:a16="http://schemas.microsoft.com/office/drawing/2014/main" id="{33A112DA-2213-4B50-BF49-42E66165B0BC}"/>
              </a:ext>
            </a:extLst>
          </p:cNvPr>
          <p:cNvSpPr>
            <a:spLocks xmlns:a="http://schemas.openxmlformats.org/drawingml/2006/main" noGrp="1"/>
          </p:cNvSpPr>
          <p:nvPr/>
        </p:nvSpPr>
        <p:spPr>
          <a:xfrm xmlns:a="http://schemas.openxmlformats.org/drawingml/2006/main">
            <a:off x="523875" y="4429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0" name="Live Observations&#10;0x2B8B&#10;Notifications">
            <a:extLst xmlns:a="http://schemas.openxmlformats.org/drawingml/2006/main">
              <a:ext uri="{FF2B5EF4-FFF2-40B4-BE49-F238E27FC236}">
                <a16:creationId xmlns:a16="http://schemas.microsoft.com/office/drawing/2014/main" id="{685A3FD2-5BC9-4659-8AC4-6528CCF908A1}"/>
              </a:ext>
            </a:extLst>
          </p:cNvPr>
          <p:cNvSpPr>
            <a:spLocks xmlns:a="http://schemas.openxmlformats.org/drawingml/2006/main" noGrp="1"/>
          </p:cNvSpPr>
          <p:nvPr/>
        </p:nvSpPr>
        <p:spPr>
          <a:xfrm xmlns:a="http://schemas.openxmlformats.org/drawingml/2006/main">
            <a:off x="4572000" y="4429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Live Observations</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0x2B8B</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Notifications</a:t>
            </a:r>
          </a:p>
        </p:txBody>
      </p:sp>
      <p:sp>
        <p:nvSpPr>
          <p:cNvPr id="11" name="Simulated vitals task&#10;Encode observations">
            <a:extLst xmlns:a="http://schemas.openxmlformats.org/drawingml/2006/main">
              <a:ext uri="{FF2B5EF4-FFF2-40B4-BE49-F238E27FC236}">
                <a16:creationId xmlns:a16="http://schemas.microsoft.com/office/drawing/2014/main" id="{7EF3996B-B28A-445B-A6EA-92845934F2C5}"/>
              </a:ext>
            </a:extLst>
          </p:cNvPr>
          <p:cNvSpPr>
            <a:spLocks xmlns:a="http://schemas.openxmlformats.org/drawingml/2006/main" noGrp="1"/>
          </p:cNvSpPr>
          <p:nvPr/>
        </p:nvSpPr>
        <p:spPr>
          <a:xfrm xmlns:a="http://schemas.openxmlformats.org/drawingml/2006/main">
            <a:off x="8620125" y="4429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Simulated vitals task</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Encode observations</a:t>
            </a:r>
          </a:p>
        </p:txBody>
      </p:sp>
      <p:sp>
        <p:nvSpPr>
          <p:cNvPr id="16" name="ESP32 returns command acknowledgements through con">
            <a:extLst xmlns:a="http://schemas.openxmlformats.org/drawingml/2006/main">
              <a:ext uri="{FF2B5EF4-FFF2-40B4-BE49-F238E27FC236}">
                <a16:creationId xmlns:a16="http://schemas.microsoft.com/office/drawing/2014/main" id="{18CEF259-AC4B-4EF8-BB43-77935BE8E306}"/>
              </a:ext>
            </a:extLst>
          </p:cNvPr>
          <p:cNvSpPr>
            <a:spLocks xmlns:a="http://schemas.openxmlformats.org/drawingml/2006/main" noGrp="1"/>
          </p:cNvSpPr>
          <p:nvPr/>
        </p:nvSpPr>
        <p:spPr>
          <a:xfrm xmlns:a="http://schemas.openxmlformats.org/drawingml/2006/main">
            <a:off x="762000" y="38385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025" b="0">
                <a:solidFill>
                  <a:srgbClr val="0070C0"/>
                </a:solidFill>
                <a:latin typeface="Times New Roman"/>
                <a:ea typeface="Times New Roman"/>
                <a:cs typeface="Times New Roman"/>
              </a:defRPr>
            </a:defPPr>
            <a:lvl1pPr algn="ctr">
              <a:defRPr sz="2025" b="0">
                <a:solidFill>
                  <a:srgbClr val="0070C0"/>
                </a:solidFill>
                <a:latin typeface="Times New Roman"/>
                <a:ea typeface="Times New Roman"/>
                <a:cs typeface="Times New Roman"/>
              </a:defRPr>
            </a:lvl1pPr>
            <a:lvl2pPr algn="ctr">
              <a:defRPr sz="2025" b="0">
                <a:solidFill>
                  <a:srgbClr val="0070C0"/>
                </a:solidFill>
                <a:latin typeface="Times New Roman"/>
                <a:ea typeface="Times New Roman"/>
                <a:cs typeface="Times New Roman"/>
              </a:defRPr>
            </a:lvl2pPr>
            <a:lvl3pPr algn="ctr">
              <a:defRPr sz="2025" b="0">
                <a:solidFill>
                  <a:srgbClr val="0070C0"/>
                </a:solidFill>
                <a:latin typeface="Times New Roman"/>
                <a:ea typeface="Times New Roman"/>
                <a:cs typeface="Times New Roman"/>
              </a:defRPr>
            </a:lvl3pPr>
            <a:lvl4pPr algn="ctr">
              <a:defRPr sz="2025" b="0">
                <a:solidFill>
                  <a:srgbClr val="0070C0"/>
                </a:solidFill>
                <a:latin typeface="Times New Roman"/>
                <a:ea typeface="Times New Roman"/>
                <a:cs typeface="Times New Roman"/>
              </a:defRPr>
            </a:lvl4pPr>
            <a:lvl5pPr algn="ctr">
              <a:defRPr sz="2025" b="0">
                <a:solidFill>
                  <a:srgbClr val="0070C0"/>
                </a:solidFill>
                <a:latin typeface="Times New Roman"/>
                <a:ea typeface="Times New Roman"/>
                <a:cs typeface="Times New Roman"/>
              </a:defRPr>
            </a:lvl5pPr>
            <a:lvl6pPr algn="ctr">
              <a:defRPr sz="2025" b="0">
                <a:solidFill>
                  <a:srgbClr val="0070C0"/>
                </a:solidFill>
                <a:latin typeface="Times New Roman"/>
                <a:ea typeface="Times New Roman"/>
                <a:cs typeface="Times New Roman"/>
              </a:defRPr>
            </a:lvl6pPr>
            <a:lvl7pPr algn="ctr">
              <a:defRPr sz="2025" b="0">
                <a:solidFill>
                  <a:srgbClr val="0070C0"/>
                </a:solidFill>
                <a:latin typeface="Times New Roman"/>
                <a:ea typeface="Times New Roman"/>
                <a:cs typeface="Times New Roman"/>
              </a:defRPr>
            </a:lvl7pPr>
            <a:lvl8pPr algn="ctr">
              <a:defRPr sz="2025" b="0">
                <a:solidFill>
                  <a:srgbClr val="0070C0"/>
                </a:solidFill>
                <a:latin typeface="Times New Roman"/>
                <a:ea typeface="Times New Roman"/>
                <a:cs typeface="Times New Roman"/>
              </a:defRPr>
            </a:lvl8pPr>
            <a:lvl9pPr algn="ctr">
              <a:defRPr sz="2025" b="0">
                <a:solidFill>
                  <a:srgbClr val="0070C0"/>
                </a:solidFill>
                <a:latin typeface="Times New Roman"/>
                <a:ea typeface="Times New Roman"/>
                <a:cs typeface="Times New Roman"/>
              </a:defRPr>
            </a:lvl9pPr>
          </a:lstStyle>
          <a:p xmlns:a="http://schemas.openxmlformats.org/drawingml/2006/main">
            <a:pPr algn="ctr">
              <a:defRPr sz="2025" b="0">
                <a:solidFill>
                  <a:srgbClr val="0070C0"/>
                </a:solidFill>
                <a:latin typeface="Times New Roman"/>
                <a:ea typeface="Times New Roman"/>
                <a:cs typeface="Times New Roman"/>
              </a:defRPr>
            </a:pPr>
            <a:r>
              <a:rPr sz="2025" b="0">
                <a:solidFill>
                  <a:srgbClr val="0070C0"/>
                </a:solidFill>
                <a:latin typeface="Times New Roman"/>
                <a:ea typeface="Times New Roman"/>
                <a:cs typeface="Times New Roman"/>
              </a:rPr>
              <a:t>ESP32 returns command acknowledgements through control-point indications</a:t>
            </a:r>
          </a:p>
        </p:txBody>
      </p:sp>
      <p:sp>
        <p:nvSpPr>
          <p:cNvPr id="17" name="Setup: scan, connect, pair, discover GHSS and subs">
            <a:extLst xmlns:a="http://schemas.openxmlformats.org/drawingml/2006/main">
              <a:ext uri="{FF2B5EF4-FFF2-40B4-BE49-F238E27FC236}">
                <a16:creationId xmlns:a16="http://schemas.microsoft.com/office/drawing/2014/main" id="{845CD7B2-1294-4DC6-A819-14AE81188A30}"/>
              </a:ext>
            </a:extLst>
          </p:cNvPr>
          <p:cNvSpPr>
            <a:spLocks xmlns:a="http://schemas.openxmlformats.org/drawingml/2006/main" noGrp="1"/>
          </p:cNvSpPr>
          <p:nvPr/>
        </p:nvSpPr>
        <p:spPr>
          <a:xfrm xmlns:a="http://schemas.openxmlformats.org/drawingml/2006/main">
            <a:off x="666750" y="58578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175" b="0">
                <a:solidFill>
                  <a:srgbClr val="0070C0"/>
                </a:solidFill>
                <a:latin typeface="Times New Roman"/>
                <a:ea typeface="Times New Roman"/>
                <a:cs typeface="Times New Roman"/>
              </a:defRPr>
            </a:defPPr>
            <a:lvl1pPr algn="ctr">
              <a:defRPr sz="2175" b="0">
                <a:solidFill>
                  <a:srgbClr val="0070C0"/>
                </a:solidFill>
                <a:latin typeface="Times New Roman"/>
                <a:ea typeface="Times New Roman"/>
                <a:cs typeface="Times New Roman"/>
              </a:defRPr>
            </a:lvl1pPr>
            <a:lvl2pPr algn="ctr">
              <a:defRPr sz="2175" b="0">
                <a:solidFill>
                  <a:srgbClr val="0070C0"/>
                </a:solidFill>
                <a:latin typeface="Times New Roman"/>
                <a:ea typeface="Times New Roman"/>
                <a:cs typeface="Times New Roman"/>
              </a:defRPr>
            </a:lvl2pPr>
            <a:lvl3pPr algn="ctr">
              <a:defRPr sz="2175" b="0">
                <a:solidFill>
                  <a:srgbClr val="0070C0"/>
                </a:solidFill>
                <a:latin typeface="Times New Roman"/>
                <a:ea typeface="Times New Roman"/>
                <a:cs typeface="Times New Roman"/>
              </a:defRPr>
            </a:lvl3pPr>
            <a:lvl4pPr algn="ctr">
              <a:defRPr sz="2175" b="0">
                <a:solidFill>
                  <a:srgbClr val="0070C0"/>
                </a:solidFill>
                <a:latin typeface="Times New Roman"/>
                <a:ea typeface="Times New Roman"/>
                <a:cs typeface="Times New Roman"/>
              </a:defRPr>
            </a:lvl4pPr>
            <a:lvl5pPr algn="ctr">
              <a:defRPr sz="2175" b="0">
                <a:solidFill>
                  <a:srgbClr val="0070C0"/>
                </a:solidFill>
                <a:latin typeface="Times New Roman"/>
                <a:ea typeface="Times New Roman"/>
                <a:cs typeface="Times New Roman"/>
              </a:defRPr>
            </a:lvl5pPr>
            <a:lvl6pPr algn="ctr">
              <a:defRPr sz="2175" b="0">
                <a:solidFill>
                  <a:srgbClr val="0070C0"/>
                </a:solidFill>
                <a:latin typeface="Times New Roman"/>
                <a:ea typeface="Times New Roman"/>
                <a:cs typeface="Times New Roman"/>
              </a:defRPr>
            </a:lvl6pPr>
            <a:lvl7pPr algn="ctr">
              <a:defRPr sz="2175" b="0">
                <a:solidFill>
                  <a:srgbClr val="0070C0"/>
                </a:solidFill>
                <a:latin typeface="Times New Roman"/>
                <a:ea typeface="Times New Roman"/>
                <a:cs typeface="Times New Roman"/>
              </a:defRPr>
            </a:lvl7pPr>
            <a:lvl8pPr algn="ctr">
              <a:defRPr sz="2175" b="0">
                <a:solidFill>
                  <a:srgbClr val="0070C0"/>
                </a:solidFill>
                <a:latin typeface="Times New Roman"/>
                <a:ea typeface="Times New Roman"/>
                <a:cs typeface="Times New Roman"/>
              </a:defRPr>
            </a:lvl8pPr>
            <a:lvl9pPr algn="ctr">
              <a:defRPr sz="2175" b="0">
                <a:solidFill>
                  <a:srgbClr val="0070C0"/>
                </a:solidFill>
                <a:latin typeface="Times New Roman"/>
                <a:ea typeface="Times New Roman"/>
                <a:cs typeface="Times New Roman"/>
              </a:defRPr>
            </a:lvl9pPr>
          </a:lstStyle>
          <a:p xmlns:a="http://schemas.openxmlformats.org/drawingml/2006/main">
            <a:pPr algn="ctr">
              <a:defRPr sz="2175" b="0">
                <a:solidFill>
                  <a:srgbClr val="0070C0"/>
                </a:solidFill>
                <a:latin typeface="Times New Roman"/>
                <a:ea typeface="Times New Roman"/>
                <a:cs typeface="Times New Roman"/>
              </a:defRPr>
            </a:pPr>
            <a:r>
              <a:rPr sz="2175" b="0">
                <a:solidFill>
                  <a:srgbClr val="0070C0"/>
                </a:solidFill>
                <a:latin typeface="Times New Roman"/>
                <a:ea typeface="Times New Roman"/>
                <a:cs typeface="Times New Roman"/>
              </a:rPr>
              <a:t>Setup: scan, connect, pair, discover GHSS and subscribe</a:t>
            </a:r>
          </a:p>
        </p:txBody>
      </p:sp>
      <p:sp>
        <p:nvSpPr>
          <p:cNvPr id="18" name="Dept. of Electronics and Communication Engineering">
            <a:extLst xmlns:a="http://schemas.openxmlformats.org/drawingml/2006/main">
              <a:ext uri="{FF2B5EF4-FFF2-40B4-BE49-F238E27FC236}">
                <a16:creationId xmlns:a16="http://schemas.microsoft.com/office/drawing/2014/main" id="{13029F46-0D21-4417-ACED-BB0606CC8E70}"/>
              </a:ext>
            </a:extLst>
          </p:cNvPr>
          <p:cNvSpPr>
            <a:spLocks xmlns:a="http://schemas.openxmlformats.org/drawingml/2006/main" noGrp="1"/>
          </p:cNvSpPr>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1200" b="1">
                <a:solidFill>
                  <a:srgbClr val="FFFFFF"/>
                </a:solidFill>
                <a:latin typeface="Times New Roman"/>
                <a:ea typeface="Times New Roman"/>
                <a:cs typeface="Times New Roman"/>
              </a:defRPr>
            </a:defPPr>
            <a:lvl1pPr algn="ctr">
              <a:defRPr sz="1200" b="1">
                <a:solidFill>
                  <a:srgbClr val="FFFFFF"/>
                </a:solidFill>
                <a:latin typeface="Times New Roman"/>
                <a:ea typeface="Times New Roman"/>
                <a:cs typeface="Times New Roman"/>
              </a:defRPr>
            </a:lvl1pPr>
            <a:lvl2pPr algn="ctr">
              <a:defRPr sz="1200" b="1">
                <a:solidFill>
                  <a:srgbClr val="FFFFFF"/>
                </a:solidFill>
                <a:latin typeface="Times New Roman"/>
                <a:ea typeface="Times New Roman"/>
                <a:cs typeface="Times New Roman"/>
              </a:defRPr>
            </a:lvl2pPr>
            <a:lvl3pPr algn="ctr">
              <a:defRPr sz="1200" b="1">
                <a:solidFill>
                  <a:srgbClr val="FFFFFF"/>
                </a:solidFill>
                <a:latin typeface="Times New Roman"/>
                <a:ea typeface="Times New Roman"/>
                <a:cs typeface="Times New Roman"/>
              </a:defRPr>
            </a:lvl3pPr>
            <a:lvl4pPr algn="ctr">
              <a:defRPr sz="1200" b="1">
                <a:solidFill>
                  <a:srgbClr val="FFFFFF"/>
                </a:solidFill>
                <a:latin typeface="Times New Roman"/>
                <a:ea typeface="Times New Roman"/>
                <a:cs typeface="Times New Roman"/>
              </a:defRPr>
            </a:lvl4pPr>
            <a:lvl5pPr algn="ctr">
              <a:defRPr sz="1200" b="1">
                <a:solidFill>
                  <a:srgbClr val="FFFFFF"/>
                </a:solidFill>
                <a:latin typeface="Times New Roman"/>
                <a:ea typeface="Times New Roman"/>
                <a:cs typeface="Times New Roman"/>
              </a:defRPr>
            </a:lvl5pPr>
            <a:lvl6pPr algn="ctr">
              <a:defRPr sz="1200" b="1">
                <a:solidFill>
                  <a:srgbClr val="FFFFFF"/>
                </a:solidFill>
                <a:latin typeface="Times New Roman"/>
                <a:ea typeface="Times New Roman"/>
                <a:cs typeface="Times New Roman"/>
              </a:defRPr>
            </a:lvl6pPr>
            <a:lvl7pPr algn="ctr">
              <a:defRPr sz="1200" b="1">
                <a:solidFill>
                  <a:srgbClr val="FFFFFF"/>
                </a:solidFill>
                <a:latin typeface="Times New Roman"/>
                <a:ea typeface="Times New Roman"/>
                <a:cs typeface="Times New Roman"/>
              </a:defRPr>
            </a:lvl7pPr>
            <a:lvl8pPr algn="ctr">
              <a:defRPr sz="1200" b="1">
                <a:solidFill>
                  <a:srgbClr val="FFFFFF"/>
                </a:solidFill>
                <a:latin typeface="Times New Roman"/>
                <a:ea typeface="Times New Roman"/>
                <a:cs typeface="Times New Roman"/>
              </a:defRPr>
            </a:lvl8pPr>
            <a:lvl9pPr algn="ctr">
              <a:defRPr sz="1200" b="1">
                <a:solidFill>
                  <a:srgbClr val="FFFFFF"/>
                </a:solidFill>
                <a:latin typeface="Times New Roman"/>
                <a:ea typeface="Times New Roman"/>
                <a:cs typeface="Times New Roman"/>
              </a:defRPr>
            </a:lvl9pPr>
          </a:lstStyle>
          <a:p xmlns:a="http://schemas.openxmlformats.org/drawingml/2006/main">
            <a:pPr algn="ct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p>
        </p:txBody>
      </p:sp>
    </p:spTree>
    <p:extLst>
      <p:ext uri="{BB962C8B-B14F-4D97-AF65-F5344CB8AC3E}">
        <p14:creationId xmlns:p14="http://schemas.microsoft.com/office/powerpoint/2010/main" val="10449311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2026-10-19T08:17:23.7680000Z</dcterms:created>
  <dcterms:modified xsi:type="dcterms:W3CDTF">2026-10-19T08:17:23.7680000Z</dcterms:modified>
</coreProperties>
</file>