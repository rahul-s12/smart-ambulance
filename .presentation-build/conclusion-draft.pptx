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jpeg" ContentType="image/jpeg"/>
  <Override PartName="/ppt/slideMasters/restored_slideMaster1.xml" ContentType="application/vnd.openxmlformats-officedocument.presentationml.slideMaster+xml"/>
  <Override PartName="/ppt/notesMasters/restored_notesMaster1.xml" ContentType="application/vnd.openxmlformats-officedocument.presentationml.notesMaster+xml"/>
  <Override PartName="/ppt/theme/restored_theme1.xml" ContentType="application/vnd.openxmlformats-officedocument.theme+xml"/>
  <Override PartName="/ppt/slideLayouts/restored_slideLayout1.xml" ContentType="application/vnd.openxmlformats-officedocument.presentationml.slideLayout+xml"/>
  <Override PartName="/ppt/slideLayouts/restored_slideLayout2.xml" ContentType="application/vnd.openxmlformats-officedocument.presentationml.slideLayout+xml"/>
  <Override PartName="/ppt/slideLayouts/restored_slideLayout3.xml" ContentType="application/vnd.openxmlformats-officedocument.presentationml.slideLayout+xml"/>
  <Override PartName="/ppt/slideLayouts/restored_slideLayout4.xml" ContentType="application/vnd.openxmlformats-officedocument.presentationml.slideLayout+xml"/>
  <Override PartName="/ppt/slideLayouts/restored_slideLayout5.xml" ContentType="application/vnd.openxmlformats-officedocument.presentationml.slideLayout+xml"/>
  <Override PartName="/ppt/slideLayouts/restored_slideLayout6.xml" ContentType="application/vnd.openxmlformats-officedocument.presentationml.slideLayout+xml"/>
  <Override PartName="/ppt/slideLayouts/restored_slideLayout7.xml" ContentType="application/vnd.openxmlformats-officedocument.presentationml.slideLayout+xml"/>
  <Override PartName="/ppt/slideLayouts/restored_slideLayout8.xml" ContentType="application/vnd.openxmlformats-officedocument.presentationml.slideLayout+xml"/>
  <Override PartName="/ppt/slideLayouts/restored_slideLayout9.xml" ContentType="application/vnd.openxmlformats-officedocument.presentationml.slideLayout+xml"/>
  <Override PartName="/ppt/slideLayouts/restored_slideLayout10.xml" ContentType="application/vnd.openxmlformats-officedocument.presentationml.slideLayout+xml"/>
  <Override PartName="/ppt/slideLayouts/restored_slideLayout11.xml" ContentType="application/vnd.openxmlformats-officedocument.presentationml.slideLayout+xml"/>
  <Override PartName="/ppt/theme/restored_theme2.xml" ContentType="application/vnd.openxmlformats-officedocument.theme+xml"/>
  <Override PartName="/ppt/notesSlides/restored_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2a93ac62b54338" /><Relationship Type="http://schemas.openxmlformats.org/officeDocument/2006/relationships/extended-properties" Target="/docProps/app.xml" Id="R0f3548f6606c4610" /><Relationship Type="http://schemas.openxmlformats.org/officeDocument/2006/relationships/officeDocument" Target="/ppt/presentation.xml" Id="R8a080f025cfe4307" /></Relationships>
</file>

<file path=ppt/presentation.xml><?xml version="1.0" encoding="utf-8"?>
<p:presentation xmlns:p="http://schemas.openxmlformats.org/presentationml/2006/main">
  <p:sldMasterIdLst>
    <p:sldMasterId xmlns:r="http://schemas.openxmlformats.org/officeDocument/2006/relationships" id="2147483648" r:id="R3e2fcee8a5e04234"/>
  </p:sldMasterIdLst>
  <p:notesMasterIdLst>
    <p:notesMasterId xmlns:r="http://schemas.openxmlformats.org/officeDocument/2006/relationships" r:id="Rd897c2eafe294bff"/>
  </p:notesMasterIdLst>
  <p:sldIdLst>
    <p:sldId xmlns:r="http://schemas.openxmlformats.org/officeDocument/2006/relationships" id="256" r:id="R5585d8638d8e45cc"/>
    <p:sldId xmlns:r="http://schemas.openxmlformats.org/officeDocument/2006/relationships" id="257" r:id="R0bf595f4e4a74ad1"/>
    <p:sldId xmlns:r="http://schemas.openxmlformats.org/officeDocument/2006/relationships" id="258" r:id="R9fc2b34323964fef"/>
    <p:sldId xmlns:r="http://schemas.openxmlformats.org/officeDocument/2006/relationships" id="259" r:id="Re82d8b5741654629"/>
    <p:sldId xmlns:r="http://schemas.openxmlformats.org/officeDocument/2006/relationships" id="260" r:id="R96c6c02b9b3d45b5"/>
    <p:sldId xmlns:r="http://schemas.openxmlformats.org/officeDocument/2006/relationships" id="261" r:id="R4221c59447aa4c42"/>
    <p:sldId xmlns:r="http://schemas.openxmlformats.org/officeDocument/2006/relationships" id="262" r:id="R3560353aabbc4aff"/>
    <p:sldId xmlns:r="http://schemas.openxmlformats.org/officeDocument/2006/relationships" id="263" r:id="R7223a9e5bc014ade"/>
    <p:sldId xmlns:r="http://schemas.openxmlformats.org/officeDocument/2006/relationships" id="264" r:id="R0a914f58001e4d52"/>
    <p:sldId xmlns:r="http://schemas.openxmlformats.org/officeDocument/2006/relationships" id="265" r:id="Redd6717a373d4da2"/>
    <p:sldId xmlns:r="http://schemas.openxmlformats.org/officeDocument/2006/relationships" id="266" r:id="R79976944b0a04992"/>
    <p:sldId xmlns:r="http://schemas.openxmlformats.org/officeDocument/2006/relationships" id="267" r:id="Rb1bc84e38e954774"/>
    <p:sldId xmlns:r="http://schemas.openxmlformats.org/officeDocument/2006/relationships" id="268" r:id="R4e944f539aa442e6"/>
    <p:sldId xmlns:r="http://schemas.openxmlformats.org/officeDocument/2006/relationships" id="269" r:id="Rf7e096f127f14621"/>
    <p:sldId xmlns:r="http://schemas.openxmlformats.org/officeDocument/2006/relationships" id="270" r:id="R471ae66c2387448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7dd8ecab4184df7" /><Relationship Type="http://schemas.openxmlformats.org/officeDocument/2006/relationships/slideMaster" Target="/ppt/slideMasters/slideMaster1.xml" Id="R3e2fcee8a5e04234" /><Relationship Type="http://schemas.openxmlformats.org/officeDocument/2006/relationships/notesMaster" Target="/ppt/notesMasters/notesMaster1.xml" Id="Rd897c2eafe294bff" /><Relationship Type="http://schemas.openxmlformats.org/officeDocument/2006/relationships/presProps" Target="/ppt/presProps.xml" Id="Ra9bac0a681294ddc" /><Relationship Type="http://schemas.openxmlformats.org/officeDocument/2006/relationships/viewProps" Target="/ppt/viewProps.xml" Id="R8c21552bf7104cc5" /><Relationship Type="http://schemas.openxmlformats.org/officeDocument/2006/relationships/tableStyles" Target="/ppt/tableStyles.xml" Id="Rcf0520817ff64ac3" /><Relationship Type="http://schemas.openxmlformats.org/officeDocument/2006/relationships/slide" Target="/ppt/slides/slide1.xml" Id="R5585d8638d8e45cc" /><Relationship Type="http://schemas.openxmlformats.org/officeDocument/2006/relationships/slide" Target="/ppt/slides/slide2.xml" Id="R0bf595f4e4a74ad1" /><Relationship Type="http://schemas.openxmlformats.org/officeDocument/2006/relationships/slide" Target="/ppt/slides/slide3.xml" Id="R9fc2b34323964fef" /><Relationship Type="http://schemas.openxmlformats.org/officeDocument/2006/relationships/slide" Target="/ppt/slides/slide4.xml" Id="Re82d8b5741654629" /><Relationship Type="http://schemas.openxmlformats.org/officeDocument/2006/relationships/slide" Target="/ppt/slides/slide5.xml" Id="R96c6c02b9b3d45b5" /><Relationship Type="http://schemas.openxmlformats.org/officeDocument/2006/relationships/slide" Target="/ppt/slides/slide6.xml" Id="R4221c59447aa4c42" /><Relationship Type="http://schemas.openxmlformats.org/officeDocument/2006/relationships/slide" Target="/ppt/slides/slide7.xml" Id="R3560353aabbc4aff" /><Relationship Type="http://schemas.openxmlformats.org/officeDocument/2006/relationships/slide" Target="/ppt/slides/slide8.xml" Id="R7223a9e5bc014ade" /><Relationship Type="http://schemas.openxmlformats.org/officeDocument/2006/relationships/slide" Target="/ppt/slides/slide9.xml" Id="R0a914f58001e4d52" /><Relationship Type="http://schemas.openxmlformats.org/officeDocument/2006/relationships/slide" Target="/ppt/slides/slide10.xml" Id="Redd6717a373d4da2" /><Relationship Type="http://schemas.openxmlformats.org/officeDocument/2006/relationships/slide" Target="/ppt/slides/slide11.xml" Id="R79976944b0a04992" /><Relationship Type="http://schemas.openxmlformats.org/officeDocument/2006/relationships/slide" Target="/ppt/slides/slide12.xml" Id="Rb1bc84e38e954774" /><Relationship Type="http://schemas.openxmlformats.org/officeDocument/2006/relationships/slide" Target="/ppt/slides/slide13.xml" Id="R4e944f539aa442e6" /><Relationship Type="http://schemas.openxmlformats.org/officeDocument/2006/relationships/slide" Target="/ppt/slides/slide14.xml" Id="Rf7e096f127f14621" /><Relationship Type="http://schemas.openxmlformats.org/officeDocument/2006/relationships/slide" Target="/ppt/slides/slide15.xml" Id="R471ae66c238744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22236e8ea44def" /></Relationships>
</file>

<file path=ppt/notesMasters/_rels/restored_notesMaster1.xml.rels><?xml version='1.0' encoding='utf-8'?>
<Relationships xmlns="http://schemas.openxmlformats.org/package/2006/relationships"><Relationship Id="rId1" Type="http://schemas.openxmlformats.org/officeDocument/2006/relationships/theme" Target="../theme/restored_theme2.xml"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restored_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131C1E-EA97-4770-9D9B-B5D475BC0356}" type="datetimeFigureOut">
              <a:rPr lang="en-IN" smtClean="0"/>
              <a:t>19-10-2026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D40A-EC1A-4F6F-BB68-EFB07E1011F1}" type="slidenum">
              <a:rPr lang="en-IN" smtClean="0"/>
              <a:t>‹#›</a:t>
            </a:fld>
            <a:endParaRPr lang="en-IN"/>
          </a:p>
        </p:txBody>
      </p:sp>
    </p:spTree>
    <p:extLst>
      <p:ext uri="{BB962C8B-B14F-4D97-AF65-F5344CB8AC3E}">
        <p14:creationId xmlns:p14="http://schemas.microsoft.com/office/powerpoint/2010/main" val="459196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cf49b5d9ed4483" /><Relationship Type="http://schemas.openxmlformats.org/officeDocument/2006/relationships/notesMaster" Target="/ppt/notesMasters/notesMaster1.xml" Id="R79d14d563f564a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61470776194f6a" /><Relationship Type="http://schemas.openxmlformats.org/officeDocument/2006/relationships/notesMaster" Target="/ppt/notesMasters/notesMaster1.xml" Id="R90a30e14fe764e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9fd8d9d3eb44fe" /><Relationship Type="http://schemas.openxmlformats.org/officeDocument/2006/relationships/notesMaster" Target="/ppt/notesMasters/notesMaster1.xml" Id="R89ffc27860924b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69e2f9644642b0" /><Relationship Type="http://schemas.openxmlformats.org/officeDocument/2006/relationships/notesMaster" Target="/ppt/notesMasters/notesMaster1.xml" Id="R0f5a49bd01d842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1e839fb9d24ae0" /><Relationship Type="http://schemas.openxmlformats.org/officeDocument/2006/relationships/notesMaster" Target="/ppt/notesMasters/notesMaster1.xml" Id="R4b1b8a410c0c45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f21fdae841463c" /><Relationship Type="http://schemas.openxmlformats.org/officeDocument/2006/relationships/notesMaster" Target="/ppt/notesMasters/notesMaster1.xml" Id="R1285535d91e243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251c8970124139" /><Relationship Type="http://schemas.openxmlformats.org/officeDocument/2006/relationships/notesMaster" Target="/ppt/notesMasters/notesMaster1.xml" Id="R2ee230c636d34c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35895fa4c04294" /><Relationship Type="http://schemas.openxmlformats.org/officeDocument/2006/relationships/notesMaster" Target="/ppt/notesMasters/notesMaster1.xml" Id="R780c39410c9742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95f9aee53745dd" /><Relationship Type="http://schemas.openxmlformats.org/officeDocument/2006/relationships/notesMaster" Target="/ppt/notesMasters/notesMaster1.xml" Id="R3d2000b6eb9743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14ad2e42884736" /><Relationship Type="http://schemas.openxmlformats.org/officeDocument/2006/relationships/notesMaster" Target="/ppt/notesMasters/notesMaster1.xml" Id="Rc3a93c69397f46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ac868bfb574828" /><Relationship Type="http://schemas.openxmlformats.org/officeDocument/2006/relationships/notesMaster" Target="/ppt/notesMasters/notesMaster1.xml" Id="R21edb5e7438941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874cd0dcc24895" /><Relationship Type="http://schemas.openxmlformats.org/officeDocument/2006/relationships/notesMaster" Target="/ppt/notesMasters/notesMaster1.xml" Id="Rcecb0f25effb43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a7196e2cf44199" /><Relationship Type="http://schemas.openxmlformats.org/officeDocument/2006/relationships/notesMaster" Target="/ppt/notesMasters/notesMaster1.xml" Id="Ra9b76a9a739b47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af1c74d8db4a26" /><Relationship Type="http://schemas.openxmlformats.org/officeDocument/2006/relationships/notesMaster" Target="/ppt/notesMasters/notesMaster1.xml" Id="R2c502907564048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da299b8fdd64d52" /><Relationship Type="http://schemas.openxmlformats.org/officeDocument/2006/relationships/notesMaster" Target="/ppt/notesMasters/notesMaster1.xml" Id="Ra4cd77ca667b4f78" /></Relationships>
</file>

<file path=ppt/notesSlides/_rels/restored_notesSlide1.xml.rels><?xml version='1.0' encoding='utf-8'?>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restored_notesMaster1.xml"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and team details retained from the supplied Review 2 template.</a:t>
            </a:r>
            <a:endParaRP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2 topics follow the supplied template. Additional slides separate methods, validation and evidence to keep each slide concise.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preserve the template scope. User explicitly retained ML as an objective and added both GPS location and ETA. These are objectives, not completed results.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architecture replaces the dense source image with an editable diagram. Current firmware generates simulated observations. Planned phone-to-cloud transport is MQTT over TLS with CoAP fallback. GPS provider, ETA method, backend and ML model remain to be selected.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GHSS UUID 0x1840; observations 0x2B8B; control point 0x2BF4. Firmware creates simulated readings on a nominal one-second task interval. The two rows show setup followed by telemetry, with editable step objects. Automatic app reconnection is not implemented.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describes observed implementation versus the user-approved target, without claiming measured superiority over competing protocols. No backend stack or risk model is finalized in the current repository.</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FR1 and FR2 are implemented in source but need hardware evidence. Sensor sketches exist separately. Persistent queueing, cloud transport, GPS, ETA, ML and hospital dashboard are requirements for subsequent integration.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code uses LE Secure Connections with Just Works and NVS bonds. This does not establish authenticated protection against active interception. No measured latency, delivery ratio, endurance or clinical accuracy is available.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rationale, not measured Wi-Fi versus BLE test results. The earlier project README describes direct ESP32 Wi-Fi MQTT/TLS upload. The current architecture moves internet upload, GPS and planned buffering to the phone, while BLE carries nearby vital observations. Wi-Fi also supports local communication without internet, and a phone hotspot can provide a Wi-Fi uplink. The selected design removes Wi-Fi credentials and cloud connection handling from the ESP32 local link; it does not establish better latency, reliability, range or measured power consumption. BLE is designed for low-power point-to-point data exchange, including health monitoring. A fair empirical comparison would use the same board, workload, distance and observation duration, recording current draw, delivery ratio, update interval and recovery time. Sources: https://www.bluetooth.com/learn-about-bluetooth/topology-options/ ; https://www.bluetooth.com/bluetooth-le-primer/ ; https://docs.espressif.com/projects/esp-idf/en/latest/esp32/api-reference/bluetooth/bt_le.html ; earlier project README at D:/Academ/Projects/Major Project 2026-27/Coding Part/Smart Ambulance/README.md.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cases validate the current BLE prototype. Capture at least two updates for TC3, and a recording or timestamped logs for TC4 and TC5. A stopped app may retain the last displayed values. Reconnection is manual.</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tests need a defined telemetry contract and acceptance thresholds. ETA should be compared with actual arrival times on test routes. ML evaluation requires a selected dataset, labels, model and held-out split. Do not invent accuracy figures.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distinguish implemented code from demonstrated hardware results. The full system remains a prototype. ML risk assessment is a project objective and requires dataset/model selection and evaluation.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Review 2 presentation.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estored_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F3D40A-EC1A-4F6F-BB68-EFB07E1011F1}" type="slidenum">
              <a:rPr lang="en-IN" smtClean="0"/>
              <a:t>1</a:t>
            </a:fld>
            <a:endParaRPr lang="en-IN"/>
          </a:p>
        </p:txBody>
      </p:sp>
    </p:spTree>
    <p:extLst>
      <p:ext uri="{BB962C8B-B14F-4D97-AF65-F5344CB8AC3E}">
        <p14:creationId xmlns:p14="http://schemas.microsoft.com/office/powerpoint/2010/main" val="1488850629"/>
      </p:ext>
    </p:extLst>
  </p:cSld>
  <p:clrMapOvr>
    <a:masterClrMapping/>
  </p:clrMapOvr>
</p:notes>
</file>

<file path=ppt/slideLayouts/_rels/restored_slideLayout1.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2.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3.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4.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5.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6.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7.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8.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9.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10.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11.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1c4446c16749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857692018547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cccb0abaf64f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f6c37131b4a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a01191a63b44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ce4d6b540b41a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79298062c9f4d3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0c856755e94465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9a2dde05882466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9872768913848a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6bd880d8258457b" /></Relationships>
</file>

<file path=ppt/slideLayouts/restored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sz="half" idx="10"/>
          </p:nvPr>
        </p:nvSpPr>
        <p:spPr/>
        <p:txBody>
          <a:bodyPr/>
          <a:lstStyle/>
          <a:p>
            <a:fld id="{DCC65D64-61A9-40CD-B94D-857C621C06A3}" type="datetime1">
              <a:rPr lang="en-IN" smtClean="0"/>
              <a:t>19-10-2026</a:t>
            </a:fld>
            <a:endParaRPr lang="en-IN"/>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3559805208"/>
      </p:ext>
    </p:extLst>
  </p:cSld>
  <p:clrMapOvr>
    <a:masterClrMapping/>
  </p:clrMapOvr>
</p:sldLayout>
</file>

<file path=ppt/slideLayouts/restored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sz="half" idx="10"/>
          </p:nvPr>
        </p:nvSpPr>
        <p:spPr/>
        <p:txBody>
          <a:bodyPr/>
          <a:lstStyle/>
          <a:p>
            <a:fld id="{E250B2B8-E89D-450D-848F-CCC0D3A80066}" type="datetime1">
              <a:rPr lang="en-IN" smtClean="0"/>
              <a:t>19-10-2026</a:t>
            </a:fld>
            <a:endParaRPr lang="en-IN"/>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3251790930"/>
      </p:ext>
    </p:extLst>
  </p:cSld>
  <p:clrMapOvr>
    <a:masterClrMapping/>
  </p:clrMapOvr>
</p:sldLayout>
</file>

<file path=ppt/slideLayouts/restored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sz="half" idx="10"/>
          </p:nvPr>
        </p:nvSpPr>
        <p:spPr/>
        <p:txBody>
          <a:bodyPr/>
          <a:lstStyle/>
          <a:p>
            <a:fld id="{6E451025-BBAB-4BD1-9DF2-DE64D763EA4D}" type="datetime1">
              <a:rPr lang="en-IN" smtClean="0"/>
              <a:t>19-10-2026</a:t>
            </a:fld>
            <a:endParaRPr lang="en-IN"/>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3949398012"/>
      </p:ext>
    </p:extLst>
  </p:cSld>
  <p:clrMapOvr>
    <a:masterClrMapping/>
  </p:clrMapOvr>
</p:sldLayout>
</file>

<file path=ppt/slideLayouts/restored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sz="half" idx="10"/>
          </p:nvPr>
        </p:nvSpPr>
        <p:spPr/>
        <p:txBody>
          <a:bodyPr/>
          <a:lstStyle/>
          <a:p>
            <a:fld id="{3C7DA566-B459-4C7A-85E5-C2A7C24A1420}" type="datetime1">
              <a:rPr lang="en-IN" smtClean="0"/>
              <a:t>19-10-2026</a:t>
            </a:fld>
            <a:endParaRPr lang="en-IN"/>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223559452"/>
      </p:ext>
    </p:extLst>
  </p:cSld>
  <p:clrMapOvr>
    <a:masterClrMapping/>
  </p:clrMapOvr>
</p:sldLayout>
</file>

<file path=ppt/slideLayouts/restored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sz="half" idx="10"/>
          </p:nvPr>
        </p:nvSpPr>
        <p:spPr/>
        <p:txBody>
          <a:bodyPr/>
          <a:lstStyle/>
          <a:p>
            <a:fld id="{15763DEA-064E-425A-A301-4B3BA0502A3F}" type="datetime1">
              <a:rPr lang="en-IN" smtClean="0"/>
              <a:t>19-10-2026</a:t>
            </a:fld>
            <a:endParaRPr lang="en-IN"/>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sz="quarter" idx="11"/>
          </p:nvPr>
        </p:nvSpPr>
        <p:spPr/>
        <p:txBody>
          <a:bodyPr/>
          <a:lstStyle/>
          <a:p>
            <a:r>
              <a:rPr lang="en-US"/>
              <a:t>Dept. of ECE, NMIT, Bengaluru</a:t>
            </a:r>
            <a:endParaRPr lang="en-IN"/>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1815892943"/>
      </p:ext>
    </p:extLst>
  </p:cSld>
  <p:clrMapOvr>
    <a:masterClrMapping/>
  </p:clrMapOvr>
</p:sldLayout>
</file>

<file path=ppt/slideLayouts/restored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sz="half" idx="10"/>
          </p:nvPr>
        </p:nvSpPr>
        <p:spPr/>
        <p:txBody>
          <a:bodyPr/>
          <a:lstStyle/>
          <a:p>
            <a:fld id="{438D0107-E616-461D-9207-52B0BDAA9751}" type="datetime1">
              <a:rPr lang="en-IN" smtClean="0"/>
              <a:t>19-10-2026</a:t>
            </a:fld>
            <a:endParaRPr lang="en-IN"/>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sz="quarter" idx="11"/>
          </p:nvPr>
        </p:nvSpPr>
        <p:spPr/>
        <p:txBody>
          <a:bodyPr/>
          <a:lstStyle/>
          <a:p>
            <a:r>
              <a:rPr lang="en-US"/>
              <a:t>Dept. of ECE, NMIT, Bengaluru</a:t>
            </a:r>
            <a:endParaRPr lang="en-IN"/>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562719169"/>
      </p:ext>
    </p:extLst>
  </p:cSld>
  <p:clrMapOvr>
    <a:masterClrMapping/>
  </p:clrMapOvr>
</p:sldLayout>
</file>

<file path=ppt/slideLayouts/restored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sz="half" idx="10"/>
          </p:nvPr>
        </p:nvSpPr>
        <p:spPr/>
        <p:txBody>
          <a:bodyPr/>
          <a:lstStyle/>
          <a:p>
            <a:fld id="{050B6DF2-7F2A-4D21-830E-C34D54E5DB26}" type="datetime1">
              <a:rPr lang="en-IN" smtClean="0"/>
              <a:t>19-10-2026</a:t>
            </a:fld>
            <a:endParaRPr lang="en-IN"/>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sz="quarter" idx="11"/>
          </p:nvPr>
        </p:nvSpPr>
        <p:spPr/>
        <p:txBody>
          <a:bodyPr/>
          <a:lstStyle/>
          <a:p>
            <a:r>
              <a:rPr lang="en-US"/>
              <a:t>Dept. of ECE, NMIT, Bengaluru</a:t>
            </a:r>
            <a:endParaRPr lang="en-IN"/>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2932482873"/>
      </p:ext>
    </p:extLst>
  </p:cSld>
  <p:clrMapOvr>
    <a:masterClrMapping/>
  </p:clrMapOvr>
</p:sldLayout>
</file>

<file path=ppt/slideLayouts/restored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sz="half" idx="10"/>
          </p:nvPr>
        </p:nvSpPr>
        <p:spPr/>
        <p:txBody>
          <a:bodyPr/>
          <a:lstStyle/>
          <a:p>
            <a:fld id="{7E140C3B-5552-4017-A7F7-1D3DC73ABB6C}" type="datetime1">
              <a:rPr lang="en-IN" smtClean="0"/>
              <a:t>19-10-2026</a:t>
            </a:fld>
            <a:endParaRPr lang="en-IN"/>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4199354962"/>
      </p:ext>
    </p:extLst>
  </p:cSld>
  <p:clrMapOvr>
    <a:masterClrMapping/>
  </p:clrMapOvr>
</p:sldLayout>
</file>

<file path=ppt/slideLayouts/restored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sz="half" idx="10"/>
          </p:nvPr>
        </p:nvSpPr>
        <p:spPr/>
        <p:txBody>
          <a:bodyPr/>
          <a:lstStyle/>
          <a:p>
            <a:fld id="{08762C1D-5720-48A1-898D-8041400C55BC}" type="datetime1">
              <a:rPr lang="en-IN" smtClean="0"/>
              <a:t>19-10-2026</a:t>
            </a:fld>
            <a:endParaRPr lang="en-IN"/>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1705029080"/>
      </p:ext>
    </p:extLst>
  </p:cSld>
  <p:clrMapOvr>
    <a:masterClrMapping/>
  </p:clrMapOvr>
</p:sldLayout>
</file>

<file path=ppt/slideLayouts/restored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sz="half" idx="10"/>
          </p:nvPr>
        </p:nvSpPr>
        <p:spPr/>
        <p:txBody>
          <a:bodyPr/>
          <a:lstStyle/>
          <a:p>
            <a:fld id="{D1C140E7-F52A-4119-97FF-78F9513B4388}" type="datetime1">
              <a:rPr lang="en-IN" smtClean="0"/>
              <a:t>19-10-2026</a:t>
            </a:fld>
            <a:endParaRPr lang="en-IN"/>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3157537378"/>
      </p:ext>
    </p:extLst>
  </p:cSld>
  <p:clrMapOvr>
    <a:masterClrMapping/>
  </p:clrMapOvr>
</p:sldLayout>
</file>

<file path=ppt/slideLayouts/restored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sz="half" idx="10"/>
          </p:nvPr>
        </p:nvSpPr>
        <p:spPr/>
        <p:txBody>
          <a:bodyPr/>
          <a:lstStyle/>
          <a:p>
            <a:fld id="{34E1CFB4-31DA-40A2-AE2B-F9FC033D0834}" type="datetime1">
              <a:rPr lang="en-IN" smtClean="0"/>
              <a:t>19-10-2026</a:t>
            </a:fld>
            <a:endParaRPr lang="en-IN"/>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3034207177"/>
      </p:ext>
    </p:extLst>
  </p:cSld>
  <p:clrMapOvr>
    <a:masterClrMapping/>
  </p:clrMapOvr>
</p:sldLayout>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94D745-0B20-BBAA-074F-EF62988991C7}"/>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2EFF7C1-57C4-8D79-46D3-BDDCA99C45F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33CCF0EC-6478-6AA0-39C5-5817AD4508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CC65D64-61A9-40CD-B94D-857C621C06A3}" type="datetime1">
              <a:t>19-10-2026</a:t>
            </a:fld>
            <a:endParaRPr/>
          </a:p>
        </p:txBody>
      </p:sp>
      <p:sp>
        <p:nvSpPr>
          <p:cNvPr id="5" name="Footer Placeholder 4">
            <a:extLst xmlns:a="http://schemas.openxmlformats.org/drawingml/2006/main">
              <a:ext uri="{FF2B5EF4-FFF2-40B4-BE49-F238E27FC236}">
                <a16:creationId xmlns:a16="http://schemas.microsoft.com/office/drawing/2014/main" id="{698BCB53-894F-5921-306C-CB1B74E5C1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70334AD7-6A1F-1788-A433-EC6F920012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4E90A8-DEF0-CAF0-21F0-8DA2786EE9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D7C1FC8-0708-512D-2CA8-4E94945F6E8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EA0AE94-1A7F-8535-63EB-8091A1D295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250B2B8-E89D-450D-848F-CCC0D3A80066}" type="datetime1">
              <a:t>19-10-2026</a:t>
            </a:fld>
            <a:endParaRPr/>
          </a:p>
        </p:txBody>
      </p:sp>
      <p:sp>
        <p:nvSpPr>
          <p:cNvPr id="5" name="Footer Placeholder 4">
            <a:extLst xmlns:a="http://schemas.openxmlformats.org/drawingml/2006/main">
              <a:ext uri="{FF2B5EF4-FFF2-40B4-BE49-F238E27FC236}">
                <a16:creationId xmlns:a16="http://schemas.microsoft.com/office/drawing/2014/main" id="{832C18AA-665C-9174-40C7-2700EFF77B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E2C036A-33A8-E88E-99D0-2903B7C5EA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38FBD5-1561-3932-E297-A14174187F0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C63A73B-59E7-B791-E521-B97995C4F94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5F228BA-5DBB-745C-5F7F-6B4CA6E1B3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E451025-BBAB-4BD1-9DF2-DE64D763EA4D}" type="datetime1">
              <a:t>19-10-2026</a:t>
            </a:fld>
            <a:endParaRPr/>
          </a:p>
        </p:txBody>
      </p:sp>
      <p:sp>
        <p:nvSpPr>
          <p:cNvPr id="5" name="Footer Placeholder 4">
            <a:extLst xmlns:a="http://schemas.openxmlformats.org/drawingml/2006/main">
              <a:ext uri="{FF2B5EF4-FFF2-40B4-BE49-F238E27FC236}">
                <a16:creationId xmlns:a16="http://schemas.microsoft.com/office/drawing/2014/main" id="{80566780-0A65-9A5C-D8B4-219B02057C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372F2B-5703-1917-0A03-01068F1345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8012EB-C7E9-76BE-0540-9539DA8896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CFC33C-641D-27E9-8511-1DA0B2D9E4E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26661FD-66D9-9C58-FC7C-869A43023EC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5E4514F-A4CC-1761-9CEA-1FC19B4F7B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7DA566-B459-4C7A-85E5-C2A7C24A1420}" type="datetime1">
              <a:t>19-10-2026</a:t>
            </a:fld>
            <a:endParaRPr/>
          </a:p>
        </p:txBody>
      </p:sp>
      <p:sp>
        <p:nvSpPr>
          <p:cNvPr id="6" name="Footer Placeholder 5">
            <a:extLst xmlns:a="http://schemas.openxmlformats.org/drawingml/2006/main">
              <a:ext uri="{FF2B5EF4-FFF2-40B4-BE49-F238E27FC236}">
                <a16:creationId xmlns:a16="http://schemas.microsoft.com/office/drawing/2014/main" id="{B1F1B018-A66A-E116-D076-220E61B8E7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CB2419CD-4D96-32BF-7F1C-E1BF7EE615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314BB9-4AB7-8C6A-8BFF-A3621A872B39}"/>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E21CF5D-7A32-863B-E9E6-6BA58C5B3B6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ADB264E-C915-888B-18DA-22E34FCD2A3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F5859C3-3260-535B-BAB4-EA190AE0E0D5}"/>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E67C906-088A-950B-EF70-FA0DAFD933C1}"/>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6A5F40AF-125E-31C4-B571-B32EF373BB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5763DEA-064E-425A-A301-4B3BA0502A3F}" type="datetime1">
              <a:t>19-10-2026</a:t>
            </a:fld>
            <a:endParaRPr/>
          </a:p>
        </p:txBody>
      </p:sp>
      <p:sp>
        <p:nvSpPr>
          <p:cNvPr id="8" name="Footer Placeholder 7">
            <a:extLst xmlns:a="http://schemas.openxmlformats.org/drawingml/2006/main">
              <a:ext uri="{FF2B5EF4-FFF2-40B4-BE49-F238E27FC236}">
                <a16:creationId xmlns:a16="http://schemas.microsoft.com/office/drawing/2014/main" id="{7F1D0E3D-EC0A-214F-AE51-D3A6DA70B7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9" name="Slide Number Placeholder 8">
            <a:extLst xmlns:a="http://schemas.openxmlformats.org/drawingml/2006/main">
              <a:ext uri="{FF2B5EF4-FFF2-40B4-BE49-F238E27FC236}">
                <a16:creationId xmlns:a16="http://schemas.microsoft.com/office/drawing/2014/main" id="{C11E67A1-465D-9A8A-60C8-9F260A5F312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B29077-248C-58C0-5973-D9AC97BC11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ECDA6BA2-43B1-8708-AB4E-AA8A134DE0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38D0107-E616-461D-9207-52B0BDAA9751}" type="datetime1">
              <a:t>19-10-2026</a:t>
            </a:fld>
            <a:endParaRPr/>
          </a:p>
        </p:txBody>
      </p:sp>
      <p:sp>
        <p:nvSpPr>
          <p:cNvPr id="4" name="Footer Placeholder 3">
            <a:extLst xmlns:a="http://schemas.openxmlformats.org/drawingml/2006/main">
              <a:ext uri="{FF2B5EF4-FFF2-40B4-BE49-F238E27FC236}">
                <a16:creationId xmlns:a16="http://schemas.microsoft.com/office/drawing/2014/main" id="{69113DAA-528F-ACAE-BCFF-72E4C3714E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5" name="Slide Number Placeholder 4">
            <a:extLst xmlns:a="http://schemas.openxmlformats.org/drawingml/2006/main">
              <a:ext uri="{FF2B5EF4-FFF2-40B4-BE49-F238E27FC236}">
                <a16:creationId xmlns:a16="http://schemas.microsoft.com/office/drawing/2014/main" id="{96EE596D-B02B-5ECD-DEA8-8B5F226A56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0A7191E-B112-54E5-E29A-F71A7DF454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0B6DF2-7F2A-4D21-830E-C34D54E5DB26}" type="datetime1">
              <a:t>19-10-2026</a:t>
            </a:fld>
            <a:endParaRPr/>
          </a:p>
        </p:txBody>
      </p:sp>
      <p:sp>
        <p:nvSpPr>
          <p:cNvPr id="3" name="Footer Placeholder 2">
            <a:extLst xmlns:a="http://schemas.openxmlformats.org/drawingml/2006/main">
              <a:ext uri="{FF2B5EF4-FFF2-40B4-BE49-F238E27FC236}">
                <a16:creationId xmlns:a16="http://schemas.microsoft.com/office/drawing/2014/main" id="{D33BDEFE-732E-C016-6AB1-9E18E867B5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4" name="Slide Number Placeholder 3">
            <a:extLst xmlns:a="http://schemas.openxmlformats.org/drawingml/2006/main">
              <a:ext uri="{FF2B5EF4-FFF2-40B4-BE49-F238E27FC236}">
                <a16:creationId xmlns:a16="http://schemas.microsoft.com/office/drawing/2014/main" id="{417B749E-E48B-CAF5-E430-6FE27ED57E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84B7CA-0679-E8C0-23AD-92B1DFE0E6D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9A98F6F-E9AC-DC82-132D-29B0BBC4F473}"/>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60FA807-3DD8-13E7-498A-153246EE0A0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7B0A236-2402-8ACA-6847-F03201A03C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E140C3B-5552-4017-A7F7-1D3DC73ABB6C}" type="datetime1">
              <a:t>19-10-2026</a:t>
            </a:fld>
            <a:endParaRPr/>
          </a:p>
        </p:txBody>
      </p:sp>
      <p:sp>
        <p:nvSpPr>
          <p:cNvPr id="6" name="Footer Placeholder 5">
            <a:extLst xmlns:a="http://schemas.openxmlformats.org/drawingml/2006/main">
              <a:ext uri="{FF2B5EF4-FFF2-40B4-BE49-F238E27FC236}">
                <a16:creationId xmlns:a16="http://schemas.microsoft.com/office/drawing/2014/main" id="{9FA06F1D-F4E2-655D-0ECB-0762E4A519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9D059C62-9D81-A148-F3A8-E735B1A707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0A4FF6-EEF0-8B97-696A-746280ACA59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2097AEC-9604-18F5-B68A-9DDAC80CB6F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BF86077-F677-6962-4FED-10D159B67E3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3114E18-CA26-8F9E-AC5A-76906484DC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8762C1D-5720-48A1-898D-8041400C55BC}" type="datetime1">
              <a:t>19-10-2026</a:t>
            </a:fld>
            <a:endParaRPr/>
          </a:p>
        </p:txBody>
      </p:sp>
      <p:sp>
        <p:nvSpPr>
          <p:cNvPr id="6" name="Footer Placeholder 5">
            <a:extLst xmlns:a="http://schemas.openxmlformats.org/drawingml/2006/main">
              <a:ext uri="{FF2B5EF4-FFF2-40B4-BE49-F238E27FC236}">
                <a16:creationId xmlns:a16="http://schemas.microsoft.com/office/drawing/2014/main" id="{7AA36461-552C-E633-1CF0-DB8BC7B439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4365D169-0627-C229-C26B-84AA64B383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A5CB26-31EA-5AE3-3E63-6F2EFEC5C1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6815B1A-9C33-E8AE-6618-E625DB8E7DA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088B927-04A1-6ACB-7D83-CF9A454971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C140E7-F52A-4119-97FF-78F9513B4388}" type="datetime1">
              <a:t>19-10-2026</a:t>
            </a:fld>
            <a:endParaRPr/>
          </a:p>
        </p:txBody>
      </p:sp>
      <p:sp>
        <p:nvSpPr>
          <p:cNvPr id="5" name="Footer Placeholder 4">
            <a:extLst xmlns:a="http://schemas.openxmlformats.org/drawingml/2006/main">
              <a:ext uri="{FF2B5EF4-FFF2-40B4-BE49-F238E27FC236}">
                <a16:creationId xmlns:a16="http://schemas.microsoft.com/office/drawing/2014/main" id="{E7E9898D-9F32-B8B8-1CB9-8DAEBCCF6B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F0E129-A7D7-908A-2DB9-C14597E8F0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42730AC-48F0-F0FE-FE21-835054F7282A}"/>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F894533-AC0F-B196-504E-399428B58639}"/>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42A9436-E8A2-F71D-A637-B20EA1490A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E1CFB4-31DA-40A2-AE2B-F9FC033D0834}" type="datetime1">
              <a:t>19-10-2026</a:t>
            </a:fld>
            <a:endParaRPr/>
          </a:p>
        </p:txBody>
      </p:sp>
      <p:sp>
        <p:nvSpPr>
          <p:cNvPr id="5" name="Footer Placeholder 4">
            <a:extLst xmlns:a="http://schemas.openxmlformats.org/drawingml/2006/main">
              <a:ext uri="{FF2B5EF4-FFF2-40B4-BE49-F238E27FC236}">
                <a16:creationId xmlns:a16="http://schemas.microsoft.com/office/drawing/2014/main" id="{3A1BF561-DBF4-21B8-CB10-BC790D2094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F2FADF1E-7BDA-43E8-BEF6-6F3FA39F5E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Masters/_rels/restored_slideMaster1.xml.rels><?xml version='1.0' encoding='utf-8'?>
<Relationships xmlns="http://schemas.openxmlformats.org/package/2006/relationships"><Relationship Id="rId8" Type="http://schemas.openxmlformats.org/officeDocument/2006/relationships/slideLayout" Target="../slideLayouts/restored_slideLayout8.xml" /><Relationship Id="rId3" Type="http://schemas.openxmlformats.org/officeDocument/2006/relationships/slideLayout" Target="../slideLayouts/restored_slideLayout3.xml" /><Relationship Id="rId7" Type="http://schemas.openxmlformats.org/officeDocument/2006/relationships/slideLayout" Target="../slideLayouts/restored_slideLayout7.xml" /><Relationship Id="rId12" Type="http://schemas.openxmlformats.org/officeDocument/2006/relationships/theme" Target="../theme/restored_theme1.xml" /><Relationship Id="rId2" Type="http://schemas.openxmlformats.org/officeDocument/2006/relationships/slideLayout" Target="../slideLayouts/restored_slideLayout2.xml" /><Relationship Id="rId1" Type="http://schemas.openxmlformats.org/officeDocument/2006/relationships/slideLayout" Target="../slideLayouts/restored_slideLayout1.xml" /><Relationship Id="rId6" Type="http://schemas.openxmlformats.org/officeDocument/2006/relationships/slideLayout" Target="../slideLayouts/restored_slideLayout6.xml" /><Relationship Id="rId11" Type="http://schemas.openxmlformats.org/officeDocument/2006/relationships/slideLayout" Target="../slideLayouts/restored_slideLayout11.xml" /><Relationship Id="rId5" Type="http://schemas.openxmlformats.org/officeDocument/2006/relationships/slideLayout" Target="../slideLayouts/restored_slideLayout5.xml" /><Relationship Id="rId10" Type="http://schemas.openxmlformats.org/officeDocument/2006/relationships/slideLayout" Target="../slideLayouts/restored_slideLayout10.xml" /><Relationship Id="rId4" Type="http://schemas.openxmlformats.org/officeDocument/2006/relationships/slideLayout" Target="../slideLayouts/restored_slideLayout4.xml" /><Relationship Id="rId9" Type="http://schemas.openxmlformats.org/officeDocument/2006/relationships/slideLayout" Target="../slideLayouts/restored_slideLayout9.xml"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788a310718d849dc" /><Relationship Type="http://schemas.openxmlformats.org/officeDocument/2006/relationships/slideLayout" Target="/ppt/slideLayouts/slideLayout1.xml" Id="Rb2ffb1eba3294db5" /><Relationship Type="http://schemas.openxmlformats.org/officeDocument/2006/relationships/slideLayout" Target="/ppt/slideLayouts/slideLayout2.xml" Id="Rf5b329ef0d56494a" /><Relationship Type="http://schemas.openxmlformats.org/officeDocument/2006/relationships/slideLayout" Target="/ppt/slideLayouts/slideLayout3.xml" Id="R812428773e194a14" /><Relationship Type="http://schemas.openxmlformats.org/officeDocument/2006/relationships/slideLayout" Target="/ppt/slideLayouts/slideLayout4.xml" Id="R0e07a6bbb2b84eb8" /><Relationship Type="http://schemas.openxmlformats.org/officeDocument/2006/relationships/slideLayout" Target="/ppt/slideLayouts/slideLayout5.xml" Id="R9f703c090a604268" /><Relationship Type="http://schemas.openxmlformats.org/officeDocument/2006/relationships/slideLayout" Target="/ppt/slideLayouts/slideLayout6.xml" Id="R68f915fdcc6a4874" /><Relationship Type="http://schemas.openxmlformats.org/officeDocument/2006/relationships/slideLayout" Target="/ppt/slideLayouts/slideLayout7.xml" Id="R600ba07ebbd74668" /><Relationship Type="http://schemas.openxmlformats.org/officeDocument/2006/relationships/slideLayout" Target="/ppt/slideLayouts/slideLayout8.xml" Id="Rb2b857599f4e43de" /><Relationship Type="http://schemas.openxmlformats.org/officeDocument/2006/relationships/slideLayout" Target="/ppt/slideLayouts/slideLayout9.xml" Id="R8e0b83e9c4c44b90" /><Relationship Type="http://schemas.openxmlformats.org/officeDocument/2006/relationships/slideLayout" Target="/ppt/slideLayouts/slideLayout10.xml" Id="R0c21c4193a3b43b3" /><Relationship Type="http://schemas.openxmlformats.org/officeDocument/2006/relationships/slideLayout" Target="/ppt/slideLayouts/slideLayout11.xml" Id="Rc91c5c766a9f4b06" /></Relationships>
</file>

<file path=ppt/slideMasters/restored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8678F-226F-4E2D-9FCF-8D6254E13B72}" type="datetime1">
              <a:rPr lang="en-IN" smtClean="0"/>
              <a:t>19-10-2026</a:t>
            </a:fld>
            <a:endParaRPr lang="en-IN"/>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ECE, NMIT, Bengaluru</a:t>
            </a:r>
            <a:endParaRPr lang="en-IN"/>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249B9C-BF50-4540-B2D1-32A225E7564A}" type="slidenum">
              <a:rPr lang="en-IN" smtClean="0"/>
              <a:t>‹#›</a:t>
            </a:fld>
            <a:endParaRPr lang="en-IN"/>
          </a:p>
        </p:txBody>
      </p:sp>
    </p:spTree>
    <p:extLst>
      <p:ext uri="{BB962C8B-B14F-4D97-AF65-F5344CB8AC3E}">
        <p14:creationId xmlns:p14="http://schemas.microsoft.com/office/powerpoint/2010/main" val="496431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1D4D9F3-48CF-9F1F-5BF9-D29B73C5EE1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05C8141-6A62-88D2-9C9C-A178134DFAD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06B990C-8F8B-41B6-BFA9-D2812EADA711}"/>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B3E8678F-226F-4E2D-9FCF-8D6254E13B72}" type="datetime1">
              <a:t>19-10-2026</a:t>
            </a:fld>
            <a:endParaRPr/>
          </a:p>
        </p:txBody>
      </p:sp>
      <p:sp>
        <p:nvSpPr>
          <p:cNvPr id="5" name="Footer Placeholder 4">
            <a:extLst xmlns:a="http://schemas.openxmlformats.org/drawingml/2006/main">
              <a:ext uri="{FF2B5EF4-FFF2-40B4-BE49-F238E27FC236}">
                <a16:creationId xmlns:a16="http://schemas.microsoft.com/office/drawing/2014/main" id="{451F15A3-C5A8-D8EF-2CC0-B9FB4E8C365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D3726CD6-7954-5145-9A9B-B583B27B2BD4}"/>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ffb1eba3294db5"/>
    <p:sldLayoutId xmlns:r="http://schemas.openxmlformats.org/officeDocument/2006/relationships" id="2147483650" r:id="Rf5b329ef0d56494a"/>
    <p:sldLayoutId xmlns:r="http://schemas.openxmlformats.org/officeDocument/2006/relationships" id="2147483651" r:id="R812428773e194a14"/>
    <p:sldLayoutId xmlns:r="http://schemas.openxmlformats.org/officeDocument/2006/relationships" id="2147483652" r:id="R0e07a6bbb2b84eb8"/>
    <p:sldLayoutId xmlns:r="http://schemas.openxmlformats.org/officeDocument/2006/relationships" id="2147483653" r:id="R9f703c090a604268"/>
    <p:sldLayoutId xmlns:r="http://schemas.openxmlformats.org/officeDocument/2006/relationships" id="2147483654" r:id="R68f915fdcc6a4874"/>
    <p:sldLayoutId xmlns:r="http://schemas.openxmlformats.org/officeDocument/2006/relationships" id="2147483655" r:id="R600ba07ebbd74668"/>
    <p:sldLayoutId xmlns:r="http://schemas.openxmlformats.org/officeDocument/2006/relationships" id="2147483656" r:id="Rb2b857599f4e43de"/>
    <p:sldLayoutId xmlns:r="http://schemas.openxmlformats.org/officeDocument/2006/relationships" id="2147483657" r:id="R8e0b83e9c4c44b90"/>
    <p:sldLayoutId xmlns:r="http://schemas.openxmlformats.org/officeDocument/2006/relationships" id="2147483658" r:id="R0c21c4193a3b43b3"/>
    <p:sldLayoutId xmlns:r="http://schemas.openxmlformats.org/officeDocument/2006/relationships" id="2147483659" r:id="Rc91c5c766a9f4b06"/>
  </p:sldLayoutIdLst>
  <p:hf sldNum="0" hd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Id="rId3" Type="http://schemas.openxmlformats.org/officeDocument/2006/relationships/image" Target="../media/restored_image1.png" /><Relationship Id="rId2" Type="http://schemas.openxmlformats.org/officeDocument/2006/relationships/notesSlide" Target="../notesSlides/restored_notesSlide1.xml" /><Relationship Id="rId1" Type="http://schemas.openxmlformats.org/officeDocument/2006/relationships/slideLayout" Target="../slideLayouts/restored_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restored_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restored_slideLayout2.xml" /></Relationships>
</file>

<file path=ppt/slides/_rels/slide4.xml.rels><?xml version='1.0' encoding='utf-8'?>
<Relationships xmlns="http://schemas.openxmlformats.org/package/2006/relationships"><Relationship Id="rId2" Type="http://schemas.openxmlformats.org/officeDocument/2006/relationships/image" Target="../media/restored_image2.png" /><Relationship Id="rId1" Type="http://schemas.openxmlformats.org/officeDocument/2006/relationships/slideLayout" Target="../slideLayouts/restored_slideLayout2.xml"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914aab8847a45b9" /><Relationship Type="http://schemas.openxmlformats.org/officeDocument/2006/relationships/notesSlide" Target="/ppt/notesSlides/notesSlide5.xml" Id="Re159d821251f4e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1800859392d47ab" /><Relationship Type="http://schemas.openxmlformats.org/officeDocument/2006/relationships/notesSlide" Target="/ppt/notesSlides/notesSlide6.xml" Id="R4bfbf2dd9bdb4a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95f5d8247904c7c" /><Relationship Type="http://schemas.openxmlformats.org/officeDocument/2006/relationships/notesSlide" Target="/ppt/notesSlides/notesSlide7.xml" Id="Raabd2a61d2a949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eff0cb4444147ef" /><Relationship Type="http://schemas.openxmlformats.org/officeDocument/2006/relationships/notesSlide" Target="/ppt/notesSlides/notesSlide8.xml" Id="R2c6b86d0971547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c3775a1ca81422a" /><Relationship Type="http://schemas.openxmlformats.org/officeDocument/2006/relationships/notesSlide" Target="/ppt/notesSlides/notesSlide9.xml" Id="R09bb03faf9fc49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3313a615b6441cd" /><Relationship Type="http://schemas.openxmlformats.org/officeDocument/2006/relationships/notesSlide" Target="/ppt/notesSlides/notesSlide10.xml" Id="R7d474f5aaa1647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6a993fa670a4e5f" /><Relationship Type="http://schemas.openxmlformats.org/officeDocument/2006/relationships/notesSlide" Target="/ppt/notesSlides/notesSlide11.xml" Id="R94363ff74d3d44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15596651c344e9b" /><Relationship Type="http://schemas.openxmlformats.org/officeDocument/2006/relationships/notesSlide" Target="/ppt/notesSlides/notesSlide12.xml" Id="R50e0b51d9c1447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10b3b3422df41f5" /><Relationship Type="http://schemas.openxmlformats.org/officeDocument/2006/relationships/notesSlide" Target="/ppt/notesSlides/notesSlide13.xml" Id="Rda441d200c2b4d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ecf55cde70c4ef4" /><Relationship Type="http://schemas.openxmlformats.org/officeDocument/2006/relationships/notesSlide" Target="/ppt/notesSlides/notesSlide14.xml" Id="R0253557a355641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82563d42499419e" /><Relationship Type="http://schemas.openxmlformats.org/officeDocument/2006/relationships/notesSlide" Target="/ppt/notesSlides/notesSlide15.xml" Id="R5d72e1bdc9a34d8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1074655"/>
          </a:xfrm>
          <a:solidFill>
            <a:srgbClr val="002060"/>
          </a:solidFill>
        </p:spPr>
        <p:txBody>
          <a:bodyPr>
            <a:normAutofit fontScale="90000"/>
          </a:bodyPr>
          <a:lstStyle/>
          <a:p>
            <a:pPr algn="ctr">
              <a:lnSpc>
                <a:spcPct val="115000"/>
              </a:lnSpc>
              <a:spcAft>
                <a:spcPts val="1000"/>
              </a:spcAft>
            </a:pP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Project Work Phase-2       </a:t>
            </a:r>
            <a:b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b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7th semester  AY: 2026-27</a:t>
            </a:r>
            <a:endParaRPr lang="en-IN" sz="4000" dirty="0">
              <a:solidFill>
                <a:schemeClr val="bg1"/>
              </a:solidFill>
              <a:effectLst/>
              <a:latin typeface="Calibri" panose="020F0502020204030204" pitchFamily="34" charset="0"/>
              <a:ea typeface="Calibri" panose="020F0502020204030204" pitchFamily="34" charset="0"/>
              <a:cs typeface="Gautami" panose="020B0502040204020203" pitchFamily="34"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382565"/>
            <a:ext cx="12191999" cy="4980528"/>
          </a:xfrm>
        </p:spPr>
        <p:txBody>
          <a:bodyPr>
            <a:normAutofit fontScale="92500" lnSpcReduction="10000"/>
          </a:bodyPr>
          <a:lstStyle/>
          <a:p>
            <a:pPr marL="0" indent="0" algn="ctr">
              <a:buNone/>
            </a:pPr>
            <a:r>
              <a:rPr lang="en-US" sz="3600" b="1" dirty="0">
                <a:solidFill>
                  <a:srgbClr val="FF0000"/>
                </a:solidFill>
                <a:latin typeface="Times New Roman" panose="02020603050405020304" pitchFamily="18" charset="0"/>
                <a:cs typeface="Times New Roman" panose="02020603050405020304" pitchFamily="18" charset="0"/>
              </a:rPr>
              <a:t>Review 2 Presentation </a:t>
            </a:r>
          </a:p>
          <a:p>
            <a:pPr marL="0" indent="0">
              <a:buNone/>
            </a:pPr>
            <a:r>
              <a:rPr lang="en-US" sz="3300" b="1" dirty="0">
                <a:solidFill>
                  <a:srgbClr val="0070C0"/>
                </a:solidFill>
                <a:latin typeface="Times New Roman" panose="02020603050405020304" pitchFamily="18" charset="0"/>
                <a:cs typeface="Times New Roman" panose="02020603050405020304" pitchFamily="18" charset="0"/>
              </a:rPr>
              <a:t>Project Title: Enhancing Emergency Response Through IoT-Integrated 		     Smart Ambulance and GPS Monitoring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Presented By</a:t>
            </a:r>
          </a:p>
          <a:p>
            <a:pPr marL="0" indent="0" algn="ctr">
              <a:buNone/>
            </a:pPr>
            <a:r>
              <a:rPr lang="en-US" sz="2100" dirty="0">
                <a:latin typeface="Times New Roman" panose="02020603050405020304" pitchFamily="18" charset="0"/>
                <a:cs typeface="Times New Roman" panose="02020603050405020304" pitchFamily="18" charset="0"/>
              </a:rPr>
              <a:t>Rahul S (1NT23EC120)</a:t>
            </a:r>
          </a:p>
          <a:p>
            <a:pPr marL="0" indent="0" algn="ctr">
              <a:buNone/>
            </a:pPr>
            <a:r>
              <a:rPr lang="en-US" sz="2100" dirty="0">
                <a:latin typeface="Times New Roman" panose="02020603050405020304" pitchFamily="18" charset="0"/>
                <a:cs typeface="Times New Roman" panose="02020603050405020304" pitchFamily="18" charset="0"/>
              </a:rPr>
              <a:t>Rakshita S Wagge (1NT23EC124)</a:t>
            </a:r>
          </a:p>
          <a:p>
            <a:pPr marL="0" indent="0" algn="ctr">
              <a:buNone/>
            </a:pPr>
            <a:r>
              <a:rPr lang="en-US" sz="2400" b="1" dirty="0">
                <a:latin typeface="Times New Roman" panose="02020603050405020304" pitchFamily="18" charset="0"/>
                <a:cs typeface="Times New Roman" panose="02020603050405020304" pitchFamily="18" charset="0"/>
              </a:rPr>
              <a:t>            </a:t>
            </a:r>
          </a:p>
          <a:p>
            <a:pPr marL="0" indent="0" algn="ctr">
              <a:buNone/>
            </a:pPr>
            <a:r>
              <a:rPr lang="en-US" sz="2400" b="1" dirty="0">
                <a:latin typeface="Times New Roman" panose="02020603050405020304" pitchFamily="18" charset="0"/>
                <a:cs typeface="Times New Roman" panose="02020603050405020304" pitchFamily="18" charset="0"/>
              </a:rPr>
              <a:t>               Project Supervisor 	</a:t>
            </a:r>
          </a:p>
          <a:p>
            <a:pPr marL="0" indent="0" algn="ctr">
              <a:buNone/>
            </a:pPr>
            <a:r>
              <a:rPr lang="en-US" sz="1600" dirty="0">
                <a:latin typeface="Times New Roman" panose="02020603050405020304" pitchFamily="18" charset="0"/>
                <a:cs typeface="Times New Roman" panose="02020603050405020304" pitchFamily="18" charset="0"/>
              </a:rPr>
              <a:t>            Dr. Manjula B M</a:t>
            </a:r>
          </a:p>
          <a:p>
            <a:pPr marL="0" indent="0" algn="ctr">
              <a:buNone/>
            </a:pPr>
            <a:r>
              <a:rPr lang="en-US" sz="1600" dirty="0">
                <a:latin typeface="Times New Roman" panose="02020603050405020304" pitchFamily="18" charset="0"/>
                <a:cs typeface="Times New Roman" panose="02020603050405020304" pitchFamily="18" charset="0"/>
              </a:rPr>
              <a:t>              Professor</a:t>
            </a:r>
          </a:p>
          <a:p>
            <a:pPr marL="0" indent="0" algn="ctr">
              <a:buNone/>
            </a:pPr>
            <a:r>
              <a:rPr lang="en-US" sz="1600" dirty="0">
                <a:latin typeface="Times New Roman" panose="02020603050405020304" pitchFamily="18" charset="0"/>
                <a:cs typeface="Times New Roman" panose="02020603050405020304" pitchFamily="18" charset="0"/>
              </a:rPr>
              <a:t>Dept. of Electronics and Communication Engineering</a:t>
            </a:r>
          </a:p>
          <a:p>
            <a:pPr marL="0" indent="0" algn="ctr">
              <a:buNone/>
            </a:pPr>
            <a:r>
              <a:rPr lang="en-US" sz="1600" dirty="0">
                <a:latin typeface="Times New Roman" panose="02020603050405020304" pitchFamily="18" charset="0"/>
                <a:cs typeface="Times New Roman" panose="02020603050405020304" pitchFamily="18" charset="0"/>
              </a:rPr>
              <a:t>         Nitte Meenakshi Institute of Technology, Yelahanka, Bangalore-560064</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1                     </a:t>
            </a: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8516B0-35CE-4CCF-9551-DDE8B782C558}"/>
              </a:ext>
            </a:extLst>
          </p:cNvPr>
          <p:cNvPicPr>
            <a:picLocks noChangeAspect="1"/>
          </p:cNvPicPr>
          <p:nvPr/>
        </p:nvPicPr>
        <p:blipFill>
          <a:blip r:embed="rId3"/>
          <a:stretch>
            <a:fillRect/>
          </a:stretch>
        </p:blipFill>
        <p:spPr>
          <a:xfrm>
            <a:off x="0" y="155183"/>
            <a:ext cx="3443603" cy="770103"/>
          </a:xfrm>
          <a:prstGeom prst="rect">
            <a:avLst/>
          </a:prstGeom>
        </p:spPr>
      </p:pic>
    </p:spTree>
    <p:extLst>
      <p:ext uri="{BB962C8B-B14F-4D97-AF65-F5344CB8AC3E}">
        <p14:creationId xmlns:p14="http://schemas.microsoft.com/office/powerpoint/2010/main" val="4097255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2864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Presentation Outline</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544286" y="1382565"/>
            <a:ext cx="11038114" cy="4980528"/>
          </a:xfrm>
        </p:spPr>
        <p:txBody>
          <a:bodyPr>
            <a:normAutofit/>
          </a:bodyPr>
          <a:lstStyle/>
          <a:p>
            <a:r>
              <a:rPr lang="en-US" dirty="0">
                <a:latin typeface="Times New Roman" panose="02020603050405020304" pitchFamily="18" charset="0"/>
                <a:cs typeface="Times New Roman" panose="02020603050405020304" pitchFamily="18" charset="0"/>
              </a:rPr>
              <a:t>Objectives</a:t>
            </a:r>
          </a:p>
          <a:p>
            <a:r>
              <a:rPr lang="en-US" dirty="0">
                <a:latin typeface="Times New Roman" panose="02020603050405020304" pitchFamily="18" charset="0"/>
                <a:cs typeface="Times New Roman" panose="02020603050405020304" pitchFamily="18" charset="0"/>
              </a:rPr>
              <a:t>​Detailed Architecture &amp; Design Finalization</a:t>
            </a:r>
          </a:p>
          <a:p>
            <a:r>
              <a:rPr lang="en-US" dirty="0">
                <a:latin typeface="Times New Roman" panose="02020603050405020304" pitchFamily="18" charset="0"/>
                <a:cs typeface="Times New Roman" panose="02020603050405020304" pitchFamily="18" charset="0"/>
              </a:rPr>
              <a:t>Techniques/methods/approaches used for the proposed work</a:t>
            </a:r>
          </a:p>
          <a:p>
            <a:r>
              <a:rPr lang="en-US" dirty="0">
                <a:latin typeface="Times New Roman" panose="02020603050405020304" pitchFamily="18" charset="0"/>
                <a:cs typeface="Times New Roman" panose="02020603050405020304" pitchFamily="18" charset="0"/>
              </a:rPr>
              <a:t>​</a:t>
            </a:r>
            <a:r>
              <a:rPr lang="en-US" b="1" dirty="0">
                <a:solidFill>
                  <a:srgbClr val="0070C0"/>
                </a:solidFill>
                <a:latin typeface="Times New Roman" panose="02020603050405020304" pitchFamily="18" charset="0"/>
                <a:cs typeface="Times New Roman" panose="02020603050405020304" pitchFamily="18" charset="0"/>
              </a:rPr>
              <a:t>Functional Requirements </a:t>
            </a:r>
          </a:p>
          <a:p>
            <a:r>
              <a:rPr lang="en-US" b="1" dirty="0">
                <a:solidFill>
                  <a:srgbClr val="0070C0"/>
                </a:solidFill>
                <a:latin typeface="Times New Roman" panose="02020603050405020304" pitchFamily="18" charset="0"/>
                <a:cs typeface="Times New Roman" panose="02020603050405020304" pitchFamily="18" charset="0"/>
              </a:rPr>
              <a:t>​Non-Functional Requirements</a:t>
            </a:r>
          </a:p>
          <a:p>
            <a:r>
              <a:rPr lang="en-US" b="1" dirty="0">
                <a:solidFill>
                  <a:srgbClr val="0070C0"/>
                </a:solidFill>
                <a:latin typeface="Times New Roman" panose="02020603050405020304" pitchFamily="18" charset="0"/>
                <a:cs typeface="Times New Roman" panose="02020603050405020304" pitchFamily="18" charset="0"/>
              </a:rPr>
              <a:t>Corresponding Test Scenarios </a:t>
            </a:r>
          </a:p>
          <a:p>
            <a:r>
              <a:rPr lang="en-US" b="1" dirty="0">
                <a:solidFill>
                  <a:srgbClr val="0070C0"/>
                </a:solidFill>
                <a:latin typeface="Times New Roman" panose="02020603050405020304" pitchFamily="18" charset="0"/>
                <a:cs typeface="Times New Roman" panose="02020603050405020304" pitchFamily="18" charset="0"/>
              </a:rPr>
              <a:t>Test Cases  to validate each requirement</a:t>
            </a:r>
          </a:p>
          <a:p>
            <a:r>
              <a:rPr lang="en-US" dirty="0">
                <a:latin typeface="Times New Roman" panose="02020603050405020304" pitchFamily="18" charset="0"/>
                <a:cs typeface="Times New Roman" panose="02020603050405020304" pitchFamily="18" charset="0"/>
              </a:rPr>
              <a:t>Conclusion and Future Work</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2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7401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6293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Project Objectives</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087643"/>
            <a:ext cx="12191999" cy="4980528"/>
          </a:xfrm>
        </p:spPr>
        <p:txBody>
          <a:bodyPr>
            <a:normAutofit/>
          </a:bodyPr>
          <a:lstStyle/>
          <a:p>
            <a:pPr marL="0" indent="0" algn="just">
              <a:lnSpc>
                <a:spcPct val="115000"/>
              </a:lnSpc>
              <a:spcAft>
                <a:spcPts val="1000"/>
              </a:spcAft>
              <a:buNone/>
            </a:pP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The following are the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Finalized </a:t>
            </a: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objectives of the project:</a:t>
            </a:r>
            <a:endParaRPr lang="en-IN"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1. To develop a BLE-based mobile communication backbone for transmitting real-time patient vitals to a mobile application, which securely forwards data to the cloud using MQTT over TLS, with CoAP as a backup.</a:t>
            </a:r>
          </a:p>
          <a:p>
            <a:pPr marL="0" indent="0">
              <a:buNone/>
            </a:pPr>
            <a:r>
              <a:rPr lang="en-US" sz="2400" dirty="0">
                <a:latin typeface="Times New Roman" panose="02020603050405020304" pitchFamily="18" charset="0"/>
                <a:cs typeface="Times New Roman" panose="02020603050405020304" pitchFamily="18" charset="0"/>
              </a:rPr>
              <a:t>2. To integrate the existing patient health monitoring system with the mobile communication backbone for continuous vital acquisition, transmission, and remote monitoring during ambulance transit.</a:t>
            </a:r>
          </a:p>
          <a:p>
            <a:pPr marL="0" indent="0">
              <a:buNone/>
            </a:pPr>
            <a:r>
              <a:rPr lang="en-US" sz="2400" dirty="0">
                <a:latin typeface="Times New Roman" panose="02020603050405020304" pitchFamily="18" charset="0"/>
                <a:cs typeface="Times New Roman" panose="02020603050405020304" pitchFamily="18" charset="0"/>
              </a:rPr>
              <a:t>3. To implement RTOS-based concurrent task management for sensor acquisition, vital processing, communication, and local display, ensuring responsive and reliable operation.</a:t>
            </a:r>
          </a:p>
          <a:p>
            <a:pPr marL="0" indent="0">
              <a:buNone/>
            </a:pPr>
            <a:r>
              <a:rPr lang="en-US" sz="2400" dirty="0">
                <a:latin typeface="Times New Roman" panose="02020603050405020304" pitchFamily="18" charset="0"/>
                <a:cs typeface="Times New Roman" panose="02020603050405020304" pitchFamily="18" charset="0"/>
              </a:rPr>
              <a:t>4. To develop an ML-based patient risk prediction module that analyses real-time vitals, identifies potential deterioration, and classifies patient risk levels for early clinical assessment.</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428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2008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Architecture</a:t>
            </a:r>
          </a:p>
        </p:txBody>
      </p:sp>
      <p:pic>
        <p:nvPicPr>
          <p:cNvPr id="6" name="Content Placeholder 5">
            <a:extLst>
              <a:ext uri="{FF2B5EF4-FFF2-40B4-BE49-F238E27FC236}">
                <a16:creationId xmlns:a16="http://schemas.microsoft.com/office/drawing/2014/main" id="{B5C16895-2E20-D22E-D3B7-58A798CEE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661" y="717979"/>
            <a:ext cx="7702677" cy="5777008"/>
          </a:xfrm>
          <a:prstGeom prst="rect">
            <a:avLst/>
          </a:prstGeom>
        </p:spPr>
      </p:pic>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596377"/>
      </p:ext>
    </p:extLst>
  </p:cSld>
  <p:clrMapOvr>
    <a:masterClrMapping/>
  </p:clrMapOvr>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543147E5-7AE6-4C6D-98A7-186F80DD2148}"/>
              </a:ext>
            </a:extLst>
          </p:cNvPr>
          <p:cNvCxnSpPr>
            <a:stCxn xmlns:a="http://schemas.openxmlformats.org/drawingml/2006/main" id="9" idx="1"/>
            <a:endCxn xmlns:a="http://schemas.openxmlformats.org/drawingml/2006/main" id="10" idx="3"/>
          </p:cNvCxnSpPr>
          <p:nvPr/>
        </p:nvCxnSpPr>
        <p:spPr>
          <a:xfrm xmlns:a="http://schemas.openxmlformats.org/drawingml/2006/main" flipH="1">
            <a:off x="371475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4" name="">
            <a:extLst xmlns:a="http://schemas.openxmlformats.org/drawingml/2006/main">
              <a:ext uri="{FF2B5EF4-FFF2-40B4-BE49-F238E27FC236}">
                <a16:creationId xmlns:a16="http://schemas.microsoft.com/office/drawing/2014/main" id="{510E4F8F-4B8D-4A3B-9DF5-1E376261B473}"/>
              </a:ext>
            </a:extLst>
          </p:cNvPr>
          <p:cNvCxnSpPr>
            <a:stCxn xmlns:a="http://schemas.openxmlformats.org/drawingml/2006/main" id="8" idx="1"/>
            <a:endCxn xmlns:a="http://schemas.openxmlformats.org/drawingml/2006/main" id="9" idx="3"/>
          </p:cNvCxnSpPr>
          <p:nvPr/>
        </p:nvCxnSpPr>
        <p:spPr>
          <a:xfrm xmlns:a="http://schemas.openxmlformats.org/drawingml/2006/main" flipH="1">
            <a:off x="762000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3" name="">
            <a:extLst xmlns:a="http://schemas.openxmlformats.org/drawingml/2006/main">
              <a:ext uri="{FF2B5EF4-FFF2-40B4-BE49-F238E27FC236}">
                <a16:creationId xmlns:a16="http://schemas.microsoft.com/office/drawing/2014/main" id="{B73E4117-5B76-4E5A-8BB5-34C221B82F7E}"/>
              </a:ext>
            </a:extLst>
          </p:cNvPr>
          <p:cNvCxnSpPr>
            <a:stCxn xmlns:a="http://schemas.openxmlformats.org/drawingml/2006/main" id="7" idx="2"/>
            <a:endCxn xmlns:a="http://schemas.openxmlformats.org/drawingml/2006/main" id="8" idx="0"/>
          </p:cNvCxnSpPr>
          <p:nvPr/>
        </p:nvCxnSpPr>
        <p:spPr>
          <a:xfrm xmlns:a="http://schemas.openxmlformats.org/drawingml/2006/main">
            <a:off x="10001250" y="2476500"/>
            <a:ext cx="0" cy="1285875"/>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2" name="">
            <a:extLst xmlns:a="http://schemas.openxmlformats.org/drawingml/2006/main">
              <a:ext uri="{FF2B5EF4-FFF2-40B4-BE49-F238E27FC236}">
                <a16:creationId xmlns:a16="http://schemas.microsoft.com/office/drawing/2014/main" id="{09070000-C21C-4BC7-BF91-30BCC364F0F6}"/>
              </a:ext>
            </a:extLst>
          </p:cNvPr>
          <p:cNvCxnSpPr>
            <a:stCxn xmlns:a="http://schemas.openxmlformats.org/drawingml/2006/main" id="6" idx="3"/>
            <a:endCxn xmlns:a="http://schemas.openxmlformats.org/drawingml/2006/main" id="7" idx="1"/>
          </p:cNvCxnSpPr>
          <p:nvPr/>
        </p:nvCxnSpPr>
        <p:spPr>
          <a:xfrm xmlns:a="http://schemas.openxmlformats.org/drawingml/2006/main">
            <a:off x="762000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1" name="">
            <a:extLst xmlns:a="http://schemas.openxmlformats.org/drawingml/2006/main">
              <a:ext uri="{FF2B5EF4-FFF2-40B4-BE49-F238E27FC236}">
                <a16:creationId xmlns:a16="http://schemas.microsoft.com/office/drawing/2014/main" id="{004B0B8E-68C5-4015-ABFD-87E112F549F5}"/>
              </a:ext>
            </a:extLst>
          </p:cNvPr>
          <p:cNvCxnSpPr>
            <a:stCxn xmlns:a="http://schemas.openxmlformats.org/drawingml/2006/main" id="5" idx="3"/>
            <a:endCxn xmlns:a="http://schemas.openxmlformats.org/drawingml/2006/main" id="6" idx="1"/>
          </p:cNvCxnSpPr>
          <p:nvPr/>
        </p:nvCxnSpPr>
        <p:spPr>
          <a:xfrm xmlns:a="http://schemas.openxmlformats.org/drawingml/2006/main">
            <a:off x="371475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xmlns:a="http://schemas.openxmlformats.org/drawingml/2006/main">
              <a:ext uri="{FF2B5EF4-FFF2-40B4-BE49-F238E27FC236}">
                <a16:creationId xmlns:a16="http://schemas.microsoft.com/office/drawing/2014/main" id="{3EC534E1-DB52-4D82-BC53-5163A72AFED6}"/>
              </a:ext>
            </a:extLst>
          </p:cNvPr>
          <p:cNvSpPr>
            <a:spLocks xmlns:a="http://schemas.openxmlformats.org/drawingml/2006/main" noGrp="1"/>
          </p:cNvSpPr>
          <p:nvPr/>
        </p:nvSpPr>
        <p:spPr>
          <a:xfrm xmlns:a="http://schemas.openxmlformats.org/drawingml/2006/main">
            <a:off x="6667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xmlns:a="http://schemas.openxmlformats.org/drawingml/2006/main">
              <a:ext uri="{FF2B5EF4-FFF2-40B4-BE49-F238E27FC236}">
                <a16:creationId xmlns:a16="http://schemas.microsoft.com/office/drawing/2014/main" id="{70D61D34-2748-45DF-9DE5-B2FE4FE041BA}"/>
              </a:ext>
            </a:extLst>
          </p:cNvPr>
          <p:cNvSpPr>
            <a:spLocks xmlns:a="http://schemas.openxmlformats.org/drawingml/2006/main" noGrp="1"/>
          </p:cNvSpPr>
          <p:nvPr/>
        </p:nvSpPr>
        <p:spPr>
          <a:xfrm xmlns:a="http://schemas.openxmlformats.org/drawingml/2006/main">
            <a:off x="457200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xmlns:a="http://schemas.openxmlformats.org/drawingml/2006/main">
              <a:ext uri="{FF2B5EF4-FFF2-40B4-BE49-F238E27FC236}">
                <a16:creationId xmlns:a16="http://schemas.microsoft.com/office/drawing/2014/main" id="{752EE862-24C5-4C2C-BFD8-42C07AA96859}"/>
              </a:ext>
            </a:extLst>
          </p:cNvPr>
          <p:cNvSpPr>
            <a:spLocks xmlns:a="http://schemas.openxmlformats.org/drawingml/2006/main" noGrp="1"/>
          </p:cNvSpPr>
          <p:nvPr/>
        </p:nvSpPr>
        <p:spPr>
          <a:xfrm xmlns:a="http://schemas.openxmlformats.org/drawingml/2006/main">
            <a:off x="84772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xmlns:a="http://schemas.openxmlformats.org/drawingml/2006/main">
              <a:ext uri="{FF2B5EF4-FFF2-40B4-BE49-F238E27FC236}">
                <a16:creationId xmlns:a16="http://schemas.microsoft.com/office/drawing/2014/main" id="{A90DB280-86FD-4D1C-861B-90313F97032F}"/>
              </a:ext>
            </a:extLst>
          </p:cNvPr>
          <p:cNvSpPr>
            <a:spLocks xmlns:a="http://schemas.openxmlformats.org/drawingml/2006/main" noGrp="1"/>
          </p:cNvSpPr>
          <p:nvPr/>
        </p:nvSpPr>
        <p:spPr>
          <a:xfrm xmlns:a="http://schemas.openxmlformats.org/drawingml/2006/main">
            <a:off x="84772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xmlns:a="http://schemas.openxmlformats.org/drawingml/2006/main">
              <a:ext uri="{FF2B5EF4-FFF2-40B4-BE49-F238E27FC236}">
                <a16:creationId xmlns:a16="http://schemas.microsoft.com/office/drawing/2014/main" id="{772BE867-2CA6-458C-8A20-78D23F5D1951}"/>
              </a:ext>
            </a:extLst>
          </p:cNvPr>
          <p:cNvSpPr>
            <a:spLocks xmlns:a="http://schemas.openxmlformats.org/drawingml/2006/main" noGrp="1"/>
          </p:cNvSpPr>
          <p:nvPr/>
        </p:nvSpPr>
        <p:spPr>
          <a:xfrm xmlns:a="http://schemas.openxmlformats.org/drawingml/2006/main">
            <a:off x="457200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Receive simulated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vital observations</a:t>
            </a:r>
          </a:p>
        </p:txBody>
      </p:sp>
      <p:sp>
        <p:nvSpPr>
          <p:cNvPr id="10" name="Decode and display&#10;HR, SpO2, temperature">
            <a:extLst xmlns:a="http://schemas.openxmlformats.org/drawingml/2006/main">
              <a:ext uri="{FF2B5EF4-FFF2-40B4-BE49-F238E27FC236}">
                <a16:creationId xmlns:a16="http://schemas.microsoft.com/office/drawing/2014/main" id="{9F2374F1-590F-4E20-A086-E040650A59C6}"/>
              </a:ext>
            </a:extLst>
          </p:cNvPr>
          <p:cNvSpPr>
            <a:spLocks xmlns:a="http://schemas.openxmlformats.org/drawingml/2006/main" noGrp="1"/>
          </p:cNvSpPr>
          <p:nvPr/>
        </p:nvSpPr>
        <p:spPr>
          <a:xfrm xmlns:a="http://schemas.openxmlformats.org/drawingml/2006/main">
            <a:off x="6667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xmlns:a="http://schemas.openxmlformats.org/drawingml/2006/main">
              <a:ext uri="{FF2B5EF4-FFF2-40B4-BE49-F238E27FC236}">
                <a16:creationId xmlns:a16="http://schemas.microsoft.com/office/drawing/2014/main" id="{A9FF0872-432F-4647-9E3B-26FF09BA661E}"/>
              </a:ext>
            </a:extLst>
          </p:cNvPr>
          <p:cNvSpPr>
            <a:spLocks xmlns:a="http://schemas.openxmlformats.org/drawingml/2006/main" noGrp="1"/>
          </p:cNvSpPr>
          <p:nvPr/>
        </p:nvSpPr>
        <p:spPr>
          <a:xfrm xmlns:a="http://schemas.openxmlformats.org/drawingml/2006/main">
            <a:off x="857250" y="2762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xmlns:a="http://schemas.openxmlformats.org/drawingml/2006/main">
            <a:pPr algn="l">
              <a:defRPr sz="2325" b="0">
                <a:solidFill>
                  <a:srgbClr val="0070C0"/>
                </a:solidFill>
                <a:latin typeface="Times New Roman"/>
                <a:ea typeface="Times New Roman"/>
                <a:cs typeface="Times New Roman"/>
              </a:defRPr>
            </a:pPr>
            <a:r>
              <a:rPr sz="2325" b="0">
                <a:solidFill>
                  <a:srgbClr val="0070C0"/>
                </a:solidFill>
                <a:latin typeface="Times New Roman"/>
                <a:ea typeface="Times New Roman"/>
                <a:cs typeface="Times New Roman"/>
              </a:rPr>
              <a:t>After subscription, the app enables start/stop control</a:t>
            </a:r>
          </a:p>
        </p:txBody>
      </p:sp>
      <p:sp>
        <p:nvSpPr>
          <p:cNvPr id="17" name="Stop: 0x02     Disconnect: ESP32 resumes adve">
            <a:extLst xmlns:a="http://schemas.openxmlformats.org/drawingml/2006/main">
              <a:ext uri="{FF2B5EF4-FFF2-40B4-BE49-F238E27FC236}">
                <a16:creationId xmlns:a16="http://schemas.microsoft.com/office/drawing/2014/main" id="{A971D6EE-DC0D-4018-A4B4-5B5E8D6E138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Stop: 0x02     Disconnect: ESP32 resumes advertising     Reconnect: scan and select again</a:t>
            </a:r>
          </a:p>
        </p:txBody>
      </p:sp>
      <p:sp>
        <p:nvSpPr>
          <p:cNvPr id="18" name="5">
            <a:extLst xmlns:a="http://schemas.openxmlformats.org/drawingml/2006/main">
              <a:ext uri="{FF2B5EF4-FFF2-40B4-BE49-F238E27FC236}">
                <a16:creationId xmlns:a16="http://schemas.microsoft.com/office/drawing/2014/main" id="{3BED381B-E896-48C8-87C3-BF1D1FD6DFD2}"/>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5</a:t>
            </a:r>
          </a:p>
        </p:txBody>
      </p:sp>
    </p:spTree>
    <p:extLst>
      <p:ext uri="{BB962C8B-B14F-4D97-AF65-F5344CB8AC3E}">
        <p14:creationId xmlns:p14="http://schemas.microsoft.com/office/powerpoint/2010/main" val="173359637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54F42C30-595C-440C-ADDC-23277F929579}"/>
              </a:ext>
            </a:extLst>
          </p:cNvPr>
          <p:cNvGraphicFramePr/>
          <p:nvPr/>
        </p:nvGraphicFramePr>
        <p:xfrm>
          <a:off xmlns:a="http://schemas.openxmlformats.org/drawingml/2006/main" x="523875" y="1285875"/>
          <a:ext xmlns:a="http://schemas.openxmlformats.org/drawingml/2006/main" cx="11144250" cy="4286250"/>
        </p:xfrm>
        <a:graphic xmlns:a="http://schemas.openxmlformats.org/drawingml/2006/main">
          <a:graphicData uri="http://schemas.openxmlformats.org/drawingml/2006/table">
            <a:tbl>
              <a:tblPr/>
              <a:tblGrid>
                <a:gridCol w="2571750"/>
                <a:gridCol w="4000500"/>
                <a:gridCol w="4572000"/>
              </a:tblGrid>
              <a:tr h="714375">
                <a:tc>
                  <a:txBody>
                    <a:bodyPr/>
                    <a:lstStyle/>
                    <a:p>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Current prototype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Target design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75" b="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BLE notifications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BLE gateway</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MQTT/TLS with CoAP fallback</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Simulated observations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Integrated physical sensors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Vitals display</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ML risk classification</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Phone GPS with ETA</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supports the local link. Cloud transports">
            <a:extLst xmlns:a="http://schemas.openxmlformats.org/drawingml/2006/main">
              <a:ext uri="{FF2B5EF4-FFF2-40B4-BE49-F238E27FC236}">
                <a16:creationId xmlns:a16="http://schemas.microsoft.com/office/drawing/2014/main" id="{93050350-D90E-4BE7-8097-5D2C8DC53885}"/>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supports the local link. Cloud transports require phone internet connectivity.</a:t>
            </a:r>
          </a:p>
        </p:txBody>
      </p:sp>
      <p:sp>
        <p:nvSpPr>
          <p:cNvPr id="7" name="6">
            <a:extLst xmlns:a="http://schemas.openxmlformats.org/drawingml/2006/main">
              <a:ext uri="{FF2B5EF4-FFF2-40B4-BE49-F238E27FC236}">
                <a16:creationId xmlns:a16="http://schemas.microsoft.com/office/drawing/2014/main" id="{72F8E5FE-8578-4D96-B2E9-83E6A8A3903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6</a:t>
            </a:r>
          </a:p>
        </p:txBody>
      </p:sp>
    </p:spTree>
    <p:extLst>
      <p:ext uri="{BB962C8B-B14F-4D97-AF65-F5344CB8AC3E}">
        <p14:creationId xmlns:p14="http://schemas.microsoft.com/office/powerpoint/2010/main" val="17335963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96AF17B3-C550-48EB-B276-006546E5C772}"/>
              </a:ext>
            </a:extLst>
          </p:cNvPr>
          <p:cNvGraphicFramePr/>
          <p:nvPr/>
        </p:nvGraphicFramePr>
        <p:xfrm>
          <a:off xmlns:a="http://schemas.openxmlformats.org/drawingml/2006/main" x="523875" y="1190625"/>
          <a:ext xmlns:a="http://schemas.openxmlformats.org/drawingml/2006/main" cx="11144250" cy="4572000"/>
        </p:xfrm>
        <a:graphic xmlns:a="http://schemas.openxmlformats.org/drawingml/2006/main">
          <a:graphicData uri="http://schemas.openxmlformats.org/drawingml/2006/table">
            <a:tbl>
              <a:tblPr/>
              <a:tblGrid>
                <a:gridCol w="952500"/>
                <a:gridCol w="6953250"/>
                <a:gridCol w="3238500"/>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7">
            <a:extLst xmlns:a="http://schemas.openxmlformats.org/drawingml/2006/main">
              <a:ext uri="{FF2B5EF4-FFF2-40B4-BE49-F238E27FC236}">
                <a16:creationId xmlns:a16="http://schemas.microsoft.com/office/drawing/2014/main" id="{DC8E7CFA-4BC5-4084-B3E0-3471A4748F1C}"/>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7</a:t>
            </a:r>
          </a:p>
        </p:txBody>
      </p:sp>
    </p:spTree>
    <p:extLst>
      <p:ext uri="{BB962C8B-B14F-4D97-AF65-F5344CB8AC3E}">
        <p14:creationId xmlns:p14="http://schemas.microsoft.com/office/powerpoint/2010/main" val="17335963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A01DF5BD-049E-48F5-9B67-EA9CB0A63420}"/>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238375"/>
                <a:gridCol w="5429250"/>
                <a:gridCol w="3476625"/>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Latency, endurance and reliability thresholds">
            <a:extLst xmlns:a="http://schemas.openxmlformats.org/drawingml/2006/main">
              <a:ext uri="{FF2B5EF4-FFF2-40B4-BE49-F238E27FC236}">
                <a16:creationId xmlns:a16="http://schemas.microsoft.com/office/drawing/2014/main" id="{0AC70777-0095-4E86-9418-F31C399FE586}"/>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Latency, endurance and reliability thresholds remain proposed until measured and agreed.</a:t>
            </a:r>
          </a:p>
        </p:txBody>
      </p:sp>
      <p:sp>
        <p:nvSpPr>
          <p:cNvPr id="7" name="8">
            <a:extLst xmlns:a="http://schemas.openxmlformats.org/drawingml/2006/main">
              <a:ext uri="{FF2B5EF4-FFF2-40B4-BE49-F238E27FC236}">
                <a16:creationId xmlns:a16="http://schemas.microsoft.com/office/drawing/2014/main" id="{EACF86FD-0354-4F71-8403-7D21C467650C}"/>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8</a:t>
            </a:r>
          </a:p>
        </p:txBody>
      </p:sp>
    </p:spTree>
    <p:extLst>
      <p:ext uri="{BB962C8B-B14F-4D97-AF65-F5344CB8AC3E}">
        <p14:creationId xmlns:p14="http://schemas.microsoft.com/office/powerpoint/2010/main" val="173359637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Wi-Fi vs BLE: Design Rationale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322400A1-A7ED-4E0A-9976-1F301F477979}"/>
              </a:ext>
            </a:extLst>
          </p:cNvPr>
          <p:cNvGraphicFramePr/>
          <p:nvPr/>
        </p:nvGraphicFramePr>
        <p:xfrm>
          <a:off xmlns:a="http://schemas.openxmlformats.org/drawingml/2006/main" x="523875" y="1190625"/>
          <a:ext xmlns:a="http://schemas.openxmlformats.org/drawingml/2006/main" cx="11144250" cy="4286250"/>
        </p:xfrm>
        <a:graphic xmlns:a="http://schemas.openxmlformats.org/drawingml/2006/main">
          <a:graphicData uri="http://schemas.openxmlformats.org/drawingml/2006/table">
            <a:tbl>
              <a:tblPr/>
              <a:tblGrid>
                <a:gridCol w="2428875"/>
                <a:gridCol w="4286250"/>
                <a:gridCol w="4429125"/>
              </a:tblGrid>
              <a:tr h="714375">
                <a:tc>
                  <a:txBody>
                    <a:bodyPr/>
                    <a:lstStyle/>
                    <a:p>
                      <a:r>
                        <a:rPr sz="2100" b="1">
                          <a:solidFill>
                            <a:srgbClr val="FFFFFF"/>
                          </a:solidFill>
                          <a:latin typeface="Times New Roman"/>
                          <a:ea typeface="Times New Roman"/>
                          <a:cs typeface="Times New Roman"/>
                        </a:rPr>
                        <a:t>Criterion</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Earlier Wi-Fi approach</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Selected BLE approach</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00" b="0">
                          <a:solidFill>
                            <a:srgbClr val="111111"/>
                          </a:solidFill>
                          <a:latin typeface="Times New Roman"/>
                          <a:ea typeface="Times New Roman"/>
                          <a:cs typeface="Times New Roman"/>
                        </a:rPr>
                        <a:t>Local connection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joins access point or hotspot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connects directly to phone</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00" b="0">
                          <a:solidFill>
                            <a:srgbClr val="111111"/>
                          </a:solidFill>
                          <a:latin typeface="Times New Roman"/>
                          <a:ea typeface="Times New Roman"/>
                          <a:cs typeface="Times New Roman"/>
                        </a:rPr>
                        <a:t>Internet gateway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ESP32 manages network uplink</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Phone handles cloud uplink (planned)</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00" b="0">
                          <a:solidFill>
                            <a:srgbClr val="111111"/>
                          </a:solidFill>
                          <a:latin typeface="Times New Roman"/>
                          <a:ea typeface="Times New Roman"/>
                          <a:cs typeface="Times New Roman"/>
                        </a:rPr>
                        <a:t>Data workload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Supports higher data throughput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Fits small, periodic vital readings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00" b="0">
                          <a:solidFill>
                            <a:srgbClr val="111111"/>
                          </a:solidFill>
                          <a:latin typeface="Times New Roman"/>
                          <a:ea typeface="Times New Roman"/>
                          <a:cs typeface="Times New Roman"/>
                        </a:rPr>
                        <a:t>Device setup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Configure SSID and password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Discover device and pair</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00" b="0">
                          <a:solidFill>
                            <a:srgbClr val="111111"/>
                          </a:solidFill>
                          <a:latin typeface="Times New Roman"/>
                          <a:ea typeface="Times New Roman"/>
                          <a:cs typeface="Times New Roman"/>
                        </a:rPr>
                        <a:t>Power rationale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Measure under the same workload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Low-power design; savings unmeasured</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fits the phone gateway design. Phone prox">
            <a:extLst xmlns:a="http://schemas.openxmlformats.org/drawingml/2006/main">
              <a:ext uri="{FF2B5EF4-FFF2-40B4-BE49-F238E27FC236}">
                <a16:creationId xmlns:a16="http://schemas.microsoft.com/office/drawing/2014/main" id="{F572C4D4-3512-4B90-A78F-4587339B68D7}"/>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fits the phone gateway design. Phone proximity remains a requirement.</a:t>
            </a:r>
          </a:p>
        </p:txBody>
      </p:sp>
      <p:sp>
        <p:nvSpPr>
          <p:cNvPr id="7" name="9">
            <a:extLst xmlns:a="http://schemas.openxmlformats.org/drawingml/2006/main">
              <a:ext uri="{FF2B5EF4-FFF2-40B4-BE49-F238E27FC236}">
                <a16:creationId xmlns:a16="http://schemas.microsoft.com/office/drawing/2014/main" id="{042C8049-62C7-450C-9BDB-B813F9E82271}"/>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9</a:t>
            </a:r>
          </a:p>
        </p:txBody>
      </p:sp>
    </p:spTree>
    <p:extLst>
      <p:ext uri="{BB962C8B-B14F-4D97-AF65-F5344CB8AC3E}">
        <p14:creationId xmlns:p14="http://schemas.microsoft.com/office/powerpoint/2010/main" val="173359637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BA6B1BED-F14E-4A0D-B272-1890C1397E0B}"/>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1905000"/>
                <a:gridCol w="4286250"/>
                <a:gridCol w="4953000"/>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Execution status: evidence pending. Capture t">
            <a:extLst xmlns:a="http://schemas.openxmlformats.org/drawingml/2006/main">
              <a:ext uri="{FF2B5EF4-FFF2-40B4-BE49-F238E27FC236}">
                <a16:creationId xmlns:a16="http://schemas.microsoft.com/office/drawing/2014/main" id="{11A48837-BA84-46A2-A172-82344334FA23}"/>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Execution status: evidence pending. Capture the observed outcome before marking Pass.</a:t>
            </a:r>
          </a:p>
        </p:txBody>
      </p:sp>
      <p:sp>
        <p:nvSpPr>
          <p:cNvPr id="7" name="10">
            <a:extLst xmlns:a="http://schemas.openxmlformats.org/drawingml/2006/main">
              <a:ext uri="{FF2B5EF4-FFF2-40B4-BE49-F238E27FC236}">
                <a16:creationId xmlns:a16="http://schemas.microsoft.com/office/drawing/2014/main" id="{0715AA64-A2D2-49A2-818E-9E277ADB245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10</a:t>
            </a:r>
          </a:p>
        </p:txBody>
      </p:sp>
    </p:spTree>
    <p:extLst>
      <p:ext uri="{BB962C8B-B14F-4D97-AF65-F5344CB8AC3E}">
        <p14:creationId xmlns:p14="http://schemas.microsoft.com/office/powerpoint/2010/main" val="173359637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1ABC1FB1-160B-4398-B92F-A16E5B693D69}"/>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428875"/>
                <a:gridCol w="4524375"/>
                <a:gridCol w="4191000"/>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All cases on this slide are planned. No cloud">
            <a:extLst xmlns:a="http://schemas.openxmlformats.org/drawingml/2006/main">
              <a:ext uri="{FF2B5EF4-FFF2-40B4-BE49-F238E27FC236}">
                <a16:creationId xmlns:a16="http://schemas.microsoft.com/office/drawing/2014/main" id="{445289BF-EA09-42DB-9EDC-E23C48D7912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1">
            <a:extLst xmlns:a="http://schemas.openxmlformats.org/drawingml/2006/main">
              <a:ext uri="{FF2B5EF4-FFF2-40B4-BE49-F238E27FC236}">
                <a16:creationId xmlns:a16="http://schemas.microsoft.com/office/drawing/2014/main" id="{790258E3-4172-4B82-945C-A2B8BC04DE2A}"/>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11</a:t>
            </a:r>
          </a:p>
        </p:txBody>
      </p:sp>
    </p:spTree>
    <p:extLst>
      <p:ext uri="{BB962C8B-B14F-4D97-AF65-F5344CB8AC3E}">
        <p14:creationId xmlns:p14="http://schemas.microsoft.com/office/powerpoint/2010/main" val="173359637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4CF3A94D-C996-4313-B03D-B0C5436F1D81}"/>
              </a:ext>
            </a:extLst>
          </p:cNvPr>
          <p:cNvGraphicFramePr/>
          <p:nvPr/>
        </p:nvGraphicFramePr>
        <p:xfrm>
          <a:off xmlns:a="http://schemas.openxmlformats.org/drawingml/2006/main" x="523875" y="1143000"/>
          <a:ext xmlns:a="http://schemas.openxmlformats.org/drawingml/2006/main" cx="11144250" cy="4667250"/>
        </p:xfrm>
        <a:graphic xmlns:a="http://schemas.openxmlformats.org/drawingml/2006/main">
          <a:graphicData uri="http://schemas.openxmlformats.org/drawingml/2006/table">
            <a:tbl>
              <a:tblPr/>
              <a:tblGrid>
                <a:gridCol w="2476500"/>
                <a:gridCol w="4429125"/>
                <a:gridCol w="4238625"/>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12">
            <a:extLst xmlns:a="http://schemas.openxmlformats.org/drawingml/2006/main">
              <a:ext uri="{FF2B5EF4-FFF2-40B4-BE49-F238E27FC236}">
                <a16:creationId xmlns:a16="http://schemas.microsoft.com/office/drawing/2014/main" id="{B6423052-90BB-4036-A723-2A62F220BAA9}"/>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12</a:t>
            </a:r>
          </a:p>
        </p:txBody>
      </p:sp>
    </p:spTree>
    <p:extLst>
      <p:ext uri="{BB962C8B-B14F-4D97-AF65-F5344CB8AC3E}">
        <p14:creationId xmlns:p14="http://schemas.microsoft.com/office/powerpoint/2010/main" val="17335963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xmlns:a="http://schemas.openxmlformats.org/drawingml/2006/main">
              <a:ext uri="{FF2B5EF4-FFF2-40B4-BE49-F238E27FC236}">
                <a16:creationId xmlns:a16="http://schemas.microsoft.com/office/drawing/2014/main" id="{20B156C6-6F63-4077-B2B4-93238B036224}"/>
              </a:ext>
            </a:extLst>
          </p:cNvPr>
          <p:cNvSpPr>
            <a:spLocks xmlns:a="http://schemas.openxmlformats.org/drawingml/2006/main" noGrp="1"/>
          </p:cNvSpPr>
          <p:nvPr/>
        </p:nvSpPr>
        <p:spPr>
          <a:xfrm xmlns:a="http://schemas.openxmlformats.org/drawingml/2006/main">
            <a:off x="6667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xmlns:a="http://schemas.openxmlformats.org/drawingml/2006/main">
              <a:ext uri="{FF2B5EF4-FFF2-40B4-BE49-F238E27FC236}">
                <a16:creationId xmlns:a16="http://schemas.microsoft.com/office/drawing/2014/main" id="{D1530123-E1C4-430C-85D3-8F552FAE3993}"/>
              </a:ext>
            </a:extLst>
          </p:cNvPr>
          <p:cNvSpPr>
            <a:spLocks xmlns:a="http://schemas.openxmlformats.org/drawingml/2006/main" noGrp="1"/>
          </p:cNvSpPr>
          <p:nvPr/>
        </p:nvSpPr>
        <p:spPr>
          <a:xfrm xmlns:a="http://schemas.openxmlformats.org/drawingml/2006/main">
            <a:off x="8572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xmlns:a="http://schemas.openxmlformats.org/drawingml/2006/main">
              <a:ext uri="{FF2B5EF4-FFF2-40B4-BE49-F238E27FC236}">
                <a16:creationId xmlns:a16="http://schemas.microsoft.com/office/drawing/2014/main" id="{36964AD3-5E81-4EF4-95EF-2FB93450507A}"/>
              </a:ext>
            </a:extLst>
          </p:cNvPr>
          <p:cNvSpPr>
            <a:spLocks xmlns:a="http://schemas.openxmlformats.org/drawingml/2006/main" noGrp="1"/>
          </p:cNvSpPr>
          <p:nvPr/>
        </p:nvSpPr>
        <p:spPr>
          <a:xfrm xmlns:a="http://schemas.openxmlformats.org/drawingml/2006/main">
            <a:off x="457200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xmlns:a="http://schemas.openxmlformats.org/drawingml/2006/main">
              <a:ext uri="{FF2B5EF4-FFF2-40B4-BE49-F238E27FC236}">
                <a16:creationId xmlns:a16="http://schemas.microsoft.com/office/drawing/2014/main" id="{ED237D89-32A7-47F1-ACC7-5F87B51E84B9}"/>
              </a:ext>
            </a:extLst>
          </p:cNvPr>
          <p:cNvSpPr>
            <a:spLocks xmlns:a="http://schemas.openxmlformats.org/drawingml/2006/main" noGrp="1"/>
          </p:cNvSpPr>
          <p:nvPr/>
        </p:nvSpPr>
        <p:spPr>
          <a:xfrm xmlns:a="http://schemas.openxmlformats.org/drawingml/2006/main">
            <a:off x="476250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xmlns:a="http://schemas.openxmlformats.org/drawingml/2006/main">
              <a:ext uri="{FF2B5EF4-FFF2-40B4-BE49-F238E27FC236}">
                <a16:creationId xmlns:a16="http://schemas.microsoft.com/office/drawing/2014/main" id="{1D7DFB66-01E7-49F5-B287-94FA429026DF}"/>
              </a:ext>
            </a:extLst>
          </p:cNvPr>
          <p:cNvSpPr>
            <a:spLocks xmlns:a="http://schemas.openxmlformats.org/drawingml/2006/main" noGrp="1"/>
          </p:cNvSpPr>
          <p:nvPr/>
        </p:nvSpPr>
        <p:spPr>
          <a:xfrm xmlns:a="http://schemas.openxmlformats.org/drawingml/2006/main">
            <a:off x="84772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xmlns:a="http://schemas.openxmlformats.org/drawingml/2006/main">
              <a:ext uri="{FF2B5EF4-FFF2-40B4-BE49-F238E27FC236}">
                <a16:creationId xmlns:a16="http://schemas.microsoft.com/office/drawing/2014/main" id="{C24DD76E-497C-45C1-81D2-3DFF32F64BF3}"/>
              </a:ext>
            </a:extLst>
          </p:cNvPr>
          <p:cNvSpPr>
            <a:spLocks xmlns:a="http://schemas.openxmlformats.org/drawingml/2006/main" noGrp="1"/>
          </p:cNvSpPr>
          <p:nvPr/>
        </p:nvSpPr>
        <p:spPr>
          <a:xfrm xmlns:a="http://schemas.openxmlformats.org/drawingml/2006/main">
            <a:off x="86677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xmlns:a="http://schemas.openxmlformats.org/drawingml/2006/main">
              <a:ext uri="{FF2B5EF4-FFF2-40B4-BE49-F238E27FC236}">
                <a16:creationId xmlns:a16="http://schemas.microsoft.com/office/drawing/2014/main" id="{10D4419E-65F8-4AF8-ABFE-000A5A89DE9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Use real device captures. Pair the app display with matching ESP32 serial logs.</a:t>
            </a:r>
          </a:p>
        </p:txBody>
      </p:sp>
      <p:sp>
        <p:nvSpPr>
          <p:cNvPr id="12" name="13">
            <a:extLst xmlns:a="http://schemas.openxmlformats.org/drawingml/2006/main">
              <a:ext uri="{FF2B5EF4-FFF2-40B4-BE49-F238E27FC236}">
                <a16:creationId xmlns:a16="http://schemas.microsoft.com/office/drawing/2014/main" id="{7B76A915-D870-41E6-BAF2-B5FA79CDAC31}"/>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13</a:t>
            </a:r>
          </a:p>
        </p:txBody>
      </p:sp>
    </p:spTree>
    <p:extLst>
      <p:ext uri="{BB962C8B-B14F-4D97-AF65-F5344CB8AC3E}">
        <p14:creationId xmlns:p14="http://schemas.microsoft.com/office/powerpoint/2010/main" val="173359637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15" name="14">
            <a:extLst xmlns:a="http://schemas.openxmlformats.org/drawingml/2006/main">
              <a:ext uri="{FF2B5EF4-FFF2-40B4-BE49-F238E27FC236}">
                <a16:creationId xmlns:a16="http://schemas.microsoft.com/office/drawing/2014/main" id="{B84EC8C5-B46C-4435-9A1C-74A4C9868B47}"/>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14</a:t>
            </a:r>
          </a:p>
        </p:txBody>
      </p:sp>
      <p:sp>
        <p:nvSpPr>
          <p:cNvPr id="16" name="Conclusion and future work bullets">
            <a:extLst xmlns:a="http://schemas.openxmlformats.org/drawingml/2006/main">
              <a:ext uri="{FF2B5EF4-FFF2-40B4-BE49-F238E27FC236}">
                <a16:creationId xmlns:a16="http://schemas.microsoft.com/office/drawing/2014/main" id="{E4ABBF5B-8045-467A-B70B-6EC5DD7F3F99}"/>
              </a:ext>
            </a:extLst>
          </p:cNvPr>
          <p:cNvSpPr>
            <a:spLocks xmlns:a="http://schemas.openxmlformats.org/drawingml/2006/main" noGrp="1"/>
          </p:cNvSpPr>
          <p:nvPr/>
        </p:nvSpPr>
        <p:spPr>
          <a:xfrm xmlns:a="http://schemas.openxmlformats.org/drawingml/2006/main">
            <a:off x="762000" y="1333500"/>
            <a:ext cx="10668000" cy="452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a:solidFill>
                  <a:srgbClr val="111111"/>
                </a:solidFill>
                <a:latin typeface="Times New Roman"/>
                <a:ea typeface="Times New Roman"/>
                <a:cs typeface="Times New Roman"/>
              </a:defRPr>
            </a:defPPr>
            <a:lvl1pPr>
              <a:defRPr sz="2625">
                <a:solidFill>
                  <a:srgbClr val="111111"/>
                </a:solidFill>
                <a:latin typeface="Times New Roman"/>
                <a:ea typeface="Times New Roman"/>
                <a:cs typeface="Times New Roman"/>
              </a:defRPr>
            </a:lvl1pPr>
            <a:lvl2pPr>
              <a:defRPr sz="2625">
                <a:solidFill>
                  <a:srgbClr val="111111"/>
                </a:solidFill>
                <a:latin typeface="Times New Roman"/>
                <a:ea typeface="Times New Roman"/>
                <a:cs typeface="Times New Roman"/>
              </a:defRPr>
            </a:lvl2pPr>
            <a:lvl3pPr>
              <a:defRPr sz="2625">
                <a:solidFill>
                  <a:srgbClr val="111111"/>
                </a:solidFill>
                <a:latin typeface="Times New Roman"/>
                <a:ea typeface="Times New Roman"/>
                <a:cs typeface="Times New Roman"/>
              </a:defRPr>
            </a:lvl3pPr>
            <a:lvl4pPr>
              <a:defRPr sz="2625">
                <a:solidFill>
                  <a:srgbClr val="111111"/>
                </a:solidFill>
                <a:latin typeface="Times New Roman"/>
                <a:ea typeface="Times New Roman"/>
                <a:cs typeface="Times New Roman"/>
              </a:defRPr>
            </a:lvl4pPr>
            <a:lvl5pPr>
              <a:defRPr sz="2625">
                <a:solidFill>
                  <a:srgbClr val="111111"/>
                </a:solidFill>
                <a:latin typeface="Times New Roman"/>
                <a:ea typeface="Times New Roman"/>
                <a:cs typeface="Times New Roman"/>
              </a:defRPr>
            </a:lvl5pPr>
            <a:lvl6pPr>
              <a:defRPr sz="2625">
                <a:solidFill>
                  <a:srgbClr val="111111"/>
                </a:solidFill>
                <a:latin typeface="Times New Roman"/>
                <a:ea typeface="Times New Roman"/>
                <a:cs typeface="Times New Roman"/>
              </a:defRPr>
            </a:lvl6pPr>
            <a:lvl7pPr>
              <a:defRPr sz="2625">
                <a:solidFill>
                  <a:srgbClr val="111111"/>
                </a:solidFill>
                <a:latin typeface="Times New Roman"/>
                <a:ea typeface="Times New Roman"/>
                <a:cs typeface="Times New Roman"/>
              </a:defRPr>
            </a:lvl7pPr>
            <a:lvl8pPr>
              <a:defRPr sz="2625">
                <a:solidFill>
                  <a:srgbClr val="111111"/>
                </a:solidFill>
                <a:latin typeface="Times New Roman"/>
                <a:ea typeface="Times New Roman"/>
                <a:cs typeface="Times New Roman"/>
              </a:defRPr>
            </a:lvl8pPr>
            <a:lvl9pPr>
              <a:defRPr sz="2625">
                <a:solidFill>
                  <a:srgbClr val="111111"/>
                </a:solidFill>
                <a:latin typeface="Times New Roman"/>
                <a:ea typeface="Times New Roman"/>
                <a:cs typeface="Times New Roman"/>
              </a:defRPr>
            </a:lvl9pPr>
          </a:lstStyle>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Implemented ESP32 BLE communication and a Flutter app for simulated vitals.</a:t>
            </a:r>
          </a:p>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Supported device discovery, encrypted connection and start/stop control.</a:t>
            </a:r>
          </a:p>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Integrate physical sensors, OLED and the full RTOS task pipeline.</a:t>
            </a:r>
          </a:p>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Add persistent uploads, cloud services and the hospital dashboard.</a:t>
            </a:r>
          </a:p>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Develop GPS tracking, ETA estimation and ML risk prediction.</a:t>
            </a:r>
          </a:p>
        </p:txBody>
      </p:sp>
    </p:spTree>
    <p:extLst>
      <p:ext uri="{BB962C8B-B14F-4D97-AF65-F5344CB8AC3E}">
        <p14:creationId xmlns:p14="http://schemas.microsoft.com/office/powerpoint/2010/main" val="173359637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765809"/>
          </a:xfrm>
          <a:prstGeom xmlns:a="http://schemas.openxmlformats.org/drawingml/2006/main" prst="rect">
            <a:avLst/>
          </a:prstGeom>
          <a:solidFill xmlns:a="http://schemas.openxmlformats.org/drawingml/2006/main">
            <a:srgbClr val="002060"/>
          </a:solidFill>
        </p:spPr>
        <p:txBody>
          <a:bodyPr xmlns:a="http://schemas.openxmlformats.org/drawingml/2006/main">
            <a:normAutofit/>
          </a:bodyPr>
          <a:lstStyle xmlns:a="http://schemas.openxmlformats.org/drawingml/2006/main"/>
          <a:p xmlns:a="http://schemas.openxmlformats.org/drawingml/2006/main">
            <a:pPr algn="ctr">
              <a:buNone/>
            </a:pPr>
            <a:endParaRPr sz="3600" b="1">
              <a:solidFill>
                <a:schemeClr val="bg1"/>
              </a:solidFill>
              <a:latin typeface="Times New Roman"/>
              <a:ea typeface="Times New Roman"/>
              <a:cs typeface="Times New Roman"/>
            </a:endParaRP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xmlns:a="http://schemas.openxmlformats.org/drawingml/2006/main">
              <a:ext uri="{FF2B5EF4-FFF2-40B4-BE49-F238E27FC236}">
                <a16:creationId xmlns:a16="http://schemas.microsoft.com/office/drawing/2014/main" id="{1C9D027C-64E9-914D-D965-A429BBC87943}"/>
              </a:ext>
            </a:extLst>
          </p:cNvPr>
          <p:cNvSpPr>
            <a:spLocks xmlns:a="http://schemas.openxmlformats.org/drawingml/2006/main" noGrp="1"/>
          </p:cNvSpPr>
          <p:nvPr/>
        </p:nvSpPr>
        <p:spPr>
          <a:xfrm xmlns:a="http://schemas.openxmlformats.org/drawingml/2006/main">
            <a:off x="4563762" y="3429000"/>
            <a:ext cx="3387722" cy="101566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6000">
                <a:solidFill>
                  <a:srgbClr val="0070C0"/>
                </a:solidFill>
              </a:rPr>
              <a:t>Thank You</a:t>
            </a:r>
          </a:p>
        </p:txBody>
      </p:sp>
      <p:sp>
        <p:nvSpPr>
          <p:cNvPr id="8" name="15">
            <a:extLst xmlns:a="http://schemas.openxmlformats.org/drawingml/2006/main">
              <a:ext uri="{FF2B5EF4-FFF2-40B4-BE49-F238E27FC236}">
                <a16:creationId xmlns:a16="http://schemas.microsoft.com/office/drawing/2014/main" id="{5A51434F-8A9A-48B7-AE15-5E50A8D5B94F}"/>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15</a:t>
            </a:r>
          </a:p>
        </p:txBody>
      </p:sp>
    </p:spTree>
    <p:extLst>
      <p:ext uri="{BB962C8B-B14F-4D97-AF65-F5344CB8AC3E}">
        <p14:creationId xmlns:p14="http://schemas.microsoft.com/office/powerpoint/2010/main" val="3105312193"/>
      </p:ext>
    </p:extLst>
  </p:cSld>
</p:sld>
</file>

<file path=ppt/theme/restored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restored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2026-10-19T06:24:58.8180000Z</dcterms:created>
  <dcterms:modified xsi:type="dcterms:W3CDTF">2026-10-19T06:24:58.8180000Z</dcterms:modified>
</coreProperties>
</file>