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0"/>
  </p:notesMasterIdLst>
  <p:sldIdLst>
    <p:sldId id="256" r:id="rId3"/>
    <p:sldId id="258" r:id="rId4"/>
    <p:sldId id="259" r:id="rId5"/>
    <p:sldId id="260" r:id="rId6"/>
    <p:sldId id="273" r:id="rId7"/>
    <p:sldId id="261" r:id="rId8"/>
    <p:sldId id="262" r:id="rId9"/>
    <p:sldId id="263" r:id="rId10"/>
    <p:sldId id="264" r:id="rId11"/>
    <p:sldId id="265" r:id="rId12"/>
    <p:sldId id="266" r:id="rId13"/>
    <p:sldId id="267" r:id="rId14"/>
    <p:sldId id="268" r:id="rId15"/>
    <p:sldId id="271" r:id="rId16"/>
    <p:sldId id="272" r:id="rId17"/>
    <p:sldId id="269" r:id="rId18"/>
    <p:sldId id="270" r:id="rId1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6" d="100"/>
          <a:sy n="76" d="100"/>
        </p:scale>
        <p:origin x="2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6F3D40A-EC1A-4F6F-BB68-EFB07E1011F1}" type="slidenum">
              <a:rPr lang="en-IN"/>
              <a:t>1</a:t>
            </a:fld>
            <a:endParaRPr lang="en-IN"/>
          </a:p>
        </p:txBody>
      </p:sp>
    </p:spTree>
    <p:extLst>
      <p:ext uri="{BB962C8B-B14F-4D97-AF65-F5344CB8AC3E}">
        <p14:creationId xmlns:p14="http://schemas.microsoft.com/office/powerpoint/2010/main" val="148885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GHSS UUID 0x1840; observations 0x2B8B; control point 0x2BF4. Firmware creates simulated readings on a nominal one-second task interval. The two rows show setup followed by telemetry, with editable step objects. Automatic app reconnection is not implemented.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of the implemented ESP32-to-phone BLE prototype. The Flutter app is the BLE central/GATT client. ESP32 advertises as Smart_Ambulance and hosts GHSS 0x1840. App start 0x01 and stop 0x02 commands use control point 0x2BF4. Firmware requires link encryption and subscribed indications, validates the command, sets stream state, and indicates acknowledgement 0x80. The simulated-vitals task emits heart rate, SpO2 and temperature observations through notifications on 0x2B8B. Physical sensor integration is planned. Sources: current app/lib/main.dart and esp32/components/ble/ble.c, ble_gap.c, ble_gatt.c.</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282495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Comparison describes observed implementation versus the user-approved target, without claiming measured superiority over competing protocols. No backend stack or risk model is finalized in the current repository.</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FR1 and FR2 are implemented in source but need hardware evidence. Sensor sketches exist separately. Persistent queueing, cloud transport, GPS, ETA, ML and hospital dashboard are requirements for subsequent integration.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Security code uses LE Secure Connections with Just Works and NVS bonds. This does not establish authenticated protection against active interception. No measured latency, delivery ratio, endurance or clinical accuracy is available.</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Design rationale, not measured Wi-Fi versus BLE test results. The earlier project README describes direct ESP32 Wi-Fi MQTT/TLS upload. The current architecture moves internet upload, GPS and planned buffering to the phone, while BLE carries nearby vital observations. Wi-Fi also supports local communication without internet, and a phone hotspot can provide a Wi-Fi uplink. The selected design removes Wi-Fi credentials and cloud connection handling from the ESP32 local link; it does not establish better latency, reliability, range or measured power consumption. BLE is designed for low-power point-to-point data exchange, including health monitoring. A fair empirical comparison would use the same board, workload, distance and observation duration, recording current draw, delivery ratio, update interval and recovery time. Sources: https://www.bluetooth.com/learn-about-bluetooth/topology-options/ ; https://www.bluetooth.com/bluetooth-le-primer/ ; https://docs.espressif.com/projects/esp-idf/en/latest/esp32/api-reference/bluetooth/bt_le.html ; earlier project README at D:/Academ/Projects/Major Project 2026-27/Coding Part/Smart Ambulance/README.md.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cases validate the current BLE prototype. Capture at least two updates for TC3, and a recording or timestamped logs for TC4 and TC5. A stopped app may retain the last displayed values. Reconnection is manual.</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Future tests need a defined telemetry contract and acceptance thresholds. ETA should be compared with actual arrival times on test routes. ML evaluation requires a selected dataset, labels, model and held-out split. Do not invent accuracy figures.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76F529-C7F9-3BB8-89CE-AECAFE9DD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CC2A5-3CF7-8295-C60E-1DC702A783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EB507-E0A6-5AA2-3A8F-25DAB036ABC9}"/>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62CF59E0-1829-E561-4973-AFE9A6F588F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390697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41B10-EFB7-6995-9BC1-09565D101F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F83071-BD4E-3CAA-4206-85D77FB604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F05F57-FF00-BC3A-FF32-FDDAC128A382}"/>
              </a:ext>
            </a:extLst>
          </p:cNvPr>
          <p:cNvSpPr>
            <a:spLocks noGrp="1"/>
          </p:cNvSpPr>
          <p:nvPr>
            <p:ph type="body" idx="1"/>
          </p:nvPr>
        </p:nvSpPr>
        <p:spPr/>
        <p:txBody>
          <a:bodyPr/>
          <a:lstStyle/>
          <a:p>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a:extLst>
              <a:ext uri="{FF2B5EF4-FFF2-40B4-BE49-F238E27FC236}">
                <a16:creationId xmlns:a16="http://schemas.microsoft.com/office/drawing/2014/main" id="{5A65C5BC-94FE-987A-2234-AB48C348297B}"/>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1830270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Conclusions distinguish implemented code from demonstrated hardware results. The full system remains a prototype. ML risk assessment is a project objective and requires dataset/model selection and evaluation.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 of Review 2 presentation.</a:t>
            </a:r>
          </a:p>
          <a:p>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idx="10"/>
          </p:nvPr>
        </p:nvSpPr>
        <p:spPr/>
        <p:txBody>
          <a:bodyPr/>
          <a:lstStyle/>
          <a:p>
            <a:fld id="{DCC65D64-61A9-40CD-B94D-857C621C06A3}" type="datetime1">
              <a:t>10/19/2026</a:t>
            </a:fld>
            <a:endParaRPr/>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idx="10"/>
          </p:nvPr>
        </p:nvSpPr>
        <p:spPr/>
        <p:txBody>
          <a:bodyPr/>
          <a:lstStyle/>
          <a:p>
            <a:fld id="{E250B2B8-E89D-450D-848F-CCC0D3A80066}" type="datetime1">
              <a:t>10/19/2026</a:t>
            </a:fld>
            <a:endParaRPr/>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idx="10"/>
          </p:nvPr>
        </p:nvSpPr>
        <p:spPr/>
        <p:txBody>
          <a:bodyPr/>
          <a:lstStyle/>
          <a:p>
            <a:fld id="{6E451025-BBAB-4BD1-9DF2-DE64D763EA4D}" type="datetime1">
              <a:t>10/19/2026</a:t>
            </a:fld>
            <a:endParaRPr/>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idx="10"/>
          </p:nvPr>
        </p:nvSpPr>
        <p:spPr/>
        <p:txBody>
          <a:bodyPr/>
          <a:lstStyle/>
          <a:p>
            <a:fld id="{3C7DA566-B459-4C7A-85E5-C2A7C24A1420}" type="datetime1">
              <a:t>10/19/2026</a:t>
            </a:fld>
            <a:endParaRPr/>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idx="10"/>
          </p:nvPr>
        </p:nvSpPr>
        <p:spPr/>
        <p:txBody>
          <a:bodyPr/>
          <a:lstStyle/>
          <a:p>
            <a:fld id="{15763DEA-064E-425A-A301-4B3BA0502A3F}" type="datetime1">
              <a:t>10/19/2026</a:t>
            </a:fld>
            <a:endParaRPr/>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idx="11"/>
          </p:nvPr>
        </p:nvSpPr>
        <p:spPr/>
        <p:txBody>
          <a:bodyPr/>
          <a:lstStyle/>
          <a:p>
            <a:r>
              <a:t>Dept. of ECE, NMIT, Bengaluru</a:t>
            </a:r>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idx="10"/>
          </p:nvPr>
        </p:nvSpPr>
        <p:spPr/>
        <p:txBody>
          <a:bodyPr/>
          <a:lstStyle/>
          <a:p>
            <a:fld id="{438D0107-E616-461D-9207-52B0BDAA9751}" type="datetime1">
              <a:t>10/19/2026</a:t>
            </a:fld>
            <a:endParaRPr/>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idx="11"/>
          </p:nvPr>
        </p:nvSpPr>
        <p:spPr/>
        <p:txBody>
          <a:bodyPr/>
          <a:lstStyle/>
          <a:p>
            <a:r>
              <a:t>Dept. of ECE, NMIT, Bengaluru</a:t>
            </a:r>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idx="10"/>
          </p:nvPr>
        </p:nvSpPr>
        <p:spPr/>
        <p:txBody>
          <a:bodyPr/>
          <a:lstStyle/>
          <a:p>
            <a:fld id="{050B6DF2-7F2A-4D21-830E-C34D54E5DB26}" type="datetime1">
              <a:t>10/19/2026</a:t>
            </a:fld>
            <a:endParaRPr/>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idx="11"/>
          </p:nvPr>
        </p:nvSpPr>
        <p:spPr/>
        <p:txBody>
          <a:bodyPr/>
          <a:lstStyle/>
          <a:p>
            <a:r>
              <a:t>Dept. of ECE, NMIT, Bengaluru</a:t>
            </a:r>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idx="10"/>
          </p:nvPr>
        </p:nvSpPr>
        <p:spPr/>
        <p:txBody>
          <a:bodyPr/>
          <a:lstStyle/>
          <a:p>
            <a:fld id="{7E140C3B-5552-4017-A7F7-1D3DC73ABB6C}" type="datetime1">
              <a:t>10/19/2026</a:t>
            </a:fld>
            <a:endParaRPr/>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idx="10"/>
          </p:nvPr>
        </p:nvSpPr>
        <p:spPr/>
        <p:txBody>
          <a:bodyPr/>
          <a:lstStyle/>
          <a:p>
            <a:fld id="{08762C1D-5720-48A1-898D-8041400C55BC}" type="datetime1">
              <a:t>10/19/2026</a:t>
            </a:fld>
            <a:endParaRPr/>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idx="11"/>
          </p:nvPr>
        </p:nvSpPr>
        <p:spPr/>
        <p:txBody>
          <a:bodyPr/>
          <a:lstStyle/>
          <a:p>
            <a:r>
              <a:t>Dept. of ECE, NMIT, Bengaluru</a:t>
            </a:r>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idx="10"/>
          </p:nvPr>
        </p:nvSpPr>
        <p:spPr/>
        <p:txBody>
          <a:bodyPr/>
          <a:lstStyle/>
          <a:p>
            <a:fld id="{D1C140E7-F52A-4119-97FF-78F9513B4388}" type="datetime1">
              <a:t>10/19/2026</a:t>
            </a:fld>
            <a:endParaRPr/>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idx="10"/>
          </p:nvPr>
        </p:nvSpPr>
        <p:spPr/>
        <p:txBody>
          <a:bodyPr/>
          <a:lstStyle/>
          <a:p>
            <a:fld id="{34E1CFB4-31DA-40A2-AE2B-F9FC033D0834}" type="datetime1">
              <a:t>10/19/2026</a:t>
            </a:fld>
            <a:endParaRPr/>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idx="11"/>
          </p:nvPr>
        </p:nvSpPr>
        <p:spPr/>
        <p:txBody>
          <a:bodyPr/>
          <a:lstStyle/>
          <a:p>
            <a:r>
              <a:t>Dept. of ECE, NMIT, Bengaluru</a:t>
            </a:r>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idx="12"/>
          </p:nvPr>
        </p:nvSpPr>
        <p:spPr/>
        <p:txBody>
          <a:bodyPr/>
          <a:lstStyle/>
          <a:p>
            <a:fld id="{75249B9C-BF50-4540-B2D1-32A225E7564A}"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4D745-0B20-BBAA-074F-EF62988991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2EFF7C1-57C4-8D79-46D3-BDDCA99C45F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CCF0EC-6478-6AA0-39C5-5817AD45084B}"/>
              </a:ext>
            </a:extLst>
          </p:cNvPr>
          <p:cNvSpPr>
            <a:spLocks noGrp="1"/>
          </p:cNvSpPr>
          <p:nvPr>
            <p:ph type="dt" sz="half" idx="10"/>
          </p:nvPr>
        </p:nvSpPr>
        <p:spPr/>
        <p:txBody>
          <a:bodyPr/>
          <a:lstStyle/>
          <a:p>
            <a:fld id="{DCC65D64-61A9-40CD-B94D-857C621C06A3}" type="datetime1">
              <a:rPr lang="en-IN"/>
              <a:t>19-10-2026</a:t>
            </a:fld>
            <a:endParaRPr lang="en-IN"/>
          </a:p>
        </p:txBody>
      </p:sp>
      <p:sp>
        <p:nvSpPr>
          <p:cNvPr id="5" name="Footer Placeholder 4">
            <a:extLst>
              <a:ext uri="{FF2B5EF4-FFF2-40B4-BE49-F238E27FC236}">
                <a16:creationId xmlns:a16="http://schemas.microsoft.com/office/drawing/2014/main" id="{698BCB53-894F-5921-306C-CB1B74E5C147}"/>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70334AD7-6A1F-1788-A433-EC6F920012BA}"/>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559805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E90A8-DEF0-CAF0-21F0-8DA2786EE9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7C1FC8-0708-512D-2CA8-4E94945F6E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A0AE94-1A7F-8535-63EB-8091A1D29503}"/>
              </a:ext>
            </a:extLst>
          </p:cNvPr>
          <p:cNvSpPr>
            <a:spLocks noGrp="1"/>
          </p:cNvSpPr>
          <p:nvPr>
            <p:ph type="dt" sz="half" idx="10"/>
          </p:nvPr>
        </p:nvSpPr>
        <p:spPr/>
        <p:txBody>
          <a:bodyPr/>
          <a:lstStyle/>
          <a:p>
            <a:fld id="{E250B2B8-E89D-450D-848F-CCC0D3A80066}" type="datetime1">
              <a:rPr lang="en-IN"/>
              <a:t>19-10-2026</a:t>
            </a:fld>
            <a:endParaRPr lang="en-IN"/>
          </a:p>
        </p:txBody>
      </p:sp>
      <p:sp>
        <p:nvSpPr>
          <p:cNvPr id="5" name="Footer Placeholder 4">
            <a:extLst>
              <a:ext uri="{FF2B5EF4-FFF2-40B4-BE49-F238E27FC236}">
                <a16:creationId xmlns:a16="http://schemas.microsoft.com/office/drawing/2014/main" id="{832C18AA-665C-9174-40C7-2700EFF77BF1}"/>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E2C036A-33A8-E88E-99D0-2903B7C5EA4E}"/>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2517909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8FBD5-1561-3932-E297-A14174187F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63A73B-59E7-B791-E521-B97995C4F94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F228BA-5DBB-745C-5F7F-6B4CA6E1B336}"/>
              </a:ext>
            </a:extLst>
          </p:cNvPr>
          <p:cNvSpPr>
            <a:spLocks noGrp="1"/>
          </p:cNvSpPr>
          <p:nvPr>
            <p:ph type="dt" sz="half" idx="10"/>
          </p:nvPr>
        </p:nvSpPr>
        <p:spPr/>
        <p:txBody>
          <a:bodyPr/>
          <a:lstStyle/>
          <a:p>
            <a:fld id="{6E451025-BBAB-4BD1-9DF2-DE64D763EA4D}" type="datetime1">
              <a:rPr lang="en-IN"/>
              <a:t>19-10-2026</a:t>
            </a:fld>
            <a:endParaRPr lang="en-IN"/>
          </a:p>
        </p:txBody>
      </p:sp>
      <p:sp>
        <p:nvSpPr>
          <p:cNvPr id="5" name="Footer Placeholder 4">
            <a:extLst>
              <a:ext uri="{FF2B5EF4-FFF2-40B4-BE49-F238E27FC236}">
                <a16:creationId xmlns:a16="http://schemas.microsoft.com/office/drawing/2014/main" id="{80566780-0A65-9A5C-D8B4-219B02057C89}"/>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372F2B-5703-1917-0A03-01068F1345A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9493980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012EB-C7E9-76BE-0540-9539DA88967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CFC33C-641D-27E9-8511-1DA0B2D9E4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26661FD-66D9-9C58-FC7C-869A43023E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E4514F-A4CC-1761-9CEA-1FC19B4F7B7F}"/>
              </a:ext>
            </a:extLst>
          </p:cNvPr>
          <p:cNvSpPr>
            <a:spLocks noGrp="1"/>
          </p:cNvSpPr>
          <p:nvPr>
            <p:ph type="dt" sz="half" idx="10"/>
          </p:nvPr>
        </p:nvSpPr>
        <p:spPr/>
        <p:txBody>
          <a:bodyPr/>
          <a:lstStyle/>
          <a:p>
            <a:fld id="{3C7DA566-B459-4C7A-85E5-C2A7C24A1420}" type="datetime1">
              <a:rPr lang="en-IN"/>
              <a:t>19-10-2026</a:t>
            </a:fld>
            <a:endParaRPr lang="en-IN"/>
          </a:p>
        </p:txBody>
      </p:sp>
      <p:sp>
        <p:nvSpPr>
          <p:cNvPr id="6" name="Footer Placeholder 5">
            <a:extLst>
              <a:ext uri="{FF2B5EF4-FFF2-40B4-BE49-F238E27FC236}">
                <a16:creationId xmlns:a16="http://schemas.microsoft.com/office/drawing/2014/main" id="{B1F1B018-A66A-E116-D076-220E61B8E72C}"/>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CB2419CD-4D96-32BF-7F1C-E1BF7EE6154D}"/>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2355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14BB9-4AB7-8C6A-8BFF-A3621A872B3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E21CF5D-7A32-863B-E9E6-6BA58C5B3B6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DB264E-C915-888B-18DA-22E34FCD2A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5859C3-3260-535B-BAB4-EA190AE0E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67C906-088A-950B-EF70-FA0DAFD933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5F40AF-125E-31C4-B571-B32EF373BB06}"/>
              </a:ext>
            </a:extLst>
          </p:cNvPr>
          <p:cNvSpPr>
            <a:spLocks noGrp="1"/>
          </p:cNvSpPr>
          <p:nvPr>
            <p:ph type="dt" sz="half" idx="10"/>
          </p:nvPr>
        </p:nvSpPr>
        <p:spPr/>
        <p:txBody>
          <a:bodyPr/>
          <a:lstStyle/>
          <a:p>
            <a:fld id="{15763DEA-064E-425A-A301-4B3BA0502A3F}" type="datetime1">
              <a:rPr lang="en-IN"/>
              <a:t>19-10-2026</a:t>
            </a:fld>
            <a:endParaRPr lang="en-IN"/>
          </a:p>
        </p:txBody>
      </p:sp>
      <p:sp>
        <p:nvSpPr>
          <p:cNvPr id="8" name="Footer Placeholder 7">
            <a:extLst>
              <a:ext uri="{FF2B5EF4-FFF2-40B4-BE49-F238E27FC236}">
                <a16:creationId xmlns:a16="http://schemas.microsoft.com/office/drawing/2014/main" id="{7F1D0E3D-EC0A-214F-AE51-D3A6DA70B7F5}"/>
              </a:ext>
            </a:extLst>
          </p:cNvPr>
          <p:cNvSpPr>
            <a:spLocks noGrp="1"/>
          </p:cNvSpPr>
          <p:nvPr>
            <p:ph type="ftr" sz="quarter" idx="11"/>
          </p:nvPr>
        </p:nvSpPr>
        <p:spPr/>
        <p:txBody>
          <a:bodyPr/>
          <a:lstStyle/>
          <a:p>
            <a:r>
              <a:rPr lang="en-US"/>
              <a:t>Dept. of ECE, NMIT, Bengaluru</a:t>
            </a:r>
            <a:endParaRPr lang="en-IN"/>
          </a:p>
        </p:txBody>
      </p:sp>
      <p:sp>
        <p:nvSpPr>
          <p:cNvPr id="9" name="Slide Number Placeholder 8">
            <a:extLst>
              <a:ext uri="{FF2B5EF4-FFF2-40B4-BE49-F238E27FC236}">
                <a16:creationId xmlns:a16="http://schemas.microsoft.com/office/drawing/2014/main" id="{C11E67A1-465D-9A8A-60C8-9F260A5F3124}"/>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815892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29077-248C-58C0-5973-D9AC97BC11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DA6BA2-43B1-8708-AB4E-AA8A134DE086}"/>
              </a:ext>
            </a:extLst>
          </p:cNvPr>
          <p:cNvSpPr>
            <a:spLocks noGrp="1"/>
          </p:cNvSpPr>
          <p:nvPr>
            <p:ph type="dt" sz="half" idx="10"/>
          </p:nvPr>
        </p:nvSpPr>
        <p:spPr/>
        <p:txBody>
          <a:bodyPr/>
          <a:lstStyle/>
          <a:p>
            <a:fld id="{438D0107-E616-461D-9207-52B0BDAA9751}" type="datetime1">
              <a:rPr lang="en-IN"/>
              <a:t>19-10-2026</a:t>
            </a:fld>
            <a:endParaRPr lang="en-IN"/>
          </a:p>
        </p:txBody>
      </p:sp>
      <p:sp>
        <p:nvSpPr>
          <p:cNvPr id="4" name="Footer Placeholder 3">
            <a:extLst>
              <a:ext uri="{FF2B5EF4-FFF2-40B4-BE49-F238E27FC236}">
                <a16:creationId xmlns:a16="http://schemas.microsoft.com/office/drawing/2014/main" id="{69113DAA-528F-ACAE-BCFF-72E4C3714E9F}"/>
              </a:ext>
            </a:extLst>
          </p:cNvPr>
          <p:cNvSpPr>
            <a:spLocks noGrp="1"/>
          </p:cNvSpPr>
          <p:nvPr>
            <p:ph type="ftr" sz="quarter" idx="11"/>
          </p:nvPr>
        </p:nvSpPr>
        <p:spPr/>
        <p:txBody>
          <a:bodyPr/>
          <a:lstStyle/>
          <a:p>
            <a:r>
              <a:rPr lang="en-US"/>
              <a:t>Dept. of ECE, NMIT, Bengaluru</a:t>
            </a:r>
            <a:endParaRPr lang="en-IN"/>
          </a:p>
        </p:txBody>
      </p:sp>
      <p:sp>
        <p:nvSpPr>
          <p:cNvPr id="5" name="Slide Number Placeholder 4">
            <a:extLst>
              <a:ext uri="{FF2B5EF4-FFF2-40B4-BE49-F238E27FC236}">
                <a16:creationId xmlns:a16="http://schemas.microsoft.com/office/drawing/2014/main" id="{96EE596D-B02B-5ECD-DEA8-8B5F226A5680}"/>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5627191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A7191E-B112-54E5-E29A-F71A7DF454CB}"/>
              </a:ext>
            </a:extLst>
          </p:cNvPr>
          <p:cNvSpPr>
            <a:spLocks noGrp="1"/>
          </p:cNvSpPr>
          <p:nvPr>
            <p:ph type="dt" sz="half" idx="10"/>
          </p:nvPr>
        </p:nvSpPr>
        <p:spPr/>
        <p:txBody>
          <a:bodyPr/>
          <a:lstStyle/>
          <a:p>
            <a:fld id="{050B6DF2-7F2A-4D21-830E-C34D54E5DB26}" type="datetime1">
              <a:rPr lang="en-IN"/>
              <a:t>19-10-2026</a:t>
            </a:fld>
            <a:endParaRPr lang="en-IN"/>
          </a:p>
        </p:txBody>
      </p:sp>
      <p:sp>
        <p:nvSpPr>
          <p:cNvPr id="3" name="Footer Placeholder 2">
            <a:extLst>
              <a:ext uri="{FF2B5EF4-FFF2-40B4-BE49-F238E27FC236}">
                <a16:creationId xmlns:a16="http://schemas.microsoft.com/office/drawing/2014/main" id="{D33BDEFE-732E-C016-6AB1-9E18E867B587}"/>
              </a:ext>
            </a:extLst>
          </p:cNvPr>
          <p:cNvSpPr>
            <a:spLocks noGrp="1"/>
          </p:cNvSpPr>
          <p:nvPr>
            <p:ph type="ftr" sz="quarter" idx="11"/>
          </p:nvPr>
        </p:nvSpPr>
        <p:spPr/>
        <p:txBody>
          <a:bodyPr/>
          <a:lstStyle/>
          <a:p>
            <a:r>
              <a:rPr lang="en-US"/>
              <a:t>Dept. of ECE, NMIT, Bengaluru</a:t>
            </a:r>
            <a:endParaRPr lang="en-IN"/>
          </a:p>
        </p:txBody>
      </p:sp>
      <p:sp>
        <p:nvSpPr>
          <p:cNvPr id="4" name="Slide Number Placeholder 3">
            <a:extLst>
              <a:ext uri="{FF2B5EF4-FFF2-40B4-BE49-F238E27FC236}">
                <a16:creationId xmlns:a16="http://schemas.microsoft.com/office/drawing/2014/main" id="{417B749E-E48B-CAF5-E430-6FE27ED57E7F}"/>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2932482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B7CA-0679-E8C0-23AD-92B1DFE0E6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9A98F6F-E9AC-DC82-132D-29B0BBC4F4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60FA807-3DD8-13E7-498A-153246EE0A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0A236-2402-8ACA-6847-F03201A03C88}"/>
              </a:ext>
            </a:extLst>
          </p:cNvPr>
          <p:cNvSpPr>
            <a:spLocks noGrp="1"/>
          </p:cNvSpPr>
          <p:nvPr>
            <p:ph type="dt" sz="half" idx="10"/>
          </p:nvPr>
        </p:nvSpPr>
        <p:spPr/>
        <p:txBody>
          <a:bodyPr/>
          <a:lstStyle/>
          <a:p>
            <a:fld id="{7E140C3B-5552-4017-A7F7-1D3DC73ABB6C}" type="datetime1">
              <a:rPr lang="en-IN"/>
              <a:t>19-10-2026</a:t>
            </a:fld>
            <a:endParaRPr lang="en-IN"/>
          </a:p>
        </p:txBody>
      </p:sp>
      <p:sp>
        <p:nvSpPr>
          <p:cNvPr id="6" name="Footer Placeholder 5">
            <a:extLst>
              <a:ext uri="{FF2B5EF4-FFF2-40B4-BE49-F238E27FC236}">
                <a16:creationId xmlns:a16="http://schemas.microsoft.com/office/drawing/2014/main" id="{9FA06F1D-F4E2-655D-0ECB-0762E4A519FB}"/>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9D059C62-9D81-A148-F3A8-E735B1A707C3}"/>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41993549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A4FF6-EEF0-8B97-696A-746280ACA5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097AEC-9604-18F5-B68A-9DDAC80CB6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F86077-F677-6962-4FED-10D159B67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114E18-CA26-8F9E-AC5A-76906484DCB9}"/>
              </a:ext>
            </a:extLst>
          </p:cNvPr>
          <p:cNvSpPr>
            <a:spLocks noGrp="1"/>
          </p:cNvSpPr>
          <p:nvPr>
            <p:ph type="dt" sz="half" idx="10"/>
          </p:nvPr>
        </p:nvSpPr>
        <p:spPr/>
        <p:txBody>
          <a:bodyPr/>
          <a:lstStyle/>
          <a:p>
            <a:fld id="{08762C1D-5720-48A1-898D-8041400C55BC}" type="datetime1">
              <a:rPr lang="en-IN"/>
              <a:t>19-10-2026</a:t>
            </a:fld>
            <a:endParaRPr lang="en-IN"/>
          </a:p>
        </p:txBody>
      </p:sp>
      <p:sp>
        <p:nvSpPr>
          <p:cNvPr id="6" name="Footer Placeholder 5">
            <a:extLst>
              <a:ext uri="{FF2B5EF4-FFF2-40B4-BE49-F238E27FC236}">
                <a16:creationId xmlns:a16="http://schemas.microsoft.com/office/drawing/2014/main" id="{7AA36461-552C-E633-1CF0-DB8BC7B43996}"/>
              </a:ext>
            </a:extLst>
          </p:cNvPr>
          <p:cNvSpPr>
            <a:spLocks noGrp="1"/>
          </p:cNvSpPr>
          <p:nvPr>
            <p:ph type="ftr" sz="quarter" idx="11"/>
          </p:nvPr>
        </p:nvSpPr>
        <p:spPr/>
        <p:txBody>
          <a:bodyPr/>
          <a:lstStyle/>
          <a:p>
            <a:r>
              <a:rPr lang="en-US"/>
              <a:t>Dept. of ECE, NMIT, Bengaluru</a:t>
            </a:r>
            <a:endParaRPr lang="en-IN"/>
          </a:p>
        </p:txBody>
      </p:sp>
      <p:sp>
        <p:nvSpPr>
          <p:cNvPr id="7" name="Slide Number Placeholder 6">
            <a:extLst>
              <a:ext uri="{FF2B5EF4-FFF2-40B4-BE49-F238E27FC236}">
                <a16:creationId xmlns:a16="http://schemas.microsoft.com/office/drawing/2014/main" id="{4365D169-0627-C229-C26B-84AA64B38361}"/>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17050290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5CB26-31EA-5AE3-3E63-6F2EFEC5C15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6815B1A-9C33-E8AE-6618-E625DB8E7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88B927-04A1-6ACB-7D83-CF9A45497181}"/>
              </a:ext>
            </a:extLst>
          </p:cNvPr>
          <p:cNvSpPr>
            <a:spLocks noGrp="1"/>
          </p:cNvSpPr>
          <p:nvPr>
            <p:ph type="dt" sz="half" idx="10"/>
          </p:nvPr>
        </p:nvSpPr>
        <p:spPr/>
        <p:txBody>
          <a:bodyPr/>
          <a:lstStyle/>
          <a:p>
            <a:fld id="{D1C140E7-F52A-4119-97FF-78F9513B4388}" type="datetime1">
              <a:rPr lang="en-IN"/>
              <a:t>19-10-2026</a:t>
            </a:fld>
            <a:endParaRPr lang="en-IN"/>
          </a:p>
        </p:txBody>
      </p:sp>
      <p:sp>
        <p:nvSpPr>
          <p:cNvPr id="5" name="Footer Placeholder 4">
            <a:extLst>
              <a:ext uri="{FF2B5EF4-FFF2-40B4-BE49-F238E27FC236}">
                <a16:creationId xmlns:a16="http://schemas.microsoft.com/office/drawing/2014/main" id="{E7E9898D-9F32-B8B8-1CB9-8DAEBCCF6BC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C3F0E129-A7D7-908A-2DB9-C14597E8F088}"/>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1575373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2730AC-48F0-F0FE-FE21-835054F728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894533-AC0F-B196-504E-399428B586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2A9436-E8A2-F71D-A637-B20EA1490A07}"/>
              </a:ext>
            </a:extLst>
          </p:cNvPr>
          <p:cNvSpPr>
            <a:spLocks noGrp="1"/>
          </p:cNvSpPr>
          <p:nvPr>
            <p:ph type="dt" sz="half" idx="10"/>
          </p:nvPr>
        </p:nvSpPr>
        <p:spPr/>
        <p:txBody>
          <a:bodyPr/>
          <a:lstStyle/>
          <a:p>
            <a:fld id="{34E1CFB4-31DA-40A2-AE2B-F9FC033D0834}" type="datetime1">
              <a:rPr lang="en-IN"/>
              <a:t>19-10-2026</a:t>
            </a:fld>
            <a:endParaRPr lang="en-IN"/>
          </a:p>
        </p:txBody>
      </p:sp>
      <p:sp>
        <p:nvSpPr>
          <p:cNvPr id="5" name="Footer Placeholder 4">
            <a:extLst>
              <a:ext uri="{FF2B5EF4-FFF2-40B4-BE49-F238E27FC236}">
                <a16:creationId xmlns:a16="http://schemas.microsoft.com/office/drawing/2014/main" id="{3A1BF561-DBF4-21B8-CB10-BC790D209410}"/>
              </a:ext>
            </a:extLst>
          </p:cNvPr>
          <p:cNvSpPr>
            <a:spLocks noGrp="1"/>
          </p:cNvSpPr>
          <p:nvPr>
            <p:ph type="ftr" sz="quarter" idx="11"/>
          </p:nvPr>
        </p:nvSpPr>
        <p:spPr/>
        <p:txBody>
          <a:bodyPr/>
          <a:lstStyle/>
          <a:p>
            <a:r>
              <a:rPr lang="en-US"/>
              <a:t>Dept. of ECE, NMIT, Bengaluru</a:t>
            </a:r>
            <a:endParaRPr lang="en-IN"/>
          </a:p>
        </p:txBody>
      </p:sp>
      <p:sp>
        <p:nvSpPr>
          <p:cNvPr id="6" name="Slide Number Placeholder 5">
            <a:extLst>
              <a:ext uri="{FF2B5EF4-FFF2-40B4-BE49-F238E27FC236}">
                <a16:creationId xmlns:a16="http://schemas.microsoft.com/office/drawing/2014/main" id="{F2FADF1E-7BDA-43E8-BEF6-6F3FA39F5E6B}"/>
              </a:ext>
            </a:extLst>
          </p:cNvPr>
          <p:cNvSpPr>
            <a:spLocks noGrp="1"/>
          </p:cNvSpPr>
          <p:nvPr>
            <p:ph type="sldNum" sz="quarter" idx="12"/>
          </p:nvPr>
        </p:nvSpPr>
        <p:spPr/>
        <p:txBody>
          <a:bodyPr/>
          <a:lstStyle/>
          <a:p>
            <a:fld id="{75249B9C-BF50-4540-B2D1-32A225E7564A}" type="slidenum">
              <a:rPr lang="en-IN"/>
              <a:t>‹#›</a:t>
            </a:fld>
            <a:endParaRPr lang="en-IN"/>
          </a:p>
        </p:txBody>
      </p:sp>
    </p:spTree>
    <p:extLst>
      <p:ext uri="{BB962C8B-B14F-4D97-AF65-F5344CB8AC3E}">
        <p14:creationId xmlns:p14="http://schemas.microsoft.com/office/powerpoint/2010/main" val="3034207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B3E8678F-226F-4E2D-9FCF-8D6254E13B72}" type="datetime1">
              <a:t>10/19/2026</a:t>
            </a:fld>
            <a:endParaRPr/>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Dept. of ECE, NMIT, Bengaluru</a:t>
            </a:r>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D4D9F3-48CF-9F1F-5BF9-D29B73C5EE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5C8141-6A62-88D2-9C9C-A178134DF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6B990C-8F8B-41B6-BFA9-D2812EADA71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E8678F-226F-4E2D-9FCF-8D6254E13B72}" type="datetime1">
              <a:rPr lang="en-IN"/>
              <a:t>19-10-2026</a:t>
            </a:fld>
            <a:endParaRPr lang="en-IN"/>
          </a:p>
        </p:txBody>
      </p:sp>
      <p:sp>
        <p:nvSpPr>
          <p:cNvPr id="5" name="Footer Placeholder 4">
            <a:extLst>
              <a:ext uri="{FF2B5EF4-FFF2-40B4-BE49-F238E27FC236}">
                <a16:creationId xmlns:a16="http://schemas.microsoft.com/office/drawing/2014/main" id="{451F15A3-C5A8-D8EF-2CC0-B9FB4E8C36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Dept. of ECE, NMIT, Bengaluru</a:t>
            </a:r>
            <a:endParaRPr lang="en-IN"/>
          </a:p>
        </p:txBody>
      </p:sp>
      <p:sp>
        <p:nvSpPr>
          <p:cNvPr id="6" name="Slide Number Placeholder 5">
            <a:extLst>
              <a:ext uri="{FF2B5EF4-FFF2-40B4-BE49-F238E27FC236}">
                <a16:creationId xmlns:a16="http://schemas.microsoft.com/office/drawing/2014/main" id="{D3726CD6-7954-5145-9A9B-B583B27B2B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249B9C-BF50-4540-B2D1-32A225E7564A}" type="slidenum">
              <a:rPr lang="en-IN"/>
              <a:t>‹#›</a:t>
            </a:fld>
            <a:endParaRPr lang="en-IN"/>
          </a:p>
        </p:txBody>
      </p:sp>
    </p:spTree>
    <p:extLst>
      <p:ext uri="{BB962C8B-B14F-4D97-AF65-F5344CB8AC3E}">
        <p14:creationId xmlns:p14="http://schemas.microsoft.com/office/powerpoint/2010/main" val="496431597"/>
      </p:ext>
    </p:extLst>
  </p:cSld>
  <p:clrMap bg1="lt1" tx1="dk1" bg2="lt2" tx2="dk2" accent1="accent1" accent2="accent2" accent3="accent3" accent4="accent4" accent5="accent5" accent6="accent6" hlink="hlink" folHlink="folHlink"/>
  <p:sldLayoutIdLst>
    <p:sldLayoutId id="3000000000" r:id="rId1"/>
    <p:sldLayoutId id="3000000001" r:id="rId2"/>
    <p:sldLayoutId id="3000000002" r:id="rId3"/>
    <p:sldLayoutId id="3000000003" r:id="rId4"/>
    <p:sldLayoutId id="3000000004" r:id="rId5"/>
    <p:sldLayoutId id="3000000005" r:id="rId6"/>
    <p:sldLayoutId id="3000000006" r:id="rId7"/>
    <p:sldLayoutId id="3000000007" r:id="rId8"/>
    <p:sldLayoutId id="3000000008" r:id="rId9"/>
    <p:sldLayoutId id="3000000009" r:id="rId10"/>
    <p:sldLayoutId id="3000000010"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1074655"/>
          </a:xfrm>
          <a:solidFill>
            <a:srgbClr val="002060"/>
          </a:solidFill>
        </p:spPr>
        <p:txBody>
          <a:bodyPr>
            <a:normAutofit fontScale="90000"/>
          </a:bodyPr>
          <a:lstStyle/>
          <a:p>
            <a:pPr algn="ctr">
              <a:lnSpc>
                <a:spcPct val="115000"/>
              </a:lnSpc>
              <a:spcAft>
                <a:spcPts val="1000"/>
              </a:spcAft>
            </a:pP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Project Work Phase-2       </a:t>
            </a:r>
            <a:b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br>
            <a:r>
              <a:rPr lang="en-US" sz="4000" b="1" dirty="0">
                <a:solidFill>
                  <a:schemeClr val="bg1"/>
                </a:solidFill>
                <a:effectLst/>
                <a:latin typeface="Times New Roman" panose="02020603050405020304" pitchFamily="18" charset="0"/>
                <a:ea typeface="Calibri" panose="020F0502020204030204" pitchFamily="34" charset="0"/>
                <a:cs typeface="Gautami" panose="020B0502040204020203" pitchFamily="34" charset="0"/>
              </a:rPr>
              <a:t>7th semester  AY: 2026-27</a:t>
            </a:r>
            <a:endParaRPr lang="en-IN" sz="4000" dirty="0">
              <a:solidFill>
                <a:schemeClr val="bg1"/>
              </a:solidFill>
              <a:effectLst/>
              <a:latin typeface="Calibri" panose="020F0502020204030204" pitchFamily="34" charset="0"/>
              <a:ea typeface="Calibri" panose="020F0502020204030204" pitchFamily="34" charset="0"/>
              <a:cs typeface="Gautami" panose="020B0502040204020203" pitchFamily="34"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382565"/>
            <a:ext cx="12191999" cy="4980528"/>
          </a:xfrm>
        </p:spPr>
        <p:txBody>
          <a:bodyPr>
            <a:normAutofit fontScale="92500" lnSpcReduction="10000"/>
          </a:bodyPr>
          <a:lstStyle/>
          <a:p>
            <a:pPr marL="0" indent="0" algn="ctr">
              <a:buNone/>
            </a:pPr>
            <a:r>
              <a:rPr lang="en-US" sz="3600" b="1" dirty="0">
                <a:solidFill>
                  <a:srgbClr val="FF0000"/>
                </a:solidFill>
                <a:latin typeface="Times New Roman" panose="02020603050405020304" pitchFamily="18" charset="0"/>
                <a:cs typeface="Times New Roman" panose="02020603050405020304" pitchFamily="18" charset="0"/>
              </a:rPr>
              <a:t>Review 2 Presentation </a:t>
            </a:r>
          </a:p>
          <a:p>
            <a:pPr marL="0" indent="0">
              <a:buNone/>
            </a:pPr>
            <a:r>
              <a:rPr lang="en-US" sz="3300" b="1" dirty="0">
                <a:solidFill>
                  <a:srgbClr val="0070C0"/>
                </a:solidFill>
                <a:latin typeface="Times New Roman" panose="02020603050405020304" pitchFamily="18" charset="0"/>
                <a:cs typeface="Times New Roman" panose="02020603050405020304" pitchFamily="18" charset="0"/>
              </a:rPr>
              <a:t>Project Title: Enhancing Emergency Response Through IoT-Integrated 		     Smart Ambulance and GPS Monitoring</a:t>
            </a:r>
          </a:p>
          <a:p>
            <a:pPr marL="0" indent="0" algn="ctr">
              <a:buNone/>
            </a:pPr>
            <a:endParaRPr lang="en-US" b="1" dirty="0">
              <a:latin typeface="Times New Roman" panose="02020603050405020304" pitchFamily="18" charset="0"/>
              <a:cs typeface="Times New Roman" panose="02020603050405020304" pitchFamily="18" charset="0"/>
            </a:endParaRPr>
          </a:p>
          <a:p>
            <a:pPr marL="0" indent="0" algn="ctr">
              <a:buNone/>
            </a:pPr>
            <a:r>
              <a:rPr lang="en-US" sz="2400" b="1" dirty="0">
                <a:latin typeface="Times New Roman" panose="02020603050405020304" pitchFamily="18" charset="0"/>
                <a:cs typeface="Times New Roman" panose="02020603050405020304" pitchFamily="18" charset="0"/>
              </a:rPr>
              <a:t>Presented By</a:t>
            </a:r>
          </a:p>
          <a:p>
            <a:pPr marL="0" indent="0" algn="ctr">
              <a:buNone/>
            </a:pPr>
            <a:r>
              <a:rPr lang="en-US" sz="2100" dirty="0">
                <a:latin typeface="Times New Roman" panose="02020603050405020304" pitchFamily="18" charset="0"/>
                <a:cs typeface="Times New Roman" panose="02020603050405020304" pitchFamily="18" charset="0"/>
              </a:rPr>
              <a:t>Rahul S (1NT23EC120)</a:t>
            </a:r>
          </a:p>
          <a:p>
            <a:pPr marL="0" indent="0" algn="ctr">
              <a:buNone/>
            </a:pPr>
            <a:r>
              <a:rPr lang="en-US" sz="2100" dirty="0">
                <a:latin typeface="Times New Roman" panose="02020603050405020304" pitchFamily="18" charset="0"/>
                <a:cs typeface="Times New Roman" panose="02020603050405020304" pitchFamily="18" charset="0"/>
              </a:rPr>
              <a:t>Rakshita S Wagge (1NT23EC124)</a:t>
            </a:r>
          </a:p>
          <a:p>
            <a:pPr marL="0" indent="0" algn="ctr">
              <a:buNone/>
            </a:pPr>
            <a:r>
              <a:rPr lang="en-US" sz="2400" b="1" dirty="0">
                <a:latin typeface="Times New Roman" panose="02020603050405020304" pitchFamily="18" charset="0"/>
                <a:cs typeface="Times New Roman" panose="02020603050405020304" pitchFamily="18" charset="0"/>
              </a:rPr>
              <a:t>            </a:t>
            </a:r>
          </a:p>
          <a:p>
            <a:pPr marL="0" indent="0" algn="ctr">
              <a:buNone/>
            </a:pPr>
            <a:r>
              <a:rPr lang="en-US" sz="2400" b="1" dirty="0">
                <a:latin typeface="Times New Roman" panose="02020603050405020304" pitchFamily="18" charset="0"/>
                <a:cs typeface="Times New Roman" panose="02020603050405020304" pitchFamily="18" charset="0"/>
              </a:rPr>
              <a:t>               Project Supervisor 	</a:t>
            </a:r>
          </a:p>
          <a:p>
            <a:pPr marL="0" indent="0" algn="ctr">
              <a:buNone/>
            </a:pPr>
            <a:r>
              <a:rPr lang="en-US" sz="1600" dirty="0">
                <a:latin typeface="Times New Roman" panose="02020603050405020304" pitchFamily="18" charset="0"/>
                <a:cs typeface="Times New Roman" panose="02020603050405020304" pitchFamily="18" charset="0"/>
              </a:rPr>
              <a:t>            Dr. Manjula B M</a:t>
            </a:r>
          </a:p>
          <a:p>
            <a:pPr marL="0" indent="0" algn="ctr">
              <a:buNone/>
            </a:pPr>
            <a:r>
              <a:rPr lang="en-US" sz="1600" dirty="0">
                <a:latin typeface="Times New Roman" panose="02020603050405020304" pitchFamily="18" charset="0"/>
                <a:cs typeface="Times New Roman" panose="02020603050405020304" pitchFamily="18" charset="0"/>
              </a:rPr>
              <a:t>              Professor</a:t>
            </a:r>
          </a:p>
          <a:p>
            <a:pPr marL="0" indent="0" algn="ctr">
              <a:buNone/>
            </a:pPr>
            <a:r>
              <a:rPr lang="en-US" sz="1600" dirty="0">
                <a:latin typeface="Times New Roman" panose="02020603050405020304" pitchFamily="18" charset="0"/>
                <a:cs typeface="Times New Roman" panose="02020603050405020304" pitchFamily="18" charset="0"/>
              </a:rPr>
              <a:t>Dept. of Electronics and Communication Engineering</a:t>
            </a:r>
          </a:p>
          <a:p>
            <a:pPr marL="0" indent="0" algn="ctr">
              <a:buNone/>
            </a:pPr>
            <a:r>
              <a:rPr lang="en-US" sz="1600" dirty="0">
                <a:latin typeface="Times New Roman" panose="02020603050405020304" pitchFamily="18" charset="0"/>
                <a:cs typeface="Times New Roman" panose="02020603050405020304" pitchFamily="18" charset="0"/>
              </a:rPr>
              <a:t>         Nitte Meenakshi Institute of Technology, Yelahanka, Bangalore-560064</a:t>
            </a:r>
          </a:p>
          <a:p>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1                     </a:t>
            </a:r>
            <a:endParaRPr lang="en-IN" b="1" dirty="0">
              <a:solidFill>
                <a:schemeClr val="bg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E8516B0-35CE-4CCF-9551-DDE8B782C558}"/>
              </a:ext>
            </a:extLst>
          </p:cNvPr>
          <p:cNvPicPr>
            <a:picLocks noChangeAspect="1"/>
          </p:cNvPicPr>
          <p:nvPr/>
        </p:nvPicPr>
        <p:blipFill>
          <a:blip r:embed="rId3"/>
          <a:stretch>
            <a:fillRect/>
          </a:stretch>
        </p:blipFill>
        <p:spPr>
          <a:xfrm>
            <a:off x="0" y="155183"/>
            <a:ext cx="3443603" cy="770103"/>
          </a:xfrm>
          <a:prstGeom prst="rect">
            <a:avLst/>
          </a:prstGeom>
        </p:spPr>
      </p:pic>
    </p:spTree>
    <p:extLst>
      <p:ext uri="{BB962C8B-B14F-4D97-AF65-F5344CB8AC3E}">
        <p14:creationId xmlns:p14="http://schemas.microsoft.com/office/powerpoint/2010/main" val="4097255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66293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Project Objectives</a:t>
            </a:r>
            <a:endParaRPr lang="en-IN" sz="4800" b="1" dirty="0">
              <a:solidFill>
                <a:schemeClr val="bg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B6D72A9-5B77-2FAD-A296-659695D34C01}"/>
              </a:ext>
            </a:extLst>
          </p:cNvPr>
          <p:cNvSpPr>
            <a:spLocks noGrp="1"/>
          </p:cNvSpPr>
          <p:nvPr>
            <p:ph idx="1"/>
          </p:nvPr>
        </p:nvSpPr>
        <p:spPr>
          <a:xfrm>
            <a:off x="1" y="1087643"/>
            <a:ext cx="12191999" cy="4980528"/>
          </a:xfrm>
        </p:spPr>
        <p:txBody>
          <a:bodyPr>
            <a:normAutofit/>
          </a:bodyPr>
          <a:lstStyle/>
          <a:p>
            <a:pPr marL="457200" indent="-457200">
              <a:buAutoNum type="arabicPeriod"/>
            </a:pPr>
            <a:r>
              <a:rPr lang="en-US" sz="2000" dirty="0">
                <a:latin typeface="Times New Roman" panose="02020603050405020304" pitchFamily="18" charset="0"/>
                <a:cs typeface="Times New Roman" panose="02020603050405020304" pitchFamily="18" charset="0"/>
              </a:rPr>
              <a:t>To develop a BLE-based mobile communication backbone for transmitting real-time patient vitals to a mobile application, which securely forwards data to the cloud using MQTT over TLS, with CoAP as a backup.</a:t>
            </a:r>
          </a:p>
          <a:p>
            <a:pPr marL="457200" indent="-457200">
              <a:buAutoNum type="arabicPeriod"/>
            </a:pPr>
            <a:r>
              <a:rPr lang="en-IN" sz="2000" dirty="0">
                <a:latin typeface="Times New Roman" panose="02020603050405020304" pitchFamily="18" charset="0"/>
                <a:cs typeface="Times New Roman" panose="02020603050405020304" pitchFamily="18" charset="0"/>
              </a:rPr>
              <a:t>To integrate GPS-based ambulance tracking with OSRM routing to estimate travel distance and arrival time at the selected hospital.</a:t>
            </a:r>
          </a:p>
          <a:p>
            <a:pPr marL="457200" indent="-457200">
              <a:buAutoNum type="arabicPeriod"/>
            </a:pPr>
            <a:r>
              <a:rPr lang="en-US" sz="2000" dirty="0">
                <a:latin typeface="Times New Roman" panose="02020603050405020304" pitchFamily="18" charset="0"/>
                <a:cs typeface="Times New Roman" panose="02020603050405020304" pitchFamily="18" charset="0"/>
              </a:rPr>
              <a:t>To integrate the existing patient health monitoring system with the mobile communication backbone for continuous vital acquisition, transmission, and remote monitoring during ambulance transit.</a:t>
            </a:r>
          </a:p>
          <a:p>
            <a:pPr marL="457200" indent="-457200">
              <a:buAutoNum type="arabicPeriod"/>
            </a:pPr>
            <a:r>
              <a:rPr lang="en-US" sz="2000" dirty="0">
                <a:latin typeface="Times New Roman" panose="02020603050405020304" pitchFamily="18" charset="0"/>
                <a:cs typeface="Times New Roman" panose="02020603050405020304" pitchFamily="18" charset="0"/>
              </a:rPr>
              <a:t>To implement RTOS-based concurrent task management for sensor acquisition, vital processing, communication, and local display, ensuring responsive and reliable operation.</a:t>
            </a:r>
          </a:p>
          <a:p>
            <a:pPr marL="457200" indent="-457200">
              <a:buAutoNum type="arabicPeriod"/>
            </a:pPr>
            <a:r>
              <a:rPr lang="en-US" sz="2000" dirty="0">
                <a:latin typeface="Times New Roman" panose="02020603050405020304" pitchFamily="18" charset="0"/>
                <a:cs typeface="Times New Roman" panose="02020603050405020304" pitchFamily="18" charset="0"/>
              </a:rPr>
              <a:t>To develop an ML-based patient risk prediction module that analyses real-time vitals, identifies potential deterioration, and classifies patient risk levels for early clinical assessment.</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34287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20089"/>
          </a:xfrm>
          <a:solidFill>
            <a:srgbClr val="002060"/>
          </a:solidFill>
        </p:spPr>
        <p:txBody>
          <a:bodyPr>
            <a:normAutofit fontScale="90000"/>
          </a:bodyPr>
          <a:lstStyle/>
          <a:p>
            <a:pPr algn="ctr"/>
            <a:r>
              <a:rPr lang="en-US" sz="4800" b="1" dirty="0">
                <a:solidFill>
                  <a:schemeClr val="bg1"/>
                </a:solidFill>
                <a:latin typeface="Times New Roman" panose="02020603050405020304" pitchFamily="18" charset="0"/>
                <a:cs typeface="Times New Roman" panose="02020603050405020304" pitchFamily="18" charset="0"/>
              </a:rPr>
              <a:t>Architecture</a:t>
            </a:r>
          </a:p>
        </p:txBody>
      </p:sp>
      <p:pic>
        <p:nvPicPr>
          <p:cNvPr id="6" name="Content Placeholder 5">
            <a:extLst>
              <a:ext uri="{FF2B5EF4-FFF2-40B4-BE49-F238E27FC236}">
                <a16:creationId xmlns:a16="http://schemas.microsoft.com/office/drawing/2014/main" id="{B5C16895-2E20-D22E-D3B7-58A798CEE4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661" y="717979"/>
            <a:ext cx="7702677" cy="5777008"/>
          </a:xfrm>
          <a:prstGeom prst="rect">
            <a:avLst/>
          </a:prstGeom>
        </p:spPr>
      </p:pic>
      <p:sp>
        <p:nvSpPr>
          <p:cNvPr id="4" name="Footer Placeholder 3">
            <a:extLst>
              <a:ext uri="{FF2B5EF4-FFF2-40B4-BE49-F238E27FC236}">
                <a16:creationId xmlns:a16="http://schemas.microsoft.com/office/drawing/2014/main" id="{3D9C6012-FCED-4937-A4AB-8CEEC135A13C}"/>
              </a:ext>
            </a:extLst>
          </p:cNvPr>
          <p:cNvSpPr>
            <a:spLocks noGrp="1"/>
          </p:cNvSpPr>
          <p:nvPr>
            <p:ph type="ftr" sz="quarter" idx="11"/>
          </p:nvPr>
        </p:nvSpPr>
        <p:spPr>
          <a:xfrm>
            <a:off x="2" y="6492875"/>
            <a:ext cx="12191998" cy="365125"/>
          </a:xfrm>
          <a:solidFill>
            <a:srgbClr val="002060"/>
          </a:solidFill>
        </p:spPr>
        <p:txBody>
          <a:bodyPr/>
          <a:lstStyle/>
          <a:p>
            <a:pPr algn="l"/>
            <a:r>
              <a:rPr lang="en-US" b="1" dirty="0">
                <a:solidFill>
                  <a:schemeClr val="bg1"/>
                </a:solidFill>
                <a:latin typeface="Times New Roman" panose="02020603050405020304" pitchFamily="18" charset="0"/>
                <a:cs typeface="Times New Roman" panose="02020603050405020304" pitchFamily="18" charset="0"/>
              </a:rPr>
              <a:t>Dept. of Electronics and Communication Engineering, NMIT, Bengaluru                                                                                                                                                                                             8                     </a:t>
            </a:r>
            <a:endParaRPr lang="en-IN"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3596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543147E5-7AE6-4C6D-98A7-186F80DD2148}"/>
              </a:ext>
            </a:extLst>
          </p:cNvPr>
          <p:cNvCxnSpPr>
            <a:stCxn id="9" idx="1"/>
            <a:endCxn id="10" idx="3"/>
          </p:cNvCxnSpPr>
          <p:nvPr/>
        </p:nvCxnSpPr>
        <p:spPr>
          <a:xfrm flipH="1">
            <a:off x="3714750" y="4310063"/>
            <a:ext cx="857250"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10E4F8F-4B8D-4A3B-9DF5-1E376261B473}"/>
              </a:ext>
            </a:extLst>
          </p:cNvPr>
          <p:cNvCxnSpPr>
            <a:stCxn id="8" idx="1"/>
            <a:endCxn id="9" idx="3"/>
          </p:cNvCxnSpPr>
          <p:nvPr/>
        </p:nvCxnSpPr>
        <p:spPr>
          <a:xfrm flipH="1">
            <a:off x="7620000" y="4310063"/>
            <a:ext cx="857250"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B73E4117-5B76-4E5A-8BB5-34C221B82F7E}"/>
              </a:ext>
            </a:extLst>
          </p:cNvPr>
          <p:cNvCxnSpPr>
            <a:stCxn id="7" idx="2"/>
            <a:endCxn id="8" idx="0"/>
          </p:cNvCxnSpPr>
          <p:nvPr/>
        </p:nvCxnSpPr>
        <p:spPr>
          <a:xfrm>
            <a:off x="10001250" y="2476500"/>
            <a:ext cx="0" cy="1285875"/>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09070000-C21C-4BC7-BF91-30BCC364F0F6}"/>
              </a:ext>
            </a:extLst>
          </p:cNvPr>
          <p:cNvCxnSpPr>
            <a:stCxn id="6" idx="3"/>
            <a:endCxn id="7" idx="1"/>
          </p:cNvCxnSpPr>
          <p:nvPr/>
        </p:nvCxnSpPr>
        <p:spPr>
          <a:xfrm>
            <a:off x="7620000" y="1928813"/>
            <a:ext cx="857250" cy="0"/>
          </a:xfrm>
          <a:prstGeom prst="straightConnector1">
            <a:avLst/>
          </a:prstGeom>
          <a:ln w="19050">
            <a:solidFill>
              <a:srgbClr val="002060"/>
            </a:solidFill>
            <a:tailEnd type="arrow" w="med" len="med"/>
          </a:ln>
        </p:spPr>
      </p:cxnSp>
      <p:cxnSp>
        <p:nvCxnSpPr>
          <p:cNvPr id="11" name="Straight Arrow Connector 10">
            <a:extLst>
              <a:ext uri="{FF2B5EF4-FFF2-40B4-BE49-F238E27FC236}">
                <a16:creationId xmlns:a16="http://schemas.microsoft.com/office/drawing/2014/main" id="{004B0B8E-68C5-4015-ABFD-87E112F549F5}"/>
              </a:ext>
            </a:extLst>
          </p:cNvPr>
          <p:cNvCxnSpPr>
            <a:stCxn id="5" idx="3"/>
            <a:endCxn id="6" idx="1"/>
          </p:cNvCxnSpPr>
          <p:nvPr/>
        </p:nvCxnSpPr>
        <p:spPr>
          <a:xfrm>
            <a:off x="3714750" y="1928813"/>
            <a:ext cx="857250" cy="0"/>
          </a:xfrm>
          <a:prstGeom prst="straightConnector1">
            <a:avLst/>
          </a:prstGeom>
          <a:ln w="19050">
            <a:solidFill>
              <a:srgbClr val="002060"/>
            </a:solidFill>
            <a:tailEnd type="arrow" w="med" len="med"/>
          </a:ln>
        </p:spPr>
      </p:cxnSp>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a:ext uri="{FF2B5EF4-FFF2-40B4-BE49-F238E27FC236}">
                <a16:creationId xmlns:a16="http://schemas.microsoft.com/office/drawing/2014/main" id="{3EC534E1-DB52-4D82-BC53-5163A72AFED6}"/>
              </a:ext>
            </a:extLst>
          </p:cNvPr>
          <p:cNvSpPr>
            <a:spLocks noGrp="1"/>
          </p:cNvSpPr>
          <p:nvPr/>
        </p:nvSpPr>
        <p:spPr>
          <a:xfrm>
            <a:off x="6667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Scan for</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Smart_Ambulance</a:t>
            </a:r>
          </a:p>
        </p:txBody>
      </p:sp>
      <p:sp>
        <p:nvSpPr>
          <p:cNvPr id="6" name="Connect and&#10;encrypt link">
            <a:extLst>
              <a:ext uri="{FF2B5EF4-FFF2-40B4-BE49-F238E27FC236}">
                <a16:creationId xmlns:a16="http://schemas.microsoft.com/office/drawing/2014/main" id="{70D61D34-2748-45DF-9DE5-B2FE4FE041BA}"/>
              </a:ext>
            </a:extLst>
          </p:cNvPr>
          <p:cNvSpPr>
            <a:spLocks noGrp="1"/>
          </p:cNvSpPr>
          <p:nvPr/>
        </p:nvSpPr>
        <p:spPr>
          <a:xfrm>
            <a:off x="457200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Connect 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encrypt link</a:t>
            </a:r>
          </a:p>
        </p:txBody>
      </p:sp>
      <p:sp>
        <p:nvSpPr>
          <p:cNvPr id="7" name="Discover GHSS&#10;and subscribe">
            <a:extLst>
              <a:ext uri="{FF2B5EF4-FFF2-40B4-BE49-F238E27FC236}">
                <a16:creationId xmlns:a16="http://schemas.microsoft.com/office/drawing/2014/main" id="{752EE862-24C5-4C2C-BFD8-42C07AA96859}"/>
              </a:ext>
            </a:extLst>
          </p:cNvPr>
          <p:cNvSpPr>
            <a:spLocks noGrp="1"/>
          </p:cNvSpPr>
          <p:nvPr/>
        </p:nvSpPr>
        <p:spPr>
          <a:xfrm>
            <a:off x="8477250" y="1381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Discover GHSS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and subscribe</a:t>
            </a:r>
          </a:p>
        </p:txBody>
      </p:sp>
      <p:sp>
        <p:nvSpPr>
          <p:cNvPr id="8" name="Send Start&#10;command 0x01">
            <a:extLst>
              <a:ext uri="{FF2B5EF4-FFF2-40B4-BE49-F238E27FC236}">
                <a16:creationId xmlns:a16="http://schemas.microsoft.com/office/drawing/2014/main" id="{A90DB280-86FD-4D1C-861B-90313F97032F}"/>
              </a:ext>
            </a:extLst>
          </p:cNvPr>
          <p:cNvSpPr>
            <a:spLocks noGrp="1"/>
          </p:cNvSpPr>
          <p:nvPr/>
        </p:nvSpPr>
        <p:spPr>
          <a:xfrm>
            <a:off x="84772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Send Start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command 0x01</a:t>
            </a:r>
          </a:p>
        </p:txBody>
      </p:sp>
      <p:sp>
        <p:nvSpPr>
          <p:cNvPr id="9" name="Receive simulated&#10;vital observations">
            <a:extLst>
              <a:ext uri="{FF2B5EF4-FFF2-40B4-BE49-F238E27FC236}">
                <a16:creationId xmlns:a16="http://schemas.microsoft.com/office/drawing/2014/main" id="{772BE867-2CA6-458C-8A20-78D23F5D1951}"/>
              </a:ext>
            </a:extLst>
          </p:cNvPr>
          <p:cNvSpPr>
            <a:spLocks noGrp="1"/>
          </p:cNvSpPr>
          <p:nvPr/>
        </p:nvSpPr>
        <p:spPr>
          <a:xfrm>
            <a:off x="457200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Receive simulated</a:t>
            </a:r>
          </a:p>
          <a:p>
            <a:pPr algn="ctr">
              <a:defRPr sz="2175" b="1">
                <a:solidFill>
                  <a:srgbClr val="002060"/>
                </a:solidFill>
                <a:latin typeface="Times New Roman"/>
                <a:ea typeface="Times New Roman"/>
                <a:cs typeface="Times New Roman"/>
              </a:defRPr>
            </a:pPr>
            <a:r>
              <a:rPr sz="2175" b="1" dirty="0">
                <a:solidFill>
                  <a:srgbClr val="002060"/>
                </a:solidFill>
                <a:latin typeface="Times New Roman"/>
                <a:ea typeface="Times New Roman"/>
                <a:cs typeface="Times New Roman"/>
              </a:rPr>
              <a:t>vital observations</a:t>
            </a:r>
          </a:p>
        </p:txBody>
      </p:sp>
      <p:sp>
        <p:nvSpPr>
          <p:cNvPr id="10" name="Decode and display&#10;HR, SpO2, temperature">
            <a:extLst>
              <a:ext uri="{FF2B5EF4-FFF2-40B4-BE49-F238E27FC236}">
                <a16:creationId xmlns:a16="http://schemas.microsoft.com/office/drawing/2014/main" id="{9F2374F1-590F-4E20-A086-E040650A59C6}"/>
              </a:ext>
            </a:extLst>
          </p:cNvPr>
          <p:cNvSpPr>
            <a:spLocks noGrp="1"/>
          </p:cNvSpPr>
          <p:nvPr/>
        </p:nvSpPr>
        <p:spPr>
          <a:xfrm>
            <a:off x="666750" y="3762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6" name="After subscription, the app enables start/sto">
            <a:extLst>
              <a:ext uri="{FF2B5EF4-FFF2-40B4-BE49-F238E27FC236}">
                <a16:creationId xmlns:a16="http://schemas.microsoft.com/office/drawing/2014/main" id="{A9FF0872-432F-4647-9E3B-26FF09BA661E}"/>
              </a:ext>
            </a:extLst>
          </p:cNvPr>
          <p:cNvSpPr>
            <a:spLocks noGrp="1"/>
          </p:cNvSpPr>
          <p:nvPr/>
        </p:nvSpPr>
        <p:spPr>
          <a:xfrm>
            <a:off x="664303" y="2762250"/>
            <a:ext cx="10477500" cy="571500"/>
          </a:xfrm>
          <a:prstGeom prst="rect">
            <a:avLst/>
          </a:prstGeom>
          <a:noFill/>
          <a:ln w="0">
            <a:noFill/>
          </a:ln>
        </p:spPr>
        <p:txBody>
          <a:bodyPr lIns="76200" tIns="76200" rIns="76200" bIns="76200" anchor="ctr"/>
          <a:lstStyle>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a:pPr algn="l">
              <a:defRPr sz="232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After subscription, the app enables start/stop control</a:t>
            </a:r>
          </a:p>
        </p:txBody>
      </p:sp>
      <p:sp>
        <p:nvSpPr>
          <p:cNvPr id="17" name="Stop: 0x02     Disconnect: ESP32 resumes adve">
            <a:extLst>
              <a:ext uri="{FF2B5EF4-FFF2-40B4-BE49-F238E27FC236}">
                <a16:creationId xmlns:a16="http://schemas.microsoft.com/office/drawing/2014/main" id="{A971D6EE-DC0D-4018-A4B4-5B5E8D6E1384}"/>
              </a:ext>
            </a:extLst>
          </p:cNvPr>
          <p:cNvSpPr>
            <a:spLocks noGrp="1"/>
          </p:cNvSpPr>
          <p:nvPr/>
        </p:nvSpPr>
        <p:spPr>
          <a:xfrm>
            <a:off x="666488" y="5077698"/>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2000" b="0" dirty="0">
                <a:solidFill>
                  <a:schemeClr val="tx1"/>
                </a:solidFill>
                <a:latin typeface="Times New Roman"/>
                <a:ea typeface="Times New Roman"/>
                <a:cs typeface="Times New Roman"/>
              </a:rPr>
              <a:t>Stop: 0x02     Disconnect: ESP32 resumes advertising     Reconnect: scan and select again</a:t>
            </a:r>
          </a:p>
        </p:txBody>
      </p:sp>
      <p:sp>
        <p:nvSpPr>
          <p:cNvPr id="18" name="5">
            <a:extLst>
              <a:ext uri="{FF2B5EF4-FFF2-40B4-BE49-F238E27FC236}">
                <a16:creationId xmlns:a16="http://schemas.microsoft.com/office/drawing/2014/main" id="{3BED381B-E896-48C8-87C3-BF1D1FD6DFD2}"/>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Straight Arrow Connector 14">
            <a:extLst>
              <a:ext uri="{FF2B5EF4-FFF2-40B4-BE49-F238E27FC236}">
                <a16:creationId xmlns:a16="http://schemas.microsoft.com/office/drawing/2014/main" id="{E70DEC41-7626-496F-964D-EE6EAB9B9264}"/>
              </a:ext>
            </a:extLst>
          </p:cNvPr>
          <p:cNvCxnSpPr>
            <a:stCxn id="10" idx="1"/>
            <a:endCxn id="9" idx="3"/>
          </p:cNvCxnSpPr>
          <p:nvPr/>
        </p:nvCxnSpPr>
        <p:spPr>
          <a:xfrm flipH="1">
            <a:off x="3571875" y="4976813"/>
            <a:ext cx="1000125" cy="0"/>
          </a:xfrm>
          <a:prstGeom prst="straightConnector1">
            <a:avLst/>
          </a:prstGeom>
          <a:ln w="19050">
            <a:solidFill>
              <a:srgbClr val="002060"/>
            </a:solidFill>
            <a:tailEnd type="arrow" w="med" len="med"/>
          </a:ln>
        </p:spPr>
      </p:cxnSp>
      <p:cxnSp>
        <p:nvCxnSpPr>
          <p:cNvPr id="14" name="Straight Arrow Connector 13">
            <a:extLst>
              <a:ext uri="{FF2B5EF4-FFF2-40B4-BE49-F238E27FC236}">
                <a16:creationId xmlns:a16="http://schemas.microsoft.com/office/drawing/2014/main" id="{506C3621-069C-47DF-99B5-4BCA1E4BA575}"/>
              </a:ext>
            </a:extLst>
          </p:cNvPr>
          <p:cNvCxnSpPr>
            <a:stCxn id="11" idx="1"/>
            <a:endCxn id="10" idx="3"/>
          </p:cNvCxnSpPr>
          <p:nvPr/>
        </p:nvCxnSpPr>
        <p:spPr>
          <a:xfrm flipH="1">
            <a:off x="7620000" y="4976813"/>
            <a:ext cx="1000125" cy="0"/>
          </a:xfrm>
          <a:prstGeom prst="straightConnector1">
            <a:avLst/>
          </a:prstGeom>
          <a:ln w="19050">
            <a:solidFill>
              <a:srgbClr val="002060"/>
            </a:solidFill>
            <a:tailEnd type="arrow" w="med" len="med"/>
          </a:ln>
        </p:spPr>
      </p:cxnSp>
      <p:cxnSp>
        <p:nvCxnSpPr>
          <p:cNvPr id="13" name="Straight Arrow Connector 12">
            <a:extLst>
              <a:ext uri="{FF2B5EF4-FFF2-40B4-BE49-F238E27FC236}">
                <a16:creationId xmlns:a16="http://schemas.microsoft.com/office/drawing/2014/main" id="{19B83905-76F3-402C-B744-8C68C3CE0C6C}"/>
              </a:ext>
            </a:extLst>
          </p:cNvPr>
          <p:cNvCxnSpPr>
            <a:stCxn id="7" idx="3"/>
            <a:endCxn id="8" idx="1"/>
          </p:cNvCxnSpPr>
          <p:nvPr/>
        </p:nvCxnSpPr>
        <p:spPr>
          <a:xfrm>
            <a:off x="7620000" y="3167063"/>
            <a:ext cx="1000125" cy="0"/>
          </a:xfrm>
          <a:prstGeom prst="straightConnector1">
            <a:avLst/>
          </a:prstGeom>
          <a:ln w="19050">
            <a:solidFill>
              <a:srgbClr val="002060"/>
            </a:solidFill>
            <a:tailEnd type="arrow" w="med" len="med"/>
          </a:ln>
        </p:spPr>
      </p:cxnSp>
      <p:cxnSp>
        <p:nvCxnSpPr>
          <p:cNvPr id="12" name="Straight Arrow Connector 11">
            <a:extLst>
              <a:ext uri="{FF2B5EF4-FFF2-40B4-BE49-F238E27FC236}">
                <a16:creationId xmlns:a16="http://schemas.microsoft.com/office/drawing/2014/main" id="{66492FCD-B7FD-45E6-B9BB-C73D45D399D5}"/>
              </a:ext>
            </a:extLst>
          </p:cNvPr>
          <p:cNvCxnSpPr>
            <a:stCxn id="6" idx="3"/>
            <a:endCxn id="7" idx="1"/>
          </p:cNvCxnSpPr>
          <p:nvPr/>
        </p:nvCxnSpPr>
        <p:spPr>
          <a:xfrm>
            <a:off x="3571875" y="3167063"/>
            <a:ext cx="1000125" cy="0"/>
          </a:xfrm>
          <a:prstGeom prst="straightConnector1">
            <a:avLst/>
          </a:prstGeom>
          <a:ln w="19050">
            <a:solidFill>
              <a:srgbClr val="002060"/>
            </a:solidFill>
            <a:tailEnd type="arrow" w="med" len="med"/>
          </a:ln>
        </p:spPr>
      </p:cxnSp>
      <p:sp>
        <p:nvSpPr>
          <p:cNvPr id="19" name="BLE Architecture: Flutter to ESP32">
            <a:extLst>
              <a:ext uri="{FF2B5EF4-FFF2-40B4-BE49-F238E27FC236}">
                <a16:creationId xmlns:a16="http://schemas.microsoft.com/office/drawing/2014/main" id="{D51F3475-2963-4DC4-84C8-8D9EFE4E3FB4}"/>
              </a:ext>
            </a:extLst>
          </p:cNvPr>
          <p:cNvSpPr>
            <a:spLocks noGrp="1"/>
          </p:cNvSpPr>
          <p:nvPr/>
        </p:nvSpPr>
        <p:spPr>
          <a:xfrm>
            <a:off x="0" y="0"/>
            <a:ext cx="12192000" cy="762000"/>
          </a:xfrm>
          <a:prstGeom prst="rect">
            <a:avLst/>
          </a:prstGeom>
          <a:solidFill>
            <a:srgbClr val="002060"/>
          </a:solidFill>
          <a:ln w="14288">
            <a:solidFill>
              <a:srgbClr val="002060"/>
            </a:solidFill>
          </a:ln>
        </p:spPr>
        <p:txBody>
          <a:bodyPr lIns="76200" tIns="76200" rIns="76200" bIns="76200" anchor="ctr"/>
          <a:lstStyle>
            <a:defPPr algn="ctr">
              <a:defRPr sz="3900" b="1">
                <a:solidFill>
                  <a:srgbClr val="FFFFFF"/>
                </a:solidFill>
                <a:latin typeface="Times New Roman"/>
                <a:ea typeface="Times New Roman"/>
                <a:cs typeface="Times New Roman"/>
              </a:defRPr>
            </a:defPPr>
            <a:lvl1pPr algn="ctr">
              <a:defRPr sz="3900" b="1">
                <a:solidFill>
                  <a:srgbClr val="FFFFFF"/>
                </a:solidFill>
                <a:latin typeface="Times New Roman"/>
                <a:ea typeface="Times New Roman"/>
                <a:cs typeface="Times New Roman"/>
              </a:defRPr>
            </a:lvl1pPr>
            <a:lvl2pPr algn="ctr">
              <a:defRPr sz="3900" b="1">
                <a:solidFill>
                  <a:srgbClr val="FFFFFF"/>
                </a:solidFill>
                <a:latin typeface="Times New Roman"/>
                <a:ea typeface="Times New Roman"/>
                <a:cs typeface="Times New Roman"/>
              </a:defRPr>
            </a:lvl2pPr>
            <a:lvl3pPr algn="ctr">
              <a:defRPr sz="3900" b="1">
                <a:solidFill>
                  <a:srgbClr val="FFFFFF"/>
                </a:solidFill>
                <a:latin typeface="Times New Roman"/>
                <a:ea typeface="Times New Roman"/>
                <a:cs typeface="Times New Roman"/>
              </a:defRPr>
            </a:lvl3pPr>
            <a:lvl4pPr algn="ctr">
              <a:defRPr sz="3900" b="1">
                <a:solidFill>
                  <a:srgbClr val="FFFFFF"/>
                </a:solidFill>
                <a:latin typeface="Times New Roman"/>
                <a:ea typeface="Times New Roman"/>
                <a:cs typeface="Times New Roman"/>
              </a:defRPr>
            </a:lvl4pPr>
            <a:lvl5pPr algn="ctr">
              <a:defRPr sz="3900" b="1">
                <a:solidFill>
                  <a:srgbClr val="FFFFFF"/>
                </a:solidFill>
                <a:latin typeface="Times New Roman"/>
                <a:ea typeface="Times New Roman"/>
                <a:cs typeface="Times New Roman"/>
              </a:defRPr>
            </a:lvl5pPr>
            <a:lvl6pPr algn="ctr">
              <a:defRPr sz="3900" b="1">
                <a:solidFill>
                  <a:srgbClr val="FFFFFF"/>
                </a:solidFill>
                <a:latin typeface="Times New Roman"/>
                <a:ea typeface="Times New Roman"/>
                <a:cs typeface="Times New Roman"/>
              </a:defRPr>
            </a:lvl6pPr>
            <a:lvl7pPr algn="ctr">
              <a:defRPr sz="3900" b="1">
                <a:solidFill>
                  <a:srgbClr val="FFFFFF"/>
                </a:solidFill>
                <a:latin typeface="Times New Roman"/>
                <a:ea typeface="Times New Roman"/>
                <a:cs typeface="Times New Roman"/>
              </a:defRPr>
            </a:lvl7pPr>
            <a:lvl8pPr algn="ctr">
              <a:defRPr sz="3900" b="1">
                <a:solidFill>
                  <a:srgbClr val="FFFFFF"/>
                </a:solidFill>
                <a:latin typeface="Times New Roman"/>
                <a:ea typeface="Times New Roman"/>
                <a:cs typeface="Times New Roman"/>
              </a:defRPr>
            </a:lvl8pPr>
            <a:lvl9pPr algn="ctr">
              <a:defRPr sz="3900" b="1">
                <a:solidFill>
                  <a:srgbClr val="FFFFFF"/>
                </a:solidFill>
                <a:latin typeface="Times New Roman"/>
                <a:ea typeface="Times New Roman"/>
                <a:cs typeface="Times New Roman"/>
              </a:defRPr>
            </a:lvl9pPr>
          </a:lstStyle>
          <a:p>
            <a:pPr algn="ctr">
              <a:defRPr sz="3900" b="1">
                <a:solidFill>
                  <a:srgbClr val="FFFFFF"/>
                </a:solidFill>
                <a:latin typeface="Times New Roman"/>
                <a:ea typeface="Times New Roman"/>
                <a:cs typeface="Times New Roman"/>
              </a:defRPr>
            </a:pPr>
            <a:r>
              <a:rPr sz="3900" b="1">
                <a:solidFill>
                  <a:srgbClr val="FFFFFF"/>
                </a:solidFill>
                <a:latin typeface="Times New Roman"/>
                <a:ea typeface="Times New Roman"/>
                <a:cs typeface="Times New Roman"/>
              </a:rPr>
              <a:t>BLE Architecture: Flutter to ESP32</a:t>
            </a:r>
          </a:p>
        </p:txBody>
      </p:sp>
      <p:sp>
        <p:nvSpPr>
          <p:cNvPr id="2" name="Generic Health Sensor Service (GHSS): 0x1840">
            <a:extLst>
              <a:ext uri="{FF2B5EF4-FFF2-40B4-BE49-F238E27FC236}">
                <a16:creationId xmlns:a16="http://schemas.microsoft.com/office/drawing/2014/main" id="{27437D42-42D1-49EA-8015-94BE8E2D70D1}"/>
              </a:ext>
            </a:extLst>
          </p:cNvPr>
          <p:cNvSpPr>
            <a:spLocks noGrp="1"/>
          </p:cNvSpPr>
          <p:nvPr/>
        </p:nvSpPr>
        <p:spPr>
          <a:xfrm>
            <a:off x="762000" y="1000125"/>
            <a:ext cx="10668000" cy="476250"/>
          </a:xfrm>
          <a:prstGeom prst="rect">
            <a:avLst/>
          </a:prstGeom>
          <a:noFill/>
          <a:ln w="0">
            <a:noFill/>
          </a:ln>
        </p:spPr>
        <p:txBody>
          <a:bodyPr lIns="76200" tIns="76200" rIns="76200" bIns="76200" anchor="ctr"/>
          <a:lstStyle>
            <a:defPPr algn="ctr">
              <a:defRPr sz="2400" b="1">
                <a:solidFill>
                  <a:srgbClr val="002060"/>
                </a:solidFill>
                <a:latin typeface="Times New Roman"/>
                <a:ea typeface="Times New Roman"/>
                <a:cs typeface="Times New Roman"/>
              </a:defRPr>
            </a:defPPr>
            <a:lvl1pPr algn="ctr">
              <a:defRPr sz="2400" b="1">
                <a:solidFill>
                  <a:srgbClr val="002060"/>
                </a:solidFill>
                <a:latin typeface="Times New Roman"/>
                <a:ea typeface="Times New Roman"/>
                <a:cs typeface="Times New Roman"/>
              </a:defRPr>
            </a:lvl1pPr>
            <a:lvl2pPr algn="ctr">
              <a:defRPr sz="2400" b="1">
                <a:solidFill>
                  <a:srgbClr val="002060"/>
                </a:solidFill>
                <a:latin typeface="Times New Roman"/>
                <a:ea typeface="Times New Roman"/>
                <a:cs typeface="Times New Roman"/>
              </a:defRPr>
            </a:lvl2pPr>
            <a:lvl3pPr algn="ctr">
              <a:defRPr sz="2400" b="1">
                <a:solidFill>
                  <a:srgbClr val="002060"/>
                </a:solidFill>
                <a:latin typeface="Times New Roman"/>
                <a:ea typeface="Times New Roman"/>
                <a:cs typeface="Times New Roman"/>
              </a:defRPr>
            </a:lvl3pPr>
            <a:lvl4pPr algn="ctr">
              <a:defRPr sz="2400" b="1">
                <a:solidFill>
                  <a:srgbClr val="002060"/>
                </a:solidFill>
                <a:latin typeface="Times New Roman"/>
                <a:ea typeface="Times New Roman"/>
                <a:cs typeface="Times New Roman"/>
              </a:defRPr>
            </a:lvl4pPr>
            <a:lvl5pPr algn="ctr">
              <a:defRPr sz="2400" b="1">
                <a:solidFill>
                  <a:srgbClr val="002060"/>
                </a:solidFill>
                <a:latin typeface="Times New Roman"/>
                <a:ea typeface="Times New Roman"/>
                <a:cs typeface="Times New Roman"/>
              </a:defRPr>
            </a:lvl5pPr>
            <a:lvl6pPr algn="ctr">
              <a:defRPr sz="2400" b="1">
                <a:solidFill>
                  <a:srgbClr val="002060"/>
                </a:solidFill>
                <a:latin typeface="Times New Roman"/>
                <a:ea typeface="Times New Roman"/>
                <a:cs typeface="Times New Roman"/>
              </a:defRPr>
            </a:lvl6pPr>
            <a:lvl7pPr algn="ctr">
              <a:defRPr sz="2400" b="1">
                <a:solidFill>
                  <a:srgbClr val="002060"/>
                </a:solidFill>
                <a:latin typeface="Times New Roman"/>
                <a:ea typeface="Times New Roman"/>
                <a:cs typeface="Times New Roman"/>
              </a:defRPr>
            </a:lvl7pPr>
            <a:lvl8pPr algn="ctr">
              <a:defRPr sz="2400" b="1">
                <a:solidFill>
                  <a:srgbClr val="002060"/>
                </a:solidFill>
                <a:latin typeface="Times New Roman"/>
                <a:ea typeface="Times New Roman"/>
                <a:cs typeface="Times New Roman"/>
              </a:defRPr>
            </a:lvl8pPr>
            <a:lvl9pPr algn="ctr">
              <a:defRPr sz="2400" b="1">
                <a:solidFill>
                  <a:srgbClr val="002060"/>
                </a:solidFill>
                <a:latin typeface="Times New Roman"/>
                <a:ea typeface="Times New Roman"/>
                <a:cs typeface="Times New Roman"/>
              </a:defRPr>
            </a:lvl9pPr>
          </a:lstStyle>
          <a:p>
            <a:pPr algn="ctr">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Generic Health Sensor Service (GHSS): 0x1840</a:t>
            </a:r>
          </a:p>
        </p:txBody>
      </p:sp>
      <p:sp>
        <p:nvSpPr>
          <p:cNvPr id="3" name="Flutter app&#10;BLE central / GATT client">
            <a:extLst>
              <a:ext uri="{FF2B5EF4-FFF2-40B4-BE49-F238E27FC236}">
                <a16:creationId xmlns:a16="http://schemas.microsoft.com/office/drawing/2014/main" id="{7CE81280-4A50-487E-8E65-C43A4215C3C3}"/>
              </a:ext>
            </a:extLst>
          </p:cNvPr>
          <p:cNvSpPr>
            <a:spLocks noGrp="1"/>
          </p:cNvSpPr>
          <p:nvPr/>
        </p:nvSpPr>
        <p:spPr>
          <a:xfrm>
            <a:off x="523875" y="1571625"/>
            <a:ext cx="3048000" cy="762000"/>
          </a:xfrm>
          <a:prstGeom prst="rect">
            <a:avLst/>
          </a:prstGeom>
          <a:noFill/>
          <a:ln w="0">
            <a:noFill/>
          </a:ln>
        </p:spPr>
        <p:txBody>
          <a:bodyPr lIns="76200" tIns="76200" rIns="76200" bIns="76200" anchor="ctr"/>
          <a:lstStyle>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Flutter app</a:t>
            </a:r>
          </a:p>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BLE central / GATT client</a:t>
            </a:r>
          </a:p>
        </p:txBody>
      </p:sp>
      <p:sp>
        <p:nvSpPr>
          <p:cNvPr id="4" name="Encrypted BLE connection">
            <a:extLst>
              <a:ext uri="{FF2B5EF4-FFF2-40B4-BE49-F238E27FC236}">
                <a16:creationId xmlns:a16="http://schemas.microsoft.com/office/drawing/2014/main" id="{C37768A7-5F73-4276-B324-CD1A9491BF36}"/>
              </a:ext>
            </a:extLst>
          </p:cNvPr>
          <p:cNvSpPr>
            <a:spLocks noGrp="1"/>
          </p:cNvSpPr>
          <p:nvPr/>
        </p:nvSpPr>
        <p:spPr>
          <a:xfrm>
            <a:off x="4572000" y="1571625"/>
            <a:ext cx="3048000" cy="762000"/>
          </a:xfrm>
          <a:prstGeom prst="rect">
            <a:avLst/>
          </a:prstGeom>
          <a:noFill/>
          <a:ln w="0">
            <a:noFill/>
          </a:ln>
        </p:spPr>
        <p:txBody>
          <a:bodyPr lIns="76200" tIns="76200" rIns="76200" bIns="76200" anchor="ctr"/>
          <a:lstStyle>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Encrypted BLE connection</a:t>
            </a:r>
          </a:p>
        </p:txBody>
      </p:sp>
      <p:sp>
        <p:nvSpPr>
          <p:cNvPr id="5" name="ESP32&#10;BLE peripheral / GATT server">
            <a:extLst>
              <a:ext uri="{FF2B5EF4-FFF2-40B4-BE49-F238E27FC236}">
                <a16:creationId xmlns:a16="http://schemas.microsoft.com/office/drawing/2014/main" id="{FCFA2F24-EA84-441A-9E4E-727FF8FE4979}"/>
              </a:ext>
            </a:extLst>
          </p:cNvPr>
          <p:cNvSpPr>
            <a:spLocks noGrp="1"/>
          </p:cNvSpPr>
          <p:nvPr/>
        </p:nvSpPr>
        <p:spPr>
          <a:xfrm>
            <a:off x="8620125" y="1571625"/>
            <a:ext cx="3048000" cy="762000"/>
          </a:xfrm>
          <a:prstGeom prst="rect">
            <a:avLst/>
          </a:prstGeom>
          <a:noFill/>
          <a:ln w="0">
            <a:noFill/>
          </a:ln>
        </p:spPr>
        <p:txBody>
          <a:bodyPr lIns="76200" tIns="76200" rIns="76200" bIns="76200" anchor="ctr"/>
          <a:lstStyle>
            <a:defPPr algn="ctr">
              <a:defRPr sz="2250" b="1">
                <a:solidFill>
                  <a:srgbClr val="0070C0"/>
                </a:solidFill>
                <a:latin typeface="Times New Roman"/>
                <a:ea typeface="Times New Roman"/>
                <a:cs typeface="Times New Roman"/>
              </a:defRPr>
            </a:defPPr>
            <a:lvl1pPr algn="ctr">
              <a:defRPr sz="2250" b="1">
                <a:solidFill>
                  <a:srgbClr val="0070C0"/>
                </a:solidFill>
                <a:latin typeface="Times New Roman"/>
                <a:ea typeface="Times New Roman"/>
                <a:cs typeface="Times New Roman"/>
              </a:defRPr>
            </a:lvl1pPr>
            <a:lvl2pPr algn="ctr">
              <a:defRPr sz="2250" b="1">
                <a:solidFill>
                  <a:srgbClr val="0070C0"/>
                </a:solidFill>
                <a:latin typeface="Times New Roman"/>
                <a:ea typeface="Times New Roman"/>
                <a:cs typeface="Times New Roman"/>
              </a:defRPr>
            </a:lvl2pPr>
            <a:lvl3pPr algn="ctr">
              <a:defRPr sz="2250" b="1">
                <a:solidFill>
                  <a:srgbClr val="0070C0"/>
                </a:solidFill>
                <a:latin typeface="Times New Roman"/>
                <a:ea typeface="Times New Roman"/>
                <a:cs typeface="Times New Roman"/>
              </a:defRPr>
            </a:lvl3pPr>
            <a:lvl4pPr algn="ctr">
              <a:defRPr sz="2250" b="1">
                <a:solidFill>
                  <a:srgbClr val="0070C0"/>
                </a:solidFill>
                <a:latin typeface="Times New Roman"/>
                <a:ea typeface="Times New Roman"/>
                <a:cs typeface="Times New Roman"/>
              </a:defRPr>
            </a:lvl4pPr>
            <a:lvl5pPr algn="ctr">
              <a:defRPr sz="2250" b="1">
                <a:solidFill>
                  <a:srgbClr val="0070C0"/>
                </a:solidFill>
                <a:latin typeface="Times New Roman"/>
                <a:ea typeface="Times New Roman"/>
                <a:cs typeface="Times New Roman"/>
              </a:defRPr>
            </a:lvl5pPr>
            <a:lvl6pPr algn="ctr">
              <a:defRPr sz="2250" b="1">
                <a:solidFill>
                  <a:srgbClr val="0070C0"/>
                </a:solidFill>
                <a:latin typeface="Times New Roman"/>
                <a:ea typeface="Times New Roman"/>
                <a:cs typeface="Times New Roman"/>
              </a:defRPr>
            </a:lvl6pPr>
            <a:lvl7pPr algn="ctr">
              <a:defRPr sz="2250" b="1">
                <a:solidFill>
                  <a:srgbClr val="0070C0"/>
                </a:solidFill>
                <a:latin typeface="Times New Roman"/>
                <a:ea typeface="Times New Roman"/>
                <a:cs typeface="Times New Roman"/>
              </a:defRPr>
            </a:lvl7pPr>
            <a:lvl8pPr algn="ctr">
              <a:defRPr sz="2250" b="1">
                <a:solidFill>
                  <a:srgbClr val="0070C0"/>
                </a:solidFill>
                <a:latin typeface="Times New Roman"/>
                <a:ea typeface="Times New Roman"/>
                <a:cs typeface="Times New Roman"/>
              </a:defRPr>
            </a:lvl8pPr>
            <a:lvl9pPr algn="ctr">
              <a:defRPr sz="2250" b="1">
                <a:solidFill>
                  <a:srgbClr val="0070C0"/>
                </a:solidFill>
                <a:latin typeface="Times New Roman"/>
                <a:ea typeface="Times New Roman"/>
                <a:cs typeface="Times New Roman"/>
              </a:defRPr>
            </a:lvl9pPr>
          </a:lstStyle>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ESP32</a:t>
            </a:r>
          </a:p>
          <a:p>
            <a:pPr algn="ctr">
              <a:defRPr sz="2250" b="1">
                <a:solidFill>
                  <a:srgbClr val="0070C0"/>
                </a:solidFill>
                <a:latin typeface="Times New Roman"/>
                <a:ea typeface="Times New Roman"/>
                <a:cs typeface="Times New Roman"/>
              </a:defRPr>
            </a:pPr>
            <a:r>
              <a:rPr sz="2250" b="1">
                <a:solidFill>
                  <a:srgbClr val="0070C0"/>
                </a:solidFill>
                <a:latin typeface="Times New Roman"/>
                <a:ea typeface="Times New Roman"/>
                <a:cs typeface="Times New Roman"/>
              </a:rPr>
              <a:t>BLE peripheral / GATT server</a:t>
            </a:r>
          </a:p>
        </p:txBody>
      </p:sp>
      <p:sp>
        <p:nvSpPr>
          <p:cNvPr id="6" name="Start / Stop&#10;commands">
            <a:extLst>
              <a:ext uri="{FF2B5EF4-FFF2-40B4-BE49-F238E27FC236}">
                <a16:creationId xmlns:a16="http://schemas.microsoft.com/office/drawing/2014/main" id="{A4B4FAF7-FA84-40FC-B435-AB067016497E}"/>
              </a:ext>
            </a:extLst>
          </p:cNvPr>
          <p:cNvSpPr>
            <a:spLocks noGrp="1"/>
          </p:cNvSpPr>
          <p:nvPr/>
        </p:nvSpPr>
        <p:spPr>
          <a:xfrm>
            <a:off x="523875" y="2619375"/>
            <a:ext cx="3048000" cy="1095375"/>
          </a:xfrm>
          <a:prstGeom prst="rect">
            <a:avLst/>
          </a:prstGeom>
          <a:solidFill>
            <a:srgbClr val="EDF3F9"/>
          </a:solidFill>
          <a:ln w="14288">
            <a:solidFill>
              <a:srgbClr val="002060"/>
            </a:solidFill>
          </a:ln>
        </p:spPr>
        <p:txBody>
          <a:bodyPr lIns="76200" tIns="76200" rIns="76200" bIns="76200" anchor="ctr"/>
          <a:lstStyle>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Start / Stop</a:t>
            </a:r>
          </a:p>
          <a:p>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commands</a:t>
            </a:r>
          </a:p>
        </p:txBody>
      </p:sp>
      <p:sp>
        <p:nvSpPr>
          <p:cNvPr id="7" name="GHS Control Point&#10;0x2BF4&#10;Write and indicate">
            <a:extLst>
              <a:ext uri="{FF2B5EF4-FFF2-40B4-BE49-F238E27FC236}">
                <a16:creationId xmlns:a16="http://schemas.microsoft.com/office/drawing/2014/main" id="{73F97D9E-8CE8-43FB-9FC8-21AA1A84CE8D}"/>
              </a:ext>
            </a:extLst>
          </p:cNvPr>
          <p:cNvSpPr>
            <a:spLocks noGrp="1"/>
          </p:cNvSpPr>
          <p:nvPr/>
        </p:nvSpPr>
        <p:spPr>
          <a:xfrm>
            <a:off x="4572000" y="2619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GHS Control Point</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0x2BF4</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Write and indicate</a:t>
            </a:r>
          </a:p>
        </p:txBody>
      </p:sp>
      <p:sp>
        <p:nvSpPr>
          <p:cNvPr id="8" name="Validate command&#10;Enable / disable&#10;telemetry stream">
            <a:extLst>
              <a:ext uri="{FF2B5EF4-FFF2-40B4-BE49-F238E27FC236}">
                <a16:creationId xmlns:a16="http://schemas.microsoft.com/office/drawing/2014/main" id="{BB2AD6D1-C7A3-4E0C-9CF8-29C2DC2646FD}"/>
              </a:ext>
            </a:extLst>
          </p:cNvPr>
          <p:cNvSpPr>
            <a:spLocks noGrp="1"/>
          </p:cNvSpPr>
          <p:nvPr/>
        </p:nvSpPr>
        <p:spPr>
          <a:xfrm>
            <a:off x="8620125" y="261937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Validate command</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Enable / disable</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telemetry stream</a:t>
            </a:r>
          </a:p>
        </p:txBody>
      </p:sp>
      <p:sp>
        <p:nvSpPr>
          <p:cNvPr id="9" name="Decode and display&#10;HR, SpO2, temperature">
            <a:extLst>
              <a:ext uri="{FF2B5EF4-FFF2-40B4-BE49-F238E27FC236}">
                <a16:creationId xmlns:a16="http://schemas.microsoft.com/office/drawing/2014/main" id="{33A112DA-2213-4B50-BF49-42E66165B0BC}"/>
              </a:ext>
            </a:extLst>
          </p:cNvPr>
          <p:cNvSpPr>
            <a:spLocks noGrp="1"/>
          </p:cNvSpPr>
          <p:nvPr/>
        </p:nvSpPr>
        <p:spPr>
          <a:xfrm>
            <a:off x="523875" y="4429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Decode and display</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HR, SpO2, temperature</a:t>
            </a:r>
          </a:p>
        </p:txBody>
      </p:sp>
      <p:sp>
        <p:nvSpPr>
          <p:cNvPr id="10" name="Live Observations&#10;0x2B8B&#10;Notifications">
            <a:extLst>
              <a:ext uri="{FF2B5EF4-FFF2-40B4-BE49-F238E27FC236}">
                <a16:creationId xmlns:a16="http://schemas.microsoft.com/office/drawing/2014/main" id="{685A3FD2-5BC9-4659-8AC4-6528CCF908A1}"/>
              </a:ext>
            </a:extLst>
          </p:cNvPr>
          <p:cNvSpPr>
            <a:spLocks noGrp="1"/>
          </p:cNvSpPr>
          <p:nvPr/>
        </p:nvSpPr>
        <p:spPr>
          <a:xfrm>
            <a:off x="4572000" y="4429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Live Observations</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0x2B8B</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Notifications</a:t>
            </a:r>
          </a:p>
        </p:txBody>
      </p:sp>
      <p:sp>
        <p:nvSpPr>
          <p:cNvPr id="11" name="Simulated vitals task&#10;Encode observations">
            <a:extLst>
              <a:ext uri="{FF2B5EF4-FFF2-40B4-BE49-F238E27FC236}">
                <a16:creationId xmlns:a16="http://schemas.microsoft.com/office/drawing/2014/main" id="{7EF3996B-B28A-445B-A6EA-92845934F2C5}"/>
              </a:ext>
            </a:extLst>
          </p:cNvPr>
          <p:cNvSpPr>
            <a:spLocks noGrp="1"/>
          </p:cNvSpPr>
          <p:nvPr/>
        </p:nvSpPr>
        <p:spPr>
          <a:xfrm>
            <a:off x="8620125" y="4429125"/>
            <a:ext cx="3048000" cy="1095375"/>
          </a:xfrm>
          <a:prstGeom prst="rect">
            <a:avLst/>
          </a:prstGeom>
          <a:solidFill>
            <a:srgbClr val="EDF3F9"/>
          </a:solidFill>
          <a:ln w="14288">
            <a:solidFill>
              <a:srgbClr val="002060"/>
            </a:solidFill>
          </a:ln>
        </p:spPr>
        <p:txBody>
          <a:bodyPr lIns="76200" tIns="76200" rIns="76200" bIns="76200" anchor="ctr"/>
          <a:lstStyle>
            <a:defPPr algn="ctr">
              <a:defRPr sz="2175" b="1">
                <a:solidFill>
                  <a:srgbClr val="002060"/>
                </a:solidFill>
                <a:latin typeface="Times New Roman"/>
                <a:ea typeface="Times New Roman"/>
                <a:cs typeface="Times New Roman"/>
              </a:defRPr>
            </a:defPPr>
            <a:lvl1pPr algn="ctr">
              <a:defRPr sz="2175" b="1">
                <a:solidFill>
                  <a:srgbClr val="002060"/>
                </a:solidFill>
                <a:latin typeface="Times New Roman"/>
                <a:ea typeface="Times New Roman"/>
                <a:cs typeface="Times New Roman"/>
              </a:defRPr>
            </a:lvl1pPr>
            <a:lvl2pPr algn="ctr">
              <a:defRPr sz="2175" b="1">
                <a:solidFill>
                  <a:srgbClr val="002060"/>
                </a:solidFill>
                <a:latin typeface="Times New Roman"/>
                <a:ea typeface="Times New Roman"/>
                <a:cs typeface="Times New Roman"/>
              </a:defRPr>
            </a:lvl2pPr>
            <a:lvl3pPr algn="ctr">
              <a:defRPr sz="2175" b="1">
                <a:solidFill>
                  <a:srgbClr val="002060"/>
                </a:solidFill>
                <a:latin typeface="Times New Roman"/>
                <a:ea typeface="Times New Roman"/>
                <a:cs typeface="Times New Roman"/>
              </a:defRPr>
            </a:lvl3pPr>
            <a:lvl4pPr algn="ctr">
              <a:defRPr sz="2175" b="1">
                <a:solidFill>
                  <a:srgbClr val="002060"/>
                </a:solidFill>
                <a:latin typeface="Times New Roman"/>
                <a:ea typeface="Times New Roman"/>
                <a:cs typeface="Times New Roman"/>
              </a:defRPr>
            </a:lvl4pPr>
            <a:lvl5pPr algn="ctr">
              <a:defRPr sz="2175" b="1">
                <a:solidFill>
                  <a:srgbClr val="002060"/>
                </a:solidFill>
                <a:latin typeface="Times New Roman"/>
                <a:ea typeface="Times New Roman"/>
                <a:cs typeface="Times New Roman"/>
              </a:defRPr>
            </a:lvl5pPr>
            <a:lvl6pPr algn="ctr">
              <a:defRPr sz="2175" b="1">
                <a:solidFill>
                  <a:srgbClr val="002060"/>
                </a:solidFill>
                <a:latin typeface="Times New Roman"/>
                <a:ea typeface="Times New Roman"/>
                <a:cs typeface="Times New Roman"/>
              </a:defRPr>
            </a:lvl6pPr>
            <a:lvl7pPr algn="ctr">
              <a:defRPr sz="2175" b="1">
                <a:solidFill>
                  <a:srgbClr val="002060"/>
                </a:solidFill>
                <a:latin typeface="Times New Roman"/>
                <a:ea typeface="Times New Roman"/>
                <a:cs typeface="Times New Roman"/>
              </a:defRPr>
            </a:lvl7pPr>
            <a:lvl8pPr algn="ctr">
              <a:defRPr sz="2175" b="1">
                <a:solidFill>
                  <a:srgbClr val="002060"/>
                </a:solidFill>
                <a:latin typeface="Times New Roman"/>
                <a:ea typeface="Times New Roman"/>
                <a:cs typeface="Times New Roman"/>
              </a:defRPr>
            </a:lvl8pPr>
            <a:lvl9pPr algn="ctr">
              <a:defRPr sz="2175" b="1">
                <a:solidFill>
                  <a:srgbClr val="002060"/>
                </a:solidFill>
                <a:latin typeface="Times New Roman"/>
                <a:ea typeface="Times New Roman"/>
                <a:cs typeface="Times New Roman"/>
              </a:defRPr>
            </a:lvl9pPr>
          </a:lstStyle>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Simulated vitals task</a:t>
            </a:r>
          </a:p>
          <a:p>
            <a:pPr algn="ctr">
              <a:defRPr sz="2175" b="1">
                <a:solidFill>
                  <a:srgbClr val="002060"/>
                </a:solidFill>
                <a:latin typeface="Times New Roman"/>
                <a:ea typeface="Times New Roman"/>
                <a:cs typeface="Times New Roman"/>
              </a:defRPr>
            </a:pPr>
            <a:r>
              <a:rPr sz="2175" b="1">
                <a:solidFill>
                  <a:srgbClr val="002060"/>
                </a:solidFill>
                <a:latin typeface="Times New Roman"/>
                <a:ea typeface="Times New Roman"/>
                <a:cs typeface="Times New Roman"/>
              </a:rPr>
              <a:t>Encode observations</a:t>
            </a:r>
          </a:p>
        </p:txBody>
      </p:sp>
      <p:sp>
        <p:nvSpPr>
          <p:cNvPr id="16" name="ESP32 returns command acknowledgements through con">
            <a:extLst>
              <a:ext uri="{FF2B5EF4-FFF2-40B4-BE49-F238E27FC236}">
                <a16:creationId xmlns:a16="http://schemas.microsoft.com/office/drawing/2014/main" id="{18CEF259-AC4B-4EF8-BB43-77935BE8E306}"/>
              </a:ext>
            </a:extLst>
          </p:cNvPr>
          <p:cNvSpPr>
            <a:spLocks noGrp="1"/>
          </p:cNvSpPr>
          <p:nvPr/>
        </p:nvSpPr>
        <p:spPr>
          <a:xfrm>
            <a:off x="762000" y="3838575"/>
            <a:ext cx="10668000" cy="428625"/>
          </a:xfrm>
          <a:prstGeom prst="rect">
            <a:avLst/>
          </a:prstGeom>
          <a:noFill/>
          <a:ln w="0">
            <a:noFill/>
          </a:ln>
        </p:spPr>
        <p:txBody>
          <a:bodyPr lIns="76200" tIns="76200" rIns="76200" bIns="76200" anchor="ctr"/>
          <a:lstStyle>
            <a:defPPr algn="ctr">
              <a:defRPr sz="2025" b="0">
                <a:solidFill>
                  <a:srgbClr val="0070C0"/>
                </a:solidFill>
                <a:latin typeface="Times New Roman"/>
                <a:ea typeface="Times New Roman"/>
                <a:cs typeface="Times New Roman"/>
              </a:defRPr>
            </a:defPPr>
            <a:lvl1pPr algn="ctr">
              <a:defRPr sz="2025" b="0">
                <a:solidFill>
                  <a:srgbClr val="0070C0"/>
                </a:solidFill>
                <a:latin typeface="Times New Roman"/>
                <a:ea typeface="Times New Roman"/>
                <a:cs typeface="Times New Roman"/>
              </a:defRPr>
            </a:lvl1pPr>
            <a:lvl2pPr algn="ctr">
              <a:defRPr sz="2025" b="0">
                <a:solidFill>
                  <a:srgbClr val="0070C0"/>
                </a:solidFill>
                <a:latin typeface="Times New Roman"/>
                <a:ea typeface="Times New Roman"/>
                <a:cs typeface="Times New Roman"/>
              </a:defRPr>
            </a:lvl2pPr>
            <a:lvl3pPr algn="ctr">
              <a:defRPr sz="2025" b="0">
                <a:solidFill>
                  <a:srgbClr val="0070C0"/>
                </a:solidFill>
                <a:latin typeface="Times New Roman"/>
                <a:ea typeface="Times New Roman"/>
                <a:cs typeface="Times New Roman"/>
              </a:defRPr>
            </a:lvl3pPr>
            <a:lvl4pPr algn="ctr">
              <a:defRPr sz="2025" b="0">
                <a:solidFill>
                  <a:srgbClr val="0070C0"/>
                </a:solidFill>
                <a:latin typeface="Times New Roman"/>
                <a:ea typeface="Times New Roman"/>
                <a:cs typeface="Times New Roman"/>
              </a:defRPr>
            </a:lvl4pPr>
            <a:lvl5pPr algn="ctr">
              <a:defRPr sz="2025" b="0">
                <a:solidFill>
                  <a:srgbClr val="0070C0"/>
                </a:solidFill>
                <a:latin typeface="Times New Roman"/>
                <a:ea typeface="Times New Roman"/>
                <a:cs typeface="Times New Roman"/>
              </a:defRPr>
            </a:lvl5pPr>
            <a:lvl6pPr algn="ctr">
              <a:defRPr sz="2025" b="0">
                <a:solidFill>
                  <a:srgbClr val="0070C0"/>
                </a:solidFill>
                <a:latin typeface="Times New Roman"/>
                <a:ea typeface="Times New Roman"/>
                <a:cs typeface="Times New Roman"/>
              </a:defRPr>
            </a:lvl6pPr>
            <a:lvl7pPr algn="ctr">
              <a:defRPr sz="2025" b="0">
                <a:solidFill>
                  <a:srgbClr val="0070C0"/>
                </a:solidFill>
                <a:latin typeface="Times New Roman"/>
                <a:ea typeface="Times New Roman"/>
                <a:cs typeface="Times New Roman"/>
              </a:defRPr>
            </a:lvl7pPr>
            <a:lvl8pPr algn="ctr">
              <a:defRPr sz="2025" b="0">
                <a:solidFill>
                  <a:srgbClr val="0070C0"/>
                </a:solidFill>
                <a:latin typeface="Times New Roman"/>
                <a:ea typeface="Times New Roman"/>
                <a:cs typeface="Times New Roman"/>
              </a:defRPr>
            </a:lvl8pPr>
            <a:lvl9pPr algn="ctr">
              <a:defRPr sz="2025" b="0">
                <a:solidFill>
                  <a:srgbClr val="0070C0"/>
                </a:solidFill>
                <a:latin typeface="Times New Roman"/>
                <a:ea typeface="Times New Roman"/>
                <a:cs typeface="Times New Roman"/>
              </a:defRPr>
            </a:lvl9pPr>
          </a:lstStyle>
          <a:p>
            <a:pPr algn="ctr">
              <a:defRPr sz="2025" b="0">
                <a:solidFill>
                  <a:srgbClr val="0070C0"/>
                </a:solidFill>
                <a:latin typeface="Times New Roman"/>
                <a:ea typeface="Times New Roman"/>
                <a:cs typeface="Times New Roman"/>
              </a:defRPr>
            </a:pPr>
            <a:r>
              <a:rPr sz="2025" b="0">
                <a:solidFill>
                  <a:srgbClr val="0070C0"/>
                </a:solidFill>
                <a:latin typeface="Times New Roman"/>
                <a:ea typeface="Times New Roman"/>
                <a:cs typeface="Times New Roman"/>
              </a:rPr>
              <a:t>ESP32 returns command acknowledgements through control-point indications</a:t>
            </a:r>
          </a:p>
        </p:txBody>
      </p:sp>
      <p:sp>
        <p:nvSpPr>
          <p:cNvPr id="17" name="Setup: scan, connect, pair, discover GHSS and subs">
            <a:extLst>
              <a:ext uri="{FF2B5EF4-FFF2-40B4-BE49-F238E27FC236}">
                <a16:creationId xmlns:a16="http://schemas.microsoft.com/office/drawing/2014/main" id="{845CD7B2-1294-4DC6-A819-14AE81188A30}"/>
              </a:ext>
            </a:extLst>
          </p:cNvPr>
          <p:cNvSpPr>
            <a:spLocks noGrp="1"/>
          </p:cNvSpPr>
          <p:nvPr/>
        </p:nvSpPr>
        <p:spPr>
          <a:xfrm>
            <a:off x="666750" y="5857875"/>
            <a:ext cx="10858500" cy="409575"/>
          </a:xfrm>
          <a:prstGeom prst="rect">
            <a:avLst/>
          </a:prstGeom>
          <a:noFill/>
          <a:ln w="0">
            <a:noFill/>
          </a:ln>
        </p:spPr>
        <p:txBody>
          <a:bodyPr lIns="76200" tIns="76200" rIns="76200" bIns="76200" anchor="ctr"/>
          <a:lstStyle>
            <a:defPPr algn="ctr">
              <a:defRPr sz="2175" b="0">
                <a:solidFill>
                  <a:srgbClr val="0070C0"/>
                </a:solidFill>
                <a:latin typeface="Times New Roman"/>
                <a:ea typeface="Times New Roman"/>
                <a:cs typeface="Times New Roman"/>
              </a:defRPr>
            </a:defPPr>
            <a:lvl1pPr algn="ctr">
              <a:defRPr sz="2175" b="0">
                <a:solidFill>
                  <a:srgbClr val="0070C0"/>
                </a:solidFill>
                <a:latin typeface="Times New Roman"/>
                <a:ea typeface="Times New Roman"/>
                <a:cs typeface="Times New Roman"/>
              </a:defRPr>
            </a:lvl1pPr>
            <a:lvl2pPr algn="ctr">
              <a:defRPr sz="2175" b="0">
                <a:solidFill>
                  <a:srgbClr val="0070C0"/>
                </a:solidFill>
                <a:latin typeface="Times New Roman"/>
                <a:ea typeface="Times New Roman"/>
                <a:cs typeface="Times New Roman"/>
              </a:defRPr>
            </a:lvl2pPr>
            <a:lvl3pPr algn="ctr">
              <a:defRPr sz="2175" b="0">
                <a:solidFill>
                  <a:srgbClr val="0070C0"/>
                </a:solidFill>
                <a:latin typeface="Times New Roman"/>
                <a:ea typeface="Times New Roman"/>
                <a:cs typeface="Times New Roman"/>
              </a:defRPr>
            </a:lvl3pPr>
            <a:lvl4pPr algn="ctr">
              <a:defRPr sz="2175" b="0">
                <a:solidFill>
                  <a:srgbClr val="0070C0"/>
                </a:solidFill>
                <a:latin typeface="Times New Roman"/>
                <a:ea typeface="Times New Roman"/>
                <a:cs typeface="Times New Roman"/>
              </a:defRPr>
            </a:lvl4pPr>
            <a:lvl5pPr algn="ctr">
              <a:defRPr sz="2175" b="0">
                <a:solidFill>
                  <a:srgbClr val="0070C0"/>
                </a:solidFill>
                <a:latin typeface="Times New Roman"/>
                <a:ea typeface="Times New Roman"/>
                <a:cs typeface="Times New Roman"/>
              </a:defRPr>
            </a:lvl5pPr>
            <a:lvl6pPr algn="ctr">
              <a:defRPr sz="2175" b="0">
                <a:solidFill>
                  <a:srgbClr val="0070C0"/>
                </a:solidFill>
                <a:latin typeface="Times New Roman"/>
                <a:ea typeface="Times New Roman"/>
                <a:cs typeface="Times New Roman"/>
              </a:defRPr>
            </a:lvl6pPr>
            <a:lvl7pPr algn="ctr">
              <a:defRPr sz="2175" b="0">
                <a:solidFill>
                  <a:srgbClr val="0070C0"/>
                </a:solidFill>
                <a:latin typeface="Times New Roman"/>
                <a:ea typeface="Times New Roman"/>
                <a:cs typeface="Times New Roman"/>
              </a:defRPr>
            </a:lvl7pPr>
            <a:lvl8pPr algn="ctr">
              <a:defRPr sz="2175" b="0">
                <a:solidFill>
                  <a:srgbClr val="0070C0"/>
                </a:solidFill>
                <a:latin typeface="Times New Roman"/>
                <a:ea typeface="Times New Roman"/>
                <a:cs typeface="Times New Roman"/>
              </a:defRPr>
            </a:lvl8pPr>
            <a:lvl9pPr algn="ctr">
              <a:defRPr sz="2175" b="0">
                <a:solidFill>
                  <a:srgbClr val="0070C0"/>
                </a:solidFill>
                <a:latin typeface="Times New Roman"/>
                <a:ea typeface="Times New Roman"/>
                <a:cs typeface="Times New Roman"/>
              </a:defRPr>
            </a:lvl9pPr>
          </a:lstStyle>
          <a:p>
            <a:pPr algn="ctr">
              <a:defRPr sz="2175" b="0">
                <a:solidFill>
                  <a:srgbClr val="0070C0"/>
                </a:solidFill>
                <a:latin typeface="Times New Roman"/>
                <a:ea typeface="Times New Roman"/>
                <a:cs typeface="Times New Roman"/>
              </a:defRPr>
            </a:pPr>
            <a:r>
              <a:rPr sz="2175" b="0">
                <a:solidFill>
                  <a:srgbClr val="0070C0"/>
                </a:solidFill>
                <a:latin typeface="Times New Roman"/>
                <a:ea typeface="Times New Roman"/>
                <a:cs typeface="Times New Roman"/>
              </a:rPr>
              <a:t>Setup: scan, connect, pair, discover GHSS and subscribe</a:t>
            </a:r>
          </a:p>
        </p:txBody>
      </p:sp>
      <p:sp>
        <p:nvSpPr>
          <p:cNvPr id="18" name="Dept. of Electronics and Communication Engineering">
            <a:extLst>
              <a:ext uri="{FF2B5EF4-FFF2-40B4-BE49-F238E27FC236}">
                <a16:creationId xmlns:a16="http://schemas.microsoft.com/office/drawing/2014/main" id="{13029F46-0D21-4417-ACED-BB0606CC8E70}"/>
              </a:ext>
            </a:extLst>
          </p:cNvPr>
          <p:cNvSpPr>
            <a:spLocks noGrp="1"/>
          </p:cNvSpPr>
          <p:nvPr/>
        </p:nvSpPr>
        <p:spPr>
          <a:xfrm>
            <a:off x="0" y="6492907"/>
            <a:ext cx="12192000" cy="365093"/>
          </a:xfrm>
          <a:prstGeom prst="rect">
            <a:avLst/>
          </a:prstGeom>
          <a:solidFill>
            <a:srgbClr val="002060"/>
          </a:solidFill>
          <a:ln w="14288">
            <a:solidFill>
              <a:srgbClr val="002060"/>
            </a:solidFill>
          </a:ln>
        </p:spPr>
        <p:txBody>
          <a:bodyPr lIns="76200" tIns="76200" rIns="76200" bIns="76200" anchor="ctr"/>
          <a:lstStyle>
            <a:defPPr algn="ctr">
              <a:defRPr sz="1200" b="1">
                <a:solidFill>
                  <a:srgbClr val="FFFFFF"/>
                </a:solidFill>
                <a:latin typeface="Times New Roman"/>
                <a:ea typeface="Times New Roman"/>
                <a:cs typeface="Times New Roman"/>
              </a:defRPr>
            </a:defPPr>
            <a:lvl1pPr algn="ctr">
              <a:defRPr sz="1200" b="1">
                <a:solidFill>
                  <a:srgbClr val="FFFFFF"/>
                </a:solidFill>
                <a:latin typeface="Times New Roman"/>
                <a:ea typeface="Times New Roman"/>
                <a:cs typeface="Times New Roman"/>
              </a:defRPr>
            </a:lvl1pPr>
            <a:lvl2pPr algn="ctr">
              <a:defRPr sz="1200" b="1">
                <a:solidFill>
                  <a:srgbClr val="FFFFFF"/>
                </a:solidFill>
                <a:latin typeface="Times New Roman"/>
                <a:ea typeface="Times New Roman"/>
                <a:cs typeface="Times New Roman"/>
              </a:defRPr>
            </a:lvl2pPr>
            <a:lvl3pPr algn="ctr">
              <a:defRPr sz="1200" b="1">
                <a:solidFill>
                  <a:srgbClr val="FFFFFF"/>
                </a:solidFill>
                <a:latin typeface="Times New Roman"/>
                <a:ea typeface="Times New Roman"/>
                <a:cs typeface="Times New Roman"/>
              </a:defRPr>
            </a:lvl3pPr>
            <a:lvl4pPr algn="ctr">
              <a:defRPr sz="1200" b="1">
                <a:solidFill>
                  <a:srgbClr val="FFFFFF"/>
                </a:solidFill>
                <a:latin typeface="Times New Roman"/>
                <a:ea typeface="Times New Roman"/>
                <a:cs typeface="Times New Roman"/>
              </a:defRPr>
            </a:lvl4pPr>
            <a:lvl5pPr algn="ctr">
              <a:defRPr sz="1200" b="1">
                <a:solidFill>
                  <a:srgbClr val="FFFFFF"/>
                </a:solidFill>
                <a:latin typeface="Times New Roman"/>
                <a:ea typeface="Times New Roman"/>
                <a:cs typeface="Times New Roman"/>
              </a:defRPr>
            </a:lvl5pPr>
            <a:lvl6pPr algn="ctr">
              <a:defRPr sz="1200" b="1">
                <a:solidFill>
                  <a:srgbClr val="FFFFFF"/>
                </a:solidFill>
                <a:latin typeface="Times New Roman"/>
                <a:ea typeface="Times New Roman"/>
                <a:cs typeface="Times New Roman"/>
              </a:defRPr>
            </a:lvl6pPr>
            <a:lvl7pPr algn="ctr">
              <a:defRPr sz="1200" b="1">
                <a:solidFill>
                  <a:srgbClr val="FFFFFF"/>
                </a:solidFill>
                <a:latin typeface="Times New Roman"/>
                <a:ea typeface="Times New Roman"/>
                <a:cs typeface="Times New Roman"/>
              </a:defRPr>
            </a:lvl7pPr>
            <a:lvl8pPr algn="ctr">
              <a:defRPr sz="1200" b="1">
                <a:solidFill>
                  <a:srgbClr val="FFFFFF"/>
                </a:solidFill>
                <a:latin typeface="Times New Roman"/>
                <a:ea typeface="Times New Roman"/>
                <a:cs typeface="Times New Roman"/>
              </a:defRPr>
            </a:lvl8pPr>
            <a:lvl9pPr algn="ctr">
              <a:defRPr sz="1200" b="1">
                <a:solidFill>
                  <a:srgbClr val="FFFFFF"/>
                </a:solidFill>
                <a:latin typeface="Times New Roman"/>
                <a:ea typeface="Times New Roman"/>
                <a:cs typeface="Times New Roman"/>
              </a:defRPr>
            </a:lvl9pPr>
          </a:lstStyle>
          <a:p>
            <a:pPr algn="ct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p>
        </p:txBody>
      </p:sp>
      <p:sp>
        <p:nvSpPr>
          <p:cNvPr id="20" name="TextBox 19">
            <a:extLst>
              <a:ext uri="{FF2B5EF4-FFF2-40B4-BE49-F238E27FC236}">
                <a16:creationId xmlns:a16="http://schemas.microsoft.com/office/drawing/2014/main" id="{03F256A2-7F3A-A050-3A58-C0287E866F29}"/>
              </a:ext>
            </a:extLst>
          </p:cNvPr>
          <p:cNvSpPr txBox="1"/>
          <p:nvPr/>
        </p:nvSpPr>
        <p:spPr>
          <a:xfrm>
            <a:off x="11430000" y="6496050"/>
            <a:ext cx="571500" cy="276999"/>
          </a:xfrm>
          <a:prstGeom prst="rect">
            <a:avLst/>
          </a:prstGeom>
          <a:noFill/>
        </p:spPr>
        <p:txBody>
          <a:bodyPr vert="horz" rtlCol="0">
            <a:spAutoFit/>
          </a:bodyPr>
          <a:lstStyle/>
          <a:p>
            <a:pPr algn="r"/>
            <a:r>
              <a:rPr lang="en-IN" sz="1200">
                <a:solidFill>
                  <a:srgbClr val="FFFFFF"/>
                </a:solidFill>
                <a:latin typeface="Times New Roman" panose="02020603050405020304" pitchFamily="18" charset="0"/>
              </a:rPr>
              <a:t>5</a:t>
            </a:r>
          </a:p>
        </p:txBody>
      </p:sp>
    </p:spTree>
    <p:extLst>
      <p:ext uri="{BB962C8B-B14F-4D97-AF65-F5344CB8AC3E}">
        <p14:creationId xmlns:p14="http://schemas.microsoft.com/office/powerpoint/2010/main" val="3904890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54F42C30-595C-440C-ADDC-23277F929579}"/>
              </a:ext>
            </a:extLst>
          </p:cNvPr>
          <p:cNvGraphicFramePr/>
          <p:nvPr>
            <p:extLst>
              <p:ext uri="{D42A27DB-BD31-4B8C-83A1-F6EECF244321}">
                <p14:modId xmlns:p14="http://schemas.microsoft.com/office/powerpoint/2010/main" val="1415780120"/>
              </p:ext>
            </p:extLst>
          </p:nvPr>
        </p:nvGraphicFramePr>
        <p:xfrm>
          <a:off x="1349710" y="1112156"/>
          <a:ext cx="9492580" cy="4286250"/>
        </p:xfrm>
        <a:graphic>
          <a:graphicData uri="http://schemas.openxmlformats.org/drawingml/2006/table">
            <a:tbl>
              <a:tblPr/>
              <a:tblGrid>
                <a:gridCol w="4749086">
                  <a:extLst>
                    <a:ext uri="{9D8B030D-6E8A-4147-A177-3AD203B41FA5}">
                      <a16:colId xmlns:a16="http://schemas.microsoft.com/office/drawing/2014/main" val="20000"/>
                    </a:ext>
                  </a:extLst>
                </a:gridCol>
                <a:gridCol w="4743494">
                  <a:extLst>
                    <a:ext uri="{9D8B030D-6E8A-4147-A177-3AD203B41FA5}">
                      <a16:colId xmlns:a16="http://schemas.microsoft.com/office/drawing/2014/main" val="20002"/>
                    </a:ext>
                  </a:extLst>
                </a:gridCol>
              </a:tblGrid>
              <a:tr h="714375">
                <a:tc>
                  <a:txBody>
                    <a:bodyPr/>
                    <a:lstStyle/>
                    <a:p>
                      <a:pPr algn="ctr"/>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pPr algn="ctr"/>
                      <a:r>
                        <a:rPr sz="2175" b="1" dirty="0">
                          <a:solidFill>
                            <a:srgbClr val="FFFFFF"/>
                          </a:solidFill>
                          <a:latin typeface="Times New Roman"/>
                          <a:ea typeface="Times New Roman"/>
                          <a:cs typeface="Times New Roman"/>
                        </a:rPr>
                        <a:t>Target design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cap="flat" cmpd="sng" algn="ctr">
                      <a:solidFill>
                        <a:srgbClr val="CAD2D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714375">
                <a:tc>
                  <a:txBody>
                    <a:bodyPr/>
                    <a:lstStyle/>
                    <a:p>
                      <a:pPr algn="ctr"/>
                      <a:r>
                        <a:rPr sz="2175" b="0" dirty="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a:solidFill>
                            <a:srgbClr val="111111"/>
                          </a:solidFill>
                          <a:latin typeface="Times New Roman"/>
                          <a:ea typeface="Times New Roman"/>
                          <a:cs typeface="Times New Roman"/>
                        </a:rPr>
                        <a:t>Retain BLE gateway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1"/>
                  </a:ext>
                </a:extLst>
              </a:tr>
              <a:tr h="714375">
                <a:tc>
                  <a:txBody>
                    <a:bodyPr/>
                    <a:lstStyle/>
                    <a:p>
                      <a:pPr algn="ctr"/>
                      <a:r>
                        <a:rPr sz="2175" b="0" dirty="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a:solidFill>
                            <a:srgbClr val="111111"/>
                          </a:solidFill>
                          <a:latin typeface="Times New Roman"/>
                          <a:ea typeface="Times New Roman"/>
                          <a:cs typeface="Times New Roman"/>
                        </a:rPr>
                        <a:t>MQTT/TLS with CoAP fallback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4375">
                <a:tc>
                  <a:txBody>
                    <a:bodyPr/>
                    <a:lstStyle/>
                    <a:p>
                      <a:pPr algn="ctr"/>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Integrated physical sensors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EDF3F9"/>
                    </a:solidFill>
                  </a:tcPr>
                </a:tc>
                <a:extLst>
                  <a:ext uri="{0D108BD9-81ED-4DB2-BD59-A6C34878D82A}">
                    <a16:rowId xmlns:a16="http://schemas.microsoft.com/office/drawing/2014/main" val="10003"/>
                  </a:ext>
                </a:extLst>
              </a:tr>
              <a:tr h="714375">
                <a:tc>
                  <a:txBody>
                    <a:bodyPr/>
                    <a:lstStyle/>
                    <a:p>
                      <a:pPr algn="ctr"/>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pPr algn="ctr"/>
                      <a:r>
                        <a:rPr sz="2175" b="0" dirty="0">
                          <a:solidFill>
                            <a:srgbClr val="111111"/>
                          </a:solidFill>
                          <a:latin typeface="Times New Roman"/>
                          <a:ea typeface="Times New Roman"/>
                          <a:cs typeface="Times New Roman"/>
                        </a:rPr>
                        <a:t>ML risk classification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cap="flat" cmpd="sng" algn="ctr">
                      <a:solidFill>
                        <a:srgbClr val="CAD2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14375">
                <a:tc>
                  <a:txBody>
                    <a:bodyPr/>
                    <a:lstStyle/>
                    <a:p>
                      <a:pPr algn="ctr"/>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pPr algn="ctr"/>
                      <a:r>
                        <a:rPr sz="2175" b="0" dirty="0">
                          <a:solidFill>
                            <a:srgbClr val="111111"/>
                          </a:solidFill>
                          <a:latin typeface="Times New Roman"/>
                          <a:ea typeface="Times New Roman"/>
                          <a:cs typeface="Times New Roman"/>
                        </a:rPr>
                        <a:t>Phone GPS with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supports the local link. Cloud transports">
            <a:extLst>
              <a:ext uri="{FF2B5EF4-FFF2-40B4-BE49-F238E27FC236}">
                <a16:creationId xmlns:a16="http://schemas.microsoft.com/office/drawing/2014/main" id="{93050350-D90E-4BE7-8097-5D2C8DC53885}"/>
              </a:ext>
            </a:extLst>
          </p:cNvPr>
          <p:cNvSpPr>
            <a:spLocks noGrp="1"/>
          </p:cNvSpPr>
          <p:nvPr/>
        </p:nvSpPr>
        <p:spPr>
          <a:xfrm>
            <a:off x="523875" y="5572649"/>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supports the local link. Cloud transports require phone internet connectivity.</a:t>
            </a:r>
          </a:p>
        </p:txBody>
      </p:sp>
      <p:sp>
        <p:nvSpPr>
          <p:cNvPr id="7" name="6">
            <a:extLst>
              <a:ext uri="{FF2B5EF4-FFF2-40B4-BE49-F238E27FC236}">
                <a16:creationId xmlns:a16="http://schemas.microsoft.com/office/drawing/2014/main" id="{72F8E5FE-8578-4D96-B2E9-83E6A8A3903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6</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96AF17B3-C550-48EB-B276-006546E5C772}"/>
              </a:ext>
            </a:extLst>
          </p:cNvPr>
          <p:cNvGraphicFramePr/>
          <p:nvPr/>
        </p:nvGraphicFramePr>
        <p:xfrm>
          <a:off x="523875" y="1190625"/>
          <a:ext cx="11144250" cy="4572001"/>
        </p:xfrm>
        <a:graphic>
          <a:graphicData uri="http://schemas.openxmlformats.org/drawingml/2006/table">
            <a:tbl>
              <a:tblPr/>
              <a:tblGrid>
                <a:gridCol w="95250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7">
            <a:extLst>
              <a:ext uri="{FF2B5EF4-FFF2-40B4-BE49-F238E27FC236}">
                <a16:creationId xmlns:a16="http://schemas.microsoft.com/office/drawing/2014/main" id="{DC8E7CFA-4BC5-4084-B3E0-3471A4748F1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A01DF5BD-049E-48F5-9B67-EA9CB0A63420}"/>
              </a:ext>
            </a:extLst>
          </p:cNvPr>
          <p:cNvGraphicFramePr/>
          <p:nvPr/>
        </p:nvGraphicFramePr>
        <p:xfrm>
          <a:off x="523875" y="1285875"/>
          <a:ext cx="11144250" cy="4532632"/>
        </p:xfrm>
        <a:graphic>
          <a:graphicData uri="http://schemas.openxmlformats.org/drawingml/2006/table">
            <a:tbl>
              <a:tblPr/>
              <a:tblGrid>
                <a:gridCol w="2238375">
                  <a:extLst>
                    <a:ext uri="{9D8B030D-6E8A-4147-A177-3AD203B41FA5}">
                      <a16:colId xmlns:a16="http://schemas.microsoft.com/office/drawing/2014/main" val="20000"/>
                    </a:ext>
                  </a:extLst>
                </a:gridCol>
                <a:gridCol w="5429250">
                  <a:extLst>
                    <a:ext uri="{9D8B030D-6E8A-4147-A177-3AD203B41FA5}">
                      <a16:colId xmlns:a16="http://schemas.microsoft.com/office/drawing/2014/main" val="20001"/>
                    </a:ext>
                  </a:extLst>
                </a:gridCol>
                <a:gridCol w="3476625">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Latency, endurance and reliability thresholds">
            <a:extLst>
              <a:ext uri="{FF2B5EF4-FFF2-40B4-BE49-F238E27FC236}">
                <a16:creationId xmlns:a16="http://schemas.microsoft.com/office/drawing/2014/main" id="{0AC70777-0095-4E86-9418-F31C399FE586}"/>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Latency, endurance and reliability thresholds remain proposed until measured and agreed.</a:t>
            </a:r>
          </a:p>
        </p:txBody>
      </p:sp>
      <p:sp>
        <p:nvSpPr>
          <p:cNvPr id="7" name="8">
            <a:extLst>
              <a:ext uri="{FF2B5EF4-FFF2-40B4-BE49-F238E27FC236}">
                <a16:creationId xmlns:a16="http://schemas.microsoft.com/office/drawing/2014/main" id="{EACF86FD-0354-4F71-8403-7D21C467650C}"/>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8</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Wi-Fi vs BLE: Design Rationale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322400A1-A7ED-4E0A-9976-1F301F477979}"/>
              </a:ext>
            </a:extLst>
          </p:cNvPr>
          <p:cNvGraphicFramePr/>
          <p:nvPr>
            <p:extLst>
              <p:ext uri="{D42A27DB-BD31-4B8C-83A1-F6EECF244321}">
                <p14:modId xmlns:p14="http://schemas.microsoft.com/office/powerpoint/2010/main" val="753592872"/>
              </p:ext>
            </p:extLst>
          </p:nvPr>
        </p:nvGraphicFramePr>
        <p:xfrm>
          <a:off x="523875" y="1190625"/>
          <a:ext cx="11144250" cy="4402455"/>
        </p:xfrm>
        <a:graphic>
          <a:graphicData uri="http://schemas.openxmlformats.org/drawingml/2006/table">
            <a:tbl>
              <a:tblPr/>
              <a:tblGrid>
                <a:gridCol w="2428875">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714375">
                <a:tc>
                  <a:txBody>
                    <a:bodyPr/>
                    <a:lstStyle/>
                    <a:p>
                      <a:r>
                        <a:rPr sz="2100" b="1">
                          <a:solidFill>
                            <a:srgbClr val="FFFFFF"/>
                          </a:solidFill>
                          <a:latin typeface="Times New Roman"/>
                          <a:ea typeface="Times New Roman"/>
                          <a:cs typeface="Times New Roman"/>
                        </a:rPr>
                        <a:t>Criterion</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Earlier Wi-Fi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Selected BLE approach</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14375">
                <a:tc>
                  <a:txBody>
                    <a:bodyPr/>
                    <a:lstStyle/>
                    <a:p>
                      <a:r>
                        <a:rPr sz="2100" b="0">
                          <a:solidFill>
                            <a:srgbClr val="111111"/>
                          </a:solidFill>
                          <a:latin typeface="Times New Roman"/>
                          <a:ea typeface="Times New Roman"/>
                          <a:cs typeface="Times New Roman"/>
                        </a:rPr>
                        <a:t>Local connection</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joins access point or hotspot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ESP32 connects directly to phone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14375">
                <a:tc>
                  <a:txBody>
                    <a:bodyPr/>
                    <a:lstStyle/>
                    <a:p>
                      <a:r>
                        <a:rPr sz="2100" b="0">
                          <a:solidFill>
                            <a:srgbClr val="111111"/>
                          </a:solidFill>
                          <a:latin typeface="Times New Roman"/>
                          <a:ea typeface="Times New Roman"/>
                          <a:cs typeface="Times New Roman"/>
                        </a:rPr>
                        <a:t>Internet gateway</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ESP32 manages network uplink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dirty="0">
                          <a:solidFill>
                            <a:srgbClr val="111111"/>
                          </a:solidFill>
                          <a:latin typeface="Times New Roman"/>
                          <a:ea typeface="Times New Roman"/>
                          <a:cs typeface="Times New Roman"/>
                        </a:rPr>
                        <a:t>Phone handles cloud uplink </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14375">
                <a:tc>
                  <a:txBody>
                    <a:bodyPr/>
                    <a:lstStyle/>
                    <a:p>
                      <a:r>
                        <a:rPr sz="2100" b="0" dirty="0">
                          <a:solidFill>
                            <a:srgbClr val="111111"/>
                          </a:solidFill>
                          <a:latin typeface="Times New Roman"/>
                          <a:ea typeface="Times New Roman"/>
                          <a:cs typeface="Times New Roman"/>
                        </a:rPr>
                        <a:t>Data workload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Supports higher data throughput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Fits small, periodic vital readings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14375">
                <a:tc>
                  <a:txBody>
                    <a:bodyPr/>
                    <a:lstStyle/>
                    <a:p>
                      <a:r>
                        <a:rPr sz="2100" b="0">
                          <a:solidFill>
                            <a:srgbClr val="111111"/>
                          </a:solidFill>
                          <a:latin typeface="Times New Roman"/>
                          <a:ea typeface="Times New Roman"/>
                          <a:cs typeface="Times New Roman"/>
                        </a:rPr>
                        <a:t>Device setup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Configure SSID and password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Discover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14375">
                <a:tc>
                  <a:txBody>
                    <a:bodyPr/>
                    <a:lstStyle/>
                    <a:p>
                      <a:r>
                        <a:rPr sz="2100" b="0">
                          <a:solidFill>
                            <a:srgbClr val="111111"/>
                          </a:solidFill>
                          <a:latin typeface="Times New Roman"/>
                          <a:ea typeface="Times New Roman"/>
                          <a:cs typeface="Times New Roman"/>
                        </a:rPr>
                        <a:t>Power rationale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Measure under the same workload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dirty="0">
                          <a:solidFill>
                            <a:srgbClr val="111111"/>
                          </a:solidFill>
                          <a:latin typeface="Times New Roman"/>
                          <a:ea typeface="Times New Roman"/>
                          <a:cs typeface="Times New Roman"/>
                        </a:rPr>
                        <a:t>Low-power design; savings unmeasured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BLE fits the phone gateway design. Phone prox">
            <a:extLst>
              <a:ext uri="{FF2B5EF4-FFF2-40B4-BE49-F238E27FC236}">
                <a16:creationId xmlns:a16="http://schemas.microsoft.com/office/drawing/2014/main" id="{F572C4D4-3512-4B90-A78F-4587339B68D7}"/>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BLE fits the phone gateway design. Phone proximity remains a requirement.</a:t>
            </a:r>
          </a:p>
        </p:txBody>
      </p:sp>
      <p:sp>
        <p:nvSpPr>
          <p:cNvPr id="7" name="9">
            <a:extLst>
              <a:ext uri="{FF2B5EF4-FFF2-40B4-BE49-F238E27FC236}">
                <a16:creationId xmlns:a16="http://schemas.microsoft.com/office/drawing/2014/main" id="{042C8049-62C7-450C-9BDB-B813F9E8227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9</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BA6B1BED-F14E-4A0D-B272-1890C1397E0B}"/>
              </a:ext>
            </a:extLst>
          </p:cNvPr>
          <p:cNvGraphicFramePr/>
          <p:nvPr/>
        </p:nvGraphicFramePr>
        <p:xfrm>
          <a:off x="523875" y="1285875"/>
          <a:ext cx="11144250" cy="4238628"/>
        </p:xfrm>
        <a:graphic>
          <a:graphicData uri="http://schemas.openxmlformats.org/drawingml/2006/table">
            <a:tbl>
              <a:tblPr/>
              <a:tblGrid>
                <a:gridCol w="190500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953000">
                  <a:extLst>
                    <a:ext uri="{9D8B030D-6E8A-4147-A177-3AD203B41FA5}">
                      <a16:colId xmlns:a16="http://schemas.microsoft.com/office/drawing/2014/main" val="20002"/>
                    </a:ext>
                  </a:extLst>
                </a:gridCol>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Execution status: evidence pending. Capture t">
            <a:extLst>
              <a:ext uri="{FF2B5EF4-FFF2-40B4-BE49-F238E27FC236}">
                <a16:creationId xmlns:a16="http://schemas.microsoft.com/office/drawing/2014/main" id="{11A48837-BA84-46A2-A172-82344334FA23}"/>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dirty="0">
                <a:solidFill>
                  <a:schemeClr val="tx1"/>
                </a:solidFill>
                <a:latin typeface="Times New Roman"/>
                <a:ea typeface="Times New Roman"/>
                <a:cs typeface="Times New Roman"/>
              </a:rPr>
              <a:t>Execution status: evidence pending. Capture the observed outcome before marking Pass.</a:t>
            </a:r>
          </a:p>
        </p:txBody>
      </p:sp>
      <p:sp>
        <p:nvSpPr>
          <p:cNvPr id="7" name="10">
            <a:extLst>
              <a:ext uri="{FF2B5EF4-FFF2-40B4-BE49-F238E27FC236}">
                <a16:creationId xmlns:a16="http://schemas.microsoft.com/office/drawing/2014/main" id="{0715AA64-A2D2-49A2-818E-9E277ADB2455}"/>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10</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1ABC1FB1-160B-4398-B92F-A16E5B693D69}"/>
              </a:ext>
            </a:extLst>
          </p:cNvPr>
          <p:cNvGraphicFramePr/>
          <p:nvPr/>
        </p:nvGraphicFramePr>
        <p:xfrm>
          <a:off x="523875" y="1285875"/>
          <a:ext cx="11144250" cy="4238628"/>
        </p:xfrm>
        <a:graphic>
          <a:graphicData uri="http://schemas.openxmlformats.org/drawingml/2006/table">
            <a:tbl>
              <a:tblPr/>
              <a:tblGrid>
                <a:gridCol w="2428875">
                  <a:extLst>
                    <a:ext uri="{9D8B030D-6E8A-4147-A177-3AD203B41FA5}">
                      <a16:colId xmlns:a16="http://schemas.microsoft.com/office/drawing/2014/main" val="20000"/>
                    </a:ext>
                  </a:extLst>
                </a:gridCol>
                <a:gridCol w="452437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bl>
          </a:graphicData>
        </a:graphic>
      </p:graphicFrame>
      <p:sp>
        <p:nvSpPr>
          <p:cNvPr id="6" name="All cases on this slide are planned. No cloud">
            <a:extLst>
              <a:ext uri="{FF2B5EF4-FFF2-40B4-BE49-F238E27FC236}">
                <a16:creationId xmlns:a16="http://schemas.microsoft.com/office/drawing/2014/main" id="{445289BF-EA09-42DB-9EDC-E23C48D7912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1">
            <a:extLst>
              <a:ext uri="{FF2B5EF4-FFF2-40B4-BE49-F238E27FC236}">
                <a16:creationId xmlns:a16="http://schemas.microsoft.com/office/drawing/2014/main" id="{790258E3-4172-4B82-945C-A2B8BC04DE2A}"/>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11</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Table 4">
            <a:extLst>
              <a:ext uri="{FF2B5EF4-FFF2-40B4-BE49-F238E27FC236}">
                <a16:creationId xmlns:a16="http://schemas.microsoft.com/office/drawing/2014/main" id="{4CF3A94D-C996-4313-B03D-B0C5436F1D81}"/>
              </a:ext>
            </a:extLst>
          </p:cNvPr>
          <p:cNvGraphicFramePr/>
          <p:nvPr/>
        </p:nvGraphicFramePr>
        <p:xfrm>
          <a:off x="523875" y="1143000"/>
          <a:ext cx="11144250" cy="4831080"/>
        </p:xfrm>
        <a:graphic>
          <a:graphicData uri="http://schemas.openxmlformats.org/drawingml/2006/table">
            <a:tbl>
              <a:tblPr/>
              <a:tblGrid>
                <a:gridCol w="2476500">
                  <a:extLst>
                    <a:ext uri="{9D8B030D-6E8A-4147-A177-3AD203B41FA5}">
                      <a16:colId xmlns:a16="http://schemas.microsoft.com/office/drawing/2014/main" val="20000"/>
                    </a:ext>
                  </a:extLst>
                </a:gridCol>
                <a:gridCol w="442912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a:solidFill>
                        <a:srgbClr val="CAD2DF"/>
                      </a:solidFill>
                    </a:lnT>
                    <a:lnB w="9525">
                      <a:solidFill>
                        <a:srgbClr val="CAD2DF"/>
                      </a:solidFill>
                    </a:lnB>
                    <a:solidFill>
                      <a:srgbClr val="002060"/>
                    </a:solidFill>
                  </a:tcPr>
                </a:tc>
                <a:extLst>
                  <a:ext uri="{0D108BD9-81ED-4DB2-BD59-A6C34878D82A}">
                    <a16:rowId xmlns:a16="http://schemas.microsoft.com/office/drawing/2014/main" val="10000"/>
                  </a:ext>
                </a:extLst>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1"/>
                  </a:ext>
                </a:extLst>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2"/>
                  </a:ext>
                </a:extLst>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3"/>
                  </a:ext>
                </a:extLst>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4"/>
                  </a:ext>
                </a:extLst>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EDF3F9"/>
                    </a:solidFill>
                  </a:tcPr>
                </a:tc>
                <a:extLst>
                  <a:ext uri="{0D108BD9-81ED-4DB2-BD59-A6C34878D82A}">
                    <a16:rowId xmlns:a16="http://schemas.microsoft.com/office/drawing/2014/main" val="10005"/>
                  </a:ext>
                </a:extLst>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L w="9525" cap="flat" cmpd="sng" algn="ctr">
                      <a:solidFill>
                        <a:srgbClr val="CAD2DF"/>
                      </a:solidFill>
                      <a:prstDash val="solid"/>
                      <a:round/>
                      <a:headEnd type="none" w="med" len="med"/>
                      <a:tailEnd type="none" w="med" len="med"/>
                    </a:lnL>
                    <a:lnR w="9525">
                      <a:solidFill>
                        <a:srgbClr val="CAD2DF"/>
                      </a:solidFill>
                    </a:lnR>
                    <a:lnT w="9525" cap="flat" cmpd="sng" algn="ctr">
                      <a:solidFill>
                        <a:srgbClr val="CAD2DF"/>
                      </a:solidFill>
                      <a:prstDash val="solid"/>
                      <a:round/>
                      <a:headEnd type="none" w="med" len="med"/>
                      <a:tailEnd type="none" w="med" len="med"/>
                    </a:lnT>
                    <a:lnB w="9525">
                      <a:solidFill>
                        <a:srgbClr val="CAD2DF"/>
                      </a:solidFill>
                    </a:lnB>
                    <a:solidFill>
                      <a:srgbClr val="FFFFFF"/>
                    </a:solidFill>
                  </a:tcPr>
                </a:tc>
                <a:extLst>
                  <a:ext uri="{0D108BD9-81ED-4DB2-BD59-A6C34878D82A}">
                    <a16:rowId xmlns:a16="http://schemas.microsoft.com/office/drawing/2014/main" val="10006"/>
                  </a:ext>
                </a:extLst>
              </a:tr>
            </a:tbl>
          </a:graphicData>
        </a:graphic>
      </p:graphicFrame>
      <p:sp>
        <p:nvSpPr>
          <p:cNvPr id="6" name="12">
            <a:extLst>
              <a:ext uri="{FF2B5EF4-FFF2-40B4-BE49-F238E27FC236}">
                <a16:creationId xmlns:a16="http://schemas.microsoft.com/office/drawing/2014/main" id="{B6423052-90BB-4036-A723-2A62F220BAA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12</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20B156C6-6F63-4077-B2B4-93238B036224}"/>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11" name="Use real device captures. Pair the app displa">
            <a:extLst>
              <a:ext uri="{FF2B5EF4-FFF2-40B4-BE49-F238E27FC236}">
                <a16:creationId xmlns:a16="http://schemas.microsoft.com/office/drawing/2014/main" id="{10D4419E-65F8-4AF8-ABFE-000A5A89DE94}"/>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7B76A915-D870-41E6-BAF2-B5FA79CDAC31}"/>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13</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1733596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A41E0-43D1-4EB5-05B3-131B7942C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18039-CE3F-5D31-47D1-81032C3D345E}"/>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703ABF20-4077-C004-EA78-EA0362C0EC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112DCB65-BAD5-923B-B142-39135B68F746}"/>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A818A6BD-A4AD-3B7F-84CC-E45C5CF0AF38}"/>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DD732C11-C9ED-DF11-34F2-9FAACCE6D6CA}"/>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A647C3A9-35D0-D63F-5016-1819F9FCFDA5}"/>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2C958E9D-A671-B7C0-0DC1-873F58585BD9}"/>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8D13F93E-51D5-BD57-E85F-16E64373B31F}"/>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D4E6AF3D-BB35-9A87-189D-741176C91E60}"/>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1F1D172C-9CD4-6C25-0C8D-32B70DEC02E9}"/>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14</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2984334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F302-8F37-9B0A-598C-3641E87C4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B195DA-E4DE-7952-B2D3-C3677B03761F}"/>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a:ext uri="{FF2B5EF4-FFF2-40B4-BE49-F238E27FC236}">
                <a16:creationId xmlns:a16="http://schemas.microsoft.com/office/drawing/2014/main" id="{0FA670C1-AF38-7D83-610C-E0B1FBAAB30A}"/>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a:ext uri="{FF2B5EF4-FFF2-40B4-BE49-F238E27FC236}">
                <a16:creationId xmlns:a16="http://schemas.microsoft.com/office/drawing/2014/main" id="{CB847F55-70AE-2CCE-8F47-5FF875BB8CBF}"/>
              </a:ext>
            </a:extLst>
          </p:cNvPr>
          <p:cNvSpPr>
            <a:spLocks noGrp="1"/>
          </p:cNvSpPr>
          <p:nvPr/>
        </p:nvSpPr>
        <p:spPr>
          <a:xfrm>
            <a:off x="6667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a:ext uri="{FF2B5EF4-FFF2-40B4-BE49-F238E27FC236}">
                <a16:creationId xmlns:a16="http://schemas.microsoft.com/office/drawing/2014/main" id="{85F8C1C0-A3DB-D1B0-C216-0AB17DC9459B}"/>
              </a:ext>
            </a:extLst>
          </p:cNvPr>
          <p:cNvSpPr>
            <a:spLocks noGrp="1"/>
          </p:cNvSpPr>
          <p:nvPr/>
        </p:nvSpPr>
        <p:spPr>
          <a:xfrm>
            <a:off x="8572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a:ext uri="{FF2B5EF4-FFF2-40B4-BE49-F238E27FC236}">
                <a16:creationId xmlns:a16="http://schemas.microsoft.com/office/drawing/2014/main" id="{93B5EF9A-1507-C5CF-2573-7C011A126F8D}"/>
              </a:ext>
            </a:extLst>
          </p:cNvPr>
          <p:cNvSpPr>
            <a:spLocks noGrp="1"/>
          </p:cNvSpPr>
          <p:nvPr/>
        </p:nvSpPr>
        <p:spPr>
          <a:xfrm>
            <a:off x="457200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a:ext uri="{FF2B5EF4-FFF2-40B4-BE49-F238E27FC236}">
                <a16:creationId xmlns:a16="http://schemas.microsoft.com/office/drawing/2014/main" id="{C8FAB7F7-5CA5-FAC4-E081-656BE97C4141}"/>
              </a:ext>
            </a:extLst>
          </p:cNvPr>
          <p:cNvSpPr>
            <a:spLocks noGrp="1"/>
          </p:cNvSpPr>
          <p:nvPr/>
        </p:nvSpPr>
        <p:spPr>
          <a:xfrm>
            <a:off x="476250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a:ext uri="{FF2B5EF4-FFF2-40B4-BE49-F238E27FC236}">
                <a16:creationId xmlns:a16="http://schemas.microsoft.com/office/drawing/2014/main" id="{D5D280F4-6E93-23C5-27DB-55525A2EF972}"/>
              </a:ext>
            </a:extLst>
          </p:cNvPr>
          <p:cNvSpPr>
            <a:spLocks noGrp="1"/>
          </p:cNvSpPr>
          <p:nvPr/>
        </p:nvSpPr>
        <p:spPr>
          <a:xfrm>
            <a:off x="8477250" y="1238250"/>
            <a:ext cx="3048000" cy="571500"/>
          </a:xfrm>
          <a:prstGeom prst="rect">
            <a:avLst/>
          </a:prstGeom>
          <a:noFill/>
          <a:ln w="0">
            <a:noFill/>
          </a:ln>
        </p:spPr>
        <p:txBody>
          <a:bodyPr lIns="76200" tIns="76200" rIns="76200" bIns="76200" anchor="ctr"/>
          <a:lstStyle>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a:ext uri="{FF2B5EF4-FFF2-40B4-BE49-F238E27FC236}">
                <a16:creationId xmlns:a16="http://schemas.microsoft.com/office/drawing/2014/main" id="{052947C7-05F8-A830-A56F-8A2FF21A8327}"/>
              </a:ext>
            </a:extLst>
          </p:cNvPr>
          <p:cNvSpPr>
            <a:spLocks noGrp="1"/>
          </p:cNvSpPr>
          <p:nvPr/>
        </p:nvSpPr>
        <p:spPr>
          <a:xfrm>
            <a:off x="8667750" y="2047875"/>
            <a:ext cx="2667000" cy="3048000"/>
          </a:xfrm>
          <a:prstGeom prst="rect">
            <a:avLst/>
          </a:prstGeom>
          <a:solidFill>
            <a:srgbClr val="F6F6F6"/>
          </a:solidFill>
          <a:ln w="14288">
            <a:solidFill>
              <a:srgbClr val="AAB4C4"/>
            </a:solidFill>
          </a:ln>
        </p:spPr>
        <p:txBody>
          <a:bodyPr lIns="76200" tIns="76200" rIns="76200" bIns="76200" anchor="ctr"/>
          <a:lstStyle>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a:ext uri="{FF2B5EF4-FFF2-40B4-BE49-F238E27FC236}">
                <a16:creationId xmlns:a16="http://schemas.microsoft.com/office/drawing/2014/main" id="{1DBFD638-25F2-45BD-3A7B-3F7A398218BA}"/>
              </a:ext>
            </a:extLst>
          </p:cNvPr>
          <p:cNvSpPr>
            <a:spLocks noGrp="1"/>
          </p:cNvSpPr>
          <p:nvPr/>
        </p:nvSpPr>
        <p:spPr>
          <a:xfrm>
            <a:off x="523875" y="5857875"/>
            <a:ext cx="11144250" cy="419100"/>
          </a:xfrm>
          <a:prstGeom prst="rect">
            <a:avLst/>
          </a:prstGeom>
          <a:noFill/>
          <a:ln w="0">
            <a:noFill/>
          </a:ln>
        </p:spPr>
        <p:txBody>
          <a:bodyPr lIns="76200" tIns="76200" rIns="76200" bIns="76200" anchor="ctr"/>
          <a:lstStyle>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a:pPr algn="l">
              <a:defRPr sz="1875" b="0">
                <a:solidFill>
                  <a:srgbClr val="0070C0"/>
                </a:solidFill>
                <a:latin typeface="Times New Roman"/>
                <a:ea typeface="Times New Roman"/>
                <a:cs typeface="Times New Roman"/>
              </a:defRPr>
            </a:pPr>
            <a:endParaRPr sz="1875" b="0" dirty="0">
              <a:solidFill>
                <a:srgbClr val="0070C0"/>
              </a:solidFill>
              <a:latin typeface="Times New Roman"/>
              <a:ea typeface="Times New Roman"/>
              <a:cs typeface="Times New Roman"/>
            </a:endParaRPr>
          </a:p>
        </p:txBody>
      </p:sp>
      <p:sp>
        <p:nvSpPr>
          <p:cNvPr id="12" name="13">
            <a:extLst>
              <a:ext uri="{FF2B5EF4-FFF2-40B4-BE49-F238E27FC236}">
                <a16:creationId xmlns:a16="http://schemas.microsoft.com/office/drawing/2014/main" id="{FF7F7340-4D17-F9C6-BE25-0259878AD64D}"/>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15</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925995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0"/>
            <a:ext cx="12192000" cy="762000"/>
          </a:xfrm>
          <a:prstGeom prst="rect">
            <a:avLst/>
          </a:prstGeom>
          <a:solidFill>
            <a:srgbClr val="002060"/>
          </a:solidFill>
        </p:spPr>
        <p:txBody>
          <a:bodyPr>
            <a:normAutofit/>
          </a:bodyPr>
          <a:lstStyle>
            <a:defPPr algn="ctr">
              <a:defRPr sz="4050" b="1">
                <a:solidFill>
                  <a:srgbClr val="FFFFFF"/>
                </a:solidFill>
                <a:latin typeface="Times New Roman"/>
                <a:ea typeface="Times New Roman"/>
                <a:cs typeface="Times New Roman"/>
              </a:defRPr>
            </a:defPPr>
            <a:lvl1pPr algn="ctr">
              <a:buNone/>
              <a:defRPr sz="4050" b="1">
                <a:solidFill>
                  <a:srgbClr val="FFFFFF"/>
                </a:solidFill>
                <a:latin typeface="Times New Roman"/>
                <a:ea typeface="Times New Roman"/>
                <a:cs typeface="Times New Roman"/>
              </a:defRPr>
            </a:lvl1pPr>
            <a:lvl2pPr algn="ctr">
              <a:buNone/>
              <a:defRPr sz="4050" b="1">
                <a:solidFill>
                  <a:srgbClr val="FFFFFF"/>
                </a:solidFill>
                <a:latin typeface="Times New Roman"/>
                <a:ea typeface="Times New Roman"/>
                <a:cs typeface="Times New Roman"/>
              </a:defRPr>
            </a:lvl2pPr>
            <a:lvl3pPr algn="ctr">
              <a:buNone/>
              <a:defRPr sz="4050" b="1">
                <a:solidFill>
                  <a:srgbClr val="FFFFFF"/>
                </a:solidFill>
                <a:latin typeface="Times New Roman"/>
                <a:ea typeface="Times New Roman"/>
                <a:cs typeface="Times New Roman"/>
              </a:defRPr>
            </a:lvl3pPr>
            <a:lvl4pPr algn="ctr">
              <a:buNone/>
              <a:defRPr sz="4050" b="1">
                <a:solidFill>
                  <a:srgbClr val="FFFFFF"/>
                </a:solidFill>
                <a:latin typeface="Times New Roman"/>
                <a:ea typeface="Times New Roman"/>
                <a:cs typeface="Times New Roman"/>
              </a:defRPr>
            </a:lvl4pPr>
            <a:lvl5pPr algn="ctr">
              <a:buNone/>
              <a:defRPr sz="4050" b="1">
                <a:solidFill>
                  <a:srgbClr val="FFFFFF"/>
                </a:solidFill>
                <a:latin typeface="Times New Roman"/>
                <a:ea typeface="Times New Roman"/>
                <a:cs typeface="Times New Roman"/>
              </a:defRPr>
            </a:lvl5pPr>
            <a:lvl6pPr algn="ctr">
              <a:buNone/>
              <a:defRPr sz="4050" b="1">
                <a:solidFill>
                  <a:srgbClr val="FFFFFF"/>
                </a:solidFill>
                <a:latin typeface="Times New Roman"/>
                <a:ea typeface="Times New Roman"/>
                <a:cs typeface="Times New Roman"/>
              </a:defRPr>
            </a:lvl6pPr>
            <a:lvl7pPr algn="ctr">
              <a:buNone/>
              <a:defRPr sz="4050" b="1">
                <a:solidFill>
                  <a:srgbClr val="FFFFFF"/>
                </a:solidFill>
                <a:latin typeface="Times New Roman"/>
                <a:ea typeface="Times New Roman"/>
                <a:cs typeface="Times New Roman"/>
              </a:defRPr>
            </a:lvl7pPr>
            <a:lvl8pPr algn="ctr">
              <a:buNone/>
              <a:defRPr sz="4050" b="1">
                <a:solidFill>
                  <a:srgbClr val="FFFFFF"/>
                </a:solidFill>
                <a:latin typeface="Times New Roman"/>
                <a:ea typeface="Times New Roman"/>
                <a:cs typeface="Times New Roman"/>
              </a:defRPr>
            </a:lvl8pPr>
            <a:lvl9pPr algn="ctr">
              <a:buNone/>
              <a:defRPr sz="4050" b="1">
                <a:solidFill>
                  <a:srgbClr val="FFFFFF"/>
                </a:solidFill>
                <a:latin typeface="Times New Roman"/>
                <a:ea typeface="Times New Roman"/>
                <a:cs typeface="Times New Roman"/>
              </a:defRPr>
            </a:lvl9pPr>
          </a:lstStyle>
          <a:p>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buNone/>
              <a:defRPr sz="1200" b="1">
                <a:solidFill>
                  <a:srgbClr val="FFFFFF"/>
                </a:solidFill>
                <a:latin typeface="Times New Roman"/>
                <a:ea typeface="Times New Roman"/>
                <a:cs typeface="Times New Roman"/>
              </a:defRPr>
            </a:lvl1pPr>
            <a:lvl2pPr>
              <a:buNone/>
              <a:defRPr sz="1200" b="1">
                <a:solidFill>
                  <a:srgbClr val="FFFFFF"/>
                </a:solidFill>
                <a:latin typeface="Times New Roman"/>
                <a:ea typeface="Times New Roman"/>
                <a:cs typeface="Times New Roman"/>
              </a:defRPr>
            </a:lvl2pPr>
            <a:lvl3pPr>
              <a:buNone/>
              <a:defRPr sz="1200" b="1">
                <a:solidFill>
                  <a:srgbClr val="FFFFFF"/>
                </a:solidFill>
                <a:latin typeface="Times New Roman"/>
                <a:ea typeface="Times New Roman"/>
                <a:cs typeface="Times New Roman"/>
              </a:defRPr>
            </a:lvl3pPr>
            <a:lvl4pPr>
              <a:buNone/>
              <a:defRPr sz="1200" b="1">
                <a:solidFill>
                  <a:srgbClr val="FFFFFF"/>
                </a:solidFill>
                <a:latin typeface="Times New Roman"/>
                <a:ea typeface="Times New Roman"/>
                <a:cs typeface="Times New Roman"/>
              </a:defRPr>
            </a:lvl4pPr>
            <a:lvl5pPr>
              <a:buNone/>
              <a:defRPr sz="1200" b="1">
                <a:solidFill>
                  <a:srgbClr val="FFFFFF"/>
                </a:solidFill>
                <a:latin typeface="Times New Roman"/>
                <a:ea typeface="Times New Roman"/>
                <a:cs typeface="Times New Roman"/>
              </a:defRPr>
            </a:lvl5pPr>
            <a:lvl6pPr>
              <a:buNone/>
              <a:defRPr sz="1200" b="1">
                <a:solidFill>
                  <a:srgbClr val="FFFFFF"/>
                </a:solidFill>
                <a:latin typeface="Times New Roman"/>
                <a:ea typeface="Times New Roman"/>
                <a:cs typeface="Times New Roman"/>
              </a:defRPr>
            </a:lvl6pPr>
            <a:lvl7pPr>
              <a:buNone/>
              <a:defRPr sz="1200" b="1">
                <a:solidFill>
                  <a:srgbClr val="FFFFFF"/>
                </a:solidFill>
                <a:latin typeface="Times New Roman"/>
                <a:ea typeface="Times New Roman"/>
                <a:cs typeface="Times New Roman"/>
              </a:defRPr>
            </a:lvl7pPr>
            <a:lvl8pPr>
              <a:buNone/>
              <a:defRPr sz="1200" b="1">
                <a:solidFill>
                  <a:srgbClr val="FFFFFF"/>
                </a:solidFill>
                <a:latin typeface="Times New Roman"/>
                <a:ea typeface="Times New Roman"/>
                <a:cs typeface="Times New Roman"/>
              </a:defRPr>
            </a:lvl8pPr>
            <a:lvl9pPr>
              <a:buNone/>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15" name="14">
            <a:extLst>
              <a:ext uri="{FF2B5EF4-FFF2-40B4-BE49-F238E27FC236}">
                <a16:creationId xmlns:a16="http://schemas.microsoft.com/office/drawing/2014/main" id="{B84EC8C5-B46C-4435-9A1C-74A4C9868B47}"/>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buNone/>
              <a:defRPr sz="1200" b="1">
                <a:solidFill>
                  <a:srgbClr val="FFFFFF"/>
                </a:solidFill>
                <a:latin typeface="Times New Roman"/>
                <a:ea typeface="Times New Roman"/>
                <a:cs typeface="Times New Roman"/>
              </a:defRPr>
            </a:lvl1pPr>
            <a:lvl2pPr algn="r">
              <a:buNone/>
              <a:defRPr sz="1200" b="1">
                <a:solidFill>
                  <a:srgbClr val="FFFFFF"/>
                </a:solidFill>
                <a:latin typeface="Times New Roman"/>
                <a:ea typeface="Times New Roman"/>
                <a:cs typeface="Times New Roman"/>
              </a:defRPr>
            </a:lvl2pPr>
            <a:lvl3pPr algn="r">
              <a:buNone/>
              <a:defRPr sz="1200" b="1">
                <a:solidFill>
                  <a:srgbClr val="FFFFFF"/>
                </a:solidFill>
                <a:latin typeface="Times New Roman"/>
                <a:ea typeface="Times New Roman"/>
                <a:cs typeface="Times New Roman"/>
              </a:defRPr>
            </a:lvl3pPr>
            <a:lvl4pPr algn="r">
              <a:buNone/>
              <a:defRPr sz="1200" b="1">
                <a:solidFill>
                  <a:srgbClr val="FFFFFF"/>
                </a:solidFill>
                <a:latin typeface="Times New Roman"/>
                <a:ea typeface="Times New Roman"/>
                <a:cs typeface="Times New Roman"/>
              </a:defRPr>
            </a:lvl4pPr>
            <a:lvl5pPr algn="r">
              <a:buNone/>
              <a:defRPr sz="1200" b="1">
                <a:solidFill>
                  <a:srgbClr val="FFFFFF"/>
                </a:solidFill>
                <a:latin typeface="Times New Roman"/>
                <a:ea typeface="Times New Roman"/>
                <a:cs typeface="Times New Roman"/>
              </a:defRPr>
            </a:lvl5pPr>
            <a:lvl6pPr algn="r">
              <a:buNone/>
              <a:defRPr sz="1200" b="1">
                <a:solidFill>
                  <a:srgbClr val="FFFFFF"/>
                </a:solidFill>
                <a:latin typeface="Times New Roman"/>
                <a:ea typeface="Times New Roman"/>
                <a:cs typeface="Times New Roman"/>
              </a:defRPr>
            </a:lvl6pPr>
            <a:lvl7pPr algn="r">
              <a:buNone/>
              <a:defRPr sz="1200" b="1">
                <a:solidFill>
                  <a:srgbClr val="FFFFFF"/>
                </a:solidFill>
                <a:latin typeface="Times New Roman"/>
                <a:ea typeface="Times New Roman"/>
                <a:cs typeface="Times New Roman"/>
              </a:defRPr>
            </a:lvl7pPr>
            <a:lvl8pPr algn="r">
              <a:buNone/>
              <a:defRPr sz="1200" b="1">
                <a:solidFill>
                  <a:srgbClr val="FFFFFF"/>
                </a:solidFill>
                <a:latin typeface="Times New Roman"/>
                <a:ea typeface="Times New Roman"/>
                <a:cs typeface="Times New Roman"/>
              </a:defRPr>
            </a:lvl8pPr>
            <a:lvl9pPr algn="r">
              <a:buNone/>
              <a:defRPr sz="1200" b="1">
                <a:solidFill>
                  <a:srgbClr val="FFFFFF"/>
                </a:solidFill>
                <a:latin typeface="Times New Roman"/>
                <a:ea typeface="Times New Roman"/>
                <a:cs typeface="Times New Roman"/>
              </a:defRPr>
            </a:lvl9pPr>
          </a:lstStyle>
          <a:p>
            <a:pPr algn="r">
              <a:buNone/>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16</a:t>
            </a:r>
            <a:endParaRPr sz="1200" b="1">
              <a:solidFill>
                <a:srgbClr val="FFFFFF"/>
              </a:solidFill>
              <a:latin typeface="Times New Roman"/>
              <a:ea typeface="Times New Roman"/>
              <a:cs typeface="Times New Roman"/>
            </a:endParaRPr>
          </a:p>
        </p:txBody>
      </p:sp>
      <p:sp>
        <p:nvSpPr>
          <p:cNvPr id="16" name="Conclusion and future work bullets">
            <a:extLst>
              <a:ext uri="{FF2B5EF4-FFF2-40B4-BE49-F238E27FC236}">
                <a16:creationId xmlns:a16="http://schemas.microsoft.com/office/drawing/2014/main" id="{E4ABBF5B-8045-467A-B70B-6EC5DD7F3F99}"/>
              </a:ext>
            </a:extLst>
          </p:cNvPr>
          <p:cNvSpPr>
            <a:spLocks noGrp="1"/>
          </p:cNvSpPr>
          <p:nvPr/>
        </p:nvSpPr>
        <p:spPr>
          <a:xfrm>
            <a:off x="762000" y="1333500"/>
            <a:ext cx="10668000" cy="4524375"/>
          </a:xfrm>
          <a:prstGeom prst="rect">
            <a:avLst/>
          </a:prstGeom>
          <a:noFill/>
          <a:ln w="0">
            <a:noFill/>
          </a:ln>
        </p:spPr>
        <p:txBody>
          <a:bodyPr lIns="0" tIns="0" rIns="0" bIns="0">
            <a:noAutofit/>
          </a:bodyPr>
          <a:lstStyle>
            <a:defPPr>
              <a:defRPr sz="2625">
                <a:solidFill>
                  <a:srgbClr val="111111"/>
                </a:solidFill>
                <a:latin typeface="Times New Roman"/>
                <a:ea typeface="Times New Roman"/>
                <a:cs typeface="Times New Roman"/>
              </a:defRPr>
            </a:defPPr>
            <a:lvl1pPr>
              <a:defRPr sz="2625">
                <a:solidFill>
                  <a:srgbClr val="111111"/>
                </a:solidFill>
                <a:latin typeface="Times New Roman"/>
                <a:ea typeface="Times New Roman"/>
                <a:cs typeface="Times New Roman"/>
              </a:defRPr>
            </a:lvl1pPr>
            <a:lvl2pPr>
              <a:defRPr sz="2625">
                <a:solidFill>
                  <a:srgbClr val="111111"/>
                </a:solidFill>
                <a:latin typeface="Times New Roman"/>
                <a:ea typeface="Times New Roman"/>
                <a:cs typeface="Times New Roman"/>
              </a:defRPr>
            </a:lvl2pPr>
            <a:lvl3pPr>
              <a:defRPr sz="2625">
                <a:solidFill>
                  <a:srgbClr val="111111"/>
                </a:solidFill>
                <a:latin typeface="Times New Roman"/>
                <a:ea typeface="Times New Roman"/>
                <a:cs typeface="Times New Roman"/>
              </a:defRPr>
            </a:lvl3pPr>
            <a:lvl4pPr>
              <a:defRPr sz="2625">
                <a:solidFill>
                  <a:srgbClr val="111111"/>
                </a:solidFill>
                <a:latin typeface="Times New Roman"/>
                <a:ea typeface="Times New Roman"/>
                <a:cs typeface="Times New Roman"/>
              </a:defRPr>
            </a:lvl4pPr>
            <a:lvl5pPr>
              <a:defRPr sz="2625">
                <a:solidFill>
                  <a:srgbClr val="111111"/>
                </a:solidFill>
                <a:latin typeface="Times New Roman"/>
                <a:ea typeface="Times New Roman"/>
                <a:cs typeface="Times New Roman"/>
              </a:defRPr>
            </a:lvl5pPr>
            <a:lvl6pPr>
              <a:defRPr sz="2625">
                <a:solidFill>
                  <a:srgbClr val="111111"/>
                </a:solidFill>
                <a:latin typeface="Times New Roman"/>
                <a:ea typeface="Times New Roman"/>
                <a:cs typeface="Times New Roman"/>
              </a:defRPr>
            </a:lvl6pPr>
            <a:lvl7pPr>
              <a:defRPr sz="2625">
                <a:solidFill>
                  <a:srgbClr val="111111"/>
                </a:solidFill>
                <a:latin typeface="Times New Roman"/>
                <a:ea typeface="Times New Roman"/>
                <a:cs typeface="Times New Roman"/>
              </a:defRPr>
            </a:lvl7pPr>
            <a:lvl8pPr>
              <a:defRPr sz="2625">
                <a:solidFill>
                  <a:srgbClr val="111111"/>
                </a:solidFill>
                <a:latin typeface="Times New Roman"/>
                <a:ea typeface="Times New Roman"/>
                <a:cs typeface="Times New Roman"/>
              </a:defRPr>
            </a:lvl8pPr>
            <a:lvl9pPr>
              <a:defRPr sz="2625">
                <a:solidFill>
                  <a:srgbClr val="111111"/>
                </a:solidFill>
                <a:latin typeface="Times New Roman"/>
                <a:ea typeface="Times New Roman"/>
                <a:cs typeface="Times New Roman"/>
              </a:defRPr>
            </a:lvl9pPr>
          </a:lstStyle>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Implemented ESP32 BLE communication and a Flutter app for simulated vitals.</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Supported device discovery, encrypted connection and start/stop control.</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Integrate physical sensors, OLED and the full RTOS task pipeline.</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Add persistent uploads, cloud services and the hospital dashboard.</a:t>
            </a:r>
          </a:p>
          <a:p>
            <a:pPr marL="304800" indent="-152400">
              <a:spcAft>
                <a:spcPts val="2000"/>
              </a:spcAft>
              <a:buChar char="•"/>
              <a:defRPr sz="2625">
                <a:solidFill>
                  <a:srgbClr val="111111"/>
                </a:solidFill>
                <a:latin typeface="Times New Roman"/>
                <a:ea typeface="Times New Roman"/>
                <a:cs typeface="Times New Roman"/>
              </a:defRPr>
            </a:pPr>
            <a:r>
              <a:rPr sz="2625">
                <a:solidFill>
                  <a:srgbClr val="111111"/>
                </a:solidFill>
                <a:latin typeface="Times New Roman"/>
                <a:ea typeface="Times New Roman"/>
                <a:cs typeface="Times New Roman"/>
              </a:rPr>
              <a:t>Develop GPS tracking, ETA estimation and ML risk prediction.</a:t>
            </a:r>
          </a:p>
        </p:txBody>
      </p:sp>
    </p:spTree>
    <p:extLst>
      <p:ext uri="{BB962C8B-B14F-4D97-AF65-F5344CB8AC3E}">
        <p14:creationId xmlns:p14="http://schemas.microsoft.com/office/powerpoint/2010/main" val="1733596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D393A-8365-3C41-2C17-6494BBBD7105}"/>
              </a:ext>
            </a:extLst>
          </p:cNvPr>
          <p:cNvSpPr>
            <a:spLocks noGrp="1"/>
          </p:cNvSpPr>
          <p:nvPr>
            <p:ph type="title"/>
          </p:nvPr>
        </p:nvSpPr>
        <p:spPr>
          <a:xfrm>
            <a:off x="0" y="1"/>
            <a:ext cx="12192000" cy="765809"/>
          </a:xfrm>
          <a:prstGeom prst="rect">
            <a:avLst/>
          </a:prstGeom>
          <a:solidFill>
            <a:srgbClr val="002060"/>
          </a:solidFill>
        </p:spPr>
        <p:txBody>
          <a:bodyPr>
            <a:normAutofit/>
          </a:bodyPr>
          <a:lstStyle/>
          <a:p>
            <a:pPr algn="ctr">
              <a:buNone/>
            </a:pPr>
            <a:endParaRPr sz="3600" b="1">
              <a:solidFill>
                <a:schemeClr val="bg1"/>
              </a:solidFill>
              <a:latin typeface="Times New Roman"/>
              <a:ea typeface="Times New Roman"/>
              <a:cs typeface="Times New Roman"/>
            </a:endParaRPr>
          </a:p>
        </p:txBody>
      </p:sp>
      <p:sp>
        <p:nvSpPr>
          <p:cNvPr id="4" name="Footer Placeholder 3">
            <a:extLst>
              <a:ext uri="{FF2B5EF4-FFF2-40B4-BE49-F238E27FC236}">
                <a16:creationId xmlns:a16="http://schemas.microsoft.com/office/drawing/2014/main" id="{3D9C6012-FCED-4937-A4AB-8CEEC135A13C}"/>
              </a:ext>
            </a:extLst>
          </p:cNvPr>
          <p:cNvSpPr>
            <a:spLocks noGrp="1"/>
          </p:cNvSpPr>
          <p:nvPr>
            <p:ph type="ftr" idx="11"/>
          </p:nvPr>
        </p:nvSpPr>
        <p:spPr>
          <a:xfrm>
            <a:off x="0" y="6492907"/>
            <a:ext cx="12192000" cy="365093"/>
          </a:xfrm>
          <a:prstGeom prst="rect">
            <a:avLst/>
          </a:prstGeom>
          <a:solidFill>
            <a:srgbClr val="002060"/>
          </a:solidFill>
        </p:spPr>
        <p:txBody>
          <a:bodyPr/>
          <a:lstStyle>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a:ext uri="{FF2B5EF4-FFF2-40B4-BE49-F238E27FC236}">
                <a16:creationId xmlns:a16="http://schemas.microsoft.com/office/drawing/2014/main" id="{1C9D027C-64E9-914D-D965-A429BBC87943}"/>
              </a:ext>
            </a:extLst>
          </p:cNvPr>
          <p:cNvSpPr>
            <a:spLocks noGrp="1"/>
          </p:cNvSpPr>
          <p:nvPr/>
        </p:nvSpPr>
        <p:spPr>
          <a:xfrm>
            <a:off x="4563762" y="3429000"/>
            <a:ext cx="3387722" cy="1015663"/>
          </a:xfrm>
          <a:prstGeom prst="rect">
            <a:avLst/>
          </a:prstGeom>
          <a:noFill/>
        </p:spPr>
        <p:txBody>
          <a:bodyPr wrap="none">
            <a:spAutoFit/>
          </a:bodyPr>
          <a:lstStyle/>
          <a:p>
            <a:r>
              <a:rPr sz="6000">
                <a:solidFill>
                  <a:srgbClr val="0070C0"/>
                </a:solidFill>
              </a:rPr>
              <a:t>Thank You</a:t>
            </a:r>
          </a:p>
        </p:txBody>
      </p:sp>
      <p:sp>
        <p:nvSpPr>
          <p:cNvPr id="8" name="15">
            <a:extLst>
              <a:ext uri="{FF2B5EF4-FFF2-40B4-BE49-F238E27FC236}">
                <a16:creationId xmlns:a16="http://schemas.microsoft.com/office/drawing/2014/main" id="{5A51434F-8A9A-48B7-AE15-5E50A8D5B94F}"/>
              </a:ext>
            </a:extLst>
          </p:cNvPr>
          <p:cNvSpPr>
            <a:spLocks noGrp="1"/>
          </p:cNvSpPr>
          <p:nvPr/>
        </p:nvSpPr>
        <p:spPr>
          <a:xfrm>
            <a:off x="11430000" y="6496050"/>
            <a:ext cx="571500" cy="342900"/>
          </a:xfrm>
          <a:prstGeom prst="rect">
            <a:avLst/>
          </a:prstGeom>
          <a:noFill/>
          <a:ln w="0">
            <a:noFill/>
          </a:ln>
        </p:spPr>
        <p:txBody>
          <a:bodyPr lIns="76200" tIns="76200" rIns="76200" bIns="76200" anchor="ctr"/>
          <a:lstStyle>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a:pPr algn="r">
              <a:defRPr sz="1200" b="1">
                <a:solidFill>
                  <a:srgbClr val="FFFFFF"/>
                </a:solidFill>
                <a:latin typeface="Times New Roman"/>
                <a:ea typeface="Times New Roman"/>
                <a:cs typeface="Times New Roman"/>
              </a:defRPr>
            </a:pPr>
            <a:r>
              <a:rPr lang="en-IN" sz="1200" b="1">
                <a:solidFill>
                  <a:srgbClr val="FFFFFF"/>
                </a:solidFill>
                <a:latin typeface="Times New Roman"/>
                <a:ea typeface="Times New Roman"/>
                <a:cs typeface="Times New Roman"/>
              </a:rPr>
              <a:t>17</a:t>
            </a:r>
            <a:endParaRPr sz="1200" b="1">
              <a:solidFill>
                <a:srgbClr val="FFFFFF"/>
              </a:solidFill>
              <a:latin typeface="Times New Roman"/>
              <a:ea typeface="Times New Roman"/>
              <a:cs typeface="Times New Roman"/>
            </a:endParaRPr>
          </a:p>
        </p:txBody>
      </p:sp>
    </p:spTree>
    <p:extLst>
      <p:ext uri="{BB962C8B-B14F-4D97-AF65-F5344CB8AC3E}">
        <p14:creationId xmlns:p14="http://schemas.microsoft.com/office/powerpoint/2010/main" val="310531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2769</Words>
  <Application>Microsoft Office PowerPoint</Application>
  <DocSecurity>0</DocSecurity>
  <PresentationFormat>Widescreen</PresentationFormat>
  <Paragraphs>279</Paragraphs>
  <Slides>17</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17</vt:i4>
      </vt:variant>
    </vt:vector>
  </HeadingPairs>
  <TitlesOfParts>
    <vt:vector size="23" baseType="lpstr">
      <vt:lpstr>Arial</vt:lpstr>
      <vt:lpstr>Calibri</vt:lpstr>
      <vt:lpstr>Calibri Light</vt:lpstr>
      <vt:lpstr>Times New Roman</vt:lpstr>
      <vt:lpstr>Office Theme</vt:lpstr>
      <vt:lpstr>Office Theme</vt:lpstr>
      <vt:lpstr>Project Work Phase-2        7th semester  AY: 2026-27</vt:lpstr>
      <vt:lpstr>Project Objectives</vt:lpstr>
      <vt:lpstr>Architecture</vt:lpstr>
      <vt:lpstr>BLE Communication Workflow</vt:lpstr>
      <vt:lpstr>PowerPoint Presentation</vt:lpstr>
      <vt:lpstr>Methods and Design Comparison</vt:lpstr>
      <vt:lpstr>Functional Requirements</vt:lpstr>
      <vt:lpstr>Non-Functional Requirements</vt:lpstr>
      <vt:lpstr>Wi-Fi vs BLE: Design Rationale</vt:lpstr>
      <vt:lpstr>BLE Test Cases</vt:lpstr>
      <vt:lpstr>Planned Integration Tests</vt:lpstr>
      <vt:lpstr>Implementation Status</vt:lpstr>
      <vt:lpstr>Prototype Evidence</vt:lpstr>
      <vt:lpstr>Prototype Evidence</vt:lpstr>
      <vt:lpstr>Prototype Evidence</vt:lpstr>
      <vt:lpstr>Conclusion and Future Work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Rahul S</cp:lastModifiedBy>
  <cp:revision>3</cp:revision>
  <dcterms:created xsi:type="dcterms:W3CDTF">2026-10-19T06:24:58Z</dcterms:created>
  <dcterms:modified xsi:type="dcterms:W3CDTF">2026-10-19T08:17:41Z</dcterms:modified>
</cp:coreProperties>
</file>