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0"/>
  </p:notesMasterIdLst>
  <p:sldIdLst>
    <p:sldId id="256" r:id="rId3"/>
    <p:sldId id="258" r:id="rId4"/>
    <p:sldId id="259" r:id="rId5"/>
    <p:sldId id="273" r:id="rId6"/>
    <p:sldId id="260" r:id="rId7"/>
    <p:sldId id="261" r:id="rId8"/>
    <p:sldId id="262" r:id="rId9"/>
    <p:sldId id="263" r:id="rId10"/>
    <p:sldId id="264" r:id="rId11"/>
    <p:sldId id="265" r:id="rId12"/>
    <p:sldId id="266" r:id="rId13"/>
    <p:sldId id="267" r:id="rId14"/>
    <p:sldId id="268" r:id="rId15"/>
    <p:sldId id="271" r:id="rId16"/>
    <p:sldId id="272" r:id="rId17"/>
    <p:sldId id="269" r:id="rId18"/>
    <p:sldId id="270"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6" d="100"/>
          <a:sy n="76" d="100"/>
        </p:scale>
        <p:origin x="2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of the implemented ESP32-to-phone BLE prototype. The Flutter app is the BLE central/GATT client. ESP32 advertises as Smart_Ambulance and hosts GHSS 0x1840. App start 0x01 and stop 0x02 commands use control point 0x2BF4. Firmware requires link encryption and subscribed indications, validates the command, sets stream state, and indicates acknowledgement 0x80. The simulated-vitals task emits heart rate, SpO2 and temperature observations through notifications on 0x2B8B. Physical sensor integration is planned. Sources: current app/lib/main.dart and esp32/components/ble/ble.c, ble_gap.c, ble_gatt.c.</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98569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F529-C7F9-3BB8-89CE-AECAFE9DD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CC2A5-3CF7-8295-C60E-1DC702A78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B507-E0A6-5AA2-3A8F-25DAB036ABC9}"/>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62CF59E0-1829-E561-4973-AFE9A6F588F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069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1B10-EFB7-6995-9BC1-09565D10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3071-BD4E-3CAA-4206-85D77FB6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05F57-FF00-BC3A-FF32-FDDAC128A382}"/>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5A65C5BC-94FE-987A-2234-AB48C34829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83027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To develop a BLE-based mobile communication backbone for transmitting real-time patient vitals to a mobile application, which securely forwards data to the cloud using MQTT over TLS, with CoAP as a backup.</a:t>
            </a:r>
          </a:p>
          <a:p>
            <a:pPr marL="457200" indent="-457200">
              <a:buAutoNum type="arabicPeriod"/>
            </a:pPr>
            <a:r>
              <a:rPr lang="en-IN" sz="2000" dirty="0">
                <a:latin typeface="Times New Roman" panose="02020603050405020304" pitchFamily="18" charset="0"/>
                <a:cs typeface="Times New Roman" panose="02020603050405020304" pitchFamily="18" charset="0"/>
              </a:rPr>
              <a:t>To integrate GPS-based ambulance tracking with OSRM routing to estimate travel distance and arrival time at the selected hospital.</a:t>
            </a:r>
          </a:p>
          <a:p>
            <a:pPr marL="457200" indent="-457200">
              <a:buAutoNum type="arabicPeriod"/>
            </a:pPr>
            <a:r>
              <a:rPr lang="en-US" sz="2000" dirty="0">
                <a:latin typeface="Times New Roman" panose="02020603050405020304" pitchFamily="18" charset="0"/>
                <a:cs typeface="Times New Roman" panose="02020603050405020304" pitchFamily="18" charset="0"/>
              </a:rPr>
              <a:t>To integrate the existing patient health monitoring system with the mobile communication backbone for continuous vital acquisition, transmission, and remote monitoring during ambulance transit.</a:t>
            </a:r>
          </a:p>
          <a:p>
            <a:pPr marL="457200" indent="-457200">
              <a:buAutoNum type="arabicPeriod"/>
            </a:pPr>
            <a:r>
              <a:rPr lang="en-US" sz="2000" dirty="0">
                <a:latin typeface="Times New Roman" panose="02020603050405020304" pitchFamily="18" charset="0"/>
                <a:cs typeface="Times New Roman" panose="02020603050405020304" pitchFamily="18" charset="0"/>
              </a:rPr>
              <a:t>To implement RTOS-based concurrent task management for sensor acquisition, vital processing, communication, and local display, ensuring responsive and reliable operation.</a:t>
            </a:r>
          </a:p>
          <a:p>
            <a:pPr marL="457200" indent="-457200">
              <a:buAutoNum type="arabicPeriod"/>
            </a:pPr>
            <a:r>
              <a:rPr lang="en-US" sz="2000" dirty="0">
                <a:latin typeface="Times New Roman" panose="02020603050405020304" pitchFamily="18" charset="0"/>
                <a:cs typeface="Times New Roman" panose="02020603050405020304" pitchFamily="18" charset="0"/>
              </a:rPr>
              <a:t>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E70DEC41-7626-496F-964D-EE6EAB9B9264}"/>
              </a:ext>
            </a:extLst>
          </p:cNvPr>
          <p:cNvCxnSpPr>
            <a:stCxn id="10" idx="1"/>
            <a:endCxn id="9" idx="3"/>
          </p:cNvCxnSpPr>
          <p:nvPr/>
        </p:nvCxnSpPr>
        <p:spPr>
          <a:xfrm flipH="1">
            <a:off x="3571875" y="4976813"/>
            <a:ext cx="1000125"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06C3621-069C-47DF-99B5-4BCA1E4BA575}"/>
              </a:ext>
            </a:extLst>
          </p:cNvPr>
          <p:cNvCxnSpPr>
            <a:stCxn id="11" idx="1"/>
            <a:endCxn id="10" idx="3"/>
          </p:cNvCxnSpPr>
          <p:nvPr/>
        </p:nvCxnSpPr>
        <p:spPr>
          <a:xfrm flipH="1">
            <a:off x="7620000" y="4976813"/>
            <a:ext cx="1000125"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19B83905-76F3-402C-B744-8C68C3CE0C6C}"/>
              </a:ext>
            </a:extLst>
          </p:cNvPr>
          <p:cNvCxnSpPr>
            <a:stCxn id="7" idx="3"/>
            <a:endCxn id="8" idx="1"/>
          </p:cNvCxnSpPr>
          <p:nvPr/>
        </p:nvCxnSpPr>
        <p:spPr>
          <a:xfrm>
            <a:off x="7620000" y="3167063"/>
            <a:ext cx="1000125" cy="0"/>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66492FCD-B7FD-45E6-B9BB-C73D45D399D5}"/>
              </a:ext>
            </a:extLst>
          </p:cNvPr>
          <p:cNvCxnSpPr>
            <a:stCxn id="6" idx="3"/>
            <a:endCxn id="7" idx="1"/>
          </p:cNvCxnSpPr>
          <p:nvPr/>
        </p:nvCxnSpPr>
        <p:spPr>
          <a:xfrm>
            <a:off x="3571875" y="3167063"/>
            <a:ext cx="1000125" cy="0"/>
          </a:xfrm>
          <a:prstGeom prst="straightConnector1">
            <a:avLst/>
          </a:prstGeom>
          <a:ln w="19050">
            <a:solidFill>
              <a:srgbClr val="002060"/>
            </a:solidFill>
            <a:tailEnd type="arrow" w="med" len="med"/>
          </a:ln>
        </p:spPr>
      </p:cxnSp>
      <p:sp>
        <p:nvSpPr>
          <p:cNvPr id="19" name="BLE Architecture: Flutter to ESP32">
            <a:extLst>
              <a:ext uri="{FF2B5EF4-FFF2-40B4-BE49-F238E27FC236}">
                <a16:creationId xmlns:a16="http://schemas.microsoft.com/office/drawing/2014/main" id="{D51F3475-2963-4DC4-84C8-8D9EFE4E3FB4}"/>
              </a:ext>
            </a:extLst>
          </p:cNvPr>
          <p:cNvSpPr>
            <a:spLocks noGrp="1"/>
          </p:cNvSpPr>
          <p:nvPr/>
        </p:nvSpPr>
        <p:spPr>
          <a:xfrm>
            <a:off x="0" y="0"/>
            <a:ext cx="12192000" cy="762000"/>
          </a:xfrm>
          <a:prstGeom prst="rect">
            <a:avLst/>
          </a:prstGeom>
          <a:solidFill>
            <a:srgbClr val="002060"/>
          </a:solidFill>
          <a:ln w="14288">
            <a:solidFill>
              <a:srgbClr val="002060"/>
            </a:solidFill>
          </a:ln>
        </p:spPr>
        <p:txBody>
          <a:bodyPr lIns="76200" tIns="76200" rIns="76200" bIns="76200" anchor="ctr"/>
          <a:lstStyle>
            <a:defPPr algn="ctr">
              <a:defRPr sz="3900" b="1">
                <a:solidFill>
                  <a:srgbClr val="FFFFFF"/>
                </a:solidFill>
                <a:latin typeface="Times New Roman"/>
                <a:ea typeface="Times New Roman"/>
                <a:cs typeface="Times New Roman"/>
              </a:defRPr>
            </a:defPPr>
            <a:lvl1pPr algn="ctr">
              <a:defRPr sz="3900" b="1">
                <a:solidFill>
                  <a:srgbClr val="FFFFFF"/>
                </a:solidFill>
                <a:latin typeface="Times New Roman"/>
                <a:ea typeface="Times New Roman"/>
                <a:cs typeface="Times New Roman"/>
              </a:defRPr>
            </a:lvl1pPr>
            <a:lvl2pPr algn="ctr">
              <a:defRPr sz="3900" b="1">
                <a:solidFill>
                  <a:srgbClr val="FFFFFF"/>
                </a:solidFill>
                <a:latin typeface="Times New Roman"/>
                <a:ea typeface="Times New Roman"/>
                <a:cs typeface="Times New Roman"/>
              </a:defRPr>
            </a:lvl2pPr>
            <a:lvl3pPr algn="ctr">
              <a:defRPr sz="3900" b="1">
                <a:solidFill>
                  <a:srgbClr val="FFFFFF"/>
                </a:solidFill>
                <a:latin typeface="Times New Roman"/>
                <a:ea typeface="Times New Roman"/>
                <a:cs typeface="Times New Roman"/>
              </a:defRPr>
            </a:lvl3pPr>
            <a:lvl4pPr algn="ctr">
              <a:defRPr sz="3900" b="1">
                <a:solidFill>
                  <a:srgbClr val="FFFFFF"/>
                </a:solidFill>
                <a:latin typeface="Times New Roman"/>
                <a:ea typeface="Times New Roman"/>
                <a:cs typeface="Times New Roman"/>
              </a:defRPr>
            </a:lvl4pPr>
            <a:lvl5pPr algn="ctr">
              <a:defRPr sz="3900" b="1">
                <a:solidFill>
                  <a:srgbClr val="FFFFFF"/>
                </a:solidFill>
                <a:latin typeface="Times New Roman"/>
                <a:ea typeface="Times New Roman"/>
                <a:cs typeface="Times New Roman"/>
              </a:defRPr>
            </a:lvl5pPr>
            <a:lvl6pPr algn="ctr">
              <a:defRPr sz="3900" b="1">
                <a:solidFill>
                  <a:srgbClr val="FFFFFF"/>
                </a:solidFill>
                <a:latin typeface="Times New Roman"/>
                <a:ea typeface="Times New Roman"/>
                <a:cs typeface="Times New Roman"/>
              </a:defRPr>
            </a:lvl6pPr>
            <a:lvl7pPr algn="ctr">
              <a:defRPr sz="3900" b="1">
                <a:solidFill>
                  <a:srgbClr val="FFFFFF"/>
                </a:solidFill>
                <a:latin typeface="Times New Roman"/>
                <a:ea typeface="Times New Roman"/>
                <a:cs typeface="Times New Roman"/>
              </a:defRPr>
            </a:lvl7pPr>
            <a:lvl8pPr algn="ctr">
              <a:defRPr sz="3900" b="1">
                <a:solidFill>
                  <a:srgbClr val="FFFFFF"/>
                </a:solidFill>
                <a:latin typeface="Times New Roman"/>
                <a:ea typeface="Times New Roman"/>
                <a:cs typeface="Times New Roman"/>
              </a:defRPr>
            </a:lvl8pPr>
            <a:lvl9pPr algn="ctr">
              <a:defRPr sz="3900" b="1">
                <a:solidFill>
                  <a:srgbClr val="FFFFFF"/>
                </a:solidFill>
                <a:latin typeface="Times New Roman"/>
                <a:ea typeface="Times New Roman"/>
                <a:cs typeface="Times New Roman"/>
              </a:defRPr>
            </a:lvl9pPr>
          </a:lstStyle>
          <a:p>
            <a:pPr algn="ctr">
              <a:defRPr sz="3900" b="1">
                <a:solidFill>
                  <a:srgbClr val="FFFFFF"/>
                </a:solidFill>
                <a:latin typeface="Times New Roman"/>
                <a:ea typeface="Times New Roman"/>
                <a:cs typeface="Times New Roman"/>
              </a:defRPr>
            </a:pPr>
            <a:r>
              <a:rPr sz="3900" b="1">
                <a:solidFill>
                  <a:srgbClr val="FFFFFF"/>
                </a:solidFill>
                <a:latin typeface="Times New Roman"/>
                <a:ea typeface="Times New Roman"/>
                <a:cs typeface="Times New Roman"/>
              </a:rPr>
              <a:t>BLE Architecture: Flutter to ESP32</a:t>
            </a:r>
          </a:p>
        </p:txBody>
      </p:sp>
      <p:sp>
        <p:nvSpPr>
          <p:cNvPr id="2" name="Generic Health Sensor Service (GHSS): 0x1840">
            <a:extLst>
              <a:ext uri="{FF2B5EF4-FFF2-40B4-BE49-F238E27FC236}">
                <a16:creationId xmlns:a16="http://schemas.microsoft.com/office/drawing/2014/main" id="{27437D42-42D1-49EA-8015-94BE8E2D70D1}"/>
              </a:ext>
            </a:extLst>
          </p:cNvPr>
          <p:cNvSpPr>
            <a:spLocks noGrp="1"/>
          </p:cNvSpPr>
          <p:nvPr/>
        </p:nvSpPr>
        <p:spPr>
          <a:xfrm>
            <a:off x="762000" y="1000125"/>
            <a:ext cx="10668000" cy="476250"/>
          </a:xfrm>
          <a:prstGeom prst="rect">
            <a:avLst/>
          </a:prstGeom>
          <a:noFill/>
          <a:ln w="0">
            <a:noFill/>
          </a:ln>
        </p:spPr>
        <p:txBody>
          <a:bodyPr lIns="76200" tIns="76200" rIns="76200" bIns="76200" anchor="ctr"/>
          <a:lstStyle>
            <a:defPPr algn="ctr">
              <a:defRPr sz="2400" b="1">
                <a:solidFill>
                  <a:srgbClr val="002060"/>
                </a:solidFill>
                <a:latin typeface="Times New Roman"/>
                <a:ea typeface="Times New Roman"/>
                <a:cs typeface="Times New Roman"/>
              </a:defRPr>
            </a:defPPr>
            <a:lvl1pPr algn="ctr">
              <a:defRPr sz="2400" b="1">
                <a:solidFill>
                  <a:srgbClr val="002060"/>
                </a:solidFill>
                <a:latin typeface="Times New Roman"/>
                <a:ea typeface="Times New Roman"/>
                <a:cs typeface="Times New Roman"/>
              </a:defRPr>
            </a:lvl1pPr>
            <a:lvl2pPr algn="ctr">
              <a:defRPr sz="2400" b="1">
                <a:solidFill>
                  <a:srgbClr val="002060"/>
                </a:solidFill>
                <a:latin typeface="Times New Roman"/>
                <a:ea typeface="Times New Roman"/>
                <a:cs typeface="Times New Roman"/>
              </a:defRPr>
            </a:lvl2pPr>
            <a:lvl3pPr algn="ctr">
              <a:defRPr sz="2400" b="1">
                <a:solidFill>
                  <a:srgbClr val="002060"/>
                </a:solidFill>
                <a:latin typeface="Times New Roman"/>
                <a:ea typeface="Times New Roman"/>
                <a:cs typeface="Times New Roman"/>
              </a:defRPr>
            </a:lvl3pPr>
            <a:lvl4pPr algn="ctr">
              <a:defRPr sz="2400" b="1">
                <a:solidFill>
                  <a:srgbClr val="002060"/>
                </a:solidFill>
                <a:latin typeface="Times New Roman"/>
                <a:ea typeface="Times New Roman"/>
                <a:cs typeface="Times New Roman"/>
              </a:defRPr>
            </a:lvl4pPr>
            <a:lvl5pPr algn="ctr">
              <a:defRPr sz="2400" b="1">
                <a:solidFill>
                  <a:srgbClr val="002060"/>
                </a:solidFill>
                <a:latin typeface="Times New Roman"/>
                <a:ea typeface="Times New Roman"/>
                <a:cs typeface="Times New Roman"/>
              </a:defRPr>
            </a:lvl5pPr>
            <a:lvl6pPr algn="ctr">
              <a:defRPr sz="2400" b="1">
                <a:solidFill>
                  <a:srgbClr val="002060"/>
                </a:solidFill>
                <a:latin typeface="Times New Roman"/>
                <a:ea typeface="Times New Roman"/>
                <a:cs typeface="Times New Roman"/>
              </a:defRPr>
            </a:lvl6pPr>
            <a:lvl7pPr algn="ctr">
              <a:defRPr sz="2400" b="1">
                <a:solidFill>
                  <a:srgbClr val="002060"/>
                </a:solidFill>
                <a:latin typeface="Times New Roman"/>
                <a:ea typeface="Times New Roman"/>
                <a:cs typeface="Times New Roman"/>
              </a:defRPr>
            </a:lvl7pPr>
            <a:lvl8pPr algn="ctr">
              <a:defRPr sz="2400" b="1">
                <a:solidFill>
                  <a:srgbClr val="002060"/>
                </a:solidFill>
                <a:latin typeface="Times New Roman"/>
                <a:ea typeface="Times New Roman"/>
                <a:cs typeface="Times New Roman"/>
              </a:defRPr>
            </a:lvl8pPr>
            <a:lvl9pPr algn="ctr">
              <a:defRPr sz="2400" b="1">
                <a:solidFill>
                  <a:srgbClr val="002060"/>
                </a:solidFill>
                <a:latin typeface="Times New Roman"/>
                <a:ea typeface="Times New Roman"/>
                <a:cs typeface="Times New Roman"/>
              </a:defRPr>
            </a:lvl9pPr>
          </a:lstStyle>
          <a:p>
            <a:pPr algn="ctr">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Generic Health Sensor Service (GHSS): 0x1840</a:t>
            </a:r>
          </a:p>
        </p:txBody>
      </p:sp>
      <p:sp>
        <p:nvSpPr>
          <p:cNvPr id="3" name="Flutter app&#10;BLE central / GATT client">
            <a:extLst>
              <a:ext uri="{FF2B5EF4-FFF2-40B4-BE49-F238E27FC236}">
                <a16:creationId xmlns:a16="http://schemas.microsoft.com/office/drawing/2014/main" id="{7CE81280-4A50-487E-8E65-C43A4215C3C3}"/>
              </a:ext>
            </a:extLst>
          </p:cNvPr>
          <p:cNvSpPr>
            <a:spLocks noGrp="1"/>
          </p:cNvSpPr>
          <p:nvPr/>
        </p:nvSpPr>
        <p:spPr>
          <a:xfrm>
            <a:off x="523875"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Flutter app</a:t>
            </a:r>
          </a:p>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central / GATT client</a:t>
            </a:r>
          </a:p>
        </p:txBody>
      </p:sp>
      <p:sp>
        <p:nvSpPr>
          <p:cNvPr id="4" name="Encrypted BLE connection">
            <a:extLst>
              <a:ext uri="{FF2B5EF4-FFF2-40B4-BE49-F238E27FC236}">
                <a16:creationId xmlns:a16="http://schemas.microsoft.com/office/drawing/2014/main" id="{C37768A7-5F73-4276-B324-CD1A9491BF36}"/>
              </a:ext>
            </a:extLst>
          </p:cNvPr>
          <p:cNvSpPr>
            <a:spLocks noGrp="1"/>
          </p:cNvSpPr>
          <p:nvPr/>
        </p:nvSpPr>
        <p:spPr>
          <a:xfrm>
            <a:off x="4572000"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Encrypted BLE connection</a:t>
            </a:r>
          </a:p>
        </p:txBody>
      </p:sp>
      <p:sp>
        <p:nvSpPr>
          <p:cNvPr id="5" name="ESP32&#10;BLE peripheral / GATT server">
            <a:extLst>
              <a:ext uri="{FF2B5EF4-FFF2-40B4-BE49-F238E27FC236}">
                <a16:creationId xmlns:a16="http://schemas.microsoft.com/office/drawing/2014/main" id="{FCFA2F24-EA84-441A-9E4E-727FF8FE4979}"/>
              </a:ext>
            </a:extLst>
          </p:cNvPr>
          <p:cNvSpPr>
            <a:spLocks noGrp="1"/>
          </p:cNvSpPr>
          <p:nvPr/>
        </p:nvSpPr>
        <p:spPr>
          <a:xfrm>
            <a:off x="8620125"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ESP32</a:t>
            </a:r>
          </a:p>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peripheral / GATT server</a:t>
            </a:r>
          </a:p>
        </p:txBody>
      </p:sp>
      <p:sp>
        <p:nvSpPr>
          <p:cNvPr id="6" name="Start / Stop&#10;commands">
            <a:extLst>
              <a:ext uri="{FF2B5EF4-FFF2-40B4-BE49-F238E27FC236}">
                <a16:creationId xmlns:a16="http://schemas.microsoft.com/office/drawing/2014/main" id="{A4B4FAF7-FA84-40FC-B435-AB067016497E}"/>
              </a:ext>
            </a:extLst>
          </p:cNvPr>
          <p:cNvSpPr>
            <a:spLocks noGrp="1"/>
          </p:cNvSpPr>
          <p:nvPr/>
        </p:nvSpPr>
        <p:spPr>
          <a:xfrm>
            <a:off x="523875"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Start / Stop</a:t>
            </a:r>
          </a:p>
          <a:p>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commands</a:t>
            </a:r>
          </a:p>
        </p:txBody>
      </p:sp>
      <p:sp>
        <p:nvSpPr>
          <p:cNvPr id="7" name="GHS Control Point&#10;0x2BF4&#10;Write and indicate">
            <a:extLst>
              <a:ext uri="{FF2B5EF4-FFF2-40B4-BE49-F238E27FC236}">
                <a16:creationId xmlns:a16="http://schemas.microsoft.com/office/drawing/2014/main" id="{73F97D9E-8CE8-43FB-9FC8-21AA1A84CE8D}"/>
              </a:ext>
            </a:extLst>
          </p:cNvPr>
          <p:cNvSpPr>
            <a:spLocks noGrp="1"/>
          </p:cNvSpPr>
          <p:nvPr/>
        </p:nvSpPr>
        <p:spPr>
          <a:xfrm>
            <a:off x="4572000"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GHS Control Point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0x2BF4</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Write and indicate</a:t>
            </a:r>
          </a:p>
        </p:txBody>
      </p:sp>
      <p:sp>
        <p:nvSpPr>
          <p:cNvPr id="8" name="Validate command&#10;Enable / disable&#10;telemetry stream">
            <a:extLst>
              <a:ext uri="{FF2B5EF4-FFF2-40B4-BE49-F238E27FC236}">
                <a16:creationId xmlns:a16="http://schemas.microsoft.com/office/drawing/2014/main" id="{BB2AD6D1-C7A3-4E0C-9CF8-29C2DC2646FD}"/>
              </a:ext>
            </a:extLst>
          </p:cNvPr>
          <p:cNvSpPr>
            <a:spLocks noGrp="1"/>
          </p:cNvSpPr>
          <p:nvPr/>
        </p:nvSpPr>
        <p:spPr>
          <a:xfrm>
            <a:off x="8620125"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Validate command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Enable / disable</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telemetry stream</a:t>
            </a:r>
          </a:p>
        </p:txBody>
      </p:sp>
      <p:sp>
        <p:nvSpPr>
          <p:cNvPr id="9" name="Decode and display&#10;HR, SpO2, temperature">
            <a:extLst>
              <a:ext uri="{FF2B5EF4-FFF2-40B4-BE49-F238E27FC236}">
                <a16:creationId xmlns:a16="http://schemas.microsoft.com/office/drawing/2014/main" id="{33A112DA-2213-4B50-BF49-42E66165B0BC}"/>
              </a:ext>
            </a:extLst>
          </p:cNvPr>
          <p:cNvSpPr>
            <a:spLocks noGrp="1"/>
          </p:cNvSpPr>
          <p:nvPr/>
        </p:nvSpPr>
        <p:spPr>
          <a:xfrm>
            <a:off x="523875"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0" name="Live Observations&#10;0x2B8B&#10;Notifications">
            <a:extLst>
              <a:ext uri="{FF2B5EF4-FFF2-40B4-BE49-F238E27FC236}">
                <a16:creationId xmlns:a16="http://schemas.microsoft.com/office/drawing/2014/main" id="{685A3FD2-5BC9-4659-8AC4-6528CCF908A1}"/>
              </a:ext>
            </a:extLst>
          </p:cNvPr>
          <p:cNvSpPr>
            <a:spLocks noGrp="1"/>
          </p:cNvSpPr>
          <p:nvPr/>
        </p:nvSpPr>
        <p:spPr>
          <a:xfrm>
            <a:off x="4572000"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Live Observations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0x2B8B</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Notifications</a:t>
            </a:r>
          </a:p>
        </p:txBody>
      </p:sp>
      <p:sp>
        <p:nvSpPr>
          <p:cNvPr id="11" name="Simulated vitals task&#10;Encode observations">
            <a:extLst>
              <a:ext uri="{FF2B5EF4-FFF2-40B4-BE49-F238E27FC236}">
                <a16:creationId xmlns:a16="http://schemas.microsoft.com/office/drawing/2014/main" id="{7EF3996B-B28A-445B-A6EA-92845934F2C5}"/>
              </a:ext>
            </a:extLst>
          </p:cNvPr>
          <p:cNvSpPr>
            <a:spLocks noGrp="1"/>
          </p:cNvSpPr>
          <p:nvPr/>
        </p:nvSpPr>
        <p:spPr>
          <a:xfrm>
            <a:off x="8620125"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Simulated vitals task</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Encode observations</a:t>
            </a:r>
          </a:p>
        </p:txBody>
      </p:sp>
      <p:sp>
        <p:nvSpPr>
          <p:cNvPr id="16" name="ESP32 returns command acknowledgements through con">
            <a:extLst>
              <a:ext uri="{FF2B5EF4-FFF2-40B4-BE49-F238E27FC236}">
                <a16:creationId xmlns:a16="http://schemas.microsoft.com/office/drawing/2014/main" id="{18CEF259-AC4B-4EF8-BB43-77935BE8E306}"/>
              </a:ext>
            </a:extLst>
          </p:cNvPr>
          <p:cNvSpPr>
            <a:spLocks noGrp="1"/>
          </p:cNvSpPr>
          <p:nvPr/>
        </p:nvSpPr>
        <p:spPr>
          <a:xfrm>
            <a:off x="762000" y="3838575"/>
            <a:ext cx="10668000" cy="428625"/>
          </a:xfrm>
          <a:prstGeom prst="rect">
            <a:avLst/>
          </a:prstGeom>
          <a:noFill/>
          <a:ln w="0">
            <a:noFill/>
          </a:ln>
        </p:spPr>
        <p:txBody>
          <a:bodyPr lIns="76200" tIns="76200" rIns="76200" bIns="76200" anchor="ctr"/>
          <a:lstStyle>
            <a:defPPr algn="ctr">
              <a:defRPr sz="2025" b="0">
                <a:solidFill>
                  <a:srgbClr val="0070C0"/>
                </a:solidFill>
                <a:latin typeface="Times New Roman"/>
                <a:ea typeface="Times New Roman"/>
                <a:cs typeface="Times New Roman"/>
              </a:defRPr>
            </a:defPPr>
            <a:lvl1pPr algn="ctr">
              <a:defRPr sz="2025" b="0">
                <a:solidFill>
                  <a:srgbClr val="0070C0"/>
                </a:solidFill>
                <a:latin typeface="Times New Roman"/>
                <a:ea typeface="Times New Roman"/>
                <a:cs typeface="Times New Roman"/>
              </a:defRPr>
            </a:lvl1pPr>
            <a:lvl2pPr algn="ctr">
              <a:defRPr sz="2025" b="0">
                <a:solidFill>
                  <a:srgbClr val="0070C0"/>
                </a:solidFill>
                <a:latin typeface="Times New Roman"/>
                <a:ea typeface="Times New Roman"/>
                <a:cs typeface="Times New Roman"/>
              </a:defRPr>
            </a:lvl2pPr>
            <a:lvl3pPr algn="ctr">
              <a:defRPr sz="2025" b="0">
                <a:solidFill>
                  <a:srgbClr val="0070C0"/>
                </a:solidFill>
                <a:latin typeface="Times New Roman"/>
                <a:ea typeface="Times New Roman"/>
                <a:cs typeface="Times New Roman"/>
              </a:defRPr>
            </a:lvl3pPr>
            <a:lvl4pPr algn="ctr">
              <a:defRPr sz="2025" b="0">
                <a:solidFill>
                  <a:srgbClr val="0070C0"/>
                </a:solidFill>
                <a:latin typeface="Times New Roman"/>
                <a:ea typeface="Times New Roman"/>
                <a:cs typeface="Times New Roman"/>
              </a:defRPr>
            </a:lvl4pPr>
            <a:lvl5pPr algn="ctr">
              <a:defRPr sz="2025" b="0">
                <a:solidFill>
                  <a:srgbClr val="0070C0"/>
                </a:solidFill>
                <a:latin typeface="Times New Roman"/>
                <a:ea typeface="Times New Roman"/>
                <a:cs typeface="Times New Roman"/>
              </a:defRPr>
            </a:lvl5pPr>
            <a:lvl6pPr algn="ctr">
              <a:defRPr sz="2025" b="0">
                <a:solidFill>
                  <a:srgbClr val="0070C0"/>
                </a:solidFill>
                <a:latin typeface="Times New Roman"/>
                <a:ea typeface="Times New Roman"/>
                <a:cs typeface="Times New Roman"/>
              </a:defRPr>
            </a:lvl6pPr>
            <a:lvl7pPr algn="ctr">
              <a:defRPr sz="2025" b="0">
                <a:solidFill>
                  <a:srgbClr val="0070C0"/>
                </a:solidFill>
                <a:latin typeface="Times New Roman"/>
                <a:ea typeface="Times New Roman"/>
                <a:cs typeface="Times New Roman"/>
              </a:defRPr>
            </a:lvl7pPr>
            <a:lvl8pPr algn="ctr">
              <a:defRPr sz="2025" b="0">
                <a:solidFill>
                  <a:srgbClr val="0070C0"/>
                </a:solidFill>
                <a:latin typeface="Times New Roman"/>
                <a:ea typeface="Times New Roman"/>
                <a:cs typeface="Times New Roman"/>
              </a:defRPr>
            </a:lvl8pPr>
            <a:lvl9pPr algn="ctr">
              <a:defRPr sz="2025" b="0">
                <a:solidFill>
                  <a:srgbClr val="0070C0"/>
                </a:solidFill>
                <a:latin typeface="Times New Roman"/>
                <a:ea typeface="Times New Roman"/>
                <a:cs typeface="Times New Roman"/>
              </a:defRPr>
            </a:lvl9pPr>
          </a:lstStyle>
          <a:p>
            <a:pPr algn="ctr">
              <a:defRPr sz="2025" b="0">
                <a:solidFill>
                  <a:srgbClr val="0070C0"/>
                </a:solidFill>
                <a:latin typeface="Times New Roman"/>
                <a:ea typeface="Times New Roman"/>
                <a:cs typeface="Times New Roman"/>
              </a:defRPr>
            </a:pPr>
            <a:r>
              <a:rPr sz="2025" b="0">
                <a:solidFill>
                  <a:srgbClr val="0070C0"/>
                </a:solidFill>
                <a:latin typeface="Times New Roman"/>
                <a:ea typeface="Times New Roman"/>
                <a:cs typeface="Times New Roman"/>
              </a:rPr>
              <a:t>ESP32 returns command acknowledgements through control-point indications</a:t>
            </a:r>
          </a:p>
        </p:txBody>
      </p:sp>
      <p:sp>
        <p:nvSpPr>
          <p:cNvPr id="17" name="Setup: scan, connect, pair, discover GHSS and subs">
            <a:extLst>
              <a:ext uri="{FF2B5EF4-FFF2-40B4-BE49-F238E27FC236}">
                <a16:creationId xmlns:a16="http://schemas.microsoft.com/office/drawing/2014/main" id="{845CD7B2-1294-4DC6-A819-14AE81188A30}"/>
              </a:ext>
            </a:extLst>
          </p:cNvPr>
          <p:cNvSpPr>
            <a:spLocks noGrp="1"/>
          </p:cNvSpPr>
          <p:nvPr/>
        </p:nvSpPr>
        <p:spPr>
          <a:xfrm>
            <a:off x="666750" y="5857875"/>
            <a:ext cx="10858500" cy="409575"/>
          </a:xfrm>
          <a:prstGeom prst="rect">
            <a:avLst/>
          </a:prstGeom>
          <a:noFill/>
          <a:ln w="0">
            <a:noFill/>
          </a:ln>
        </p:spPr>
        <p:txBody>
          <a:bodyPr lIns="76200" tIns="76200" rIns="76200" bIns="76200" anchor="ctr"/>
          <a:lstStyle>
            <a:defPPr algn="ctr">
              <a:defRPr sz="2175" b="0">
                <a:solidFill>
                  <a:srgbClr val="0070C0"/>
                </a:solidFill>
                <a:latin typeface="Times New Roman"/>
                <a:ea typeface="Times New Roman"/>
                <a:cs typeface="Times New Roman"/>
              </a:defRPr>
            </a:defPPr>
            <a:lvl1pPr algn="ctr">
              <a:defRPr sz="2175" b="0">
                <a:solidFill>
                  <a:srgbClr val="0070C0"/>
                </a:solidFill>
                <a:latin typeface="Times New Roman"/>
                <a:ea typeface="Times New Roman"/>
                <a:cs typeface="Times New Roman"/>
              </a:defRPr>
            </a:lvl1pPr>
            <a:lvl2pPr algn="ctr">
              <a:defRPr sz="2175" b="0">
                <a:solidFill>
                  <a:srgbClr val="0070C0"/>
                </a:solidFill>
                <a:latin typeface="Times New Roman"/>
                <a:ea typeface="Times New Roman"/>
                <a:cs typeface="Times New Roman"/>
              </a:defRPr>
            </a:lvl2pPr>
            <a:lvl3pPr algn="ctr">
              <a:defRPr sz="2175" b="0">
                <a:solidFill>
                  <a:srgbClr val="0070C0"/>
                </a:solidFill>
                <a:latin typeface="Times New Roman"/>
                <a:ea typeface="Times New Roman"/>
                <a:cs typeface="Times New Roman"/>
              </a:defRPr>
            </a:lvl3pPr>
            <a:lvl4pPr algn="ctr">
              <a:defRPr sz="2175" b="0">
                <a:solidFill>
                  <a:srgbClr val="0070C0"/>
                </a:solidFill>
                <a:latin typeface="Times New Roman"/>
                <a:ea typeface="Times New Roman"/>
                <a:cs typeface="Times New Roman"/>
              </a:defRPr>
            </a:lvl4pPr>
            <a:lvl5pPr algn="ctr">
              <a:defRPr sz="2175" b="0">
                <a:solidFill>
                  <a:srgbClr val="0070C0"/>
                </a:solidFill>
                <a:latin typeface="Times New Roman"/>
                <a:ea typeface="Times New Roman"/>
                <a:cs typeface="Times New Roman"/>
              </a:defRPr>
            </a:lvl5pPr>
            <a:lvl6pPr algn="ctr">
              <a:defRPr sz="2175" b="0">
                <a:solidFill>
                  <a:srgbClr val="0070C0"/>
                </a:solidFill>
                <a:latin typeface="Times New Roman"/>
                <a:ea typeface="Times New Roman"/>
                <a:cs typeface="Times New Roman"/>
              </a:defRPr>
            </a:lvl6pPr>
            <a:lvl7pPr algn="ctr">
              <a:defRPr sz="2175" b="0">
                <a:solidFill>
                  <a:srgbClr val="0070C0"/>
                </a:solidFill>
                <a:latin typeface="Times New Roman"/>
                <a:ea typeface="Times New Roman"/>
                <a:cs typeface="Times New Roman"/>
              </a:defRPr>
            </a:lvl7pPr>
            <a:lvl8pPr algn="ctr">
              <a:defRPr sz="2175" b="0">
                <a:solidFill>
                  <a:srgbClr val="0070C0"/>
                </a:solidFill>
                <a:latin typeface="Times New Roman"/>
                <a:ea typeface="Times New Roman"/>
                <a:cs typeface="Times New Roman"/>
              </a:defRPr>
            </a:lvl8pPr>
            <a:lvl9pPr algn="ctr">
              <a:defRPr sz="2175" b="0">
                <a:solidFill>
                  <a:srgbClr val="0070C0"/>
                </a:solidFill>
                <a:latin typeface="Times New Roman"/>
                <a:ea typeface="Times New Roman"/>
                <a:cs typeface="Times New Roman"/>
              </a:defRPr>
            </a:lvl9pPr>
          </a:lstStyle>
          <a:p>
            <a:pPr algn="ctr">
              <a:defRPr sz="2175" b="0">
                <a:solidFill>
                  <a:srgbClr val="0070C0"/>
                </a:solidFill>
                <a:latin typeface="Times New Roman"/>
                <a:ea typeface="Times New Roman"/>
                <a:cs typeface="Times New Roman"/>
              </a:defRPr>
            </a:pPr>
            <a:r>
              <a:rPr sz="2175" b="0">
                <a:solidFill>
                  <a:srgbClr val="0070C0"/>
                </a:solidFill>
                <a:latin typeface="Times New Roman"/>
                <a:ea typeface="Times New Roman"/>
                <a:cs typeface="Times New Roman"/>
              </a:rPr>
              <a:t>Setup: scan, connect, pair, discover GHSS and subscribe</a:t>
            </a:r>
          </a:p>
        </p:txBody>
      </p:sp>
      <p:sp>
        <p:nvSpPr>
          <p:cNvPr id="18" name="Dept. of Electronics and Communication Engineering">
            <a:extLst>
              <a:ext uri="{FF2B5EF4-FFF2-40B4-BE49-F238E27FC236}">
                <a16:creationId xmlns:a16="http://schemas.microsoft.com/office/drawing/2014/main" id="{13029F46-0D21-4417-ACED-BB0606CC8E70}"/>
              </a:ext>
            </a:extLst>
          </p:cNvPr>
          <p:cNvSpPr>
            <a:spLocks noGrp="1"/>
          </p:cNvSpPr>
          <p:nvPr/>
        </p:nvSpPr>
        <p:spPr>
          <a:xfrm>
            <a:off x="0" y="6492907"/>
            <a:ext cx="12192000" cy="365093"/>
          </a:xfrm>
          <a:prstGeom prst="rect">
            <a:avLst/>
          </a:prstGeom>
          <a:solidFill>
            <a:srgbClr val="002060"/>
          </a:solidFill>
          <a:ln w="14288">
            <a:solidFill>
              <a:srgbClr val="002060"/>
            </a:solidFill>
          </a:ln>
        </p:spPr>
        <p:txBody>
          <a:bodyPr lIns="76200" tIns="76200" rIns="76200" bIns="76200" anchor="ctr"/>
          <a:lstStyle>
            <a:defPPr algn="ctr">
              <a:defRPr sz="1200" b="1">
                <a:solidFill>
                  <a:srgbClr val="FFFFFF"/>
                </a:solidFill>
                <a:latin typeface="Times New Roman"/>
                <a:ea typeface="Times New Roman"/>
                <a:cs typeface="Times New Roman"/>
              </a:defRPr>
            </a:defPPr>
            <a:lvl1pPr algn="ctr">
              <a:defRPr sz="1200" b="1">
                <a:solidFill>
                  <a:srgbClr val="FFFFFF"/>
                </a:solidFill>
                <a:latin typeface="Times New Roman"/>
                <a:ea typeface="Times New Roman"/>
                <a:cs typeface="Times New Roman"/>
              </a:defRPr>
            </a:lvl1pPr>
            <a:lvl2pPr algn="ctr">
              <a:defRPr sz="1200" b="1">
                <a:solidFill>
                  <a:srgbClr val="FFFFFF"/>
                </a:solidFill>
                <a:latin typeface="Times New Roman"/>
                <a:ea typeface="Times New Roman"/>
                <a:cs typeface="Times New Roman"/>
              </a:defRPr>
            </a:lvl2pPr>
            <a:lvl3pPr algn="ctr">
              <a:defRPr sz="1200" b="1">
                <a:solidFill>
                  <a:srgbClr val="FFFFFF"/>
                </a:solidFill>
                <a:latin typeface="Times New Roman"/>
                <a:ea typeface="Times New Roman"/>
                <a:cs typeface="Times New Roman"/>
              </a:defRPr>
            </a:lvl3pPr>
            <a:lvl4pPr algn="ctr">
              <a:defRPr sz="1200" b="1">
                <a:solidFill>
                  <a:srgbClr val="FFFFFF"/>
                </a:solidFill>
                <a:latin typeface="Times New Roman"/>
                <a:ea typeface="Times New Roman"/>
                <a:cs typeface="Times New Roman"/>
              </a:defRPr>
            </a:lvl4pPr>
            <a:lvl5pPr algn="ctr">
              <a:defRPr sz="1200" b="1">
                <a:solidFill>
                  <a:srgbClr val="FFFFFF"/>
                </a:solidFill>
                <a:latin typeface="Times New Roman"/>
                <a:ea typeface="Times New Roman"/>
                <a:cs typeface="Times New Roman"/>
              </a:defRPr>
            </a:lvl5pPr>
            <a:lvl6pPr algn="ctr">
              <a:defRPr sz="1200" b="1">
                <a:solidFill>
                  <a:srgbClr val="FFFFFF"/>
                </a:solidFill>
                <a:latin typeface="Times New Roman"/>
                <a:ea typeface="Times New Roman"/>
                <a:cs typeface="Times New Roman"/>
              </a:defRPr>
            </a:lvl6pPr>
            <a:lvl7pPr algn="ctr">
              <a:defRPr sz="1200" b="1">
                <a:solidFill>
                  <a:srgbClr val="FFFFFF"/>
                </a:solidFill>
                <a:latin typeface="Times New Roman"/>
                <a:ea typeface="Times New Roman"/>
                <a:cs typeface="Times New Roman"/>
              </a:defRPr>
            </a:lvl7pPr>
            <a:lvl8pPr algn="ctr">
              <a:defRPr sz="1200" b="1">
                <a:solidFill>
                  <a:srgbClr val="FFFFFF"/>
                </a:solidFill>
                <a:latin typeface="Times New Roman"/>
                <a:ea typeface="Times New Roman"/>
                <a:cs typeface="Times New Roman"/>
              </a:defRPr>
            </a:lvl8pPr>
            <a:lvl9pPr algn="ctr">
              <a:defRPr sz="1200" b="1">
                <a:solidFill>
                  <a:srgbClr val="FFFFFF"/>
                </a:solidFill>
                <a:latin typeface="Times New Roman"/>
                <a:ea typeface="Times New Roman"/>
                <a:cs typeface="Times New Roman"/>
              </a:defRPr>
            </a:lvl9pPr>
          </a:lstStyle>
          <a:p>
            <a:pPr algn="ct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p>
        </p:txBody>
      </p:sp>
      <p:sp>
        <p:nvSpPr>
          <p:cNvPr id="20" name="TextBox 19">
            <a:extLst>
              <a:ext uri="{FF2B5EF4-FFF2-40B4-BE49-F238E27FC236}">
                <a16:creationId xmlns:a16="http://schemas.microsoft.com/office/drawing/2014/main" id="{2A6C667E-A955-FAE7-2E71-B92A23D00A30}"/>
              </a:ext>
            </a:extLst>
          </p:cNvPr>
          <p:cNvSpPr txBox="1"/>
          <p:nvPr/>
        </p:nvSpPr>
        <p:spPr>
          <a:xfrm>
            <a:off x="11430000" y="6496050"/>
            <a:ext cx="571500" cy="276999"/>
          </a:xfrm>
          <a:prstGeom prst="rect">
            <a:avLst/>
          </a:prstGeom>
          <a:noFill/>
        </p:spPr>
        <p:txBody>
          <a:bodyPr vert="horz" rtlCol="0">
            <a:spAutoFit/>
          </a:bodyPr>
          <a:lstStyle/>
          <a:p>
            <a:pPr algn="r"/>
            <a:r>
              <a:rPr lang="en-IN" sz="1200">
                <a:solidFill>
                  <a:srgbClr val="FFFFFF"/>
                </a:solidFill>
                <a:latin typeface="Times New Roman" panose="02020603050405020304" pitchFamily="18" charset="0"/>
              </a:rPr>
              <a:t>4</a:t>
            </a:r>
          </a:p>
        </p:txBody>
      </p:sp>
    </p:spTree>
    <p:extLst>
      <p:ext uri="{BB962C8B-B14F-4D97-AF65-F5344CB8AC3E}">
        <p14:creationId xmlns:p14="http://schemas.microsoft.com/office/powerpoint/2010/main" val="2992248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664303"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666488" y="5077698"/>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extLst>
              <p:ext uri="{D42A27DB-BD31-4B8C-83A1-F6EECF244321}">
                <p14:modId xmlns:p14="http://schemas.microsoft.com/office/powerpoint/2010/main" val="1415780120"/>
              </p:ext>
            </p:extLst>
          </p:nvPr>
        </p:nvGraphicFramePr>
        <p:xfrm>
          <a:off x="1349710" y="1112156"/>
          <a:ext cx="9492580" cy="4286250"/>
        </p:xfrm>
        <a:graphic>
          <a:graphicData uri="http://schemas.openxmlformats.org/drawingml/2006/table">
            <a:tbl>
              <a:tblPr/>
              <a:tblGrid>
                <a:gridCol w="4749086">
                  <a:extLst>
                    <a:ext uri="{9D8B030D-6E8A-4147-A177-3AD203B41FA5}">
                      <a16:colId xmlns:a16="http://schemas.microsoft.com/office/drawing/2014/main" val="20000"/>
                    </a:ext>
                  </a:extLst>
                </a:gridCol>
                <a:gridCol w="4743494">
                  <a:extLst>
                    <a:ext uri="{9D8B030D-6E8A-4147-A177-3AD203B41FA5}">
                      <a16:colId xmlns:a16="http://schemas.microsoft.com/office/drawing/2014/main" val="20002"/>
                    </a:ext>
                  </a:extLst>
                </a:gridCol>
              </a:tblGrid>
              <a:tr h="714375">
                <a:tc>
                  <a:txBody>
                    <a:bodyPr/>
                    <a:lstStyle/>
                    <a:p>
                      <a:pPr algn="ctr"/>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pPr algn="ctr"/>
                      <a:r>
                        <a:rPr sz="2175" b="1" dirty="0">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cap="flat" cmpd="sng" algn="ctr">
                      <a:solidFill>
                        <a:srgbClr val="CAD2D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14375">
                <a:tc>
                  <a:txBody>
                    <a:bodyPr/>
                    <a:lstStyle/>
                    <a:p>
                      <a:pPr algn="ctr"/>
                      <a:r>
                        <a:rPr sz="2175" b="0" dirty="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1"/>
                  </a:ext>
                </a:extLst>
              </a:tr>
              <a:tr h="714375">
                <a:tc>
                  <a:txBody>
                    <a:bodyPr/>
                    <a:lstStyle/>
                    <a:p>
                      <a:pPr algn="ctr"/>
                      <a:r>
                        <a:rPr sz="2175" b="0" dirty="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4375">
                <a:tc>
                  <a:txBody>
                    <a:bodyPr/>
                    <a:lstStyle/>
                    <a:p>
                      <a:pPr algn="ctr"/>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3"/>
                  </a:ext>
                </a:extLst>
              </a:tr>
              <a:tr h="714375">
                <a:tc>
                  <a:txBody>
                    <a:bodyPr/>
                    <a:lstStyle/>
                    <a:p>
                      <a:pPr algn="ctr"/>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dirty="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4375">
                <a:tc>
                  <a:txBody>
                    <a:bodyPr/>
                    <a:lstStyle/>
                    <a:p>
                      <a:pPr algn="ctr"/>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572649"/>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6</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1"/>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532632"/>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8</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extLst>
              <p:ext uri="{D42A27DB-BD31-4B8C-83A1-F6EECF244321}">
                <p14:modId xmlns:p14="http://schemas.microsoft.com/office/powerpoint/2010/main" val="753592872"/>
              </p:ext>
            </p:extLst>
          </p:nvPr>
        </p:nvGraphicFramePr>
        <p:xfrm>
          <a:off x="523875" y="1190625"/>
          <a:ext cx="11144250" cy="4402455"/>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dirty="0">
                          <a:solidFill>
                            <a:srgbClr val="111111"/>
                          </a:solidFill>
                          <a:latin typeface="Times New Roman"/>
                          <a:ea typeface="Times New Roman"/>
                          <a:cs typeface="Times New Roman"/>
                        </a:rPr>
                        <a:t>Phone handles cloud uplink </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dirty="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dirty="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9</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8"/>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10</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8"/>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11</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83108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12</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13</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1E0-43D1-4EB5-05B3-131B7942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8039-CE3F-5D31-47D1-81032C3D345E}"/>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703ABF20-4077-C004-EA78-EA0362C0EC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112DCB65-BAD5-923B-B142-39135B68F746}"/>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A818A6BD-A4AD-3B7F-84CC-E45C5CF0AF38}"/>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DD732C11-C9ED-DF11-34F2-9FAACCE6D6C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A647C3A9-35D0-D63F-5016-1819F9FCFDA5}"/>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2C958E9D-A671-B7C0-0DC1-873F58585BD9}"/>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8D13F93E-51D5-BD57-E85F-16E64373B31F}"/>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D4E6AF3D-BB35-9A87-189D-741176C91E60}"/>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1F1D172C-9CD4-6C25-0C8D-32B70DEC02E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14</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2984334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F302-8F37-9B0A-598C-3641E87C4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195DA-E4DE-7952-B2D3-C3677B03761F}"/>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0FA670C1-AF38-7D83-610C-E0B1FBAAB3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CB847F55-70AE-2CCE-8F47-5FF875BB8CBF}"/>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85F8C1C0-A3DB-D1B0-C216-0AB17DC9459B}"/>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93B5EF9A-1507-C5CF-2573-7C011A126F8D}"/>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C8FAB7F7-5CA5-FAC4-E081-656BE97C4141}"/>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D5D280F4-6E93-23C5-27DB-55525A2EF972}"/>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052947C7-05F8-A830-A56F-8A2FF21A8327}"/>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DBFD638-25F2-45BD-3A7B-3F7A398218BA}"/>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FF7F7340-4D17-F9C6-BE25-0259878AD64D}"/>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92599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16</a:t>
            </a:r>
            <a:endParaRPr sz="1200" b="1">
              <a:solidFill>
                <a:srgbClr val="FFFFFF"/>
              </a:solidFill>
              <a:latin typeface="Times New Roman"/>
              <a:ea typeface="Times New Roman"/>
              <a:cs typeface="Times New Roman"/>
            </a:endParaRP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2769</Words>
  <Application>Microsoft Office PowerPoint</Application>
  <DocSecurity>0</DocSecurity>
  <PresentationFormat>Widescreen</PresentationFormat>
  <Paragraphs>279</Paragraphs>
  <Slides>17</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Office Theme</vt:lpstr>
      <vt:lpstr>Project Work Phase-2        7th semester  AY: 2026-27</vt:lpstr>
      <vt:lpstr>Project Objectives</vt:lpstr>
      <vt:lpstr>Architecture</vt:lpstr>
      <vt:lpstr>PowerPoint Presentation</vt:lpstr>
      <vt:lpstr>BLE Communication Workflow</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Prototype Evidence</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3</cp:revision>
  <dcterms:created xsi:type="dcterms:W3CDTF">2026-10-19T06:24:58Z</dcterms:created>
  <dcterms:modified xsi:type="dcterms:W3CDTF">2026-10-19T08:18:28Z</dcterms:modified>
</cp:coreProperties>
</file>