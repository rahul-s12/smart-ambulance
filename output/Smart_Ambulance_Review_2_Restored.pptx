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jpeg" ContentType="image/jpeg"/>
  <Override PartName="/ppt/slideMasters/restored_slideMaster1.xml" ContentType="application/vnd.openxmlformats-officedocument.presentationml.slideMaster+xml"/>
  <Override PartName="/ppt/notesMasters/restored_notesMaster1.xml" ContentType="application/vnd.openxmlformats-officedocument.presentationml.notesMaster+xml"/>
  <Override PartName="/ppt/theme/restored_theme1.xml" ContentType="application/vnd.openxmlformats-officedocument.theme+xml"/>
  <Override PartName="/ppt/slideLayouts/restored_slideLayout1.xml" ContentType="application/vnd.openxmlformats-officedocument.presentationml.slideLayout+xml"/>
  <Override PartName="/ppt/slideLayouts/restored_slideLayout2.xml" ContentType="application/vnd.openxmlformats-officedocument.presentationml.slideLayout+xml"/>
  <Override PartName="/ppt/slideLayouts/restored_slideLayout3.xml" ContentType="application/vnd.openxmlformats-officedocument.presentationml.slideLayout+xml"/>
  <Override PartName="/ppt/slideLayouts/restored_slideLayout4.xml" ContentType="application/vnd.openxmlformats-officedocument.presentationml.slideLayout+xml"/>
  <Override PartName="/ppt/slideLayouts/restored_slideLayout5.xml" ContentType="application/vnd.openxmlformats-officedocument.presentationml.slideLayout+xml"/>
  <Override PartName="/ppt/slideLayouts/restored_slideLayout6.xml" ContentType="application/vnd.openxmlformats-officedocument.presentationml.slideLayout+xml"/>
  <Override PartName="/ppt/slideLayouts/restored_slideLayout7.xml" ContentType="application/vnd.openxmlformats-officedocument.presentationml.slideLayout+xml"/>
  <Override PartName="/ppt/slideLayouts/restored_slideLayout8.xml" ContentType="application/vnd.openxmlformats-officedocument.presentationml.slideLayout+xml"/>
  <Override PartName="/ppt/slideLayouts/restored_slideLayout9.xml" ContentType="application/vnd.openxmlformats-officedocument.presentationml.slideLayout+xml"/>
  <Override PartName="/ppt/slideLayouts/restored_slideLayout10.xml" ContentType="application/vnd.openxmlformats-officedocument.presentationml.slideLayout+xml"/>
  <Override PartName="/ppt/slideLayouts/restored_slideLayout11.xml" ContentType="application/vnd.openxmlformats-officedocument.presentationml.slideLayout+xml"/>
  <Override PartName="/ppt/theme/restored_theme2.xml" ContentType="application/vnd.openxmlformats-officedocument.theme+xml"/>
  <Override PartName="/ppt/notesSlides/restored_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e2a93ac62b54338" /><Relationship Type="http://schemas.openxmlformats.org/officeDocument/2006/relationships/extended-properties" Target="/docProps/app.xml" Id="R0f3548f6606c4610" /><Relationship Type="http://schemas.openxmlformats.org/officeDocument/2006/relationships/officeDocument" Target="/ppt/presentation.xml" Id="R8a080f025cfe4307" /></Relationships>
</file>

<file path=ppt/presentation.xml><?xml version="1.0" encoding="utf-8"?>
<p:presentation xmlns:p="http://schemas.openxmlformats.org/presentationml/2006/main">
  <p:sldMasterIdLst>
    <p:sldMasterId xmlns:r="http://schemas.openxmlformats.org/officeDocument/2006/relationships" id="2147483648" r:id="R3e2fcee8a5e04234"/>
  </p:sldMasterIdLst>
  <p:notesMasterIdLst>
    <p:notesMasterId xmlns:r="http://schemas.openxmlformats.org/officeDocument/2006/relationships" r:id="Rd897c2eafe294bff"/>
  </p:notesMasterIdLst>
  <p:sldIdLst>
    <p:sldId xmlns:r="http://schemas.openxmlformats.org/officeDocument/2006/relationships" id="256" r:id="R5585d8638d8e45cc"/>
    <p:sldId xmlns:r="http://schemas.openxmlformats.org/officeDocument/2006/relationships" id="257" r:id="R0bf595f4e4a74ad1"/>
    <p:sldId xmlns:r="http://schemas.openxmlformats.org/officeDocument/2006/relationships" id="258" r:id="R9fc2b34323964fef"/>
    <p:sldId xmlns:r="http://schemas.openxmlformats.org/officeDocument/2006/relationships" id="259" r:id="Re82d8b5741654629"/>
    <p:sldId xmlns:r="http://schemas.openxmlformats.org/officeDocument/2006/relationships" id="260" r:id="R96c6c02b9b3d45b5"/>
    <p:sldId xmlns:r="http://schemas.openxmlformats.org/officeDocument/2006/relationships" id="261" r:id="R4221c59447aa4c42"/>
    <p:sldId xmlns:r="http://schemas.openxmlformats.org/officeDocument/2006/relationships" id="262" r:id="R3560353aabbc4aff"/>
    <p:sldId xmlns:r="http://schemas.openxmlformats.org/officeDocument/2006/relationships" id="263" r:id="R7223a9e5bc014ade"/>
    <p:sldId xmlns:r="http://schemas.openxmlformats.org/officeDocument/2006/relationships" id="264" r:id="R0a914f58001e4d52"/>
    <p:sldId xmlns:r="http://schemas.openxmlformats.org/officeDocument/2006/relationships" id="265" r:id="Redd6717a373d4da2"/>
    <p:sldId xmlns:r="http://schemas.openxmlformats.org/officeDocument/2006/relationships" id="266" r:id="R79976944b0a04992"/>
    <p:sldId xmlns:r="http://schemas.openxmlformats.org/officeDocument/2006/relationships" id="267" r:id="Rb1bc84e38e954774"/>
    <p:sldId xmlns:r="http://schemas.openxmlformats.org/officeDocument/2006/relationships" id="268" r:id="R4e944f539aa442e6"/>
    <p:sldId xmlns:r="http://schemas.openxmlformats.org/officeDocument/2006/relationships" id="269" r:id="Rf7e096f127f14621"/>
    <p:sldId xmlns:r="http://schemas.openxmlformats.org/officeDocument/2006/relationships" id="270" r:id="R471ae66c23874480"/>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7dd8ecab4184df7" /><Relationship Type="http://schemas.openxmlformats.org/officeDocument/2006/relationships/slideMaster" Target="/ppt/slideMasters/slideMaster1.xml" Id="R3e2fcee8a5e04234" /><Relationship Type="http://schemas.openxmlformats.org/officeDocument/2006/relationships/notesMaster" Target="/ppt/notesMasters/notesMaster1.xml" Id="Rd897c2eafe294bff" /><Relationship Type="http://schemas.openxmlformats.org/officeDocument/2006/relationships/presProps" Target="/ppt/presProps.xml" Id="Ra9bac0a681294ddc" /><Relationship Type="http://schemas.openxmlformats.org/officeDocument/2006/relationships/viewProps" Target="/ppt/viewProps.xml" Id="R8c21552bf7104cc5" /><Relationship Type="http://schemas.openxmlformats.org/officeDocument/2006/relationships/tableStyles" Target="/ppt/tableStyles.xml" Id="Rcf0520817ff64ac3" /><Relationship Type="http://schemas.openxmlformats.org/officeDocument/2006/relationships/slide" Target="/ppt/slides/slide1.xml" Id="R5585d8638d8e45cc" /><Relationship Type="http://schemas.openxmlformats.org/officeDocument/2006/relationships/slide" Target="/ppt/slides/slide2.xml" Id="R0bf595f4e4a74ad1" /><Relationship Type="http://schemas.openxmlformats.org/officeDocument/2006/relationships/slide" Target="/ppt/slides/slide3.xml" Id="R9fc2b34323964fef" /><Relationship Type="http://schemas.openxmlformats.org/officeDocument/2006/relationships/slide" Target="/ppt/slides/slide4.xml" Id="Re82d8b5741654629" /><Relationship Type="http://schemas.openxmlformats.org/officeDocument/2006/relationships/slide" Target="/ppt/slides/slide5.xml" Id="R96c6c02b9b3d45b5" /><Relationship Type="http://schemas.openxmlformats.org/officeDocument/2006/relationships/slide" Target="/ppt/slides/slide6.xml" Id="R4221c59447aa4c42" /><Relationship Type="http://schemas.openxmlformats.org/officeDocument/2006/relationships/slide" Target="/ppt/slides/slide7.xml" Id="R3560353aabbc4aff" /><Relationship Type="http://schemas.openxmlformats.org/officeDocument/2006/relationships/slide" Target="/ppt/slides/slide8.xml" Id="R7223a9e5bc014ade" /><Relationship Type="http://schemas.openxmlformats.org/officeDocument/2006/relationships/slide" Target="/ppt/slides/slide9.xml" Id="R0a914f58001e4d52" /><Relationship Type="http://schemas.openxmlformats.org/officeDocument/2006/relationships/slide" Target="/ppt/slides/slide10.xml" Id="Redd6717a373d4da2" /><Relationship Type="http://schemas.openxmlformats.org/officeDocument/2006/relationships/slide" Target="/ppt/slides/slide11.xml" Id="R79976944b0a04992" /><Relationship Type="http://schemas.openxmlformats.org/officeDocument/2006/relationships/slide" Target="/ppt/slides/slide12.xml" Id="Rb1bc84e38e954774" /><Relationship Type="http://schemas.openxmlformats.org/officeDocument/2006/relationships/slide" Target="/ppt/slides/slide13.xml" Id="R4e944f539aa442e6" /><Relationship Type="http://schemas.openxmlformats.org/officeDocument/2006/relationships/slide" Target="/ppt/slides/slide14.xml" Id="Rf7e096f127f14621" /><Relationship Type="http://schemas.openxmlformats.org/officeDocument/2006/relationships/slide" Target="/ppt/slides/slide15.xml" Id="R471ae66c238744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22236e8ea44def" /></Relationships>
</file>

<file path=ppt/notesMasters/_rels/restored_notesMaster1.xml.rels><?xml version='1.0' encoding='utf-8'?>
<Relationships xmlns="http://schemas.openxmlformats.org/package/2006/relationships"><Relationship Id="rId1" Type="http://schemas.openxmlformats.org/officeDocument/2006/relationships/theme" Target="../theme/restored_theme2.xml"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restored_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131C1E-EA97-4770-9D9B-B5D475BC0356}" type="datetimeFigureOut">
              <a:rPr lang="en-IN" smtClean="0"/>
              <a:t>19-10-2026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F3D40A-EC1A-4F6F-BB68-EFB07E1011F1}" type="slidenum">
              <a:rPr lang="en-IN" smtClean="0"/>
              <a:t>‹#›</a:t>
            </a:fld>
            <a:endParaRPr lang="en-IN"/>
          </a:p>
        </p:txBody>
      </p:sp>
    </p:spTree>
    <p:extLst>
      <p:ext uri="{BB962C8B-B14F-4D97-AF65-F5344CB8AC3E}">
        <p14:creationId xmlns:p14="http://schemas.microsoft.com/office/powerpoint/2010/main" val="459196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cf49b5d9ed4483" /><Relationship Type="http://schemas.openxmlformats.org/officeDocument/2006/relationships/notesMaster" Target="/ppt/notesMasters/notesMaster1.xml" Id="R79d14d563f564a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61470776194f6a" /><Relationship Type="http://schemas.openxmlformats.org/officeDocument/2006/relationships/notesMaster" Target="/ppt/notesMasters/notesMaster1.xml" Id="R90a30e14fe764e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9fd8d9d3eb44fe" /><Relationship Type="http://schemas.openxmlformats.org/officeDocument/2006/relationships/notesMaster" Target="/ppt/notesMasters/notesMaster1.xml" Id="R89ffc27860924b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69e2f9644642b0" /><Relationship Type="http://schemas.openxmlformats.org/officeDocument/2006/relationships/notesMaster" Target="/ppt/notesMasters/notesMaster1.xml" Id="R0f5a49bd01d842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1e839fb9d24ae0" /><Relationship Type="http://schemas.openxmlformats.org/officeDocument/2006/relationships/notesMaster" Target="/ppt/notesMasters/notesMaster1.xml" Id="R4b1b8a410c0c45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f21fdae841463c" /><Relationship Type="http://schemas.openxmlformats.org/officeDocument/2006/relationships/notesMaster" Target="/ppt/notesMasters/notesMaster1.xml" Id="R1285535d91e243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251c8970124139" /><Relationship Type="http://schemas.openxmlformats.org/officeDocument/2006/relationships/notesMaster" Target="/ppt/notesMasters/notesMaster1.xml" Id="R2ee230c636d34c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35895fa4c04294" /><Relationship Type="http://schemas.openxmlformats.org/officeDocument/2006/relationships/notesMaster" Target="/ppt/notesMasters/notesMaster1.xml" Id="R780c39410c9742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95f9aee53745dd" /><Relationship Type="http://schemas.openxmlformats.org/officeDocument/2006/relationships/notesMaster" Target="/ppt/notesMasters/notesMaster1.xml" Id="R3d2000b6eb9743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14ad2e42884736" /><Relationship Type="http://schemas.openxmlformats.org/officeDocument/2006/relationships/notesMaster" Target="/ppt/notesMasters/notesMaster1.xml" Id="Rc3a93c69397f46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ac868bfb574828" /><Relationship Type="http://schemas.openxmlformats.org/officeDocument/2006/relationships/notesMaster" Target="/ppt/notesMasters/notesMaster1.xml" Id="R21edb5e7438941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874cd0dcc24895" /><Relationship Type="http://schemas.openxmlformats.org/officeDocument/2006/relationships/notesMaster" Target="/ppt/notesMasters/notesMaster1.xml" Id="Rcecb0f25effb43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ea7196e2cf44199" /><Relationship Type="http://schemas.openxmlformats.org/officeDocument/2006/relationships/notesMaster" Target="/ppt/notesMasters/notesMaster1.xml" Id="Ra9b76a9a739b473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af1c74d8db4a26" /><Relationship Type="http://schemas.openxmlformats.org/officeDocument/2006/relationships/notesMaster" Target="/ppt/notesMasters/notesMaster1.xml" Id="R2c502907564048b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da299b8fdd64d52" /><Relationship Type="http://schemas.openxmlformats.org/officeDocument/2006/relationships/notesMaster" Target="/ppt/notesMasters/notesMaster1.xml" Id="Ra4cd77ca667b4f78" /></Relationships>
</file>

<file path=ppt/notesSlides/_rels/restored_notesSlide1.xml.rels><?xml version='1.0' encoding='utf-8'?>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restored_notesMaster1.xml"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title and team details retained from the supplied Review 2 template.</a:t>
            </a:r>
            <a:endParaRP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2 topics follow the supplied template. Additional slides separate methods, validation and evidence to keep each slide concise.</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preserve the template scope. User explicitly retained ML as an objective and added both GPS location and ETA. These are objectives, not completed results.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architecture replaces the dense source image with an editable diagram. Current firmware generates simulated observations. Planned phone-to-cloud transport is MQTT over TLS with CoAP fallback. GPS provider, ETA method, backend and ML model remain to be selected.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GHSS UUID 0x1840; observations 0x2B8B; control point 0x2BF4. Firmware creates simulated readings on a nominal one-second task interval. The two rows show setup followed by telemetry, with editable step objects. Automatic app reconnection is not implemented.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describes observed implementation versus the user-approved target, without claiming measured superiority over competing protocols. No backend stack or risk model is finalized in the current repository.</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FR1 and FR2 are implemented in source but need hardware evidence. Sensor sketches exist separately. Persistent queueing, cloud transport, GPS, ETA, ML and hospital dashboard are requirements for subsequent integration.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code uses LE Secure Connections with Just Works and NVS bonds. This does not establish authenticated protection against active interception. No measured latency, delivery ratio, endurance or clinical accuracy is available.</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rationale, not measured Wi-Fi versus BLE test results. The earlier project README describes direct ESP32 Wi-Fi MQTT/TLS upload. The current architecture moves internet upload, GPS and planned buffering to the phone, while BLE carries nearby vital observations. Wi-Fi also supports local communication without internet, and a phone hotspot can provide a Wi-Fi uplink. The selected design removes Wi-Fi credentials and cloud connection handling from the ESP32 local link; it does not establish better latency, reliability, range or measured power consumption. BLE is designed for low-power point-to-point data exchange, including health monitoring. A fair empirical comparison would use the same board, workload, distance and observation duration, recording current draw, delivery ratio, update interval and recovery time. Sources: https://www.bluetooth.com/learn-about-bluetooth/topology-options/ ; https://www.bluetooth.com/bluetooth-le-primer/ ; https://docs.espressif.com/projects/esp-idf/en/latest/esp32/api-reference/bluetooth/bt_le.html ; earlier project README at D:/Academ/Projects/Major Project 2026-27/Coding Part/Smart Ambulance/README.md.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cases validate the current BLE prototype. Capture at least two updates for TC3, and a recording or timestamped logs for TC4 and TC5. A stopped app may retain the last displayed values. Reconnection is manual.</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tests need a defined telemetry contract and acceptance thresholds. ETA should be compared with actual arrival times on test routes. ML evaluation requires a selected dataset, labels, model and held-out split. Do not invent accuracy figures.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repository checked at D:/Academ/git-local/smart-ambulance. The older Coding Part/Smart Ambulance README describes a Wi-Fi/cloud design, but the inspected backend/frontend folders contain remnants rather than a complete current implementation. Status follows current source and the user confirmation, not older README claims.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Conclusions distinguish implemented code from demonstrated hardware results. The full system remains a prototype. ML risk assessment is a project objective and requires dataset/model selection and evaluation.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of Review 2 presentation.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estored_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6F3D40A-EC1A-4F6F-BB68-EFB07E1011F1}" type="slidenum">
              <a:rPr lang="en-IN" smtClean="0"/>
              <a:t>1</a:t>
            </a:fld>
            <a:endParaRPr lang="en-IN"/>
          </a:p>
        </p:txBody>
      </p:sp>
    </p:spTree>
    <p:extLst>
      <p:ext uri="{BB962C8B-B14F-4D97-AF65-F5344CB8AC3E}">
        <p14:creationId xmlns:p14="http://schemas.microsoft.com/office/powerpoint/2010/main" val="1488850629"/>
      </p:ext>
    </p:extLst>
  </p:cSld>
  <p:clrMapOvr>
    <a:masterClrMapping/>
  </p:clrMapOvr>
</p:notes>
</file>

<file path=ppt/slideLayouts/_rels/restored_slideLayout1.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2.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3.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4.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5.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6.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7.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8.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9.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10.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11.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1c4446c16749e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857692018547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cccb0abaf64f7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5f6c37131b4a1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a01191a63b44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ce4d6b540b41a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79298062c9f4d3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0c856755e94465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9a2dde05882466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9872768913848a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6bd880d8258457b" /></Relationships>
</file>

<file path=ppt/slideLayouts/restored_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D745-0B20-BBAA-074F-EF62988991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EFF7C1-57C4-8D79-46D3-BDDCA99C4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3CCF0EC-6478-6AA0-39C5-5817AD45084B}"/>
              </a:ext>
            </a:extLst>
          </p:cNvPr>
          <p:cNvSpPr>
            <a:spLocks noGrp="1"/>
          </p:cNvSpPr>
          <p:nvPr>
            <p:ph type="dt" sz="half" idx="10"/>
          </p:nvPr>
        </p:nvSpPr>
        <p:spPr/>
        <p:txBody>
          <a:bodyPr/>
          <a:lstStyle/>
          <a:p>
            <a:fld id="{DCC65D64-61A9-40CD-B94D-857C621C06A3}" type="datetime1">
              <a:rPr lang="en-IN" smtClean="0"/>
              <a:t>19-10-2026</a:t>
            </a:fld>
            <a:endParaRPr lang="en-IN"/>
          </a:p>
        </p:txBody>
      </p:sp>
      <p:sp>
        <p:nvSpPr>
          <p:cNvPr id="5" name="Footer Placeholder 4">
            <a:extLst>
              <a:ext uri="{FF2B5EF4-FFF2-40B4-BE49-F238E27FC236}">
                <a16:creationId xmlns:a16="http://schemas.microsoft.com/office/drawing/2014/main" id="{698BCB53-894F-5921-306C-CB1B74E5C147}"/>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70334AD7-6A1F-1788-A433-EC6F920012BA}"/>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3559805208"/>
      </p:ext>
    </p:extLst>
  </p:cSld>
  <p:clrMapOvr>
    <a:masterClrMapping/>
  </p:clrMapOvr>
</p:sldLayout>
</file>

<file path=ppt/slideLayouts/restored_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E90A8-DEF0-CAF0-21F0-8DA2786EE9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7C1FC8-0708-512D-2CA8-4E94945F6E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A0AE94-1A7F-8535-63EB-8091A1D29503}"/>
              </a:ext>
            </a:extLst>
          </p:cNvPr>
          <p:cNvSpPr>
            <a:spLocks noGrp="1"/>
          </p:cNvSpPr>
          <p:nvPr>
            <p:ph type="dt" sz="half" idx="10"/>
          </p:nvPr>
        </p:nvSpPr>
        <p:spPr/>
        <p:txBody>
          <a:bodyPr/>
          <a:lstStyle/>
          <a:p>
            <a:fld id="{E250B2B8-E89D-450D-848F-CCC0D3A80066}" type="datetime1">
              <a:rPr lang="en-IN" smtClean="0"/>
              <a:t>19-10-2026</a:t>
            </a:fld>
            <a:endParaRPr lang="en-IN"/>
          </a:p>
        </p:txBody>
      </p:sp>
      <p:sp>
        <p:nvSpPr>
          <p:cNvPr id="5" name="Footer Placeholder 4">
            <a:extLst>
              <a:ext uri="{FF2B5EF4-FFF2-40B4-BE49-F238E27FC236}">
                <a16:creationId xmlns:a16="http://schemas.microsoft.com/office/drawing/2014/main" id="{832C18AA-665C-9174-40C7-2700EFF77BF1}"/>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E2C036A-33A8-E88E-99D0-2903B7C5EA4E}"/>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3251790930"/>
      </p:ext>
    </p:extLst>
  </p:cSld>
  <p:clrMapOvr>
    <a:masterClrMapping/>
  </p:clrMapOvr>
</p:sldLayout>
</file>

<file path=ppt/slideLayouts/restored_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FBD5-1561-3932-E297-A14174187F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63A73B-59E7-B791-E521-B97995C4F9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F228BA-5DBB-745C-5F7F-6B4CA6E1B336}"/>
              </a:ext>
            </a:extLst>
          </p:cNvPr>
          <p:cNvSpPr>
            <a:spLocks noGrp="1"/>
          </p:cNvSpPr>
          <p:nvPr>
            <p:ph type="dt" sz="half" idx="10"/>
          </p:nvPr>
        </p:nvSpPr>
        <p:spPr/>
        <p:txBody>
          <a:bodyPr/>
          <a:lstStyle/>
          <a:p>
            <a:fld id="{6E451025-BBAB-4BD1-9DF2-DE64D763EA4D}" type="datetime1">
              <a:rPr lang="en-IN" smtClean="0"/>
              <a:t>19-10-2026</a:t>
            </a:fld>
            <a:endParaRPr lang="en-IN"/>
          </a:p>
        </p:txBody>
      </p:sp>
      <p:sp>
        <p:nvSpPr>
          <p:cNvPr id="5" name="Footer Placeholder 4">
            <a:extLst>
              <a:ext uri="{FF2B5EF4-FFF2-40B4-BE49-F238E27FC236}">
                <a16:creationId xmlns:a16="http://schemas.microsoft.com/office/drawing/2014/main" id="{80566780-0A65-9A5C-D8B4-219B02057C89}"/>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372F2B-5703-1917-0A03-01068F1345A8}"/>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3949398012"/>
      </p:ext>
    </p:extLst>
  </p:cSld>
  <p:clrMapOvr>
    <a:masterClrMapping/>
  </p:clrMapOvr>
</p:sldLayout>
</file>

<file path=ppt/slideLayouts/restored_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12EB-C7E9-76BE-0540-9539DA8896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CFC33C-641D-27E9-8511-1DA0B2D9E4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26661FD-66D9-9C58-FC7C-869A43023E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E4514F-A4CC-1761-9CEA-1FC19B4F7B7F}"/>
              </a:ext>
            </a:extLst>
          </p:cNvPr>
          <p:cNvSpPr>
            <a:spLocks noGrp="1"/>
          </p:cNvSpPr>
          <p:nvPr>
            <p:ph type="dt" sz="half" idx="10"/>
          </p:nvPr>
        </p:nvSpPr>
        <p:spPr/>
        <p:txBody>
          <a:bodyPr/>
          <a:lstStyle/>
          <a:p>
            <a:fld id="{3C7DA566-B459-4C7A-85E5-C2A7C24A1420}" type="datetime1">
              <a:rPr lang="en-IN" smtClean="0"/>
              <a:t>19-10-2026</a:t>
            </a:fld>
            <a:endParaRPr lang="en-IN"/>
          </a:p>
        </p:txBody>
      </p:sp>
      <p:sp>
        <p:nvSpPr>
          <p:cNvPr id="6" name="Footer Placeholder 5">
            <a:extLst>
              <a:ext uri="{FF2B5EF4-FFF2-40B4-BE49-F238E27FC236}">
                <a16:creationId xmlns:a16="http://schemas.microsoft.com/office/drawing/2014/main" id="{B1F1B018-A66A-E116-D076-220E61B8E72C}"/>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CB2419CD-4D96-32BF-7F1C-E1BF7EE6154D}"/>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223559452"/>
      </p:ext>
    </p:extLst>
  </p:cSld>
  <p:clrMapOvr>
    <a:masterClrMapping/>
  </p:clrMapOvr>
</p:sldLayout>
</file>

<file path=ppt/slideLayouts/restored_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4BB9-4AB7-8C6A-8BFF-A3621A872B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21CF5D-7A32-863B-E9E6-6BA58C5B3B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DB264E-C915-888B-18DA-22E34FCD2A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5859C3-3260-535B-BAB4-EA190AE0E0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67C906-088A-950B-EF70-FA0DAFD933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5F40AF-125E-31C4-B571-B32EF373BB06}"/>
              </a:ext>
            </a:extLst>
          </p:cNvPr>
          <p:cNvSpPr>
            <a:spLocks noGrp="1"/>
          </p:cNvSpPr>
          <p:nvPr>
            <p:ph type="dt" sz="half" idx="10"/>
          </p:nvPr>
        </p:nvSpPr>
        <p:spPr/>
        <p:txBody>
          <a:bodyPr/>
          <a:lstStyle/>
          <a:p>
            <a:fld id="{15763DEA-064E-425A-A301-4B3BA0502A3F}" type="datetime1">
              <a:rPr lang="en-IN" smtClean="0"/>
              <a:t>19-10-2026</a:t>
            </a:fld>
            <a:endParaRPr lang="en-IN"/>
          </a:p>
        </p:txBody>
      </p:sp>
      <p:sp>
        <p:nvSpPr>
          <p:cNvPr id="8" name="Footer Placeholder 7">
            <a:extLst>
              <a:ext uri="{FF2B5EF4-FFF2-40B4-BE49-F238E27FC236}">
                <a16:creationId xmlns:a16="http://schemas.microsoft.com/office/drawing/2014/main" id="{7F1D0E3D-EC0A-214F-AE51-D3A6DA70B7F5}"/>
              </a:ext>
            </a:extLst>
          </p:cNvPr>
          <p:cNvSpPr>
            <a:spLocks noGrp="1"/>
          </p:cNvSpPr>
          <p:nvPr>
            <p:ph type="ftr" sz="quarter" idx="11"/>
          </p:nvPr>
        </p:nvSpPr>
        <p:spPr/>
        <p:txBody>
          <a:bodyPr/>
          <a:lstStyle/>
          <a:p>
            <a:r>
              <a:rPr lang="en-US"/>
              <a:t>Dept. of ECE, NMIT, Bengaluru</a:t>
            </a:r>
            <a:endParaRPr lang="en-IN"/>
          </a:p>
        </p:txBody>
      </p:sp>
      <p:sp>
        <p:nvSpPr>
          <p:cNvPr id="9" name="Slide Number Placeholder 8">
            <a:extLst>
              <a:ext uri="{FF2B5EF4-FFF2-40B4-BE49-F238E27FC236}">
                <a16:creationId xmlns:a16="http://schemas.microsoft.com/office/drawing/2014/main" id="{C11E67A1-465D-9A8A-60C8-9F260A5F3124}"/>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1815892943"/>
      </p:ext>
    </p:extLst>
  </p:cSld>
  <p:clrMapOvr>
    <a:masterClrMapping/>
  </p:clrMapOvr>
</p:sldLayout>
</file>

<file path=ppt/slideLayouts/restored_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9077-248C-58C0-5973-D9AC97BC11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CDA6BA2-43B1-8708-AB4E-AA8A134DE086}"/>
              </a:ext>
            </a:extLst>
          </p:cNvPr>
          <p:cNvSpPr>
            <a:spLocks noGrp="1"/>
          </p:cNvSpPr>
          <p:nvPr>
            <p:ph type="dt" sz="half" idx="10"/>
          </p:nvPr>
        </p:nvSpPr>
        <p:spPr/>
        <p:txBody>
          <a:bodyPr/>
          <a:lstStyle/>
          <a:p>
            <a:fld id="{438D0107-E616-461D-9207-52B0BDAA9751}" type="datetime1">
              <a:rPr lang="en-IN" smtClean="0"/>
              <a:t>19-10-2026</a:t>
            </a:fld>
            <a:endParaRPr lang="en-IN"/>
          </a:p>
        </p:txBody>
      </p:sp>
      <p:sp>
        <p:nvSpPr>
          <p:cNvPr id="4" name="Footer Placeholder 3">
            <a:extLst>
              <a:ext uri="{FF2B5EF4-FFF2-40B4-BE49-F238E27FC236}">
                <a16:creationId xmlns:a16="http://schemas.microsoft.com/office/drawing/2014/main" id="{69113DAA-528F-ACAE-BCFF-72E4C3714E9F}"/>
              </a:ext>
            </a:extLst>
          </p:cNvPr>
          <p:cNvSpPr>
            <a:spLocks noGrp="1"/>
          </p:cNvSpPr>
          <p:nvPr>
            <p:ph type="ftr" sz="quarter" idx="11"/>
          </p:nvPr>
        </p:nvSpPr>
        <p:spPr/>
        <p:txBody>
          <a:bodyPr/>
          <a:lstStyle/>
          <a:p>
            <a:r>
              <a:rPr lang="en-US"/>
              <a:t>Dept. of ECE, NMIT, Bengaluru</a:t>
            </a:r>
            <a:endParaRPr lang="en-IN"/>
          </a:p>
        </p:txBody>
      </p:sp>
      <p:sp>
        <p:nvSpPr>
          <p:cNvPr id="5" name="Slide Number Placeholder 4">
            <a:extLst>
              <a:ext uri="{FF2B5EF4-FFF2-40B4-BE49-F238E27FC236}">
                <a16:creationId xmlns:a16="http://schemas.microsoft.com/office/drawing/2014/main" id="{96EE596D-B02B-5ECD-DEA8-8B5F226A5680}"/>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562719169"/>
      </p:ext>
    </p:extLst>
  </p:cSld>
  <p:clrMapOvr>
    <a:masterClrMapping/>
  </p:clrMapOvr>
</p:sldLayout>
</file>

<file path=ppt/slideLayouts/restored_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7191E-B112-54E5-E29A-F71A7DF454CB}"/>
              </a:ext>
            </a:extLst>
          </p:cNvPr>
          <p:cNvSpPr>
            <a:spLocks noGrp="1"/>
          </p:cNvSpPr>
          <p:nvPr>
            <p:ph type="dt" sz="half" idx="10"/>
          </p:nvPr>
        </p:nvSpPr>
        <p:spPr/>
        <p:txBody>
          <a:bodyPr/>
          <a:lstStyle/>
          <a:p>
            <a:fld id="{050B6DF2-7F2A-4D21-830E-C34D54E5DB26}" type="datetime1">
              <a:rPr lang="en-IN" smtClean="0"/>
              <a:t>19-10-2026</a:t>
            </a:fld>
            <a:endParaRPr lang="en-IN"/>
          </a:p>
        </p:txBody>
      </p:sp>
      <p:sp>
        <p:nvSpPr>
          <p:cNvPr id="3" name="Footer Placeholder 2">
            <a:extLst>
              <a:ext uri="{FF2B5EF4-FFF2-40B4-BE49-F238E27FC236}">
                <a16:creationId xmlns:a16="http://schemas.microsoft.com/office/drawing/2014/main" id="{D33BDEFE-732E-C016-6AB1-9E18E867B587}"/>
              </a:ext>
            </a:extLst>
          </p:cNvPr>
          <p:cNvSpPr>
            <a:spLocks noGrp="1"/>
          </p:cNvSpPr>
          <p:nvPr>
            <p:ph type="ftr" sz="quarter" idx="11"/>
          </p:nvPr>
        </p:nvSpPr>
        <p:spPr/>
        <p:txBody>
          <a:bodyPr/>
          <a:lstStyle/>
          <a:p>
            <a:r>
              <a:rPr lang="en-US"/>
              <a:t>Dept. of ECE, NMIT, Bengaluru</a:t>
            </a:r>
            <a:endParaRPr lang="en-IN"/>
          </a:p>
        </p:txBody>
      </p:sp>
      <p:sp>
        <p:nvSpPr>
          <p:cNvPr id="4" name="Slide Number Placeholder 3">
            <a:extLst>
              <a:ext uri="{FF2B5EF4-FFF2-40B4-BE49-F238E27FC236}">
                <a16:creationId xmlns:a16="http://schemas.microsoft.com/office/drawing/2014/main" id="{417B749E-E48B-CAF5-E430-6FE27ED57E7F}"/>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2932482873"/>
      </p:ext>
    </p:extLst>
  </p:cSld>
  <p:clrMapOvr>
    <a:masterClrMapping/>
  </p:clrMapOvr>
</p:sldLayout>
</file>

<file path=ppt/slideLayouts/restored_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B7CA-0679-E8C0-23AD-92B1DFE0E6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A98F6F-E9AC-DC82-132D-29B0BBC4F4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0FA807-3DD8-13E7-498A-153246EE0A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0A236-2402-8ACA-6847-F03201A03C88}"/>
              </a:ext>
            </a:extLst>
          </p:cNvPr>
          <p:cNvSpPr>
            <a:spLocks noGrp="1"/>
          </p:cNvSpPr>
          <p:nvPr>
            <p:ph type="dt" sz="half" idx="10"/>
          </p:nvPr>
        </p:nvSpPr>
        <p:spPr/>
        <p:txBody>
          <a:bodyPr/>
          <a:lstStyle/>
          <a:p>
            <a:fld id="{7E140C3B-5552-4017-A7F7-1D3DC73ABB6C}" type="datetime1">
              <a:rPr lang="en-IN" smtClean="0"/>
              <a:t>19-10-2026</a:t>
            </a:fld>
            <a:endParaRPr lang="en-IN"/>
          </a:p>
        </p:txBody>
      </p:sp>
      <p:sp>
        <p:nvSpPr>
          <p:cNvPr id="6" name="Footer Placeholder 5">
            <a:extLst>
              <a:ext uri="{FF2B5EF4-FFF2-40B4-BE49-F238E27FC236}">
                <a16:creationId xmlns:a16="http://schemas.microsoft.com/office/drawing/2014/main" id="{9FA06F1D-F4E2-655D-0ECB-0762E4A519FB}"/>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9D059C62-9D81-A148-F3A8-E735B1A707C3}"/>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4199354962"/>
      </p:ext>
    </p:extLst>
  </p:cSld>
  <p:clrMapOvr>
    <a:masterClrMapping/>
  </p:clrMapOvr>
</p:sldLayout>
</file>

<file path=ppt/slideLayouts/restored_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4FF6-EEF0-8B97-696A-746280ACA5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097AEC-9604-18F5-B68A-9DDAC80CB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BF86077-F677-6962-4FED-10D159B67E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114E18-CA26-8F9E-AC5A-76906484DCB9}"/>
              </a:ext>
            </a:extLst>
          </p:cNvPr>
          <p:cNvSpPr>
            <a:spLocks noGrp="1"/>
          </p:cNvSpPr>
          <p:nvPr>
            <p:ph type="dt" sz="half" idx="10"/>
          </p:nvPr>
        </p:nvSpPr>
        <p:spPr/>
        <p:txBody>
          <a:bodyPr/>
          <a:lstStyle/>
          <a:p>
            <a:fld id="{08762C1D-5720-48A1-898D-8041400C55BC}" type="datetime1">
              <a:rPr lang="en-IN" smtClean="0"/>
              <a:t>19-10-2026</a:t>
            </a:fld>
            <a:endParaRPr lang="en-IN"/>
          </a:p>
        </p:txBody>
      </p:sp>
      <p:sp>
        <p:nvSpPr>
          <p:cNvPr id="6" name="Footer Placeholder 5">
            <a:extLst>
              <a:ext uri="{FF2B5EF4-FFF2-40B4-BE49-F238E27FC236}">
                <a16:creationId xmlns:a16="http://schemas.microsoft.com/office/drawing/2014/main" id="{7AA36461-552C-E633-1CF0-DB8BC7B43996}"/>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4365D169-0627-C229-C26B-84AA64B38361}"/>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1705029080"/>
      </p:ext>
    </p:extLst>
  </p:cSld>
  <p:clrMapOvr>
    <a:masterClrMapping/>
  </p:clrMapOvr>
</p:sldLayout>
</file>

<file path=ppt/slideLayouts/restored_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CB26-31EA-5AE3-3E63-6F2EFEC5C1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815B1A-9C33-E8AE-6618-E625DB8E7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88B927-04A1-6ACB-7D83-CF9A45497181}"/>
              </a:ext>
            </a:extLst>
          </p:cNvPr>
          <p:cNvSpPr>
            <a:spLocks noGrp="1"/>
          </p:cNvSpPr>
          <p:nvPr>
            <p:ph type="dt" sz="half" idx="10"/>
          </p:nvPr>
        </p:nvSpPr>
        <p:spPr/>
        <p:txBody>
          <a:bodyPr/>
          <a:lstStyle/>
          <a:p>
            <a:fld id="{D1C140E7-F52A-4119-97FF-78F9513B4388}" type="datetime1">
              <a:rPr lang="en-IN" smtClean="0"/>
              <a:t>19-10-2026</a:t>
            </a:fld>
            <a:endParaRPr lang="en-IN"/>
          </a:p>
        </p:txBody>
      </p:sp>
      <p:sp>
        <p:nvSpPr>
          <p:cNvPr id="5" name="Footer Placeholder 4">
            <a:extLst>
              <a:ext uri="{FF2B5EF4-FFF2-40B4-BE49-F238E27FC236}">
                <a16:creationId xmlns:a16="http://schemas.microsoft.com/office/drawing/2014/main" id="{E7E9898D-9F32-B8B8-1CB9-8DAEBCCF6BC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F0E129-A7D7-908A-2DB9-C14597E8F088}"/>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3157537378"/>
      </p:ext>
    </p:extLst>
  </p:cSld>
  <p:clrMapOvr>
    <a:masterClrMapping/>
  </p:clrMapOvr>
</p:sldLayout>
</file>

<file path=ppt/slideLayouts/restored_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2730AC-48F0-F0FE-FE21-835054F728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894533-AC0F-B196-504E-399428B586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2A9436-E8A2-F71D-A637-B20EA1490A07}"/>
              </a:ext>
            </a:extLst>
          </p:cNvPr>
          <p:cNvSpPr>
            <a:spLocks noGrp="1"/>
          </p:cNvSpPr>
          <p:nvPr>
            <p:ph type="dt" sz="half" idx="10"/>
          </p:nvPr>
        </p:nvSpPr>
        <p:spPr/>
        <p:txBody>
          <a:bodyPr/>
          <a:lstStyle/>
          <a:p>
            <a:fld id="{34E1CFB4-31DA-40A2-AE2B-F9FC033D0834}" type="datetime1">
              <a:rPr lang="en-IN" smtClean="0"/>
              <a:t>19-10-2026</a:t>
            </a:fld>
            <a:endParaRPr lang="en-IN"/>
          </a:p>
        </p:txBody>
      </p:sp>
      <p:sp>
        <p:nvSpPr>
          <p:cNvPr id="5" name="Footer Placeholder 4">
            <a:extLst>
              <a:ext uri="{FF2B5EF4-FFF2-40B4-BE49-F238E27FC236}">
                <a16:creationId xmlns:a16="http://schemas.microsoft.com/office/drawing/2014/main" id="{3A1BF561-DBF4-21B8-CB10-BC790D20941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F2FADF1E-7BDA-43E8-BEF6-6F3FA39F5E6B}"/>
              </a:ext>
            </a:extLst>
          </p:cNvPr>
          <p:cNvSpPr>
            <a:spLocks noGrp="1"/>
          </p:cNvSpPr>
          <p:nvPr>
            <p:ph type="sldNum" sz="quarter" idx="12"/>
          </p:nvPr>
        </p:nvSpPr>
        <p:spPr/>
        <p:txBody>
          <a:bodyPr/>
          <a:lstStyle/>
          <a:p>
            <a:fld id="{75249B9C-BF50-4540-B2D1-32A225E7564A}" type="slidenum">
              <a:rPr lang="en-IN" smtClean="0"/>
              <a:t>‹#›</a:t>
            </a:fld>
            <a:endParaRPr lang="en-IN"/>
          </a:p>
        </p:txBody>
      </p:sp>
    </p:spTree>
    <p:extLst>
      <p:ext uri="{BB962C8B-B14F-4D97-AF65-F5344CB8AC3E}">
        <p14:creationId xmlns:p14="http://schemas.microsoft.com/office/powerpoint/2010/main" val="3034207177"/>
      </p:ext>
    </p:extLst>
  </p:cSld>
  <p:clrMapOvr>
    <a:masterClrMapping/>
  </p:clrMapOvr>
</p:sldLayout>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94D745-0B20-BBAA-074F-EF62988991C7}"/>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B2EFF7C1-57C4-8D79-46D3-BDDCA99C45F2}"/>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33CCF0EC-6478-6AA0-39C5-5817AD45084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CC65D64-61A9-40CD-B94D-857C621C06A3}" type="datetime1">
              <a:t>19-10-2026</a:t>
            </a:fld>
            <a:endParaRPr/>
          </a:p>
        </p:txBody>
      </p:sp>
      <p:sp>
        <p:nvSpPr>
          <p:cNvPr id="5" name="Footer Placeholder 4">
            <a:extLst xmlns:a="http://schemas.openxmlformats.org/drawingml/2006/main">
              <a:ext uri="{FF2B5EF4-FFF2-40B4-BE49-F238E27FC236}">
                <a16:creationId xmlns:a16="http://schemas.microsoft.com/office/drawing/2014/main" id="{698BCB53-894F-5921-306C-CB1B74E5C14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70334AD7-6A1F-1788-A433-EC6F920012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4E90A8-DEF0-CAF0-21F0-8DA2786EE9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D7C1FC8-0708-512D-2CA8-4E94945F6E8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EA0AE94-1A7F-8535-63EB-8091A1D295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250B2B8-E89D-450D-848F-CCC0D3A80066}" type="datetime1">
              <a:t>19-10-2026</a:t>
            </a:fld>
            <a:endParaRPr/>
          </a:p>
        </p:txBody>
      </p:sp>
      <p:sp>
        <p:nvSpPr>
          <p:cNvPr id="5" name="Footer Placeholder 4">
            <a:extLst xmlns:a="http://schemas.openxmlformats.org/drawingml/2006/main">
              <a:ext uri="{FF2B5EF4-FFF2-40B4-BE49-F238E27FC236}">
                <a16:creationId xmlns:a16="http://schemas.microsoft.com/office/drawing/2014/main" id="{832C18AA-665C-9174-40C7-2700EFF77B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E2C036A-33A8-E88E-99D0-2903B7C5EA4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38FBD5-1561-3932-E297-A14174187F05}"/>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C63A73B-59E7-B791-E521-B97995C4F948}"/>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5F228BA-5DBB-745C-5F7F-6B4CA6E1B3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E451025-BBAB-4BD1-9DF2-DE64D763EA4D}" type="datetime1">
              <a:t>19-10-2026</a:t>
            </a:fld>
            <a:endParaRPr/>
          </a:p>
        </p:txBody>
      </p:sp>
      <p:sp>
        <p:nvSpPr>
          <p:cNvPr id="5" name="Footer Placeholder 4">
            <a:extLst xmlns:a="http://schemas.openxmlformats.org/drawingml/2006/main">
              <a:ext uri="{FF2B5EF4-FFF2-40B4-BE49-F238E27FC236}">
                <a16:creationId xmlns:a16="http://schemas.microsoft.com/office/drawing/2014/main" id="{80566780-0A65-9A5C-D8B4-219B02057C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3372F2B-5703-1917-0A03-01068F1345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8012EB-C7E9-76BE-0540-9539DA88967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BCFC33C-641D-27E9-8511-1DA0B2D9E4E4}"/>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226661FD-66D9-9C58-FC7C-869A43023EC5}"/>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95E4514F-A4CC-1761-9CEA-1FC19B4F7B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C7DA566-B459-4C7A-85E5-C2A7C24A1420}" type="datetime1">
              <a:t>19-10-2026</a:t>
            </a:fld>
            <a:endParaRPr/>
          </a:p>
        </p:txBody>
      </p:sp>
      <p:sp>
        <p:nvSpPr>
          <p:cNvPr id="6" name="Footer Placeholder 5">
            <a:extLst xmlns:a="http://schemas.openxmlformats.org/drawingml/2006/main">
              <a:ext uri="{FF2B5EF4-FFF2-40B4-BE49-F238E27FC236}">
                <a16:creationId xmlns:a16="http://schemas.microsoft.com/office/drawing/2014/main" id="{B1F1B018-A66A-E116-D076-220E61B8E7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CB2419CD-4D96-32BF-7F1C-E1BF7EE615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314BB9-4AB7-8C6A-8BFF-A3621A872B39}"/>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E21CF5D-7A32-863B-E9E6-6BA58C5B3B6B}"/>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ADB264E-C915-888B-18DA-22E34FCD2A3F}"/>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5F5859C3-3260-535B-BAB4-EA190AE0E0D5}"/>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E67C906-088A-950B-EF70-FA0DAFD933C1}"/>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6A5F40AF-125E-31C4-B571-B32EF373BB0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5763DEA-064E-425A-A301-4B3BA0502A3F}" type="datetime1">
              <a:t>19-10-2026</a:t>
            </a:fld>
            <a:endParaRPr/>
          </a:p>
        </p:txBody>
      </p:sp>
      <p:sp>
        <p:nvSpPr>
          <p:cNvPr id="8" name="Footer Placeholder 7">
            <a:extLst xmlns:a="http://schemas.openxmlformats.org/drawingml/2006/main">
              <a:ext uri="{FF2B5EF4-FFF2-40B4-BE49-F238E27FC236}">
                <a16:creationId xmlns:a16="http://schemas.microsoft.com/office/drawing/2014/main" id="{7F1D0E3D-EC0A-214F-AE51-D3A6DA70B7F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9" name="Slide Number Placeholder 8">
            <a:extLst xmlns:a="http://schemas.openxmlformats.org/drawingml/2006/main">
              <a:ext uri="{FF2B5EF4-FFF2-40B4-BE49-F238E27FC236}">
                <a16:creationId xmlns:a16="http://schemas.microsoft.com/office/drawing/2014/main" id="{C11E67A1-465D-9A8A-60C8-9F260A5F312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B29077-248C-58C0-5973-D9AC97BC11C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ECDA6BA2-43B1-8708-AB4E-AA8A134DE08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38D0107-E616-461D-9207-52B0BDAA9751}" type="datetime1">
              <a:t>19-10-2026</a:t>
            </a:fld>
            <a:endParaRPr/>
          </a:p>
        </p:txBody>
      </p:sp>
      <p:sp>
        <p:nvSpPr>
          <p:cNvPr id="4" name="Footer Placeholder 3">
            <a:extLst xmlns:a="http://schemas.openxmlformats.org/drawingml/2006/main">
              <a:ext uri="{FF2B5EF4-FFF2-40B4-BE49-F238E27FC236}">
                <a16:creationId xmlns:a16="http://schemas.microsoft.com/office/drawing/2014/main" id="{69113DAA-528F-ACAE-BCFF-72E4C3714E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5" name="Slide Number Placeholder 4">
            <a:extLst xmlns:a="http://schemas.openxmlformats.org/drawingml/2006/main">
              <a:ext uri="{FF2B5EF4-FFF2-40B4-BE49-F238E27FC236}">
                <a16:creationId xmlns:a16="http://schemas.microsoft.com/office/drawing/2014/main" id="{96EE596D-B02B-5ECD-DEA8-8B5F226A568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0A7191E-B112-54E5-E29A-F71A7DF454C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0B6DF2-7F2A-4D21-830E-C34D54E5DB26}" type="datetime1">
              <a:t>19-10-2026</a:t>
            </a:fld>
            <a:endParaRPr/>
          </a:p>
        </p:txBody>
      </p:sp>
      <p:sp>
        <p:nvSpPr>
          <p:cNvPr id="3" name="Footer Placeholder 2">
            <a:extLst xmlns:a="http://schemas.openxmlformats.org/drawingml/2006/main">
              <a:ext uri="{FF2B5EF4-FFF2-40B4-BE49-F238E27FC236}">
                <a16:creationId xmlns:a16="http://schemas.microsoft.com/office/drawing/2014/main" id="{D33BDEFE-732E-C016-6AB1-9E18E867B58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4" name="Slide Number Placeholder 3">
            <a:extLst xmlns:a="http://schemas.openxmlformats.org/drawingml/2006/main">
              <a:ext uri="{FF2B5EF4-FFF2-40B4-BE49-F238E27FC236}">
                <a16:creationId xmlns:a16="http://schemas.microsoft.com/office/drawing/2014/main" id="{417B749E-E48B-CAF5-E430-6FE27ED57E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84B7CA-0679-E8C0-23AD-92B1DFE0E6D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9A98F6F-E9AC-DC82-132D-29B0BBC4F473}"/>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960FA807-3DD8-13E7-498A-153246EE0A06}"/>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7B0A236-2402-8ACA-6847-F03201A03C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E140C3B-5552-4017-A7F7-1D3DC73ABB6C}" type="datetime1">
              <a:t>19-10-2026</a:t>
            </a:fld>
            <a:endParaRPr/>
          </a:p>
        </p:txBody>
      </p:sp>
      <p:sp>
        <p:nvSpPr>
          <p:cNvPr id="6" name="Footer Placeholder 5">
            <a:extLst xmlns:a="http://schemas.openxmlformats.org/drawingml/2006/main">
              <a:ext uri="{FF2B5EF4-FFF2-40B4-BE49-F238E27FC236}">
                <a16:creationId xmlns:a16="http://schemas.microsoft.com/office/drawing/2014/main" id="{9FA06F1D-F4E2-655D-0ECB-0762E4A519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9D059C62-9D81-A148-F3A8-E735B1A707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0A4FF6-EEF0-8B97-696A-746280ACA59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F2097AEC-9604-18F5-B68A-9DDAC80CB6F7}"/>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BF86077-F677-6962-4FED-10D159B67E32}"/>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3114E18-CA26-8F9E-AC5A-76906484DCB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8762C1D-5720-48A1-898D-8041400C55BC}" type="datetime1">
              <a:t>19-10-2026</a:t>
            </a:fld>
            <a:endParaRPr/>
          </a:p>
        </p:txBody>
      </p:sp>
      <p:sp>
        <p:nvSpPr>
          <p:cNvPr id="6" name="Footer Placeholder 5">
            <a:extLst xmlns:a="http://schemas.openxmlformats.org/drawingml/2006/main">
              <a:ext uri="{FF2B5EF4-FFF2-40B4-BE49-F238E27FC236}">
                <a16:creationId xmlns:a16="http://schemas.microsoft.com/office/drawing/2014/main" id="{7AA36461-552C-E633-1CF0-DB8BC7B4399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4365D169-0627-C229-C26B-84AA64B383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A5CB26-31EA-5AE3-3E63-6F2EFEC5C15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6815B1A-9C33-E8AE-6618-E625DB8E7DA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088B927-04A1-6ACB-7D83-CF9A454971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C140E7-F52A-4119-97FF-78F9513B4388}" type="datetime1">
              <a:t>19-10-2026</a:t>
            </a:fld>
            <a:endParaRPr/>
          </a:p>
        </p:txBody>
      </p:sp>
      <p:sp>
        <p:nvSpPr>
          <p:cNvPr id="5" name="Footer Placeholder 4">
            <a:extLst xmlns:a="http://schemas.openxmlformats.org/drawingml/2006/main">
              <a:ext uri="{FF2B5EF4-FFF2-40B4-BE49-F238E27FC236}">
                <a16:creationId xmlns:a16="http://schemas.microsoft.com/office/drawing/2014/main" id="{E7E9898D-9F32-B8B8-1CB9-8DAEBCCF6B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3F0E129-A7D7-908A-2DB9-C14597E8F08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242730AC-48F0-F0FE-FE21-835054F7282A}"/>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4F894533-AC0F-B196-504E-399428B58639}"/>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42A9436-E8A2-F71D-A637-B20EA1490A0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E1CFB4-31DA-40A2-AE2B-F9FC033D0834}" type="datetime1">
              <a:t>19-10-2026</a:t>
            </a:fld>
            <a:endParaRPr/>
          </a:p>
        </p:txBody>
      </p:sp>
      <p:sp>
        <p:nvSpPr>
          <p:cNvPr id="5" name="Footer Placeholder 4">
            <a:extLst xmlns:a="http://schemas.openxmlformats.org/drawingml/2006/main">
              <a:ext uri="{FF2B5EF4-FFF2-40B4-BE49-F238E27FC236}">
                <a16:creationId xmlns:a16="http://schemas.microsoft.com/office/drawing/2014/main" id="{3A1BF561-DBF4-21B8-CB10-BC790D2094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F2FADF1E-7BDA-43E8-BEF6-6F3FA39F5E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Masters/_rels/restored_slideMaster1.xml.rels><?xml version='1.0' encoding='utf-8'?>
<Relationships xmlns="http://schemas.openxmlformats.org/package/2006/relationships"><Relationship Id="rId8" Type="http://schemas.openxmlformats.org/officeDocument/2006/relationships/slideLayout" Target="../slideLayouts/restored_slideLayout8.xml" /><Relationship Id="rId3" Type="http://schemas.openxmlformats.org/officeDocument/2006/relationships/slideLayout" Target="../slideLayouts/restored_slideLayout3.xml" /><Relationship Id="rId7" Type="http://schemas.openxmlformats.org/officeDocument/2006/relationships/slideLayout" Target="../slideLayouts/restored_slideLayout7.xml" /><Relationship Id="rId12" Type="http://schemas.openxmlformats.org/officeDocument/2006/relationships/theme" Target="../theme/restored_theme1.xml" /><Relationship Id="rId2" Type="http://schemas.openxmlformats.org/officeDocument/2006/relationships/slideLayout" Target="../slideLayouts/restored_slideLayout2.xml" /><Relationship Id="rId1" Type="http://schemas.openxmlformats.org/officeDocument/2006/relationships/slideLayout" Target="../slideLayouts/restored_slideLayout1.xml" /><Relationship Id="rId6" Type="http://schemas.openxmlformats.org/officeDocument/2006/relationships/slideLayout" Target="../slideLayouts/restored_slideLayout6.xml" /><Relationship Id="rId11" Type="http://schemas.openxmlformats.org/officeDocument/2006/relationships/slideLayout" Target="../slideLayouts/restored_slideLayout11.xml" /><Relationship Id="rId5" Type="http://schemas.openxmlformats.org/officeDocument/2006/relationships/slideLayout" Target="../slideLayouts/restored_slideLayout5.xml" /><Relationship Id="rId10" Type="http://schemas.openxmlformats.org/officeDocument/2006/relationships/slideLayout" Target="../slideLayouts/restored_slideLayout10.xml" /><Relationship Id="rId4" Type="http://schemas.openxmlformats.org/officeDocument/2006/relationships/slideLayout" Target="../slideLayouts/restored_slideLayout4.xml" /><Relationship Id="rId9" Type="http://schemas.openxmlformats.org/officeDocument/2006/relationships/slideLayout" Target="../slideLayouts/restored_slideLayout9.xml" /></Relationships>
</file>

<file path=ppt/slideMasters/_rels/slideMaster1.xml.rels>&#65279;<?xml version="1.0" encoding="utf-8"?><Relationships xmlns="http://schemas.openxmlformats.org/package/2006/relationships"><Relationship Type="http://schemas.openxmlformats.org/officeDocument/2006/relationships/theme" Target="/ppt/slideMasters/theme/theme2.xml" Id="R788a310718d849dc" /><Relationship Type="http://schemas.openxmlformats.org/officeDocument/2006/relationships/slideLayout" Target="/ppt/slideLayouts/slideLayout1.xml" Id="Rb2ffb1eba3294db5" /><Relationship Type="http://schemas.openxmlformats.org/officeDocument/2006/relationships/slideLayout" Target="/ppt/slideLayouts/slideLayout2.xml" Id="Rf5b329ef0d56494a" /><Relationship Type="http://schemas.openxmlformats.org/officeDocument/2006/relationships/slideLayout" Target="/ppt/slideLayouts/slideLayout3.xml" Id="R812428773e194a14" /><Relationship Type="http://schemas.openxmlformats.org/officeDocument/2006/relationships/slideLayout" Target="/ppt/slideLayouts/slideLayout4.xml" Id="R0e07a6bbb2b84eb8" /><Relationship Type="http://schemas.openxmlformats.org/officeDocument/2006/relationships/slideLayout" Target="/ppt/slideLayouts/slideLayout5.xml" Id="R9f703c090a604268" /><Relationship Type="http://schemas.openxmlformats.org/officeDocument/2006/relationships/slideLayout" Target="/ppt/slideLayouts/slideLayout6.xml" Id="R68f915fdcc6a4874" /><Relationship Type="http://schemas.openxmlformats.org/officeDocument/2006/relationships/slideLayout" Target="/ppt/slideLayouts/slideLayout7.xml" Id="R600ba07ebbd74668" /><Relationship Type="http://schemas.openxmlformats.org/officeDocument/2006/relationships/slideLayout" Target="/ppt/slideLayouts/slideLayout8.xml" Id="Rb2b857599f4e43de" /><Relationship Type="http://schemas.openxmlformats.org/officeDocument/2006/relationships/slideLayout" Target="/ppt/slideLayouts/slideLayout9.xml" Id="R8e0b83e9c4c44b90" /><Relationship Type="http://schemas.openxmlformats.org/officeDocument/2006/relationships/slideLayout" Target="/ppt/slideLayouts/slideLayout10.xml" Id="R0c21c4193a3b43b3" /><Relationship Type="http://schemas.openxmlformats.org/officeDocument/2006/relationships/slideLayout" Target="/ppt/slideLayouts/slideLayout11.xml" Id="Rc91c5c766a9f4b06" /></Relationships>
</file>

<file path=ppt/slideMasters/restored_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4D9F3-48CF-9F1F-5BF9-D29B73C5EE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5C8141-6A62-88D2-9C9C-A178134DFA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6B990C-8F8B-41B6-BFA9-D2812EADA7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8678F-226F-4E2D-9FCF-8D6254E13B72}" type="datetime1">
              <a:rPr lang="en-IN" smtClean="0"/>
              <a:t>19-10-2026</a:t>
            </a:fld>
            <a:endParaRPr lang="en-IN"/>
          </a:p>
        </p:txBody>
      </p:sp>
      <p:sp>
        <p:nvSpPr>
          <p:cNvPr id="5" name="Footer Placeholder 4">
            <a:extLst>
              <a:ext uri="{FF2B5EF4-FFF2-40B4-BE49-F238E27FC236}">
                <a16:creationId xmlns:a16="http://schemas.microsoft.com/office/drawing/2014/main" id="{451F15A3-C5A8-D8EF-2CC0-B9FB4E8C36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ECE, NMIT, Bengaluru</a:t>
            </a:r>
            <a:endParaRPr lang="en-IN"/>
          </a:p>
        </p:txBody>
      </p:sp>
      <p:sp>
        <p:nvSpPr>
          <p:cNvPr id="6" name="Slide Number Placeholder 5">
            <a:extLst>
              <a:ext uri="{FF2B5EF4-FFF2-40B4-BE49-F238E27FC236}">
                <a16:creationId xmlns:a16="http://schemas.microsoft.com/office/drawing/2014/main" id="{D3726CD6-7954-5145-9A9B-B583B27B2B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249B9C-BF50-4540-B2D1-32A225E7564A}" type="slidenum">
              <a:rPr lang="en-IN" smtClean="0"/>
              <a:t>‹#›</a:t>
            </a:fld>
            <a:endParaRPr lang="en-IN"/>
          </a:p>
        </p:txBody>
      </p:sp>
    </p:spTree>
    <p:extLst>
      <p:ext uri="{BB962C8B-B14F-4D97-AF65-F5344CB8AC3E}">
        <p14:creationId xmlns:p14="http://schemas.microsoft.com/office/powerpoint/2010/main" val="4964315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1D4D9F3-48CF-9F1F-5BF9-D29B73C5EE1F}"/>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05C8141-6A62-88D2-9C9C-A178134DFAD7}"/>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06B990C-8F8B-41B6-BFA9-D2812EADA711}"/>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B3E8678F-226F-4E2D-9FCF-8D6254E13B72}" type="datetime1">
              <a:t>19-10-2026</a:t>
            </a:fld>
            <a:endParaRPr/>
          </a:p>
        </p:txBody>
      </p:sp>
      <p:sp>
        <p:nvSpPr>
          <p:cNvPr id="5" name="Footer Placeholder 4">
            <a:extLst xmlns:a="http://schemas.openxmlformats.org/drawingml/2006/main">
              <a:ext uri="{FF2B5EF4-FFF2-40B4-BE49-F238E27FC236}">
                <a16:creationId xmlns:a16="http://schemas.microsoft.com/office/drawing/2014/main" id="{451F15A3-C5A8-D8EF-2CC0-B9FB4E8C3655}"/>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D3726CD6-7954-5145-9A9B-B583B27B2BD4}"/>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75249B9C-BF50-4540-B2D1-32A225E7564A}"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ffb1eba3294db5"/>
    <p:sldLayoutId xmlns:r="http://schemas.openxmlformats.org/officeDocument/2006/relationships" id="2147483650" r:id="Rf5b329ef0d56494a"/>
    <p:sldLayoutId xmlns:r="http://schemas.openxmlformats.org/officeDocument/2006/relationships" id="2147483651" r:id="R812428773e194a14"/>
    <p:sldLayoutId xmlns:r="http://schemas.openxmlformats.org/officeDocument/2006/relationships" id="2147483652" r:id="R0e07a6bbb2b84eb8"/>
    <p:sldLayoutId xmlns:r="http://schemas.openxmlformats.org/officeDocument/2006/relationships" id="2147483653" r:id="R9f703c090a604268"/>
    <p:sldLayoutId xmlns:r="http://schemas.openxmlformats.org/officeDocument/2006/relationships" id="2147483654" r:id="R68f915fdcc6a4874"/>
    <p:sldLayoutId xmlns:r="http://schemas.openxmlformats.org/officeDocument/2006/relationships" id="2147483655" r:id="R600ba07ebbd74668"/>
    <p:sldLayoutId xmlns:r="http://schemas.openxmlformats.org/officeDocument/2006/relationships" id="2147483656" r:id="Rb2b857599f4e43de"/>
    <p:sldLayoutId xmlns:r="http://schemas.openxmlformats.org/officeDocument/2006/relationships" id="2147483657" r:id="R8e0b83e9c4c44b90"/>
    <p:sldLayoutId xmlns:r="http://schemas.openxmlformats.org/officeDocument/2006/relationships" id="2147483658" r:id="R0c21c4193a3b43b3"/>
    <p:sldLayoutId xmlns:r="http://schemas.openxmlformats.org/officeDocument/2006/relationships" id="2147483659" r:id="Rc91c5c766a9f4b06"/>
  </p:sldLayoutIdLst>
  <p:hf sldNum="0" hd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Id="rId3" Type="http://schemas.openxmlformats.org/officeDocument/2006/relationships/image" Target="../media/restored_image1.png" /><Relationship Id="rId2" Type="http://schemas.openxmlformats.org/officeDocument/2006/relationships/notesSlide" Target="../notesSlides/restored_notesSlide1.xml" /><Relationship Id="rId1" Type="http://schemas.openxmlformats.org/officeDocument/2006/relationships/slideLayout" Target="../slideLayouts/restored_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restored_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restored_slideLayout2.xml" /></Relationships>
</file>

<file path=ppt/slides/_rels/slide4.xml.rels><?xml version='1.0' encoding='utf-8'?>
<Relationships xmlns="http://schemas.openxmlformats.org/package/2006/relationships"><Relationship Id="rId2" Type="http://schemas.openxmlformats.org/officeDocument/2006/relationships/image" Target="../media/restored_image2.png" /><Relationship Id="rId1" Type="http://schemas.openxmlformats.org/officeDocument/2006/relationships/slideLayout" Target="../slideLayouts/restored_slideLayout2.xml"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914aab8847a45b9" /><Relationship Type="http://schemas.openxmlformats.org/officeDocument/2006/relationships/notesSlide" Target="/ppt/notesSlides/notesSlide5.xml" Id="Re159d821251f4e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1800859392d47ab" /><Relationship Type="http://schemas.openxmlformats.org/officeDocument/2006/relationships/notesSlide" Target="/ppt/notesSlides/notesSlide6.xml" Id="R4bfbf2dd9bdb4a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a95f5d8247904c7c" /><Relationship Type="http://schemas.openxmlformats.org/officeDocument/2006/relationships/notesSlide" Target="/ppt/notesSlides/notesSlide7.xml" Id="Raabd2a61d2a949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eff0cb4444147ef" /><Relationship Type="http://schemas.openxmlformats.org/officeDocument/2006/relationships/notesSlide" Target="/ppt/notesSlides/notesSlide8.xml" Id="R2c6b86d0971547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1c3775a1ca81422a" /><Relationship Type="http://schemas.openxmlformats.org/officeDocument/2006/relationships/notesSlide" Target="/ppt/notesSlides/notesSlide9.xml" Id="R09bb03faf9fc49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3313a615b6441cd" /><Relationship Type="http://schemas.openxmlformats.org/officeDocument/2006/relationships/notesSlide" Target="/ppt/notesSlides/notesSlide10.xml" Id="R7d474f5aaa1647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e6a993fa670a4e5f" /><Relationship Type="http://schemas.openxmlformats.org/officeDocument/2006/relationships/notesSlide" Target="/ppt/notesSlides/notesSlide11.xml" Id="R94363ff74d3d44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b15596651c344e9b" /><Relationship Type="http://schemas.openxmlformats.org/officeDocument/2006/relationships/notesSlide" Target="/ppt/notesSlides/notesSlide12.xml" Id="R50e0b51d9c1447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710b3b3422df41f5" /><Relationship Type="http://schemas.openxmlformats.org/officeDocument/2006/relationships/notesSlide" Target="/ppt/notesSlides/notesSlide13.xml" Id="Rda441d200c2b4d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2ecf55cde70c4ef4" /><Relationship Type="http://schemas.openxmlformats.org/officeDocument/2006/relationships/notesSlide" Target="/ppt/notesSlides/notesSlide14.xml" Id="R0253557a355641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d82563d42499419e" /><Relationship Type="http://schemas.openxmlformats.org/officeDocument/2006/relationships/notesSlide" Target="/ppt/notesSlides/notesSlide15.xml" Id="R5d72e1bdc9a34d8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1074655"/>
          </a:xfrm>
          <a:solidFill>
            <a:srgbClr val="002060"/>
          </a:solidFill>
        </p:spPr>
        <p:txBody>
          <a:bodyPr>
            <a:normAutofit fontScale="90000"/>
          </a:bodyPr>
          <a:lstStyle/>
          <a:p>
            <a:pPr algn="ctr">
              <a:lnSpc>
                <a:spcPct val="115000"/>
              </a:lnSpc>
              <a:spcAft>
                <a:spcPts val="1000"/>
              </a:spcAft>
            </a:pP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Project Work Phase-2       </a:t>
            </a:r>
            <a:b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b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7th semester  AY: 2026-27</a:t>
            </a:r>
            <a:endParaRPr lang="en-IN" sz="4000" dirty="0">
              <a:solidFill>
                <a:schemeClr val="bg1"/>
              </a:solidFill>
              <a:effectLst/>
              <a:latin typeface="Calibri" panose="020F0502020204030204" pitchFamily="34" charset="0"/>
              <a:ea typeface="Calibri" panose="020F0502020204030204" pitchFamily="34" charset="0"/>
              <a:cs typeface="Gautami" panose="020B0502040204020203" pitchFamily="34"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382565"/>
            <a:ext cx="12191999" cy="4980528"/>
          </a:xfrm>
        </p:spPr>
        <p:txBody>
          <a:bodyPr>
            <a:normAutofit fontScale="92500" lnSpcReduction="10000"/>
          </a:bodyPr>
          <a:lstStyle/>
          <a:p>
            <a:pPr marL="0" indent="0" algn="ctr">
              <a:buNone/>
            </a:pPr>
            <a:r>
              <a:rPr lang="en-US" sz="3600" b="1" dirty="0">
                <a:solidFill>
                  <a:srgbClr val="FF0000"/>
                </a:solidFill>
                <a:latin typeface="Times New Roman" panose="02020603050405020304" pitchFamily="18" charset="0"/>
                <a:cs typeface="Times New Roman" panose="02020603050405020304" pitchFamily="18" charset="0"/>
              </a:rPr>
              <a:t>Review 2 Presentation </a:t>
            </a:r>
          </a:p>
          <a:p>
            <a:pPr marL="0" indent="0">
              <a:buNone/>
            </a:pPr>
            <a:r>
              <a:rPr lang="en-US" sz="3300" b="1" dirty="0">
                <a:solidFill>
                  <a:srgbClr val="0070C0"/>
                </a:solidFill>
                <a:latin typeface="Times New Roman" panose="02020603050405020304" pitchFamily="18" charset="0"/>
                <a:cs typeface="Times New Roman" panose="02020603050405020304" pitchFamily="18" charset="0"/>
              </a:rPr>
              <a:t>Project Title: Enhancing Emergency Response Through IoT-Integrated 		     Smart Ambulance and GPS Monitoring</a:t>
            </a:r>
          </a:p>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r>
              <a:rPr lang="en-US" sz="2400" b="1" dirty="0">
                <a:latin typeface="Times New Roman" panose="02020603050405020304" pitchFamily="18" charset="0"/>
                <a:cs typeface="Times New Roman" panose="02020603050405020304" pitchFamily="18" charset="0"/>
              </a:rPr>
              <a:t>Presented By</a:t>
            </a:r>
          </a:p>
          <a:p>
            <a:pPr marL="0" indent="0" algn="ctr">
              <a:buNone/>
            </a:pPr>
            <a:r>
              <a:rPr lang="en-US" sz="2100" dirty="0">
                <a:latin typeface="Times New Roman" panose="02020603050405020304" pitchFamily="18" charset="0"/>
                <a:cs typeface="Times New Roman" panose="02020603050405020304" pitchFamily="18" charset="0"/>
              </a:rPr>
              <a:t>Rahul S (1NT23EC120)</a:t>
            </a:r>
          </a:p>
          <a:p>
            <a:pPr marL="0" indent="0" algn="ctr">
              <a:buNone/>
            </a:pPr>
            <a:r>
              <a:rPr lang="en-US" sz="2100" dirty="0">
                <a:latin typeface="Times New Roman" panose="02020603050405020304" pitchFamily="18" charset="0"/>
                <a:cs typeface="Times New Roman" panose="02020603050405020304" pitchFamily="18" charset="0"/>
              </a:rPr>
              <a:t>Rakshita S Wagge (1NT23EC124)</a:t>
            </a:r>
          </a:p>
          <a:p>
            <a:pPr marL="0" indent="0" algn="ctr">
              <a:buNone/>
            </a:pPr>
            <a:r>
              <a:rPr lang="en-US" sz="2400" b="1" dirty="0">
                <a:latin typeface="Times New Roman" panose="02020603050405020304" pitchFamily="18" charset="0"/>
                <a:cs typeface="Times New Roman" panose="02020603050405020304" pitchFamily="18" charset="0"/>
              </a:rPr>
              <a:t>            </a:t>
            </a:r>
          </a:p>
          <a:p>
            <a:pPr marL="0" indent="0" algn="ctr">
              <a:buNone/>
            </a:pPr>
            <a:r>
              <a:rPr lang="en-US" sz="2400" b="1" dirty="0">
                <a:latin typeface="Times New Roman" panose="02020603050405020304" pitchFamily="18" charset="0"/>
                <a:cs typeface="Times New Roman" panose="02020603050405020304" pitchFamily="18" charset="0"/>
              </a:rPr>
              <a:t>               Project Supervisor 	</a:t>
            </a:r>
          </a:p>
          <a:p>
            <a:pPr marL="0" indent="0" algn="ctr">
              <a:buNone/>
            </a:pPr>
            <a:r>
              <a:rPr lang="en-US" sz="1600" dirty="0">
                <a:latin typeface="Times New Roman" panose="02020603050405020304" pitchFamily="18" charset="0"/>
                <a:cs typeface="Times New Roman" panose="02020603050405020304" pitchFamily="18" charset="0"/>
              </a:rPr>
              <a:t>            Dr. Manjula B M</a:t>
            </a:r>
          </a:p>
          <a:p>
            <a:pPr marL="0" indent="0" algn="ctr">
              <a:buNone/>
            </a:pPr>
            <a:r>
              <a:rPr lang="en-US" sz="1600" dirty="0">
                <a:latin typeface="Times New Roman" panose="02020603050405020304" pitchFamily="18" charset="0"/>
                <a:cs typeface="Times New Roman" panose="02020603050405020304" pitchFamily="18" charset="0"/>
              </a:rPr>
              <a:t>              Professor</a:t>
            </a:r>
          </a:p>
          <a:p>
            <a:pPr marL="0" indent="0" algn="ctr">
              <a:buNone/>
            </a:pPr>
            <a:r>
              <a:rPr lang="en-US" sz="1600" dirty="0">
                <a:latin typeface="Times New Roman" panose="02020603050405020304" pitchFamily="18" charset="0"/>
                <a:cs typeface="Times New Roman" panose="02020603050405020304" pitchFamily="18" charset="0"/>
              </a:rPr>
              <a:t>Dept. of Electronics and Communication Engineering</a:t>
            </a:r>
          </a:p>
          <a:p>
            <a:pPr marL="0" indent="0" algn="ctr">
              <a:buNone/>
            </a:pPr>
            <a:r>
              <a:rPr lang="en-US" sz="1600" dirty="0">
                <a:latin typeface="Times New Roman" panose="02020603050405020304" pitchFamily="18" charset="0"/>
                <a:cs typeface="Times New Roman" panose="02020603050405020304" pitchFamily="18" charset="0"/>
              </a:rPr>
              <a:t>         Nitte Meenakshi Institute of Technology, Yelahanka, Bangalore-560064</a:t>
            </a:r>
          </a:p>
          <a:p>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1                     </a:t>
            </a:r>
            <a:endParaRPr lang="en-IN" b="1"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E8516B0-35CE-4CCF-9551-DDE8B782C558}"/>
              </a:ext>
            </a:extLst>
          </p:cNvPr>
          <p:cNvPicPr>
            <a:picLocks noChangeAspect="1"/>
          </p:cNvPicPr>
          <p:nvPr/>
        </p:nvPicPr>
        <p:blipFill>
          <a:blip r:embed="rId3"/>
          <a:stretch>
            <a:fillRect/>
          </a:stretch>
        </p:blipFill>
        <p:spPr>
          <a:xfrm>
            <a:off x="0" y="155183"/>
            <a:ext cx="3443603" cy="770103"/>
          </a:xfrm>
          <a:prstGeom prst="rect">
            <a:avLst/>
          </a:prstGeom>
        </p:spPr>
      </p:pic>
    </p:spTree>
    <p:extLst>
      <p:ext uri="{BB962C8B-B14F-4D97-AF65-F5344CB8AC3E}">
        <p14:creationId xmlns:p14="http://schemas.microsoft.com/office/powerpoint/2010/main" val="4097255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62864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Presentation Outline</a:t>
            </a:r>
            <a:endParaRPr lang="en-IN" sz="48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544286" y="1382565"/>
            <a:ext cx="11038114" cy="4980528"/>
          </a:xfrm>
        </p:spPr>
        <p:txBody>
          <a:bodyPr>
            <a:normAutofit/>
          </a:bodyPr>
          <a:lstStyle/>
          <a:p>
            <a:r>
              <a:rPr lang="en-US" dirty="0">
                <a:latin typeface="Times New Roman" panose="02020603050405020304" pitchFamily="18" charset="0"/>
                <a:cs typeface="Times New Roman" panose="02020603050405020304" pitchFamily="18" charset="0"/>
              </a:rPr>
              <a:t>Objectives</a:t>
            </a:r>
          </a:p>
          <a:p>
            <a:r>
              <a:rPr lang="en-US" dirty="0">
                <a:latin typeface="Times New Roman" panose="02020603050405020304" pitchFamily="18" charset="0"/>
                <a:cs typeface="Times New Roman" panose="02020603050405020304" pitchFamily="18" charset="0"/>
              </a:rPr>
              <a:t>​Detailed Architecture &amp; Design Finalization</a:t>
            </a:r>
          </a:p>
          <a:p>
            <a:r>
              <a:rPr lang="en-US" dirty="0">
                <a:latin typeface="Times New Roman" panose="02020603050405020304" pitchFamily="18" charset="0"/>
                <a:cs typeface="Times New Roman" panose="02020603050405020304" pitchFamily="18" charset="0"/>
              </a:rPr>
              <a:t>Techniques/methods/approaches used for the proposed work</a:t>
            </a:r>
          </a:p>
          <a:p>
            <a:r>
              <a:rPr lang="en-US" dirty="0">
                <a:latin typeface="Times New Roman" panose="02020603050405020304" pitchFamily="18" charset="0"/>
                <a:cs typeface="Times New Roman" panose="02020603050405020304" pitchFamily="18" charset="0"/>
              </a:rPr>
              <a:t>​</a:t>
            </a:r>
            <a:r>
              <a:rPr lang="en-US" b="1" dirty="0">
                <a:solidFill>
                  <a:srgbClr val="0070C0"/>
                </a:solidFill>
                <a:latin typeface="Times New Roman" panose="02020603050405020304" pitchFamily="18" charset="0"/>
                <a:cs typeface="Times New Roman" panose="02020603050405020304" pitchFamily="18" charset="0"/>
              </a:rPr>
              <a:t>Functional Requirements </a:t>
            </a:r>
          </a:p>
          <a:p>
            <a:r>
              <a:rPr lang="en-US" b="1" dirty="0">
                <a:solidFill>
                  <a:srgbClr val="0070C0"/>
                </a:solidFill>
                <a:latin typeface="Times New Roman" panose="02020603050405020304" pitchFamily="18" charset="0"/>
                <a:cs typeface="Times New Roman" panose="02020603050405020304" pitchFamily="18" charset="0"/>
              </a:rPr>
              <a:t>​Non-Functional Requirements</a:t>
            </a:r>
          </a:p>
          <a:p>
            <a:r>
              <a:rPr lang="en-US" b="1" dirty="0">
                <a:solidFill>
                  <a:srgbClr val="0070C0"/>
                </a:solidFill>
                <a:latin typeface="Times New Roman" panose="02020603050405020304" pitchFamily="18" charset="0"/>
                <a:cs typeface="Times New Roman" panose="02020603050405020304" pitchFamily="18" charset="0"/>
              </a:rPr>
              <a:t>Corresponding Test Scenarios </a:t>
            </a:r>
          </a:p>
          <a:p>
            <a:r>
              <a:rPr lang="en-US" b="1" dirty="0">
                <a:solidFill>
                  <a:srgbClr val="0070C0"/>
                </a:solidFill>
                <a:latin typeface="Times New Roman" panose="02020603050405020304" pitchFamily="18" charset="0"/>
                <a:cs typeface="Times New Roman" panose="02020603050405020304" pitchFamily="18" charset="0"/>
              </a:rPr>
              <a:t>Test Cases  to validate each requirement</a:t>
            </a:r>
          </a:p>
          <a:p>
            <a:r>
              <a:rPr lang="en-US" dirty="0">
                <a:latin typeface="Times New Roman" panose="02020603050405020304" pitchFamily="18" charset="0"/>
                <a:cs typeface="Times New Roman" panose="02020603050405020304" pitchFamily="18" charset="0"/>
              </a:rPr>
              <a:t>Conclusion and Future Work</a:t>
            </a:r>
          </a:p>
          <a:p>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2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7401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66293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Project Objectives</a:t>
            </a:r>
            <a:endParaRPr lang="en-IN" sz="48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087643"/>
            <a:ext cx="12191999" cy="4980528"/>
          </a:xfrm>
        </p:spPr>
        <p:txBody>
          <a:bodyPr>
            <a:normAutofit/>
          </a:bodyPr>
          <a:lstStyle/>
          <a:p>
            <a:pPr marL="0" indent="0" algn="just">
              <a:lnSpc>
                <a:spcPct val="115000"/>
              </a:lnSpc>
              <a:spcAft>
                <a:spcPts val="1000"/>
              </a:spcAft>
              <a:buNone/>
            </a:pP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The following are the </a:t>
            </a: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Finalized </a:t>
            </a: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objectives of the project:</a:t>
            </a:r>
            <a:endParaRPr lang="en-IN"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1. To develop a BLE-based mobile communication backbone for transmitting real-time patient vitals to a mobile application, which securely forwards data to the cloud using MQTT over TLS, with CoAP as a backup.</a:t>
            </a:r>
          </a:p>
          <a:p>
            <a:pPr marL="0" indent="0">
              <a:buNone/>
            </a:pPr>
            <a:r>
              <a:rPr lang="en-US" sz="2400" dirty="0">
                <a:latin typeface="Times New Roman" panose="02020603050405020304" pitchFamily="18" charset="0"/>
                <a:cs typeface="Times New Roman" panose="02020603050405020304" pitchFamily="18" charset="0"/>
              </a:rPr>
              <a:t>2. To integrate the existing patient health monitoring system with the mobile communication backbone for continuous vital acquisition, transmission, and remote monitoring during ambulance transit.</a:t>
            </a:r>
          </a:p>
          <a:p>
            <a:pPr marL="0" indent="0">
              <a:buNone/>
            </a:pPr>
            <a:r>
              <a:rPr lang="en-US" sz="2400" dirty="0">
                <a:latin typeface="Times New Roman" panose="02020603050405020304" pitchFamily="18" charset="0"/>
                <a:cs typeface="Times New Roman" panose="02020603050405020304" pitchFamily="18" charset="0"/>
              </a:rPr>
              <a:t>3. To implement RTOS-based concurrent task management for sensor acquisition, vital processing, communication, and local display, ensuring responsive and reliable operation.</a:t>
            </a:r>
          </a:p>
          <a:p>
            <a:pPr marL="0" indent="0">
              <a:buNone/>
            </a:pPr>
            <a:r>
              <a:rPr lang="en-US" sz="2400" dirty="0">
                <a:latin typeface="Times New Roman" panose="02020603050405020304" pitchFamily="18" charset="0"/>
                <a:cs typeface="Times New Roman" panose="02020603050405020304" pitchFamily="18" charset="0"/>
              </a:rPr>
              <a:t>4. To develop an ML-based patient risk prediction module that analyses real-time vitals, identifies potential deterioration, and classifies patient risk levels for early clinical assessment.</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3428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72008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Architecture</a:t>
            </a:r>
          </a:p>
        </p:txBody>
      </p:sp>
      <p:pic>
        <p:nvPicPr>
          <p:cNvPr id="6" name="Content Placeholder 5">
            <a:extLst>
              <a:ext uri="{FF2B5EF4-FFF2-40B4-BE49-F238E27FC236}">
                <a16:creationId xmlns:a16="http://schemas.microsoft.com/office/drawing/2014/main" id="{B5C16895-2E20-D22E-D3B7-58A798CEE4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4661" y="717979"/>
            <a:ext cx="7702677" cy="5777008"/>
          </a:xfrm>
          <a:prstGeom prst="rect">
            <a:avLst/>
          </a:prstGeom>
        </p:spPr>
      </p:pic>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3596377"/>
      </p:ext>
    </p:extLst>
  </p:cSld>
  <p:clrMapOvr>
    <a:masterClrMapping/>
  </p:clrMapOvr>
</p:sld>
</file>

<file path=ppt/slides/slide5.xml><?xml version="1.0" encoding="utf-8"?>
<p:sld xmlns:p="http://schemas.openxmlformats.org/presentationml/2006/main">
  <p:cSld>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543147E5-7AE6-4C6D-98A7-186F80DD2148}"/>
              </a:ext>
            </a:extLst>
          </p:cNvPr>
          <p:cNvCxnSpPr>
            <a:stCxn xmlns:a="http://schemas.openxmlformats.org/drawingml/2006/main" id="9" idx="1"/>
            <a:endCxn xmlns:a="http://schemas.openxmlformats.org/drawingml/2006/main" id="10" idx="3"/>
          </p:cNvCxnSpPr>
          <p:nvPr/>
        </p:nvCxnSpPr>
        <p:spPr>
          <a:xfrm xmlns:a="http://schemas.openxmlformats.org/drawingml/2006/main" flipH="1">
            <a:off x="3714750" y="431006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4" name="">
            <a:extLst xmlns:a="http://schemas.openxmlformats.org/drawingml/2006/main">
              <a:ext uri="{FF2B5EF4-FFF2-40B4-BE49-F238E27FC236}">
                <a16:creationId xmlns:a16="http://schemas.microsoft.com/office/drawing/2014/main" id="{510E4F8F-4B8D-4A3B-9DF5-1E376261B473}"/>
              </a:ext>
            </a:extLst>
          </p:cNvPr>
          <p:cNvCxnSpPr>
            <a:stCxn xmlns:a="http://schemas.openxmlformats.org/drawingml/2006/main" id="8" idx="1"/>
            <a:endCxn xmlns:a="http://schemas.openxmlformats.org/drawingml/2006/main" id="9" idx="3"/>
          </p:cNvCxnSpPr>
          <p:nvPr/>
        </p:nvCxnSpPr>
        <p:spPr>
          <a:xfrm xmlns:a="http://schemas.openxmlformats.org/drawingml/2006/main" flipH="1">
            <a:off x="7620000" y="431006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3" name="">
            <a:extLst xmlns:a="http://schemas.openxmlformats.org/drawingml/2006/main">
              <a:ext uri="{FF2B5EF4-FFF2-40B4-BE49-F238E27FC236}">
                <a16:creationId xmlns:a16="http://schemas.microsoft.com/office/drawing/2014/main" id="{B73E4117-5B76-4E5A-8BB5-34C221B82F7E}"/>
              </a:ext>
            </a:extLst>
          </p:cNvPr>
          <p:cNvCxnSpPr>
            <a:stCxn xmlns:a="http://schemas.openxmlformats.org/drawingml/2006/main" id="7" idx="2"/>
            <a:endCxn xmlns:a="http://schemas.openxmlformats.org/drawingml/2006/main" id="8" idx="0"/>
          </p:cNvCxnSpPr>
          <p:nvPr/>
        </p:nvCxnSpPr>
        <p:spPr>
          <a:xfrm xmlns:a="http://schemas.openxmlformats.org/drawingml/2006/main">
            <a:off x="10001250" y="2476500"/>
            <a:ext cx="0" cy="1285875"/>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2" name="">
            <a:extLst xmlns:a="http://schemas.openxmlformats.org/drawingml/2006/main">
              <a:ext uri="{FF2B5EF4-FFF2-40B4-BE49-F238E27FC236}">
                <a16:creationId xmlns:a16="http://schemas.microsoft.com/office/drawing/2014/main" id="{09070000-C21C-4BC7-BF91-30BCC364F0F6}"/>
              </a:ext>
            </a:extLst>
          </p:cNvPr>
          <p:cNvCxnSpPr>
            <a:stCxn xmlns:a="http://schemas.openxmlformats.org/drawingml/2006/main" id="6" idx="3"/>
            <a:endCxn xmlns:a="http://schemas.openxmlformats.org/drawingml/2006/main" id="7" idx="1"/>
          </p:cNvCxnSpPr>
          <p:nvPr/>
        </p:nvCxnSpPr>
        <p:spPr>
          <a:xfrm xmlns:a="http://schemas.openxmlformats.org/drawingml/2006/main">
            <a:off x="7620000" y="192881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1" name="">
            <a:extLst xmlns:a="http://schemas.openxmlformats.org/drawingml/2006/main">
              <a:ext uri="{FF2B5EF4-FFF2-40B4-BE49-F238E27FC236}">
                <a16:creationId xmlns:a16="http://schemas.microsoft.com/office/drawing/2014/main" id="{004B0B8E-68C5-4015-ABFD-87E112F549F5}"/>
              </a:ext>
            </a:extLst>
          </p:cNvPr>
          <p:cNvCxnSpPr>
            <a:stCxn xmlns:a="http://schemas.openxmlformats.org/drawingml/2006/main" id="5" idx="3"/>
            <a:endCxn xmlns:a="http://schemas.openxmlformats.org/drawingml/2006/main" id="6" idx="1"/>
          </p:cNvCxnSpPr>
          <p:nvPr/>
        </p:nvCxnSpPr>
        <p:spPr>
          <a:xfrm xmlns:a="http://schemas.openxmlformats.org/drawingml/2006/main">
            <a:off x="3714750" y="192881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Communication Workflow</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Scan for&#10;Smart_Ambulance">
            <a:extLst xmlns:a="http://schemas.openxmlformats.org/drawingml/2006/main">
              <a:ext uri="{FF2B5EF4-FFF2-40B4-BE49-F238E27FC236}">
                <a16:creationId xmlns:a16="http://schemas.microsoft.com/office/drawing/2014/main" id="{3EC534E1-DB52-4D82-BC53-5163A72AFED6}"/>
              </a:ext>
            </a:extLst>
          </p:cNvPr>
          <p:cNvSpPr>
            <a:spLocks xmlns:a="http://schemas.openxmlformats.org/drawingml/2006/main" noGrp="1"/>
          </p:cNvSpPr>
          <p:nvPr/>
        </p:nvSpPr>
        <p:spPr>
          <a:xfrm xmlns:a="http://schemas.openxmlformats.org/drawingml/2006/main">
            <a:off x="66675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Scan for</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Smart_Ambulance</a:t>
            </a:r>
          </a:p>
        </p:txBody>
      </p:sp>
      <p:sp>
        <p:nvSpPr>
          <p:cNvPr id="6" name="Connect and&#10;encrypt link">
            <a:extLst xmlns:a="http://schemas.openxmlformats.org/drawingml/2006/main">
              <a:ext uri="{FF2B5EF4-FFF2-40B4-BE49-F238E27FC236}">
                <a16:creationId xmlns:a16="http://schemas.microsoft.com/office/drawing/2014/main" id="{70D61D34-2748-45DF-9DE5-B2FE4FE041BA}"/>
              </a:ext>
            </a:extLst>
          </p:cNvPr>
          <p:cNvSpPr>
            <a:spLocks xmlns:a="http://schemas.openxmlformats.org/drawingml/2006/main" noGrp="1"/>
          </p:cNvSpPr>
          <p:nvPr/>
        </p:nvSpPr>
        <p:spPr>
          <a:xfrm xmlns:a="http://schemas.openxmlformats.org/drawingml/2006/main">
            <a:off x="457200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Connect and</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encrypt link</a:t>
            </a:r>
          </a:p>
        </p:txBody>
      </p:sp>
      <p:sp>
        <p:nvSpPr>
          <p:cNvPr id="7" name="Discover GHSS&#10;and subscribe">
            <a:extLst xmlns:a="http://schemas.openxmlformats.org/drawingml/2006/main">
              <a:ext uri="{FF2B5EF4-FFF2-40B4-BE49-F238E27FC236}">
                <a16:creationId xmlns:a16="http://schemas.microsoft.com/office/drawing/2014/main" id="{752EE862-24C5-4C2C-BFD8-42C07AA96859}"/>
              </a:ext>
            </a:extLst>
          </p:cNvPr>
          <p:cNvSpPr>
            <a:spLocks xmlns:a="http://schemas.openxmlformats.org/drawingml/2006/main" noGrp="1"/>
          </p:cNvSpPr>
          <p:nvPr/>
        </p:nvSpPr>
        <p:spPr>
          <a:xfrm xmlns:a="http://schemas.openxmlformats.org/drawingml/2006/main">
            <a:off x="847725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Discover GHSS</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and subscribe</a:t>
            </a:r>
          </a:p>
        </p:txBody>
      </p:sp>
      <p:sp>
        <p:nvSpPr>
          <p:cNvPr id="8" name="Send Start&#10;command 0x01">
            <a:extLst xmlns:a="http://schemas.openxmlformats.org/drawingml/2006/main">
              <a:ext uri="{FF2B5EF4-FFF2-40B4-BE49-F238E27FC236}">
                <a16:creationId xmlns:a16="http://schemas.microsoft.com/office/drawing/2014/main" id="{A90DB280-86FD-4D1C-861B-90313F97032F}"/>
              </a:ext>
            </a:extLst>
          </p:cNvPr>
          <p:cNvSpPr>
            <a:spLocks xmlns:a="http://schemas.openxmlformats.org/drawingml/2006/main" noGrp="1"/>
          </p:cNvSpPr>
          <p:nvPr/>
        </p:nvSpPr>
        <p:spPr>
          <a:xfrm xmlns:a="http://schemas.openxmlformats.org/drawingml/2006/main">
            <a:off x="847725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Send Start</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command 0x01</a:t>
            </a:r>
          </a:p>
        </p:txBody>
      </p:sp>
      <p:sp>
        <p:nvSpPr>
          <p:cNvPr id="9" name="Receive simulated&#10;vital observations">
            <a:extLst xmlns:a="http://schemas.openxmlformats.org/drawingml/2006/main">
              <a:ext uri="{FF2B5EF4-FFF2-40B4-BE49-F238E27FC236}">
                <a16:creationId xmlns:a16="http://schemas.microsoft.com/office/drawing/2014/main" id="{772BE867-2CA6-458C-8A20-78D23F5D1951}"/>
              </a:ext>
            </a:extLst>
          </p:cNvPr>
          <p:cNvSpPr>
            <a:spLocks xmlns:a="http://schemas.openxmlformats.org/drawingml/2006/main" noGrp="1"/>
          </p:cNvSpPr>
          <p:nvPr/>
        </p:nvSpPr>
        <p:spPr>
          <a:xfrm xmlns:a="http://schemas.openxmlformats.org/drawingml/2006/main">
            <a:off x="457200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Receive simulated</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vital observations</a:t>
            </a:r>
          </a:p>
        </p:txBody>
      </p:sp>
      <p:sp>
        <p:nvSpPr>
          <p:cNvPr id="10" name="Decode and display&#10;HR, SpO2, temperature">
            <a:extLst xmlns:a="http://schemas.openxmlformats.org/drawingml/2006/main">
              <a:ext uri="{FF2B5EF4-FFF2-40B4-BE49-F238E27FC236}">
                <a16:creationId xmlns:a16="http://schemas.microsoft.com/office/drawing/2014/main" id="{9F2374F1-590F-4E20-A086-E040650A59C6}"/>
              </a:ext>
            </a:extLst>
          </p:cNvPr>
          <p:cNvSpPr>
            <a:spLocks xmlns:a="http://schemas.openxmlformats.org/drawingml/2006/main" noGrp="1"/>
          </p:cNvSpPr>
          <p:nvPr/>
        </p:nvSpPr>
        <p:spPr>
          <a:xfrm xmlns:a="http://schemas.openxmlformats.org/drawingml/2006/main">
            <a:off x="66675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Decode and display</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HR, SpO2, temperature</a:t>
            </a:r>
          </a:p>
        </p:txBody>
      </p:sp>
      <p:sp>
        <p:nvSpPr>
          <p:cNvPr id="16" name="After subscription, the app enables start/sto">
            <a:extLst xmlns:a="http://schemas.openxmlformats.org/drawingml/2006/main">
              <a:ext uri="{FF2B5EF4-FFF2-40B4-BE49-F238E27FC236}">
                <a16:creationId xmlns:a16="http://schemas.microsoft.com/office/drawing/2014/main" id="{A9FF0872-432F-4647-9E3B-26FF09BA661E}"/>
              </a:ext>
            </a:extLst>
          </p:cNvPr>
          <p:cNvSpPr>
            <a:spLocks xmlns:a="http://schemas.openxmlformats.org/drawingml/2006/main" noGrp="1"/>
          </p:cNvSpPr>
          <p:nvPr/>
        </p:nvSpPr>
        <p:spPr>
          <a:xfrm xmlns:a="http://schemas.openxmlformats.org/drawingml/2006/main">
            <a:off x="857250" y="2762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325" b="0">
                <a:solidFill>
                  <a:srgbClr val="0070C0"/>
                </a:solidFill>
                <a:latin typeface="Times New Roman"/>
                <a:ea typeface="Times New Roman"/>
                <a:cs typeface="Times New Roman"/>
              </a:defRPr>
            </a:defPPr>
            <a:lvl1pPr algn="l">
              <a:defRPr sz="2325" b="0">
                <a:solidFill>
                  <a:srgbClr val="0070C0"/>
                </a:solidFill>
                <a:latin typeface="Times New Roman"/>
                <a:ea typeface="Times New Roman"/>
                <a:cs typeface="Times New Roman"/>
              </a:defRPr>
            </a:lvl1pPr>
            <a:lvl2pPr algn="l">
              <a:defRPr sz="2325" b="0">
                <a:solidFill>
                  <a:srgbClr val="0070C0"/>
                </a:solidFill>
                <a:latin typeface="Times New Roman"/>
                <a:ea typeface="Times New Roman"/>
                <a:cs typeface="Times New Roman"/>
              </a:defRPr>
            </a:lvl2pPr>
            <a:lvl3pPr algn="l">
              <a:defRPr sz="2325" b="0">
                <a:solidFill>
                  <a:srgbClr val="0070C0"/>
                </a:solidFill>
                <a:latin typeface="Times New Roman"/>
                <a:ea typeface="Times New Roman"/>
                <a:cs typeface="Times New Roman"/>
              </a:defRPr>
            </a:lvl3pPr>
            <a:lvl4pPr algn="l">
              <a:defRPr sz="2325" b="0">
                <a:solidFill>
                  <a:srgbClr val="0070C0"/>
                </a:solidFill>
                <a:latin typeface="Times New Roman"/>
                <a:ea typeface="Times New Roman"/>
                <a:cs typeface="Times New Roman"/>
              </a:defRPr>
            </a:lvl4pPr>
            <a:lvl5pPr algn="l">
              <a:defRPr sz="2325" b="0">
                <a:solidFill>
                  <a:srgbClr val="0070C0"/>
                </a:solidFill>
                <a:latin typeface="Times New Roman"/>
                <a:ea typeface="Times New Roman"/>
                <a:cs typeface="Times New Roman"/>
              </a:defRPr>
            </a:lvl5pPr>
            <a:lvl6pPr algn="l">
              <a:defRPr sz="2325" b="0">
                <a:solidFill>
                  <a:srgbClr val="0070C0"/>
                </a:solidFill>
                <a:latin typeface="Times New Roman"/>
                <a:ea typeface="Times New Roman"/>
                <a:cs typeface="Times New Roman"/>
              </a:defRPr>
            </a:lvl6pPr>
            <a:lvl7pPr algn="l">
              <a:defRPr sz="2325" b="0">
                <a:solidFill>
                  <a:srgbClr val="0070C0"/>
                </a:solidFill>
                <a:latin typeface="Times New Roman"/>
                <a:ea typeface="Times New Roman"/>
                <a:cs typeface="Times New Roman"/>
              </a:defRPr>
            </a:lvl7pPr>
            <a:lvl8pPr algn="l">
              <a:defRPr sz="2325" b="0">
                <a:solidFill>
                  <a:srgbClr val="0070C0"/>
                </a:solidFill>
                <a:latin typeface="Times New Roman"/>
                <a:ea typeface="Times New Roman"/>
                <a:cs typeface="Times New Roman"/>
              </a:defRPr>
            </a:lvl8pPr>
            <a:lvl9pPr algn="l">
              <a:defRPr sz="2325" b="0">
                <a:solidFill>
                  <a:srgbClr val="0070C0"/>
                </a:solidFill>
                <a:latin typeface="Times New Roman"/>
                <a:ea typeface="Times New Roman"/>
                <a:cs typeface="Times New Roman"/>
              </a:defRPr>
            </a:lvl9pPr>
          </a:lstStyle>
          <a:p xmlns:a="http://schemas.openxmlformats.org/drawingml/2006/main">
            <a:pPr algn="l">
              <a:defRPr sz="2325" b="0">
                <a:solidFill>
                  <a:srgbClr val="0070C0"/>
                </a:solidFill>
                <a:latin typeface="Times New Roman"/>
                <a:ea typeface="Times New Roman"/>
                <a:cs typeface="Times New Roman"/>
              </a:defRPr>
            </a:pPr>
            <a:r>
              <a:rPr sz="2325" b="0">
                <a:solidFill>
                  <a:srgbClr val="0070C0"/>
                </a:solidFill>
                <a:latin typeface="Times New Roman"/>
                <a:ea typeface="Times New Roman"/>
                <a:cs typeface="Times New Roman"/>
              </a:rPr>
              <a:t>After subscription, the app enables start/stop control</a:t>
            </a:r>
          </a:p>
        </p:txBody>
      </p:sp>
      <p:sp>
        <p:nvSpPr>
          <p:cNvPr id="17" name="Stop: 0x02     Disconnect: ESP32 resumes adve">
            <a:extLst xmlns:a="http://schemas.openxmlformats.org/drawingml/2006/main">
              <a:ext uri="{FF2B5EF4-FFF2-40B4-BE49-F238E27FC236}">
                <a16:creationId xmlns:a16="http://schemas.microsoft.com/office/drawing/2014/main" id="{A971D6EE-DC0D-4018-A4B4-5B5E8D6E1384}"/>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Stop: 0x02     Disconnect: ESP32 resumes advertising     Reconnect: scan and select again</a:t>
            </a:r>
          </a:p>
        </p:txBody>
      </p:sp>
      <p:sp>
        <p:nvSpPr>
          <p:cNvPr id="18" name="5">
            <a:extLst xmlns:a="http://schemas.openxmlformats.org/drawingml/2006/main">
              <a:ext uri="{FF2B5EF4-FFF2-40B4-BE49-F238E27FC236}">
                <a16:creationId xmlns:a16="http://schemas.microsoft.com/office/drawing/2014/main" id="{3BED381B-E896-48C8-87C3-BF1D1FD6DFD2}"/>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5</a:t>
            </a:r>
          </a:p>
        </p:txBody>
      </p:sp>
    </p:spTree>
    <p:extLst>
      <p:ext uri="{BB962C8B-B14F-4D97-AF65-F5344CB8AC3E}">
        <p14:creationId xmlns:p14="http://schemas.microsoft.com/office/powerpoint/2010/main" val="173359637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Methods and Design Comparison</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54F42C30-595C-440C-ADDC-23277F929579}"/>
              </a:ext>
            </a:extLst>
          </p:cNvPr>
          <p:cNvGraphicFramePr/>
          <p:nvPr/>
        </p:nvGraphicFramePr>
        <p:xfrm>
          <a:off xmlns:a="http://schemas.openxmlformats.org/drawingml/2006/main" x="523875" y="1285875"/>
          <a:ext xmlns:a="http://schemas.openxmlformats.org/drawingml/2006/main" cx="11144250" cy="4286250"/>
        </p:xfrm>
        <a:graphic xmlns:a="http://schemas.openxmlformats.org/drawingml/2006/main">
          <a:graphicData uri="http://schemas.openxmlformats.org/drawingml/2006/table">
            <a:tbl>
              <a:tblPr/>
              <a:tblGrid>
                <a:gridCol w="2571750"/>
                <a:gridCol w="4000500"/>
                <a:gridCol w="4572000"/>
              </a:tblGrid>
              <a:tr h="714375">
                <a:tc>
                  <a:txBody>
                    <a:bodyPr/>
                    <a:lstStyle/>
                    <a:p>
                      <a:r>
                        <a:rPr sz="2175" b="1">
                          <a:solidFill>
                            <a:srgbClr val="FFFFFF"/>
                          </a:solidFill>
                          <a:latin typeface="Times New Roman"/>
                          <a:ea typeface="Times New Roman"/>
                          <a:cs typeface="Times New Roman"/>
                        </a:rPr>
                        <a:t>Design aspect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Current prototype</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Target design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14375">
                <a:tc>
                  <a:txBody>
                    <a:bodyPr/>
                    <a:lstStyle/>
                    <a:p>
                      <a:r>
                        <a:rPr sz="2175" b="0">
                          <a:solidFill>
                            <a:srgbClr val="111111"/>
                          </a:solidFill>
                          <a:latin typeface="Times New Roman"/>
                          <a:ea typeface="Times New Roman"/>
                          <a:cs typeface="Times New Roman"/>
                        </a:rPr>
                        <a:t>Device to phone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BLE notifications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BLE gateway</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75" b="0">
                          <a:solidFill>
                            <a:srgbClr val="111111"/>
                          </a:solidFill>
                          <a:latin typeface="Times New Roman"/>
                          <a:ea typeface="Times New Roman"/>
                          <a:cs typeface="Times New Roman"/>
                        </a:rPr>
                        <a:t>Wide-area upload</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Not implemented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MQTT/TLS with CoAP fallback</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75" b="0">
                          <a:solidFill>
                            <a:srgbClr val="111111"/>
                          </a:solidFill>
                          <a:latin typeface="Times New Roman"/>
                          <a:ea typeface="Times New Roman"/>
                          <a:cs typeface="Times New Roman"/>
                        </a:rPr>
                        <a:t>Data source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Simulated observations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Integrated physical sensors</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75" b="0">
                          <a:solidFill>
                            <a:srgbClr val="111111"/>
                          </a:solidFill>
                          <a:latin typeface="Times New Roman"/>
                          <a:ea typeface="Times New Roman"/>
                          <a:cs typeface="Times New Roman"/>
                        </a:rPr>
                        <a:t>Patient assessment</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Vitals display</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ML risk classification</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75" b="0">
                          <a:solidFill>
                            <a:srgbClr val="111111"/>
                          </a:solidFill>
                          <a:latin typeface="Times New Roman"/>
                          <a:ea typeface="Times New Roman"/>
                          <a:cs typeface="Times New Roman"/>
                        </a:rPr>
                        <a:t>Ambulance location</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Not implemented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Phone GPS with ETA</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BLE supports the local link. Cloud transports">
            <a:extLst xmlns:a="http://schemas.openxmlformats.org/drawingml/2006/main">
              <a:ext uri="{FF2B5EF4-FFF2-40B4-BE49-F238E27FC236}">
                <a16:creationId xmlns:a16="http://schemas.microsoft.com/office/drawing/2014/main" id="{93050350-D90E-4BE7-8097-5D2C8DC53885}"/>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BLE supports the local link. Cloud transports require phone internet connectivity.</a:t>
            </a:r>
          </a:p>
        </p:txBody>
      </p:sp>
      <p:sp>
        <p:nvSpPr>
          <p:cNvPr id="7" name="6">
            <a:extLst xmlns:a="http://schemas.openxmlformats.org/drawingml/2006/main">
              <a:ext uri="{FF2B5EF4-FFF2-40B4-BE49-F238E27FC236}">
                <a16:creationId xmlns:a16="http://schemas.microsoft.com/office/drawing/2014/main" id="{72F8E5FE-8578-4D96-B2E9-83E6A8A39035}"/>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6</a:t>
            </a:r>
          </a:p>
        </p:txBody>
      </p:sp>
    </p:spTree>
    <p:extLst>
      <p:ext uri="{BB962C8B-B14F-4D97-AF65-F5344CB8AC3E}">
        <p14:creationId xmlns:p14="http://schemas.microsoft.com/office/powerpoint/2010/main" val="173359637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Functional Requirements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96AF17B3-C550-48EB-B276-006546E5C772}"/>
              </a:ext>
            </a:extLst>
          </p:cNvPr>
          <p:cNvGraphicFramePr/>
          <p:nvPr/>
        </p:nvGraphicFramePr>
        <p:xfrm>
          <a:off xmlns:a="http://schemas.openxmlformats.org/drawingml/2006/main" x="523875" y="1190625"/>
          <a:ext xmlns:a="http://schemas.openxmlformats.org/drawingml/2006/main" cx="11144250" cy="4572000"/>
        </p:xfrm>
        <a:graphic xmlns:a="http://schemas.openxmlformats.org/drawingml/2006/main">
          <a:graphicData uri="http://schemas.openxmlformats.org/drawingml/2006/table">
            <a:tbl>
              <a:tblPr/>
              <a:tblGrid>
                <a:gridCol w="952500"/>
                <a:gridCol w="6953250"/>
                <a:gridCol w="3238500"/>
              </a:tblGrid>
              <a:tr h="653143">
                <a:tc>
                  <a:txBody>
                    <a:bodyPr/>
                    <a:lstStyle/>
                    <a:p>
                      <a:r>
                        <a:rPr sz="2175" b="1">
                          <a:solidFill>
                            <a:srgbClr val="FFFFFF"/>
                          </a:solidFill>
                          <a:latin typeface="Times New Roman"/>
                          <a:ea typeface="Times New Roman"/>
                          <a:cs typeface="Times New Roman"/>
                        </a:rPr>
                        <a:t>ID</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Required behavior</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Implementation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653143">
                <a:tc>
                  <a:txBody>
                    <a:bodyPr/>
                    <a:lstStyle/>
                    <a:p>
                      <a:r>
                        <a:rPr sz="2175" b="0">
                          <a:solidFill>
                            <a:srgbClr val="111111"/>
                          </a:solidFill>
                          <a:latin typeface="Times New Roman"/>
                          <a:ea typeface="Times New Roman"/>
                          <a:cs typeface="Times New Roman"/>
                        </a:rPr>
                        <a:t>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Discover, connect and receive BLE vitals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FR2</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Start/stop telemetry from the app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R w="9525">
                      <a:solidFill>
                        <a:srgbClr val="CAD2DF"/>
                      </a:solidFill>
                    </a:lnR>
                    <a:lnB w="9525">
                      <a:solidFill>
                        <a:srgbClr val="CAD2DF"/>
                      </a:solidFill>
                    </a:lnB>
                    <a:solidFill>
                      <a:srgbClr val="FFFFFF"/>
                    </a:solidFill>
                  </a:tcPr>
                </a:tc>
              </a:tr>
              <a:tr h="653143">
                <a:tc>
                  <a:txBody>
                    <a:bodyPr/>
                    <a:lstStyle/>
                    <a:p>
                      <a:r>
                        <a:rPr sz="2175" b="0">
                          <a:solidFill>
                            <a:srgbClr val="111111"/>
                          </a:solidFill>
                          <a:latin typeface="Times New Roman"/>
                          <a:ea typeface="Times New Roman"/>
                          <a:cs typeface="Times New Roman"/>
                        </a:rPr>
                        <a:t>FR3</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Acquire sensors and update local OLED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Integration pending</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FR4</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Queue and upload telemetry to cloud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FFFFFF"/>
                    </a:solidFill>
                  </a:tcPr>
                </a:tc>
              </a:tr>
              <a:tr h="653143">
                <a:tc>
                  <a:txBody>
                    <a:bodyPr/>
                    <a:lstStyle/>
                    <a:p>
                      <a:r>
                        <a:rPr sz="2175" b="0">
                          <a:solidFill>
                            <a:srgbClr val="111111"/>
                          </a:solidFill>
                          <a:latin typeface="Times New Roman"/>
                          <a:ea typeface="Times New Roman"/>
                          <a:cs typeface="Times New Roman"/>
                        </a:rPr>
                        <a:t>FR5</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Provide GPS location and ETA</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FR6</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Predict risk and show hospital updates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FFFFFF"/>
                    </a:solidFill>
                  </a:tcPr>
                </a:tc>
              </a:tr>
            </a:tbl>
          </a:graphicData>
        </a:graphic>
      </p:graphicFrame>
      <p:sp>
        <p:nvSpPr>
          <p:cNvPr id="6" name="7">
            <a:extLst xmlns:a="http://schemas.openxmlformats.org/drawingml/2006/main">
              <a:ext uri="{FF2B5EF4-FFF2-40B4-BE49-F238E27FC236}">
                <a16:creationId xmlns:a16="http://schemas.microsoft.com/office/drawing/2014/main" id="{DC8E7CFA-4BC5-4084-B3E0-3471A4748F1C}"/>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7</a:t>
            </a:r>
          </a:p>
        </p:txBody>
      </p:sp>
    </p:spTree>
    <p:extLst>
      <p:ext uri="{BB962C8B-B14F-4D97-AF65-F5344CB8AC3E}">
        <p14:creationId xmlns:p14="http://schemas.microsoft.com/office/powerpoint/2010/main" val="173359637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Non-Functional Requirements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A01DF5BD-049E-48F5-9B67-EA9CB0A63420}"/>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2238375"/>
                <a:gridCol w="5429250"/>
                <a:gridCol w="3476625"/>
              </a:tblGrid>
              <a:tr h="706438">
                <a:tc>
                  <a:txBody>
                    <a:bodyPr/>
                    <a:lstStyle/>
                    <a:p>
                      <a:r>
                        <a:rPr sz="2175" b="1">
                          <a:solidFill>
                            <a:srgbClr val="FFFFFF"/>
                          </a:solidFill>
                          <a:latin typeface="Times New Roman"/>
                          <a:ea typeface="Times New Roman"/>
                          <a:cs typeface="Times New Roman"/>
                        </a:rPr>
                        <a:t>Quality</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Acceptance check</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Evidence needed</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75" b="0">
                          <a:solidFill>
                            <a:srgbClr val="111111"/>
                          </a:solidFill>
                          <a:latin typeface="Times New Roman"/>
                          <a:ea typeface="Times New Roman"/>
                          <a:cs typeface="Times New Roman"/>
                        </a:rPr>
                        <a:t>Security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Encrypted BLE before stream control</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ESP32 encryption log</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Responsiveness</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Regular updates without a frozen UI</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Timed recording and logs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Recovery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Resume telemetry after reconnect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Disconnect/reconnect recording</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Data integrity</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App values match transmitted values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Matched app and serial captures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Continuity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unsent readings during outage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Future queue/retry test</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Latency, endurance and reliability thresholds">
            <a:extLst xmlns:a="http://schemas.openxmlformats.org/drawingml/2006/main">
              <a:ext uri="{FF2B5EF4-FFF2-40B4-BE49-F238E27FC236}">
                <a16:creationId xmlns:a16="http://schemas.microsoft.com/office/drawing/2014/main" id="{0AC70777-0095-4E86-9418-F31C399FE586}"/>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Latency, endurance and reliability thresholds remain proposed until measured and agreed.</a:t>
            </a:r>
          </a:p>
        </p:txBody>
      </p:sp>
      <p:sp>
        <p:nvSpPr>
          <p:cNvPr id="7" name="8">
            <a:extLst xmlns:a="http://schemas.openxmlformats.org/drawingml/2006/main">
              <a:ext uri="{FF2B5EF4-FFF2-40B4-BE49-F238E27FC236}">
                <a16:creationId xmlns:a16="http://schemas.microsoft.com/office/drawing/2014/main" id="{EACF86FD-0354-4F71-8403-7D21C467650C}"/>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8</a:t>
            </a:r>
          </a:p>
        </p:txBody>
      </p:sp>
    </p:spTree>
    <p:extLst>
      <p:ext uri="{BB962C8B-B14F-4D97-AF65-F5344CB8AC3E}">
        <p14:creationId xmlns:p14="http://schemas.microsoft.com/office/powerpoint/2010/main" val="173359637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Wi-Fi vs BLE: Design Rationale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322400A1-A7ED-4E0A-9976-1F301F477979}"/>
              </a:ext>
            </a:extLst>
          </p:cNvPr>
          <p:cNvGraphicFramePr/>
          <p:nvPr/>
        </p:nvGraphicFramePr>
        <p:xfrm>
          <a:off xmlns:a="http://schemas.openxmlformats.org/drawingml/2006/main" x="523875" y="1190625"/>
          <a:ext xmlns:a="http://schemas.openxmlformats.org/drawingml/2006/main" cx="11144250" cy="4286250"/>
        </p:xfrm>
        <a:graphic xmlns:a="http://schemas.openxmlformats.org/drawingml/2006/main">
          <a:graphicData uri="http://schemas.openxmlformats.org/drawingml/2006/table">
            <a:tbl>
              <a:tblPr/>
              <a:tblGrid>
                <a:gridCol w="2428875"/>
                <a:gridCol w="4286250"/>
                <a:gridCol w="4429125"/>
              </a:tblGrid>
              <a:tr h="714375">
                <a:tc>
                  <a:txBody>
                    <a:bodyPr/>
                    <a:lstStyle/>
                    <a:p>
                      <a:r>
                        <a:rPr sz="2100" b="1">
                          <a:solidFill>
                            <a:srgbClr val="FFFFFF"/>
                          </a:solidFill>
                          <a:latin typeface="Times New Roman"/>
                          <a:ea typeface="Times New Roman"/>
                          <a:cs typeface="Times New Roman"/>
                        </a:rPr>
                        <a:t>Criterion</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Earlier Wi-Fi approach</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Selected BLE approach</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14375">
                <a:tc>
                  <a:txBody>
                    <a:bodyPr/>
                    <a:lstStyle/>
                    <a:p>
                      <a:r>
                        <a:rPr sz="2100" b="0">
                          <a:solidFill>
                            <a:srgbClr val="111111"/>
                          </a:solidFill>
                          <a:latin typeface="Times New Roman"/>
                          <a:ea typeface="Times New Roman"/>
                          <a:cs typeface="Times New Roman"/>
                        </a:rPr>
                        <a:t>Local connection</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joins access point or hotspot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connects directly to phone</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00" b="0">
                          <a:solidFill>
                            <a:srgbClr val="111111"/>
                          </a:solidFill>
                          <a:latin typeface="Times New Roman"/>
                          <a:ea typeface="Times New Roman"/>
                          <a:cs typeface="Times New Roman"/>
                        </a:rPr>
                        <a:t>Internet gateway</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ESP32 manages network uplink</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Phone handles cloud uplink (planned)</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00" b="0">
                          <a:solidFill>
                            <a:srgbClr val="111111"/>
                          </a:solidFill>
                          <a:latin typeface="Times New Roman"/>
                          <a:ea typeface="Times New Roman"/>
                          <a:cs typeface="Times New Roman"/>
                        </a:rPr>
                        <a:t>Data workload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Supports higher data throughput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Fits small, periodic vital readings</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00" b="0">
                          <a:solidFill>
                            <a:srgbClr val="111111"/>
                          </a:solidFill>
                          <a:latin typeface="Times New Roman"/>
                          <a:ea typeface="Times New Roman"/>
                          <a:cs typeface="Times New Roman"/>
                        </a:rPr>
                        <a:t>Device setup</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Configure SSID and password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Discover device and pair</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00" b="0">
                          <a:solidFill>
                            <a:srgbClr val="111111"/>
                          </a:solidFill>
                          <a:latin typeface="Times New Roman"/>
                          <a:ea typeface="Times New Roman"/>
                          <a:cs typeface="Times New Roman"/>
                        </a:rPr>
                        <a:t>Power rationale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Measure under the same workload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Low-power design; savings unmeasured</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BLE fits the phone gateway design. Phone prox">
            <a:extLst xmlns:a="http://schemas.openxmlformats.org/drawingml/2006/main">
              <a:ext uri="{FF2B5EF4-FFF2-40B4-BE49-F238E27FC236}">
                <a16:creationId xmlns:a16="http://schemas.microsoft.com/office/drawing/2014/main" id="{F572C4D4-3512-4B90-A78F-4587339B68D7}"/>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BLE fits the phone gateway design. Phone proximity remains a requirement.</a:t>
            </a:r>
          </a:p>
        </p:txBody>
      </p:sp>
      <p:sp>
        <p:nvSpPr>
          <p:cNvPr id="7" name="9">
            <a:extLst xmlns:a="http://schemas.openxmlformats.org/drawingml/2006/main">
              <a:ext uri="{FF2B5EF4-FFF2-40B4-BE49-F238E27FC236}">
                <a16:creationId xmlns:a16="http://schemas.microsoft.com/office/drawing/2014/main" id="{042C8049-62C7-450C-9BDB-B813F9E82271}"/>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9</a:t>
            </a:r>
          </a:p>
        </p:txBody>
      </p:sp>
    </p:spTree>
    <p:extLst>
      <p:ext uri="{BB962C8B-B14F-4D97-AF65-F5344CB8AC3E}">
        <p14:creationId xmlns:p14="http://schemas.microsoft.com/office/powerpoint/2010/main" val="173359637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Test Cases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BA6B1BED-F14E-4A0D-B272-1890C1397E0B}"/>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1905000"/>
                <a:gridCol w="4286250"/>
                <a:gridCol w="4953000"/>
              </a:tblGrid>
              <a:tr h="706438">
                <a:tc>
                  <a:txBody>
                    <a:bodyPr/>
                    <a:lstStyle/>
                    <a:p>
                      <a:r>
                        <a:rPr sz="2175" b="1">
                          <a:solidFill>
                            <a:srgbClr val="FFFFFF"/>
                          </a:solidFill>
                          <a:latin typeface="Times New Roman"/>
                          <a:ea typeface="Times New Roman"/>
                          <a:cs typeface="Times New Roman"/>
                        </a:rPr>
                        <a:t>Test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Expected observation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75" b="0">
                          <a:solidFill>
                            <a:srgbClr val="111111"/>
                          </a:solidFill>
                          <a:latin typeface="Times New Roman"/>
                          <a:ea typeface="Times New Roman"/>
                          <a:cs typeface="Times New Roman"/>
                        </a:rPr>
                        <a:t>TC1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Scan with ESP32 advertising</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Smart_Ambulance appears</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TC2 / FR1</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Select device and pair</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Connected and ready status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TC3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Start telemetry</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Vitals update and match logs</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TC4 / FR2</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Tap Stop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Stop acknowledged; updates cease</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TC5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 then scan and connect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Telemetry can restart</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Execution status: evidence pending. Capture t">
            <a:extLst xmlns:a="http://schemas.openxmlformats.org/drawingml/2006/main">
              <a:ext uri="{FF2B5EF4-FFF2-40B4-BE49-F238E27FC236}">
                <a16:creationId xmlns:a16="http://schemas.microsoft.com/office/drawing/2014/main" id="{11A48837-BA84-46A2-A172-82344334FA23}"/>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Execution status: evidence pending. Capture the observed outcome before marking Pass.</a:t>
            </a:r>
          </a:p>
        </p:txBody>
      </p:sp>
      <p:sp>
        <p:nvSpPr>
          <p:cNvPr id="7" name="10">
            <a:extLst xmlns:a="http://schemas.openxmlformats.org/drawingml/2006/main">
              <a:ext uri="{FF2B5EF4-FFF2-40B4-BE49-F238E27FC236}">
                <a16:creationId xmlns:a16="http://schemas.microsoft.com/office/drawing/2014/main" id="{0715AA64-A2D2-49A2-818E-9E277ADB2455}"/>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10</a:t>
            </a:r>
          </a:p>
        </p:txBody>
      </p:sp>
    </p:spTree>
    <p:extLst>
      <p:ext uri="{BB962C8B-B14F-4D97-AF65-F5344CB8AC3E}">
        <p14:creationId xmlns:p14="http://schemas.microsoft.com/office/powerpoint/2010/main" val="173359637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Planned Integration Tests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1ABC1FB1-160B-4398-B92F-A16E5B693D69}"/>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2428875"/>
                <a:gridCol w="4524375"/>
                <a:gridCol w="4191000"/>
              </a:tblGrid>
              <a:tr h="706438">
                <a:tc>
                  <a:txBody>
                    <a:bodyPr/>
                    <a:lstStyle/>
                    <a:p>
                      <a:r>
                        <a:rPr sz="2100" b="1">
                          <a:solidFill>
                            <a:srgbClr val="FFFFFF"/>
                          </a:solidFill>
                          <a:latin typeface="Times New Roman"/>
                          <a:ea typeface="Times New Roman"/>
                          <a:cs typeface="Times New Roman"/>
                        </a:rPr>
                        <a:t>Requirement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Test scenario</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Expected result</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00" b="0">
                          <a:solidFill>
                            <a:srgbClr val="111111"/>
                          </a:solidFill>
                          <a:latin typeface="Times New Roman"/>
                          <a:ea typeface="Times New Roman"/>
                          <a:cs typeface="Times New Roman"/>
                        </a:rPr>
                        <a:t>FR3 / Sensors</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Connect sensors and OLED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acquisition and local display</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00" b="0">
                          <a:solidFill>
                            <a:srgbClr val="111111"/>
                          </a:solidFill>
                          <a:latin typeface="Times New Roman"/>
                          <a:ea typeface="Times New Roman"/>
                          <a:cs typeface="Times New Roman"/>
                        </a:rPr>
                        <a:t>FR4 / Upload</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Lose and restore phone internet</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Queue retained and uploaded once</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00" b="0">
                          <a:solidFill>
                            <a:srgbClr val="111111"/>
                          </a:solidFill>
                          <a:latin typeface="Times New Roman"/>
                          <a:ea typeface="Times New Roman"/>
                          <a:cs typeface="Times New Roman"/>
                        </a:rPr>
                        <a:t>FR5 / GPS + ETA</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Move along a known route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Location and ETA update</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00" b="0">
                          <a:solidFill>
                            <a:srgbClr val="111111"/>
                          </a:solidFill>
                          <a:latin typeface="Times New Roman"/>
                          <a:ea typeface="Times New Roman"/>
                          <a:cs typeface="Times New Roman"/>
                        </a:rPr>
                        <a:t>FR6 / ML</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Evaluate a labeled held-out dataset</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Report classification metrics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00" b="0">
                          <a:solidFill>
                            <a:srgbClr val="111111"/>
                          </a:solidFill>
                          <a:latin typeface="Times New Roman"/>
                          <a:ea typeface="Times New Roman"/>
                          <a:cs typeface="Times New Roman"/>
                        </a:rPr>
                        <a:t>FR6 / Dashboard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Deliver live and stale telemetry</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values and freshness state</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All cases on this slide are planned. No cloud">
            <a:extLst xmlns:a="http://schemas.openxmlformats.org/drawingml/2006/main">
              <a:ext uri="{FF2B5EF4-FFF2-40B4-BE49-F238E27FC236}">
                <a16:creationId xmlns:a16="http://schemas.microsoft.com/office/drawing/2014/main" id="{445289BF-EA09-42DB-9EDC-E23C48D79124}"/>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All cases on this slide are planned. No cloud, GPS, ETA or ML results are claimed.</a:t>
            </a:r>
          </a:p>
        </p:txBody>
      </p:sp>
      <p:sp>
        <p:nvSpPr>
          <p:cNvPr id="7" name="11">
            <a:extLst xmlns:a="http://schemas.openxmlformats.org/drawingml/2006/main">
              <a:ext uri="{FF2B5EF4-FFF2-40B4-BE49-F238E27FC236}">
                <a16:creationId xmlns:a16="http://schemas.microsoft.com/office/drawing/2014/main" id="{790258E3-4172-4B82-945C-A2B8BC04DE2A}"/>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11</a:t>
            </a:r>
          </a:p>
        </p:txBody>
      </p:sp>
    </p:spTree>
    <p:extLst>
      <p:ext uri="{BB962C8B-B14F-4D97-AF65-F5344CB8AC3E}">
        <p14:creationId xmlns:p14="http://schemas.microsoft.com/office/powerpoint/2010/main" val="173359637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Implementation Status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4CF3A94D-C996-4313-B03D-B0C5436F1D81}"/>
              </a:ext>
            </a:extLst>
          </p:cNvPr>
          <p:cNvGraphicFramePr/>
          <p:nvPr/>
        </p:nvGraphicFramePr>
        <p:xfrm>
          <a:off xmlns:a="http://schemas.openxmlformats.org/drawingml/2006/main" x="523875" y="1143000"/>
          <a:ext xmlns:a="http://schemas.openxmlformats.org/drawingml/2006/main" cx="11144250" cy="4667250"/>
        </p:xfrm>
        <a:graphic xmlns:a="http://schemas.openxmlformats.org/drawingml/2006/main">
          <a:graphicData uri="http://schemas.openxmlformats.org/drawingml/2006/table">
            <a:tbl>
              <a:tblPr/>
              <a:tblGrid>
                <a:gridCol w="2476500"/>
                <a:gridCol w="4429125"/>
                <a:gridCol w="4238625"/>
              </a:tblGrid>
              <a:tr h="666750">
                <a:tc>
                  <a:txBody>
                    <a:bodyPr/>
                    <a:lstStyle/>
                    <a:p>
                      <a:r>
                        <a:rPr sz="2100" b="1">
                          <a:solidFill>
                            <a:srgbClr val="FFFFFF"/>
                          </a:solidFill>
                          <a:latin typeface="Times New Roman"/>
                          <a:ea typeface="Times New Roman"/>
                          <a:cs typeface="Times New Roman"/>
                        </a:rPr>
                        <a:t>Module</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Current evidence</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Remaining work</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666750">
                <a:tc>
                  <a:txBody>
                    <a:bodyPr/>
                    <a:lstStyle/>
                    <a:p>
                      <a:r>
                        <a:rPr sz="2100" b="0">
                          <a:solidFill>
                            <a:srgbClr val="111111"/>
                          </a:solidFill>
                          <a:latin typeface="Times New Roman"/>
                          <a:ea typeface="Times New Roman"/>
                          <a:cs typeface="Times New Roman"/>
                        </a:rPr>
                        <a:t>ESP32 BLE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Advertising, encryption, streaming code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Device validation evidence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Flutter app</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Scan, connect, display, start/stop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Gateway persistence and uploads</a:t>
                      </a:r>
                    </a:p>
                  </a:txBody>
                  <a:tcPr marL="114300" marR="95250" marT="95250" marB="95250" anchor="ctr">
                    <a:lnR w="9525">
                      <a:solidFill>
                        <a:srgbClr val="CAD2DF"/>
                      </a:solidFill>
                    </a:lnR>
                    <a:lnB w="9525">
                      <a:solidFill>
                        <a:srgbClr val="CAD2DF"/>
                      </a:solidFill>
                    </a:lnB>
                    <a:solidFill>
                      <a:srgbClr val="FFFFFF"/>
                    </a:solidFill>
                  </a:tcPr>
                </a:tc>
              </a:tr>
              <a:tr h="666750">
                <a:tc>
                  <a:txBody>
                    <a:bodyPr/>
                    <a:lstStyle/>
                    <a:p>
                      <a:r>
                        <a:rPr sz="2100" b="0">
                          <a:solidFill>
                            <a:srgbClr val="111111"/>
                          </a:solidFill>
                          <a:latin typeface="Times New Roman"/>
                          <a:ea typeface="Times New Roman"/>
                          <a:cs typeface="Times New Roman"/>
                        </a:rPr>
                        <a:t>Sensors / OLED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Separate sensor sketches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Integrate into BLE firmware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RTOS</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BLE host and simulation tasks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Full acquisition/display pipeline</a:t>
                      </a:r>
                    </a:p>
                  </a:txBody>
                  <a:tcPr marL="114300" marR="95250" marT="95250" marB="95250" anchor="ctr">
                    <a:lnR w="9525">
                      <a:solidFill>
                        <a:srgbClr val="CAD2DF"/>
                      </a:solidFill>
                    </a:lnR>
                    <a:lnB w="9525">
                      <a:solidFill>
                        <a:srgbClr val="CAD2DF"/>
                      </a:solidFill>
                    </a:lnB>
                    <a:solidFill>
                      <a:srgbClr val="FFFFFF"/>
                    </a:solidFill>
                  </a:tcPr>
                </a:tc>
              </a:tr>
              <a:tr h="666750">
                <a:tc>
                  <a:txBody>
                    <a:bodyPr/>
                    <a:lstStyle/>
                    <a:p>
                      <a:r>
                        <a:rPr sz="2100" b="0">
                          <a:solidFill>
                            <a:srgbClr val="111111"/>
                          </a:solidFill>
                          <a:latin typeface="Times New Roman"/>
                          <a:ea typeface="Times New Roman"/>
                          <a:cs typeface="Times New Roman"/>
                        </a:rPr>
                        <a:t>Cloud / Dashboard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Placeholder component folders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Implement and integrate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GPS / ETA / ML</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No implementation found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Design, implement and evaluate</a:t>
                      </a:r>
                    </a:p>
                  </a:txBody>
                  <a:tcPr marL="114300" marR="95250" marT="95250" marB="95250" anchor="ctr">
                    <a:lnR w="9525">
                      <a:solidFill>
                        <a:srgbClr val="CAD2DF"/>
                      </a:solidFill>
                    </a:lnR>
                    <a:lnB w="9525">
                      <a:solidFill>
                        <a:srgbClr val="CAD2DF"/>
                      </a:solidFill>
                    </a:lnB>
                    <a:solidFill>
                      <a:srgbClr val="FFFFFF"/>
                    </a:solidFill>
                  </a:tcPr>
                </a:tc>
              </a:tr>
            </a:tbl>
          </a:graphicData>
        </a:graphic>
      </p:graphicFrame>
      <p:sp>
        <p:nvSpPr>
          <p:cNvPr id="6" name="12">
            <a:extLst xmlns:a="http://schemas.openxmlformats.org/drawingml/2006/main">
              <a:ext uri="{FF2B5EF4-FFF2-40B4-BE49-F238E27FC236}">
                <a16:creationId xmlns:a16="http://schemas.microsoft.com/office/drawing/2014/main" id="{B6423052-90BB-4036-A723-2A62F220BAA9}"/>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12</a:t>
            </a:r>
          </a:p>
        </p:txBody>
      </p:sp>
    </p:spTree>
    <p:extLst>
      <p:ext uri="{BB962C8B-B14F-4D97-AF65-F5344CB8AC3E}">
        <p14:creationId xmlns:p14="http://schemas.microsoft.com/office/powerpoint/2010/main" val="173359637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xmlns:a="http://schemas.openxmlformats.org/drawingml/2006/main">
              <a:ext uri="{FF2B5EF4-FFF2-40B4-BE49-F238E27FC236}">
                <a16:creationId xmlns:a16="http://schemas.microsoft.com/office/drawing/2014/main" id="{20B156C6-6F63-4077-B2B4-93238B036224}"/>
              </a:ext>
            </a:extLst>
          </p:cNvPr>
          <p:cNvSpPr>
            <a:spLocks xmlns:a="http://schemas.openxmlformats.org/drawingml/2006/main" noGrp="1"/>
          </p:cNvSpPr>
          <p:nvPr/>
        </p:nvSpPr>
        <p:spPr>
          <a:xfrm xmlns:a="http://schemas.openxmlformats.org/drawingml/2006/main">
            <a:off x="66675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xmlns:a="http://schemas.openxmlformats.org/drawingml/2006/main">
              <a:ext uri="{FF2B5EF4-FFF2-40B4-BE49-F238E27FC236}">
                <a16:creationId xmlns:a16="http://schemas.microsoft.com/office/drawing/2014/main" id="{D1530123-E1C4-430C-85D3-8F552FAE3993}"/>
              </a:ext>
            </a:extLst>
          </p:cNvPr>
          <p:cNvSpPr>
            <a:spLocks xmlns:a="http://schemas.openxmlformats.org/drawingml/2006/main" noGrp="1"/>
          </p:cNvSpPr>
          <p:nvPr/>
        </p:nvSpPr>
        <p:spPr>
          <a:xfrm xmlns:a="http://schemas.openxmlformats.org/drawingml/2006/main">
            <a:off x="85725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xmlns:a="http://schemas.openxmlformats.org/drawingml/2006/main">
              <a:ext uri="{FF2B5EF4-FFF2-40B4-BE49-F238E27FC236}">
                <a16:creationId xmlns:a16="http://schemas.microsoft.com/office/drawing/2014/main" id="{36964AD3-5E81-4EF4-95EF-2FB93450507A}"/>
              </a:ext>
            </a:extLst>
          </p:cNvPr>
          <p:cNvSpPr>
            <a:spLocks xmlns:a="http://schemas.openxmlformats.org/drawingml/2006/main" noGrp="1"/>
          </p:cNvSpPr>
          <p:nvPr/>
        </p:nvSpPr>
        <p:spPr>
          <a:xfrm xmlns:a="http://schemas.openxmlformats.org/drawingml/2006/main">
            <a:off x="457200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xmlns:a="http://schemas.openxmlformats.org/drawingml/2006/main">
              <a:ext uri="{FF2B5EF4-FFF2-40B4-BE49-F238E27FC236}">
                <a16:creationId xmlns:a16="http://schemas.microsoft.com/office/drawing/2014/main" id="{ED237D89-32A7-47F1-ACC7-5F87B51E84B9}"/>
              </a:ext>
            </a:extLst>
          </p:cNvPr>
          <p:cNvSpPr>
            <a:spLocks xmlns:a="http://schemas.openxmlformats.org/drawingml/2006/main" noGrp="1"/>
          </p:cNvSpPr>
          <p:nvPr/>
        </p:nvSpPr>
        <p:spPr>
          <a:xfrm xmlns:a="http://schemas.openxmlformats.org/drawingml/2006/main">
            <a:off x="476250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xmlns:a="http://schemas.openxmlformats.org/drawingml/2006/main">
              <a:ext uri="{FF2B5EF4-FFF2-40B4-BE49-F238E27FC236}">
                <a16:creationId xmlns:a16="http://schemas.microsoft.com/office/drawing/2014/main" id="{1D7DFB66-01E7-49F5-B287-94FA429026DF}"/>
              </a:ext>
            </a:extLst>
          </p:cNvPr>
          <p:cNvSpPr>
            <a:spLocks xmlns:a="http://schemas.openxmlformats.org/drawingml/2006/main" noGrp="1"/>
          </p:cNvSpPr>
          <p:nvPr/>
        </p:nvSpPr>
        <p:spPr>
          <a:xfrm xmlns:a="http://schemas.openxmlformats.org/drawingml/2006/main">
            <a:off x="847725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xmlns:a="http://schemas.openxmlformats.org/drawingml/2006/main">
              <a:ext uri="{FF2B5EF4-FFF2-40B4-BE49-F238E27FC236}">
                <a16:creationId xmlns:a16="http://schemas.microsoft.com/office/drawing/2014/main" id="{C24DD76E-497C-45C1-81D2-3DFF32F64BF3}"/>
              </a:ext>
            </a:extLst>
          </p:cNvPr>
          <p:cNvSpPr>
            <a:spLocks xmlns:a="http://schemas.openxmlformats.org/drawingml/2006/main" noGrp="1"/>
          </p:cNvSpPr>
          <p:nvPr/>
        </p:nvSpPr>
        <p:spPr>
          <a:xfrm xmlns:a="http://schemas.openxmlformats.org/drawingml/2006/main">
            <a:off x="866775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xmlns:a="http://schemas.openxmlformats.org/drawingml/2006/main">
              <a:ext uri="{FF2B5EF4-FFF2-40B4-BE49-F238E27FC236}">
                <a16:creationId xmlns:a16="http://schemas.microsoft.com/office/drawing/2014/main" id="{10D4419E-65F8-4AF8-ABFE-000A5A89DE94}"/>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Use real device captures. Pair the app display with matching ESP32 serial logs.</a:t>
            </a:r>
          </a:p>
        </p:txBody>
      </p:sp>
      <p:sp>
        <p:nvSpPr>
          <p:cNvPr id="12" name="13">
            <a:extLst xmlns:a="http://schemas.openxmlformats.org/drawingml/2006/main">
              <a:ext uri="{FF2B5EF4-FFF2-40B4-BE49-F238E27FC236}">
                <a16:creationId xmlns:a16="http://schemas.microsoft.com/office/drawing/2014/main" id="{7B76A915-D870-41E6-BAF2-B5FA79CDAC31}"/>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13</a:t>
            </a:r>
          </a:p>
        </p:txBody>
      </p:sp>
    </p:spTree>
    <p:extLst>
      <p:ext uri="{BB962C8B-B14F-4D97-AF65-F5344CB8AC3E}">
        <p14:creationId xmlns:p14="http://schemas.microsoft.com/office/powerpoint/2010/main" val="173359637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F5112121-1E14-4CBB-B621-53C849B1C565}"/>
              </a:ext>
            </a:extLst>
          </p:cNvPr>
          <p:cNvCxnSpPr>
            <a:stCxn xmlns:a="http://schemas.openxmlformats.org/drawingml/2006/main" id="9" idx="3"/>
            <a:endCxn xmlns:a="http://schemas.openxmlformats.org/drawingml/2006/main" id="10" idx="1"/>
          </p:cNvCxnSpPr>
          <p:nvPr/>
        </p:nvCxnSpPr>
        <p:spPr>
          <a:xfrm xmlns:a="http://schemas.openxmlformats.org/drawingml/2006/main">
            <a:off x="8763000" y="4667250"/>
            <a:ext cx="476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2" name="">
            <a:extLst xmlns:a="http://schemas.openxmlformats.org/drawingml/2006/main">
              <a:ext uri="{FF2B5EF4-FFF2-40B4-BE49-F238E27FC236}">
                <a16:creationId xmlns:a16="http://schemas.microsoft.com/office/drawing/2014/main" id="{03FB8ECB-03AA-4EA8-B50E-6FA3C86F79C9}"/>
              </a:ext>
            </a:extLst>
          </p:cNvPr>
          <p:cNvCxnSpPr>
            <a:stCxn xmlns:a="http://schemas.openxmlformats.org/drawingml/2006/main" id="8" idx="3"/>
            <a:endCxn xmlns:a="http://schemas.openxmlformats.org/drawingml/2006/main" id="9" idx="1"/>
          </p:cNvCxnSpPr>
          <p:nvPr/>
        </p:nvCxnSpPr>
        <p:spPr>
          <a:xfrm xmlns:a="http://schemas.openxmlformats.org/drawingml/2006/main">
            <a:off x="5857875" y="4667250"/>
            <a:ext cx="476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1" name="">
            <a:extLst xmlns:a="http://schemas.openxmlformats.org/drawingml/2006/main">
              <a:ext uri="{FF2B5EF4-FFF2-40B4-BE49-F238E27FC236}">
                <a16:creationId xmlns:a16="http://schemas.microsoft.com/office/drawing/2014/main" id="{A5EAC431-387E-4814-AB34-219D786AB0FE}"/>
              </a:ext>
            </a:extLst>
          </p:cNvPr>
          <p:cNvCxnSpPr>
            <a:stCxn xmlns:a="http://schemas.openxmlformats.org/drawingml/2006/main" id="7" idx="3"/>
            <a:endCxn xmlns:a="http://schemas.openxmlformats.org/drawingml/2006/main" id="8" idx="1"/>
          </p:cNvCxnSpPr>
          <p:nvPr/>
        </p:nvCxnSpPr>
        <p:spPr>
          <a:xfrm xmlns:a="http://schemas.openxmlformats.org/drawingml/2006/main">
            <a:off x="2952750" y="4667250"/>
            <a:ext cx="476250" cy="0"/>
          </a:xfrm>
          <a:prstGeom xmlns:a="http://schemas.openxmlformats.org/drawingml/2006/main" prst="straightConnector1">
            <a:avLst/>
          </a:prstGeom>
          <a:ln xmlns:a="http://schemas.openxmlformats.org/drawingml/2006/main" w="19050">
            <a:solidFill>
              <a:srgbClr val="002060"/>
            </a:solidFill>
            <a:tailEnd type="arrow" w="med" len="med"/>
          </a:ln>
        </p:spPr>
      </p:cxnSp>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Conclusion and Future Work</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urrent implementation">
            <a:extLst xmlns:a="http://schemas.openxmlformats.org/drawingml/2006/main">
              <a:ext uri="{FF2B5EF4-FFF2-40B4-BE49-F238E27FC236}">
                <a16:creationId xmlns:a16="http://schemas.microsoft.com/office/drawing/2014/main" id="{1BF69B1D-512C-4274-97E3-3BA216C6C7C9}"/>
              </a:ext>
            </a:extLst>
          </p:cNvPr>
          <p:cNvSpPr>
            <a:spLocks xmlns:a="http://schemas.openxmlformats.org/drawingml/2006/main" noGrp="1"/>
          </p:cNvSpPr>
          <p:nvPr/>
        </p:nvSpPr>
        <p:spPr>
          <a:xfrm xmlns:a="http://schemas.openxmlformats.org/drawingml/2006/main">
            <a:off x="666750" y="1333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850" b="1">
                <a:solidFill>
                  <a:srgbClr val="002060"/>
                </a:solidFill>
                <a:latin typeface="Times New Roman"/>
                <a:ea typeface="Times New Roman"/>
                <a:cs typeface="Times New Roman"/>
              </a:defRPr>
            </a:defPPr>
            <a:lvl1pPr algn="l">
              <a:defRPr sz="2850" b="1">
                <a:solidFill>
                  <a:srgbClr val="002060"/>
                </a:solidFill>
                <a:latin typeface="Times New Roman"/>
                <a:ea typeface="Times New Roman"/>
                <a:cs typeface="Times New Roman"/>
              </a:defRPr>
            </a:lvl1pPr>
            <a:lvl2pPr algn="l">
              <a:defRPr sz="2850" b="1">
                <a:solidFill>
                  <a:srgbClr val="002060"/>
                </a:solidFill>
                <a:latin typeface="Times New Roman"/>
                <a:ea typeface="Times New Roman"/>
                <a:cs typeface="Times New Roman"/>
              </a:defRPr>
            </a:lvl2pPr>
            <a:lvl3pPr algn="l">
              <a:defRPr sz="2850" b="1">
                <a:solidFill>
                  <a:srgbClr val="002060"/>
                </a:solidFill>
                <a:latin typeface="Times New Roman"/>
                <a:ea typeface="Times New Roman"/>
                <a:cs typeface="Times New Roman"/>
              </a:defRPr>
            </a:lvl3pPr>
            <a:lvl4pPr algn="l">
              <a:defRPr sz="2850" b="1">
                <a:solidFill>
                  <a:srgbClr val="002060"/>
                </a:solidFill>
                <a:latin typeface="Times New Roman"/>
                <a:ea typeface="Times New Roman"/>
                <a:cs typeface="Times New Roman"/>
              </a:defRPr>
            </a:lvl4pPr>
            <a:lvl5pPr algn="l">
              <a:defRPr sz="2850" b="1">
                <a:solidFill>
                  <a:srgbClr val="002060"/>
                </a:solidFill>
                <a:latin typeface="Times New Roman"/>
                <a:ea typeface="Times New Roman"/>
                <a:cs typeface="Times New Roman"/>
              </a:defRPr>
            </a:lvl5pPr>
            <a:lvl6pPr algn="l">
              <a:defRPr sz="2850" b="1">
                <a:solidFill>
                  <a:srgbClr val="002060"/>
                </a:solidFill>
                <a:latin typeface="Times New Roman"/>
                <a:ea typeface="Times New Roman"/>
                <a:cs typeface="Times New Roman"/>
              </a:defRPr>
            </a:lvl6pPr>
            <a:lvl7pPr algn="l">
              <a:defRPr sz="2850" b="1">
                <a:solidFill>
                  <a:srgbClr val="002060"/>
                </a:solidFill>
                <a:latin typeface="Times New Roman"/>
                <a:ea typeface="Times New Roman"/>
                <a:cs typeface="Times New Roman"/>
              </a:defRPr>
            </a:lvl7pPr>
            <a:lvl8pPr algn="l">
              <a:defRPr sz="2850" b="1">
                <a:solidFill>
                  <a:srgbClr val="002060"/>
                </a:solidFill>
                <a:latin typeface="Times New Roman"/>
                <a:ea typeface="Times New Roman"/>
                <a:cs typeface="Times New Roman"/>
              </a:defRPr>
            </a:lvl8pPr>
            <a:lvl9pPr algn="l">
              <a:defRPr sz="2850" b="1">
                <a:solidFill>
                  <a:srgbClr val="002060"/>
                </a:solidFill>
                <a:latin typeface="Times New Roman"/>
                <a:ea typeface="Times New Roman"/>
                <a:cs typeface="Times New Roman"/>
              </a:defRPr>
            </a:lvl9pPr>
          </a:lstStyle>
          <a:p xmlns:a="http://schemas.openxmlformats.org/drawingml/2006/main">
            <a:pPr algn="l">
              <a:defRPr sz="2850" b="1">
                <a:solidFill>
                  <a:srgbClr val="002060"/>
                </a:solidFill>
                <a:latin typeface="Times New Roman"/>
                <a:ea typeface="Times New Roman"/>
                <a:cs typeface="Times New Roman"/>
              </a:defRPr>
            </a:pPr>
            <a:r>
              <a:rPr sz="2850" b="1">
                <a:solidFill>
                  <a:srgbClr val="002060"/>
                </a:solidFill>
                <a:latin typeface="Times New Roman"/>
                <a:ea typeface="Times New Roman"/>
                <a:cs typeface="Times New Roman"/>
              </a:rPr>
              <a:t>Current implementation</a:t>
            </a:r>
          </a:p>
        </p:txBody>
      </p:sp>
      <p:sp>
        <p:nvSpPr>
          <p:cNvPr id="6" name="ESP32 BLE and Flutter gateway code support&#10;si">
            <a:extLst xmlns:a="http://schemas.openxmlformats.org/drawingml/2006/main">
              <a:ext uri="{FF2B5EF4-FFF2-40B4-BE49-F238E27FC236}">
                <a16:creationId xmlns:a16="http://schemas.microsoft.com/office/drawing/2014/main" id="{1EB586CC-ABEF-4A51-8331-C1E1ED8F049A}"/>
              </a:ext>
            </a:extLst>
          </p:cNvPr>
          <p:cNvSpPr>
            <a:spLocks xmlns:a="http://schemas.openxmlformats.org/drawingml/2006/main" noGrp="1"/>
          </p:cNvSpPr>
          <p:nvPr/>
        </p:nvSpPr>
        <p:spPr>
          <a:xfrm xmlns:a="http://schemas.openxmlformats.org/drawingml/2006/main">
            <a:off x="666750" y="204787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00" b="0">
                <a:solidFill>
                  <a:srgbClr val="111111"/>
                </a:solidFill>
                <a:latin typeface="Times New Roman"/>
                <a:ea typeface="Times New Roman"/>
                <a:cs typeface="Times New Roman"/>
              </a:defRPr>
            </a:defPPr>
            <a:lvl1pPr algn="l">
              <a:defRPr sz="2700" b="0">
                <a:solidFill>
                  <a:srgbClr val="111111"/>
                </a:solidFill>
                <a:latin typeface="Times New Roman"/>
                <a:ea typeface="Times New Roman"/>
                <a:cs typeface="Times New Roman"/>
              </a:defRPr>
            </a:lvl1pPr>
            <a:lvl2pPr algn="l">
              <a:defRPr sz="2700" b="0">
                <a:solidFill>
                  <a:srgbClr val="111111"/>
                </a:solidFill>
                <a:latin typeface="Times New Roman"/>
                <a:ea typeface="Times New Roman"/>
                <a:cs typeface="Times New Roman"/>
              </a:defRPr>
            </a:lvl2pPr>
            <a:lvl3pPr algn="l">
              <a:defRPr sz="2700" b="0">
                <a:solidFill>
                  <a:srgbClr val="111111"/>
                </a:solidFill>
                <a:latin typeface="Times New Roman"/>
                <a:ea typeface="Times New Roman"/>
                <a:cs typeface="Times New Roman"/>
              </a:defRPr>
            </a:lvl3pPr>
            <a:lvl4pPr algn="l">
              <a:defRPr sz="2700" b="0">
                <a:solidFill>
                  <a:srgbClr val="111111"/>
                </a:solidFill>
                <a:latin typeface="Times New Roman"/>
                <a:ea typeface="Times New Roman"/>
                <a:cs typeface="Times New Roman"/>
              </a:defRPr>
            </a:lvl4pPr>
            <a:lvl5pPr algn="l">
              <a:defRPr sz="2700" b="0">
                <a:solidFill>
                  <a:srgbClr val="111111"/>
                </a:solidFill>
                <a:latin typeface="Times New Roman"/>
                <a:ea typeface="Times New Roman"/>
                <a:cs typeface="Times New Roman"/>
              </a:defRPr>
            </a:lvl5pPr>
            <a:lvl6pPr algn="l">
              <a:defRPr sz="2700" b="0">
                <a:solidFill>
                  <a:srgbClr val="111111"/>
                </a:solidFill>
                <a:latin typeface="Times New Roman"/>
                <a:ea typeface="Times New Roman"/>
                <a:cs typeface="Times New Roman"/>
              </a:defRPr>
            </a:lvl6pPr>
            <a:lvl7pPr algn="l">
              <a:defRPr sz="2700" b="0">
                <a:solidFill>
                  <a:srgbClr val="111111"/>
                </a:solidFill>
                <a:latin typeface="Times New Roman"/>
                <a:ea typeface="Times New Roman"/>
                <a:cs typeface="Times New Roman"/>
              </a:defRPr>
            </a:lvl7pPr>
            <a:lvl8pPr algn="l">
              <a:defRPr sz="2700" b="0">
                <a:solidFill>
                  <a:srgbClr val="111111"/>
                </a:solidFill>
                <a:latin typeface="Times New Roman"/>
                <a:ea typeface="Times New Roman"/>
                <a:cs typeface="Times New Roman"/>
              </a:defRPr>
            </a:lvl8pPr>
            <a:lvl9pPr algn="l">
              <a:defRPr sz="2700" b="0">
                <a:solidFill>
                  <a:srgbClr val="111111"/>
                </a:solidFill>
                <a:latin typeface="Times New Roman"/>
                <a:ea typeface="Times New Roman"/>
                <a:cs typeface="Times New Roman"/>
              </a:defRPr>
            </a:lvl9pPr>
          </a:lstStyle>
          <a:p xmlns:a="http://schemas.openxmlformats.org/drawingml/2006/main">
            <a:pPr algn="l">
              <a:defRPr sz="2700" b="0">
                <a:solidFill>
                  <a:srgbClr val="111111"/>
                </a:solidFill>
                <a:latin typeface="Times New Roman"/>
                <a:ea typeface="Times New Roman"/>
                <a:cs typeface="Times New Roman"/>
              </a:defRPr>
            </a:pPr>
            <a:r>
              <a:rPr sz="2700" b="0">
                <a:solidFill>
                  <a:srgbClr val="111111"/>
                </a:solidFill>
                <a:latin typeface="Times New Roman"/>
                <a:ea typeface="Times New Roman"/>
                <a:cs typeface="Times New Roman"/>
              </a:rPr>
              <a:t>ESP32 BLE and Flutter gateway code support</a:t>
            </a:r>
          </a:p>
          <a:p xmlns:a="http://schemas.openxmlformats.org/drawingml/2006/main">
            <a:pPr algn="l">
              <a:defRPr sz="2700" b="0">
                <a:solidFill>
                  <a:srgbClr val="111111"/>
                </a:solidFill>
                <a:latin typeface="Times New Roman"/>
                <a:ea typeface="Times New Roman"/>
                <a:cs typeface="Times New Roman"/>
              </a:defRPr>
            </a:pPr>
            <a:r>
              <a:rPr sz="2700" b="0">
                <a:solidFill>
                  <a:srgbClr val="111111"/>
                </a:solidFill>
                <a:latin typeface="Times New Roman"/>
                <a:ea typeface="Times New Roman"/>
                <a:cs typeface="Times New Roman"/>
              </a:rPr>
              <a:t>simulated vital streaming with start/stop control</a:t>
            </a:r>
          </a:p>
        </p:txBody>
      </p:sp>
      <p:sp>
        <p:nvSpPr>
          <p:cNvPr id="7" name="Sensor and OLED&#10;integration">
            <a:extLst xmlns:a="http://schemas.openxmlformats.org/drawingml/2006/main">
              <a:ext uri="{FF2B5EF4-FFF2-40B4-BE49-F238E27FC236}">
                <a16:creationId xmlns:a16="http://schemas.microsoft.com/office/drawing/2014/main" id="{BC696DB5-59FD-44E8-93A9-3D2601D7E862}"/>
              </a:ext>
            </a:extLst>
          </p:cNvPr>
          <p:cNvSpPr>
            <a:spLocks xmlns:a="http://schemas.openxmlformats.org/drawingml/2006/main" noGrp="1"/>
          </p:cNvSpPr>
          <p:nvPr/>
        </p:nvSpPr>
        <p:spPr>
          <a:xfrm xmlns:a="http://schemas.openxmlformats.org/drawingml/2006/main">
            <a:off x="523875"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Sensor and OLED</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integration</a:t>
            </a:r>
          </a:p>
        </p:txBody>
      </p:sp>
      <p:sp>
        <p:nvSpPr>
          <p:cNvPr id="8" name="Persistent uploads&#10;and cloud">
            <a:extLst xmlns:a="http://schemas.openxmlformats.org/drawingml/2006/main">
              <a:ext uri="{FF2B5EF4-FFF2-40B4-BE49-F238E27FC236}">
                <a16:creationId xmlns:a16="http://schemas.microsoft.com/office/drawing/2014/main" id="{8DBFE914-9C41-4277-B1D5-70DE927A6E8F}"/>
              </a:ext>
            </a:extLst>
          </p:cNvPr>
          <p:cNvSpPr>
            <a:spLocks xmlns:a="http://schemas.openxmlformats.org/drawingml/2006/main" noGrp="1"/>
          </p:cNvSpPr>
          <p:nvPr/>
        </p:nvSpPr>
        <p:spPr>
          <a:xfrm xmlns:a="http://schemas.openxmlformats.org/drawingml/2006/main">
            <a:off x="3429000"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Persistent uploads</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and cloud</a:t>
            </a:r>
          </a:p>
        </p:txBody>
      </p:sp>
      <p:sp>
        <p:nvSpPr>
          <p:cNvPr id="9" name="GPS location&#10;and ETA">
            <a:extLst xmlns:a="http://schemas.openxmlformats.org/drawingml/2006/main">
              <a:ext uri="{FF2B5EF4-FFF2-40B4-BE49-F238E27FC236}">
                <a16:creationId xmlns:a16="http://schemas.microsoft.com/office/drawing/2014/main" id="{F88E1390-5B72-4C73-84C7-755203978200}"/>
              </a:ext>
            </a:extLst>
          </p:cNvPr>
          <p:cNvSpPr>
            <a:spLocks xmlns:a="http://schemas.openxmlformats.org/drawingml/2006/main" noGrp="1"/>
          </p:cNvSpPr>
          <p:nvPr/>
        </p:nvSpPr>
        <p:spPr>
          <a:xfrm xmlns:a="http://schemas.openxmlformats.org/drawingml/2006/main">
            <a:off x="6334125"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GPS location</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and ETA</a:t>
            </a:r>
          </a:p>
        </p:txBody>
      </p:sp>
      <p:sp>
        <p:nvSpPr>
          <p:cNvPr id="10" name="ML risk assessment&#10;and dashboard">
            <a:extLst xmlns:a="http://schemas.openxmlformats.org/drawingml/2006/main">
              <a:ext uri="{FF2B5EF4-FFF2-40B4-BE49-F238E27FC236}">
                <a16:creationId xmlns:a16="http://schemas.microsoft.com/office/drawing/2014/main" id="{D4EE5B2E-C736-4F77-8DB9-7D812536328A}"/>
              </a:ext>
            </a:extLst>
          </p:cNvPr>
          <p:cNvSpPr>
            <a:spLocks xmlns:a="http://schemas.openxmlformats.org/drawingml/2006/main" noGrp="1"/>
          </p:cNvSpPr>
          <p:nvPr/>
        </p:nvSpPr>
        <p:spPr>
          <a:xfrm xmlns:a="http://schemas.openxmlformats.org/drawingml/2006/main">
            <a:off x="9239250"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ML risk assessment</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and dashboard</a:t>
            </a:r>
          </a:p>
        </p:txBody>
      </p:sp>
      <p:sp>
        <p:nvSpPr>
          <p:cNvPr id="14" name="Next validation: capture BLE evidence, then i">
            <a:extLst xmlns:a="http://schemas.openxmlformats.org/drawingml/2006/main">
              <a:ext uri="{FF2B5EF4-FFF2-40B4-BE49-F238E27FC236}">
                <a16:creationId xmlns:a16="http://schemas.microsoft.com/office/drawing/2014/main" id="{E95D1E82-DCEC-430A-A6F2-865AFBB4504D}"/>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Next validation: capture BLE evidence, then integrate and test the remaining modules.</a:t>
            </a:r>
          </a:p>
        </p:txBody>
      </p:sp>
      <p:sp>
        <p:nvSpPr>
          <p:cNvPr id="15" name="14">
            <a:extLst xmlns:a="http://schemas.openxmlformats.org/drawingml/2006/main">
              <a:ext uri="{FF2B5EF4-FFF2-40B4-BE49-F238E27FC236}">
                <a16:creationId xmlns:a16="http://schemas.microsoft.com/office/drawing/2014/main" id="{B84EC8C5-B46C-4435-9A1C-74A4C9868B47}"/>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14</a:t>
            </a:r>
          </a:p>
        </p:txBody>
      </p:sp>
    </p:spTree>
    <p:extLst>
      <p:ext uri="{BB962C8B-B14F-4D97-AF65-F5344CB8AC3E}">
        <p14:creationId xmlns:p14="http://schemas.microsoft.com/office/powerpoint/2010/main" val="173359637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1"/>
            <a:ext cx="12192000" cy="765809"/>
          </a:xfrm>
          <a:prstGeom xmlns:a="http://schemas.openxmlformats.org/drawingml/2006/main" prst="rect">
            <a:avLst/>
          </a:prstGeom>
          <a:solidFill xmlns:a="http://schemas.openxmlformats.org/drawingml/2006/main">
            <a:srgbClr val="002060"/>
          </a:solidFill>
        </p:spPr>
        <p:txBody>
          <a:bodyPr xmlns:a="http://schemas.openxmlformats.org/drawingml/2006/main">
            <a:normAutofit/>
          </a:bodyPr>
          <a:lstStyle xmlns:a="http://schemas.openxmlformats.org/drawingml/2006/main"/>
          <a:p xmlns:a="http://schemas.openxmlformats.org/drawingml/2006/main">
            <a:pPr algn="ctr">
              <a:buNone/>
            </a:pPr>
            <a:endParaRPr sz="3600" b="1">
              <a:solidFill>
                <a:schemeClr val="bg1"/>
              </a:solidFill>
              <a:latin typeface="Times New Roman"/>
              <a:ea typeface="Times New Roman"/>
              <a:cs typeface="Times New Roman"/>
            </a:endParaRP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7" name="TextBox 6">
            <a:extLst xmlns:a="http://schemas.openxmlformats.org/drawingml/2006/main">
              <a:ext uri="{FF2B5EF4-FFF2-40B4-BE49-F238E27FC236}">
                <a16:creationId xmlns:a16="http://schemas.microsoft.com/office/drawing/2014/main" id="{1C9D027C-64E9-914D-D965-A429BBC87943}"/>
              </a:ext>
            </a:extLst>
          </p:cNvPr>
          <p:cNvSpPr>
            <a:spLocks xmlns:a="http://schemas.openxmlformats.org/drawingml/2006/main" noGrp="1"/>
          </p:cNvSpPr>
          <p:nvPr/>
        </p:nvSpPr>
        <p:spPr>
          <a:xfrm xmlns:a="http://schemas.openxmlformats.org/drawingml/2006/main">
            <a:off x="4563762" y="3429000"/>
            <a:ext cx="3387722" cy="101566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6000">
                <a:solidFill>
                  <a:srgbClr val="0070C0"/>
                </a:solidFill>
              </a:rPr>
              <a:t>Thank You</a:t>
            </a:r>
          </a:p>
        </p:txBody>
      </p:sp>
      <p:sp>
        <p:nvSpPr>
          <p:cNvPr id="8" name="15">
            <a:extLst xmlns:a="http://schemas.openxmlformats.org/drawingml/2006/main">
              <a:ext uri="{FF2B5EF4-FFF2-40B4-BE49-F238E27FC236}">
                <a16:creationId xmlns:a16="http://schemas.microsoft.com/office/drawing/2014/main" id="{5A51434F-8A9A-48B7-AE15-5E50A8D5B94F}"/>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15</a:t>
            </a:r>
          </a:p>
        </p:txBody>
      </p:sp>
    </p:spTree>
    <p:extLst>
      <p:ext uri="{BB962C8B-B14F-4D97-AF65-F5344CB8AC3E}">
        <p14:creationId xmlns:p14="http://schemas.microsoft.com/office/powerpoint/2010/main" val="3105312193"/>
      </p:ext>
    </p:extLst>
  </p:cSld>
</p:sld>
</file>

<file path=ppt/theme/restored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restored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2026-10-19T06:24:58.8180000Z</dcterms:created>
  <dcterms:modified xsi:type="dcterms:W3CDTF">2026-10-19T06:24:58.8180000Z</dcterms:modified>
</coreProperties>
</file>