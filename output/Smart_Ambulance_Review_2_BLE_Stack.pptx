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0"/>
  </p:notesMasterIdLst>
  <p:sldIdLst>
    <p:sldId id="256" r:id="rId3"/>
    <p:sldId id="258" r:id="rId4"/>
    <p:sldId id="259" r:id="rId5"/>
    <p:sldId id="273" r:id="rId6"/>
    <p:sldId id="260" r:id="rId7"/>
    <p:sldId id="261" r:id="rId8"/>
    <p:sldId id="262" r:id="rId9"/>
    <p:sldId id="263" r:id="rId10"/>
    <p:sldId id="264" r:id="rId11"/>
    <p:sldId id="265" r:id="rId12"/>
    <p:sldId id="266" r:id="rId13"/>
    <p:sldId id="267" r:id="rId14"/>
    <p:sldId id="268" r:id="rId15"/>
    <p:sldId id="271" r:id="rId16"/>
    <p:sldId id="272" r:id="rId17"/>
    <p:sldId id="269" r:id="rId18"/>
    <p:sldId id="270" r:id="rId1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27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a:t>1</a:t>
            </a:fld>
            <a:endParaRPr lang="en-IN"/>
          </a:p>
        </p:txBody>
      </p:sp>
    </p:spTree>
    <p:extLst>
      <p:ext uri="{BB962C8B-B14F-4D97-AF65-F5344CB8AC3E}">
        <p14:creationId xmlns:p14="http://schemas.microsoft.com/office/powerpoint/2010/main" val="148885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Layered architecture inside the ESP32-C6. The application uses NimBLE host APIs. The host includes GAP, GATT/ATT, SMP and L2CAP. The HCI/VHCI boundary connects the host with the Espressif Bluetooth controller. The controller includes Link Layer functions and PHY support. The PHY/radio is shown as the hardware-facing layer, not a separate external microcontroller. Bidirectional arrows represent commands, events and BLE data. Firmware sources: esp32/components/ble/ble.c, ble_gap.c, ble_gatt.c; sdkconfig confirms esp32c6, NimBLE host and enabled Bluetooth controller. Official references: https://docs.espressif.com/projects/esp-idf/en/stable/esp32c6/api-reference/bluetooth/nimble/index.html and https://docs.espressif.com/projects/esp-idf/en/stable/esp32c6/api-guides/ble/get-started/ble-introduction.html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00134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GHSS UUID 0x1840; observations 0x2B8B; control point 0x2BF4. Firmware creates simulated readings on a nominal one-second task interval. The two rows show setup followed by telemetry, with editable step objects. Automatic app reconnection is not implemented.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Comparison describes observed implementation versus the user-approved target, without claiming measured superiority over competing protocols. No backend stack or risk model is finalized in the current repository.</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FR1 and FR2 are implemented in source but need hardware evidence. Sensor sketches exist separately. Persistent queueing, cloud transport, GPS, ETA, ML and hospital dashboard are requirements for subsequent integration.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code uses LE Secure Connections with Just Works and NVS bonds. This does not establish authenticated protection against active interception. No measured latency, delivery ratio, endurance or clinical accuracy is available.</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cases validate the current BLE prototype. Capture at least two updates for TC3, and a recording or timestamped logs for TC4 and TC5. A stopped app may retain the last displayed values. Reconnection is manual.</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Future tests need a defined telemetry contract and acceptance thresholds. ETA should be compared with actual arrival times on test routes. ML evaluation requires a selected dataset, labels, model and held-out split. Do not invent accuracy figures.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6F529-C7F9-3BB8-89CE-AECAFE9DD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CC2A5-3CF7-8295-C60E-1DC702A78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EB507-E0A6-5AA2-3A8F-25DAB036ABC9}"/>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62CF59E0-1829-E561-4973-AFE9A6F588F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0697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41B10-EFB7-6995-9BC1-09565D101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83071-BD4E-3CAA-4206-85D77FB60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05F57-FF00-BC3A-FF32-FDDAC128A382}"/>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5A65C5BC-94FE-987A-2234-AB48C34829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83027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Conclusions distinguish implemented code from demonstrated hardware results. The full system remains a prototype. ML risk assessment is a project objective and requires dataset/model selection and evaluation.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of Review 2 presentation.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idx="10"/>
          </p:nvPr>
        </p:nvSpPr>
        <p:spPr/>
        <p:txBody>
          <a:bodyPr/>
          <a:lstStyle/>
          <a:p>
            <a:fld id="{DCC65D64-61A9-40CD-B94D-857C621C06A3}" type="datetime1">
              <a:t>10/19/2026</a:t>
            </a:fld>
            <a:endParaRPr/>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idx="10"/>
          </p:nvPr>
        </p:nvSpPr>
        <p:spPr/>
        <p:txBody>
          <a:bodyPr/>
          <a:lstStyle/>
          <a:p>
            <a:fld id="{E250B2B8-E89D-450D-848F-CCC0D3A80066}" type="datetime1">
              <a:t>10/19/2026</a:t>
            </a:fld>
            <a:endParaRPr/>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idx="10"/>
          </p:nvPr>
        </p:nvSpPr>
        <p:spPr/>
        <p:txBody>
          <a:bodyPr/>
          <a:lstStyle/>
          <a:p>
            <a:fld id="{6E451025-BBAB-4BD1-9DF2-DE64D763EA4D}" type="datetime1">
              <a:t>10/19/2026</a:t>
            </a:fld>
            <a:endParaRPr/>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idx="10"/>
          </p:nvPr>
        </p:nvSpPr>
        <p:spPr/>
        <p:txBody>
          <a:bodyPr/>
          <a:lstStyle/>
          <a:p>
            <a:fld id="{3C7DA566-B459-4C7A-85E5-C2A7C24A1420}" type="datetime1">
              <a:t>10/19/2026</a:t>
            </a:fld>
            <a:endParaRPr/>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idx="10"/>
          </p:nvPr>
        </p:nvSpPr>
        <p:spPr/>
        <p:txBody>
          <a:bodyPr/>
          <a:lstStyle/>
          <a:p>
            <a:fld id="{15763DEA-064E-425A-A301-4B3BA0502A3F}" type="datetime1">
              <a:t>10/19/2026</a:t>
            </a:fld>
            <a:endParaRPr/>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idx="11"/>
          </p:nvPr>
        </p:nvSpPr>
        <p:spPr/>
        <p:txBody>
          <a:bodyPr/>
          <a:lstStyle/>
          <a:p>
            <a:r>
              <a:t>Dept. of ECE, NMIT, Bengaluru</a:t>
            </a:r>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idx="10"/>
          </p:nvPr>
        </p:nvSpPr>
        <p:spPr/>
        <p:txBody>
          <a:bodyPr/>
          <a:lstStyle/>
          <a:p>
            <a:fld id="{438D0107-E616-461D-9207-52B0BDAA9751}" type="datetime1">
              <a:t>10/19/2026</a:t>
            </a:fld>
            <a:endParaRPr/>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idx="11"/>
          </p:nvPr>
        </p:nvSpPr>
        <p:spPr/>
        <p:txBody>
          <a:bodyPr/>
          <a:lstStyle/>
          <a:p>
            <a:r>
              <a:t>Dept. of ECE, NMIT, Bengaluru</a:t>
            </a:r>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idx="10"/>
          </p:nvPr>
        </p:nvSpPr>
        <p:spPr/>
        <p:txBody>
          <a:bodyPr/>
          <a:lstStyle/>
          <a:p>
            <a:fld id="{050B6DF2-7F2A-4D21-830E-C34D54E5DB26}" type="datetime1">
              <a:t>10/19/2026</a:t>
            </a:fld>
            <a:endParaRPr/>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idx="11"/>
          </p:nvPr>
        </p:nvSpPr>
        <p:spPr/>
        <p:txBody>
          <a:bodyPr/>
          <a:lstStyle/>
          <a:p>
            <a:r>
              <a:t>Dept. of ECE, NMIT, Bengaluru</a:t>
            </a:r>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idx="10"/>
          </p:nvPr>
        </p:nvSpPr>
        <p:spPr/>
        <p:txBody>
          <a:bodyPr/>
          <a:lstStyle/>
          <a:p>
            <a:fld id="{7E140C3B-5552-4017-A7F7-1D3DC73ABB6C}" type="datetime1">
              <a:t>10/19/2026</a:t>
            </a:fld>
            <a:endParaRPr/>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idx="10"/>
          </p:nvPr>
        </p:nvSpPr>
        <p:spPr/>
        <p:txBody>
          <a:bodyPr/>
          <a:lstStyle/>
          <a:p>
            <a:fld id="{08762C1D-5720-48A1-898D-8041400C55BC}" type="datetime1">
              <a:t>10/19/2026</a:t>
            </a:fld>
            <a:endParaRPr/>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idx="10"/>
          </p:nvPr>
        </p:nvSpPr>
        <p:spPr/>
        <p:txBody>
          <a:bodyPr/>
          <a:lstStyle/>
          <a:p>
            <a:fld id="{D1C140E7-F52A-4119-97FF-78F9513B4388}" type="datetime1">
              <a:t>10/19/2026</a:t>
            </a:fld>
            <a:endParaRPr/>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idx="10"/>
          </p:nvPr>
        </p:nvSpPr>
        <p:spPr/>
        <p:txBody>
          <a:bodyPr/>
          <a:lstStyle/>
          <a:p>
            <a:fld id="{34E1CFB4-31DA-40A2-AE2B-F9FC033D0834}" type="datetime1">
              <a:t>10/19/2026</a:t>
            </a:fld>
            <a:endParaRPr/>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3E8678F-226F-4E2D-9FCF-8D6254E13B72}" type="datetime1">
              <a:t>10/19/2026</a:t>
            </a:fld>
            <a:endParaRPr/>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Dept. of ECE, NMIT, Bengaluru</a:t>
            </a:r>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3000000000" r:id="rId1"/>
    <p:sldLayoutId id="3000000001" r:id="rId2"/>
    <p:sldLayoutId id="3000000002" r:id="rId3"/>
    <p:sldLayoutId id="3000000003" r:id="rId4"/>
    <p:sldLayoutId id="3000000004" r:id="rId5"/>
    <p:sldLayoutId id="3000000005" r:id="rId6"/>
    <p:sldLayoutId id="3000000006" r:id="rId7"/>
    <p:sldLayoutId id="3000000007" r:id="rId8"/>
    <p:sldLayoutId id="3000000008" r:id="rId9"/>
    <p:sldLayoutId id="3000000009" r:id="rId10"/>
    <p:sldLayoutId id="300000001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Project Supervisor </a:t>
            </a:r>
          </a:p>
          <a:p>
            <a:pPr marL="0" indent="0" algn="ctr">
              <a:buNone/>
            </a:pPr>
            <a:r>
              <a:rPr lang="en-US" sz="1600" dirty="0">
                <a:latin typeface="Times New Roman" panose="02020603050405020304" pitchFamily="18" charset="0"/>
                <a:cs typeface="Times New Roman" panose="02020603050405020304" pitchFamily="18" charset="0"/>
              </a:rPr>
              <a:t>Dr. Manjula B M</a:t>
            </a:r>
          </a:p>
          <a:p>
            <a:pPr marL="0" indent="0" algn="ctr">
              <a:buNone/>
            </a:pPr>
            <a:r>
              <a:rPr lang="en-US" sz="1600" dirty="0">
                <a:latin typeface="Times New Roman" panose="02020603050405020304" pitchFamily="18" charset="0"/>
                <a:cs typeface="Times New Roman" panose="02020603050405020304" pitchFamily="18" charset="0"/>
              </a:rPr>
              <a:t>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To develop a BLE-based mobile communication backbone for transmitting real-time patient vitals to a mobile application, which securely forwards data to the cloud using MQTT over TLS, with CoAP as a backup.</a:t>
            </a:r>
          </a:p>
          <a:p>
            <a:pPr marL="457200" indent="-457200">
              <a:buAutoNum type="arabicPeriod"/>
            </a:pPr>
            <a:r>
              <a:rPr lang="en-IN" sz="2000" dirty="0">
                <a:latin typeface="Times New Roman" panose="02020603050405020304" pitchFamily="18" charset="0"/>
                <a:cs typeface="Times New Roman" panose="02020603050405020304" pitchFamily="18" charset="0"/>
              </a:rPr>
              <a:t>To integrate GPS-based ambulance tracking with OSRM routing to estimate travel distance and arrival time at the selected hospital.</a:t>
            </a:r>
          </a:p>
          <a:p>
            <a:pPr marL="457200" indent="-457200">
              <a:buAutoNum type="arabicPeriod"/>
            </a:pPr>
            <a:r>
              <a:rPr lang="en-US" sz="2000" dirty="0">
                <a:latin typeface="Times New Roman" panose="02020603050405020304" pitchFamily="18" charset="0"/>
                <a:cs typeface="Times New Roman" panose="02020603050405020304" pitchFamily="18" charset="0"/>
              </a:rPr>
              <a:t>To integrate the existing patient health monitoring system with the mobile communication backbone for continuous vital acquisition, transmission, and remote monitoring during ambulance transit.</a:t>
            </a:r>
          </a:p>
          <a:p>
            <a:pPr marL="457200" indent="-457200">
              <a:buAutoNum type="arabicPeriod"/>
            </a:pPr>
            <a:r>
              <a:rPr lang="en-US" sz="2000" dirty="0">
                <a:latin typeface="Times New Roman" panose="02020603050405020304" pitchFamily="18" charset="0"/>
                <a:cs typeface="Times New Roman" panose="02020603050405020304" pitchFamily="18" charset="0"/>
              </a:rPr>
              <a:t>To implement RTOS-based concurrent task management for sensor acquisition, vital processing, communication, and local display, ensuring responsive and reliable operation.</a:t>
            </a:r>
          </a:p>
          <a:p>
            <a:pPr marL="457200" indent="-457200">
              <a:buAutoNum type="arabicPeriod"/>
            </a:pPr>
            <a:r>
              <a:rPr lang="en-US" sz="2000" dirty="0">
                <a:latin typeface="Times New Roman" panose="02020603050405020304" pitchFamily="18" charset="0"/>
                <a:cs typeface="Times New Roman" panose="02020603050405020304" pitchFamily="18" charset="0"/>
              </a:rPr>
              <a:t>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FF5D2C32-B14B-4ED2-ABEE-24008D861733}"/>
              </a:ext>
            </a:extLst>
          </p:cNvPr>
          <p:cNvCxnSpPr>
            <a:stCxn id="5" idx="2"/>
            <a:endCxn id="6" idx="0"/>
          </p:cNvCxnSpPr>
          <p:nvPr/>
        </p:nvCxnSpPr>
        <p:spPr>
          <a:xfrm>
            <a:off x="6096000" y="3853342"/>
            <a:ext cx="0" cy="285750"/>
          </a:xfrm>
          <a:prstGeom prst="straightConnector1">
            <a:avLst/>
          </a:prstGeom>
          <a:ln w="19050">
            <a:solidFill>
              <a:srgbClr val="002060"/>
            </a:solidFill>
            <a:headEnd type="arrow" w="med" len="med"/>
            <a:tailEnd type="arrow" w="med" len="med"/>
          </a:ln>
        </p:spPr>
      </p:cxnSp>
      <p:cxnSp>
        <p:nvCxnSpPr>
          <p:cNvPr id="8" name="Straight Arrow Connector 7">
            <a:extLst>
              <a:ext uri="{FF2B5EF4-FFF2-40B4-BE49-F238E27FC236}">
                <a16:creationId xmlns:a16="http://schemas.microsoft.com/office/drawing/2014/main" id="{595D51A7-2A1A-4F49-A8C3-6AFDACFDB6BE}"/>
              </a:ext>
            </a:extLst>
          </p:cNvPr>
          <p:cNvCxnSpPr>
            <a:cxnSpLocks/>
            <a:stCxn id="3" idx="2"/>
          </p:cNvCxnSpPr>
          <p:nvPr/>
        </p:nvCxnSpPr>
        <p:spPr>
          <a:xfrm>
            <a:off x="6096000" y="2819400"/>
            <a:ext cx="0" cy="285750"/>
          </a:xfrm>
          <a:prstGeom prst="straightConnector1">
            <a:avLst/>
          </a:prstGeom>
          <a:ln w="19050">
            <a:solidFill>
              <a:srgbClr val="002060"/>
            </a:solidFill>
            <a:headEnd type="arrow" w="med" len="med"/>
            <a:tailEnd type="arrow" w="med" len="med"/>
          </a:ln>
        </p:spPr>
      </p:cxnSp>
      <p:cxnSp>
        <p:nvCxnSpPr>
          <p:cNvPr id="7" name="Straight Arrow Connector 6">
            <a:extLst>
              <a:ext uri="{FF2B5EF4-FFF2-40B4-BE49-F238E27FC236}">
                <a16:creationId xmlns:a16="http://schemas.microsoft.com/office/drawing/2014/main" id="{DD148F23-96A2-428C-ADF1-E39746709211}"/>
              </a:ext>
            </a:extLst>
          </p:cNvPr>
          <p:cNvCxnSpPr>
            <a:stCxn id="2" idx="2"/>
            <a:endCxn id="3" idx="0"/>
          </p:cNvCxnSpPr>
          <p:nvPr/>
        </p:nvCxnSpPr>
        <p:spPr>
          <a:xfrm>
            <a:off x="6096000" y="1790700"/>
            <a:ext cx="0" cy="285750"/>
          </a:xfrm>
          <a:prstGeom prst="straightConnector1">
            <a:avLst/>
          </a:prstGeom>
          <a:ln w="19050">
            <a:solidFill>
              <a:srgbClr val="002060"/>
            </a:solidFill>
            <a:headEnd type="arrow" w="med" len="med"/>
            <a:tailEnd type="arrow" w="med" len="med"/>
          </a:ln>
        </p:spPr>
      </p:cxnSp>
      <p:sp>
        <p:nvSpPr>
          <p:cNvPr id="13" name="BLE Stack Architecture on ESP32">
            <a:extLst>
              <a:ext uri="{FF2B5EF4-FFF2-40B4-BE49-F238E27FC236}">
                <a16:creationId xmlns:a16="http://schemas.microsoft.com/office/drawing/2014/main" id="{4550D5D2-43D7-4807-A1B2-F1ED779FCA87}"/>
              </a:ext>
            </a:extLst>
          </p:cNvPr>
          <p:cNvSpPr>
            <a:spLocks noGrp="1"/>
          </p:cNvSpPr>
          <p:nvPr/>
        </p:nvSpPr>
        <p:spPr>
          <a:xfrm>
            <a:off x="0" y="0"/>
            <a:ext cx="12192000" cy="762000"/>
          </a:xfrm>
          <a:prstGeom prst="rect">
            <a:avLst/>
          </a:prstGeom>
          <a:solidFill>
            <a:srgbClr val="002060"/>
          </a:solidFill>
          <a:ln w="15240">
            <a:solidFill>
              <a:srgbClr val="002060"/>
            </a:solidFill>
          </a:ln>
        </p:spPr>
        <p:txBody>
          <a:bodyPr lIns="57150" tIns="57150" rIns="57150" bIns="57150" anchor="ctr"/>
          <a:lstStyle>
            <a:defPPr algn="ctr">
              <a:defRPr sz="3900" b="1">
                <a:solidFill>
                  <a:srgbClr val="FFFFFF"/>
                </a:solidFill>
                <a:latin typeface="Times New Roman"/>
                <a:ea typeface="Times New Roman"/>
                <a:cs typeface="Times New Roman"/>
              </a:defRPr>
            </a:defPPr>
            <a:lvl1pPr algn="ctr">
              <a:defRPr sz="3900" b="1">
                <a:solidFill>
                  <a:srgbClr val="FFFFFF"/>
                </a:solidFill>
                <a:latin typeface="Times New Roman"/>
                <a:ea typeface="Times New Roman"/>
                <a:cs typeface="Times New Roman"/>
              </a:defRPr>
            </a:lvl1pPr>
            <a:lvl2pPr algn="ctr">
              <a:defRPr sz="3900" b="1">
                <a:solidFill>
                  <a:srgbClr val="FFFFFF"/>
                </a:solidFill>
                <a:latin typeface="Times New Roman"/>
                <a:ea typeface="Times New Roman"/>
                <a:cs typeface="Times New Roman"/>
              </a:defRPr>
            </a:lvl2pPr>
            <a:lvl3pPr algn="ctr">
              <a:defRPr sz="3900" b="1">
                <a:solidFill>
                  <a:srgbClr val="FFFFFF"/>
                </a:solidFill>
                <a:latin typeface="Times New Roman"/>
                <a:ea typeface="Times New Roman"/>
                <a:cs typeface="Times New Roman"/>
              </a:defRPr>
            </a:lvl3pPr>
            <a:lvl4pPr algn="ctr">
              <a:defRPr sz="3900" b="1">
                <a:solidFill>
                  <a:srgbClr val="FFFFFF"/>
                </a:solidFill>
                <a:latin typeface="Times New Roman"/>
                <a:ea typeface="Times New Roman"/>
                <a:cs typeface="Times New Roman"/>
              </a:defRPr>
            </a:lvl4pPr>
            <a:lvl5pPr algn="ctr">
              <a:defRPr sz="3900" b="1">
                <a:solidFill>
                  <a:srgbClr val="FFFFFF"/>
                </a:solidFill>
                <a:latin typeface="Times New Roman"/>
                <a:ea typeface="Times New Roman"/>
                <a:cs typeface="Times New Roman"/>
              </a:defRPr>
            </a:lvl5pPr>
            <a:lvl6pPr algn="ctr">
              <a:defRPr sz="3900" b="1">
                <a:solidFill>
                  <a:srgbClr val="FFFFFF"/>
                </a:solidFill>
                <a:latin typeface="Times New Roman"/>
                <a:ea typeface="Times New Roman"/>
                <a:cs typeface="Times New Roman"/>
              </a:defRPr>
            </a:lvl6pPr>
            <a:lvl7pPr algn="ctr">
              <a:defRPr sz="3900" b="1">
                <a:solidFill>
                  <a:srgbClr val="FFFFFF"/>
                </a:solidFill>
                <a:latin typeface="Times New Roman"/>
                <a:ea typeface="Times New Roman"/>
                <a:cs typeface="Times New Roman"/>
              </a:defRPr>
            </a:lvl7pPr>
            <a:lvl8pPr algn="ctr">
              <a:defRPr sz="3900" b="1">
                <a:solidFill>
                  <a:srgbClr val="FFFFFF"/>
                </a:solidFill>
                <a:latin typeface="Times New Roman"/>
                <a:ea typeface="Times New Roman"/>
                <a:cs typeface="Times New Roman"/>
              </a:defRPr>
            </a:lvl8pPr>
            <a:lvl9pPr algn="ctr">
              <a:defRPr sz="3900" b="1">
                <a:solidFill>
                  <a:srgbClr val="FFFFFF"/>
                </a:solidFill>
                <a:latin typeface="Times New Roman"/>
                <a:ea typeface="Times New Roman"/>
                <a:cs typeface="Times New Roman"/>
              </a:defRPr>
            </a:lvl9pPr>
          </a:lstStyle>
          <a:p>
            <a:pPr algn="ctr">
              <a:defRPr sz="3900" b="1">
                <a:solidFill>
                  <a:srgbClr val="FFFFFF"/>
                </a:solidFill>
                <a:latin typeface="Times New Roman"/>
                <a:ea typeface="Times New Roman"/>
                <a:cs typeface="Times New Roman"/>
              </a:defRPr>
            </a:pPr>
            <a:r>
              <a:rPr sz="3900" b="1">
                <a:solidFill>
                  <a:srgbClr val="FFFFFF"/>
                </a:solidFill>
                <a:latin typeface="Times New Roman"/>
                <a:ea typeface="Times New Roman"/>
                <a:cs typeface="Times New Roman"/>
              </a:rPr>
              <a:t>BLE Stack Architecture on ESP32</a:t>
            </a:r>
          </a:p>
        </p:txBody>
      </p:sp>
      <p:sp>
        <p:nvSpPr>
          <p:cNvPr id="2" name="Application layer&#10;Vital data generation and stre">
            <a:extLst>
              <a:ext uri="{FF2B5EF4-FFF2-40B4-BE49-F238E27FC236}">
                <a16:creationId xmlns:a16="http://schemas.microsoft.com/office/drawing/2014/main" id="{A7B9365C-7206-452F-A833-073B757D144E}"/>
              </a:ext>
            </a:extLst>
          </p:cNvPr>
          <p:cNvSpPr>
            <a:spLocks noGrp="1"/>
          </p:cNvSpPr>
          <p:nvPr/>
        </p:nvSpPr>
        <p:spPr>
          <a:xfrm>
            <a:off x="1809750" y="1047750"/>
            <a:ext cx="8572500" cy="742950"/>
          </a:xfrm>
          <a:prstGeom prst="rect">
            <a:avLst/>
          </a:prstGeom>
          <a:solidFill>
            <a:srgbClr val="EDF3F9"/>
          </a:solidFill>
          <a:ln w="15240">
            <a:solidFill>
              <a:srgbClr val="002060"/>
            </a:solidFill>
          </a:ln>
        </p:spPr>
        <p:txBody>
          <a:bodyPr lIns="57150" tIns="57150" rIns="57150" bIns="5715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Application layer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data generation and stream control</a:t>
            </a:r>
          </a:p>
        </p:txBody>
      </p:sp>
      <p:sp>
        <p:nvSpPr>
          <p:cNvPr id="3" name="BLE host: NimBLE&#10;GAP, GATT, ATT, SMP and L2CAP">
            <a:extLst>
              <a:ext uri="{FF2B5EF4-FFF2-40B4-BE49-F238E27FC236}">
                <a16:creationId xmlns:a16="http://schemas.microsoft.com/office/drawing/2014/main" id="{1590856F-E9AD-42BD-851E-3B1B2416733B}"/>
              </a:ext>
            </a:extLst>
          </p:cNvPr>
          <p:cNvSpPr>
            <a:spLocks noGrp="1"/>
          </p:cNvSpPr>
          <p:nvPr/>
        </p:nvSpPr>
        <p:spPr>
          <a:xfrm>
            <a:off x="1809750" y="2076450"/>
            <a:ext cx="8572500" cy="742950"/>
          </a:xfrm>
          <a:prstGeom prst="rect">
            <a:avLst/>
          </a:prstGeom>
          <a:solidFill>
            <a:srgbClr val="EDF3F9"/>
          </a:solidFill>
          <a:ln w="15240">
            <a:solidFill>
              <a:srgbClr val="002060"/>
            </a:solidFill>
          </a:ln>
        </p:spPr>
        <p:txBody>
          <a:bodyPr lIns="57150" tIns="57150" rIns="57150" bIns="5715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BLE host: </a:t>
            </a:r>
            <a:r>
              <a:rPr sz="2175" b="1" dirty="0" err="1">
                <a:solidFill>
                  <a:srgbClr val="002060"/>
                </a:solidFill>
                <a:latin typeface="Times New Roman"/>
                <a:ea typeface="Times New Roman"/>
                <a:cs typeface="Times New Roman"/>
              </a:rPr>
              <a:t>NimBLE</a:t>
            </a:r>
            <a:endParaRPr sz="2175" b="1" dirty="0">
              <a:solidFill>
                <a:srgbClr val="002060"/>
              </a:solidFill>
              <a:latin typeface="Times New Roman"/>
              <a:ea typeface="Times New Roman"/>
              <a:cs typeface="Times New Roman"/>
            </a:endParaRPr>
          </a:p>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GAP, GATT, ATT</a:t>
            </a:r>
          </a:p>
        </p:txBody>
      </p:sp>
      <p:sp>
        <p:nvSpPr>
          <p:cNvPr id="5" name="Bluetooth controller: Link Layer&#10;Packet scheduli">
            <a:extLst>
              <a:ext uri="{FF2B5EF4-FFF2-40B4-BE49-F238E27FC236}">
                <a16:creationId xmlns:a16="http://schemas.microsoft.com/office/drawing/2014/main" id="{3074CFCC-5E32-4636-8671-3564F4A903E8}"/>
              </a:ext>
            </a:extLst>
          </p:cNvPr>
          <p:cNvSpPr>
            <a:spLocks noGrp="1"/>
          </p:cNvSpPr>
          <p:nvPr/>
        </p:nvSpPr>
        <p:spPr>
          <a:xfrm>
            <a:off x="1809750" y="3110392"/>
            <a:ext cx="8572500" cy="742950"/>
          </a:xfrm>
          <a:prstGeom prst="rect">
            <a:avLst/>
          </a:prstGeom>
          <a:solidFill>
            <a:srgbClr val="EDF3F9"/>
          </a:solidFill>
          <a:ln w="15240">
            <a:solidFill>
              <a:srgbClr val="002060"/>
            </a:solidFill>
          </a:ln>
        </p:spPr>
        <p:txBody>
          <a:bodyPr lIns="57150" tIns="57150" rIns="57150" bIns="5715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Bluetooth controller: Link Layer</a:t>
            </a:r>
          </a:p>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Packet scheduling, connections and link encryption</a:t>
            </a:r>
          </a:p>
        </p:txBody>
      </p:sp>
      <p:sp>
        <p:nvSpPr>
          <p:cNvPr id="6" name="ESP32-C6 hardware: PHY and radio&#10;2.4 GHz wireles">
            <a:extLst>
              <a:ext uri="{FF2B5EF4-FFF2-40B4-BE49-F238E27FC236}">
                <a16:creationId xmlns:a16="http://schemas.microsoft.com/office/drawing/2014/main" id="{01CE8DC4-C181-4E27-981C-4AD79D6FE16F}"/>
              </a:ext>
            </a:extLst>
          </p:cNvPr>
          <p:cNvSpPr>
            <a:spLocks noGrp="1"/>
          </p:cNvSpPr>
          <p:nvPr/>
        </p:nvSpPr>
        <p:spPr>
          <a:xfrm>
            <a:off x="1809750" y="4139092"/>
            <a:ext cx="8572500" cy="742950"/>
          </a:xfrm>
          <a:prstGeom prst="rect">
            <a:avLst/>
          </a:prstGeom>
          <a:solidFill>
            <a:srgbClr val="DCE8F4"/>
          </a:solidFill>
          <a:ln w="15240">
            <a:solidFill>
              <a:srgbClr val="002060"/>
            </a:solidFill>
          </a:ln>
        </p:spPr>
        <p:txBody>
          <a:bodyPr lIns="57150" tIns="57150" rIns="57150" bIns="5715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ESP32-C6 hardware: PHY and radio</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2.4 GHz wireless transmission and reception</a:t>
            </a:r>
          </a:p>
        </p:txBody>
      </p:sp>
      <p:sp>
        <p:nvSpPr>
          <p:cNvPr id="11" name="Application and host run under FreeRTOS on the E">
            <a:extLst>
              <a:ext uri="{FF2B5EF4-FFF2-40B4-BE49-F238E27FC236}">
                <a16:creationId xmlns:a16="http://schemas.microsoft.com/office/drawing/2014/main" id="{54468EC6-EEBB-4A43-949D-E8303C9A1959}"/>
              </a:ext>
            </a:extLst>
          </p:cNvPr>
          <p:cNvSpPr>
            <a:spLocks noGrp="1"/>
          </p:cNvSpPr>
          <p:nvPr/>
        </p:nvSpPr>
        <p:spPr>
          <a:xfrm>
            <a:off x="666750" y="5122177"/>
            <a:ext cx="10858500" cy="333375"/>
          </a:xfrm>
          <a:prstGeom prst="rect">
            <a:avLst/>
          </a:prstGeom>
          <a:noFill/>
          <a:ln w="0">
            <a:noFill/>
          </a:ln>
        </p:spPr>
        <p:txBody>
          <a:bodyPr lIns="57150" tIns="57150" rIns="57150" bIns="57150" anchor="ctr"/>
          <a:lstStyle>
            <a:defPPr algn="ctr">
              <a:defRPr sz="1875" b="1">
                <a:solidFill>
                  <a:srgbClr val="0070C0"/>
                </a:solidFill>
                <a:latin typeface="Times New Roman"/>
                <a:ea typeface="Times New Roman"/>
                <a:cs typeface="Times New Roman"/>
              </a:defRPr>
            </a:defPPr>
            <a:lvl1pPr algn="ctr">
              <a:defRPr sz="1875" b="1">
                <a:solidFill>
                  <a:srgbClr val="0070C0"/>
                </a:solidFill>
                <a:latin typeface="Times New Roman"/>
                <a:ea typeface="Times New Roman"/>
                <a:cs typeface="Times New Roman"/>
              </a:defRPr>
            </a:lvl1pPr>
            <a:lvl2pPr algn="ctr">
              <a:defRPr sz="1875" b="1">
                <a:solidFill>
                  <a:srgbClr val="0070C0"/>
                </a:solidFill>
                <a:latin typeface="Times New Roman"/>
                <a:ea typeface="Times New Roman"/>
                <a:cs typeface="Times New Roman"/>
              </a:defRPr>
            </a:lvl2pPr>
            <a:lvl3pPr algn="ctr">
              <a:defRPr sz="1875" b="1">
                <a:solidFill>
                  <a:srgbClr val="0070C0"/>
                </a:solidFill>
                <a:latin typeface="Times New Roman"/>
                <a:ea typeface="Times New Roman"/>
                <a:cs typeface="Times New Roman"/>
              </a:defRPr>
            </a:lvl3pPr>
            <a:lvl4pPr algn="ctr">
              <a:defRPr sz="1875" b="1">
                <a:solidFill>
                  <a:srgbClr val="0070C0"/>
                </a:solidFill>
                <a:latin typeface="Times New Roman"/>
                <a:ea typeface="Times New Roman"/>
                <a:cs typeface="Times New Roman"/>
              </a:defRPr>
            </a:lvl4pPr>
            <a:lvl5pPr algn="ctr">
              <a:defRPr sz="1875" b="1">
                <a:solidFill>
                  <a:srgbClr val="0070C0"/>
                </a:solidFill>
                <a:latin typeface="Times New Roman"/>
                <a:ea typeface="Times New Roman"/>
                <a:cs typeface="Times New Roman"/>
              </a:defRPr>
            </a:lvl5pPr>
            <a:lvl6pPr algn="ctr">
              <a:defRPr sz="1875" b="1">
                <a:solidFill>
                  <a:srgbClr val="0070C0"/>
                </a:solidFill>
                <a:latin typeface="Times New Roman"/>
                <a:ea typeface="Times New Roman"/>
                <a:cs typeface="Times New Roman"/>
              </a:defRPr>
            </a:lvl6pPr>
            <a:lvl7pPr algn="ctr">
              <a:defRPr sz="1875" b="1">
                <a:solidFill>
                  <a:srgbClr val="0070C0"/>
                </a:solidFill>
                <a:latin typeface="Times New Roman"/>
                <a:ea typeface="Times New Roman"/>
                <a:cs typeface="Times New Roman"/>
              </a:defRPr>
            </a:lvl7pPr>
            <a:lvl8pPr algn="ctr">
              <a:defRPr sz="1875" b="1">
                <a:solidFill>
                  <a:srgbClr val="0070C0"/>
                </a:solidFill>
                <a:latin typeface="Times New Roman"/>
                <a:ea typeface="Times New Roman"/>
                <a:cs typeface="Times New Roman"/>
              </a:defRPr>
            </a:lvl8pPr>
            <a:lvl9pPr algn="ctr">
              <a:defRPr sz="1875" b="1">
                <a:solidFill>
                  <a:srgbClr val="0070C0"/>
                </a:solidFill>
                <a:latin typeface="Times New Roman"/>
                <a:ea typeface="Times New Roman"/>
                <a:cs typeface="Times New Roman"/>
              </a:defRPr>
            </a:lvl9pPr>
          </a:lstStyle>
          <a:p>
            <a:pPr algn="ctr">
              <a:defRPr sz="1875" b="1">
                <a:solidFill>
                  <a:srgbClr val="0070C0"/>
                </a:solidFill>
                <a:latin typeface="Times New Roman"/>
                <a:ea typeface="Times New Roman"/>
                <a:cs typeface="Times New Roman"/>
              </a:defRPr>
            </a:pPr>
            <a:r>
              <a:rPr sz="1875" b="1" dirty="0">
                <a:solidFill>
                  <a:schemeClr val="tx1"/>
                </a:solidFill>
                <a:latin typeface="Times New Roman"/>
                <a:ea typeface="Times New Roman"/>
                <a:cs typeface="Times New Roman"/>
              </a:rPr>
              <a:t>Application and host run under </a:t>
            </a:r>
            <a:r>
              <a:rPr sz="1875" b="1" dirty="0" err="1">
                <a:solidFill>
                  <a:schemeClr val="tx1"/>
                </a:solidFill>
                <a:latin typeface="Times New Roman"/>
                <a:ea typeface="Times New Roman"/>
                <a:cs typeface="Times New Roman"/>
              </a:rPr>
              <a:t>FreeRTOS</a:t>
            </a:r>
            <a:r>
              <a:rPr sz="1875" b="1" dirty="0">
                <a:solidFill>
                  <a:schemeClr val="tx1"/>
                </a:solidFill>
                <a:latin typeface="Times New Roman"/>
                <a:ea typeface="Times New Roman"/>
                <a:cs typeface="Times New Roman"/>
              </a:rPr>
              <a:t> on the ESP32-C6</a:t>
            </a:r>
          </a:p>
        </p:txBody>
      </p:sp>
      <p:sp>
        <p:nvSpPr>
          <p:cNvPr id="12" name="Dept. of Electronics and Communication Engineeri">
            <a:extLst>
              <a:ext uri="{FF2B5EF4-FFF2-40B4-BE49-F238E27FC236}">
                <a16:creationId xmlns:a16="http://schemas.microsoft.com/office/drawing/2014/main" id="{C70F6609-6C1D-4F96-9ED5-EDF1C843FE10}"/>
              </a:ext>
            </a:extLst>
          </p:cNvPr>
          <p:cNvSpPr>
            <a:spLocks noGrp="1"/>
          </p:cNvSpPr>
          <p:nvPr/>
        </p:nvSpPr>
        <p:spPr>
          <a:xfrm>
            <a:off x="0" y="6492907"/>
            <a:ext cx="12192000" cy="365093"/>
          </a:xfrm>
          <a:prstGeom prst="rect">
            <a:avLst/>
          </a:prstGeom>
          <a:solidFill>
            <a:srgbClr val="002060"/>
          </a:solidFill>
          <a:ln w="15240">
            <a:solidFill>
              <a:srgbClr val="002060"/>
            </a:solidFill>
          </a:ln>
        </p:spPr>
        <p:txBody>
          <a:bodyPr lIns="57150" tIns="57150" rIns="57150" bIns="57150" anchor="ctr"/>
          <a:lstStyle>
            <a:defPPr algn="ctr">
              <a:defRPr sz="1200" b="1">
                <a:solidFill>
                  <a:srgbClr val="FFFFFF"/>
                </a:solidFill>
                <a:latin typeface="Times New Roman"/>
                <a:ea typeface="Times New Roman"/>
                <a:cs typeface="Times New Roman"/>
              </a:defRPr>
            </a:defPPr>
            <a:lvl1pPr algn="ctr">
              <a:defRPr sz="1200" b="1">
                <a:solidFill>
                  <a:srgbClr val="FFFFFF"/>
                </a:solidFill>
                <a:latin typeface="Times New Roman"/>
                <a:ea typeface="Times New Roman"/>
                <a:cs typeface="Times New Roman"/>
              </a:defRPr>
            </a:lvl1pPr>
            <a:lvl2pPr algn="ctr">
              <a:defRPr sz="1200" b="1">
                <a:solidFill>
                  <a:srgbClr val="FFFFFF"/>
                </a:solidFill>
                <a:latin typeface="Times New Roman"/>
                <a:ea typeface="Times New Roman"/>
                <a:cs typeface="Times New Roman"/>
              </a:defRPr>
            </a:lvl2pPr>
            <a:lvl3pPr algn="ctr">
              <a:defRPr sz="1200" b="1">
                <a:solidFill>
                  <a:srgbClr val="FFFFFF"/>
                </a:solidFill>
                <a:latin typeface="Times New Roman"/>
                <a:ea typeface="Times New Roman"/>
                <a:cs typeface="Times New Roman"/>
              </a:defRPr>
            </a:lvl3pPr>
            <a:lvl4pPr algn="ctr">
              <a:defRPr sz="1200" b="1">
                <a:solidFill>
                  <a:srgbClr val="FFFFFF"/>
                </a:solidFill>
                <a:latin typeface="Times New Roman"/>
                <a:ea typeface="Times New Roman"/>
                <a:cs typeface="Times New Roman"/>
              </a:defRPr>
            </a:lvl4pPr>
            <a:lvl5pPr algn="ctr">
              <a:defRPr sz="1200" b="1">
                <a:solidFill>
                  <a:srgbClr val="FFFFFF"/>
                </a:solidFill>
                <a:latin typeface="Times New Roman"/>
                <a:ea typeface="Times New Roman"/>
                <a:cs typeface="Times New Roman"/>
              </a:defRPr>
            </a:lvl5pPr>
            <a:lvl6pPr algn="ctr">
              <a:defRPr sz="1200" b="1">
                <a:solidFill>
                  <a:srgbClr val="FFFFFF"/>
                </a:solidFill>
                <a:latin typeface="Times New Roman"/>
                <a:ea typeface="Times New Roman"/>
                <a:cs typeface="Times New Roman"/>
              </a:defRPr>
            </a:lvl6pPr>
            <a:lvl7pPr algn="ctr">
              <a:defRPr sz="1200" b="1">
                <a:solidFill>
                  <a:srgbClr val="FFFFFF"/>
                </a:solidFill>
                <a:latin typeface="Times New Roman"/>
                <a:ea typeface="Times New Roman"/>
                <a:cs typeface="Times New Roman"/>
              </a:defRPr>
            </a:lvl7pPr>
            <a:lvl8pPr algn="ctr">
              <a:defRPr sz="1200" b="1">
                <a:solidFill>
                  <a:srgbClr val="FFFFFF"/>
                </a:solidFill>
                <a:latin typeface="Times New Roman"/>
                <a:ea typeface="Times New Roman"/>
                <a:cs typeface="Times New Roman"/>
              </a:defRPr>
            </a:lvl8pPr>
            <a:lvl9pPr algn="ctr">
              <a:defRPr sz="1200" b="1">
                <a:solidFill>
                  <a:srgbClr val="FFFFFF"/>
                </a:solidFill>
                <a:latin typeface="Times New Roman"/>
                <a:ea typeface="Times New Roman"/>
                <a:cs typeface="Times New Roman"/>
              </a:defRPr>
            </a:lvl9pPr>
          </a:lstStyle>
          <a:p>
            <a:pPr algn="ct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p>
        </p:txBody>
      </p:sp>
      <p:sp>
        <p:nvSpPr>
          <p:cNvPr id="14" name="TextBox 13">
            <a:extLst>
              <a:ext uri="{FF2B5EF4-FFF2-40B4-BE49-F238E27FC236}">
                <a16:creationId xmlns:a16="http://schemas.microsoft.com/office/drawing/2014/main" id="{EABF5631-B7B8-A7E2-BB63-EEC4B6627659}"/>
              </a:ext>
            </a:extLst>
          </p:cNvPr>
          <p:cNvSpPr txBox="1"/>
          <p:nvPr/>
        </p:nvSpPr>
        <p:spPr>
          <a:xfrm>
            <a:off x="11430000" y="6496050"/>
            <a:ext cx="571500" cy="276999"/>
          </a:xfrm>
          <a:prstGeom prst="rect">
            <a:avLst/>
          </a:prstGeom>
          <a:noFill/>
        </p:spPr>
        <p:txBody>
          <a:bodyPr vert="horz" rtlCol="0">
            <a:spAutoFit/>
          </a:bodyPr>
          <a:lstStyle/>
          <a:p>
            <a:pPr algn="r"/>
            <a:r>
              <a:rPr lang="en-IN" sz="1200">
                <a:solidFill>
                  <a:srgbClr val="FFFFFF"/>
                </a:solidFill>
                <a:latin typeface="Times New Roman" panose="02020603050405020304" pitchFamily="18" charset="0"/>
              </a:rPr>
              <a:t>4</a:t>
            </a:r>
          </a:p>
        </p:txBody>
      </p:sp>
    </p:spTree>
    <p:extLst>
      <p:ext uri="{BB962C8B-B14F-4D97-AF65-F5344CB8AC3E}">
        <p14:creationId xmlns:p14="http://schemas.microsoft.com/office/powerpoint/2010/main" val="3150734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543147E5-7AE6-4C6D-98A7-186F80DD2148}"/>
              </a:ext>
            </a:extLst>
          </p:cNvPr>
          <p:cNvCxnSpPr>
            <a:stCxn id="9" idx="1"/>
            <a:endCxn id="10" idx="3"/>
          </p:cNvCxnSpPr>
          <p:nvPr/>
        </p:nvCxnSpPr>
        <p:spPr>
          <a:xfrm flipH="1">
            <a:off x="3714750" y="4310063"/>
            <a:ext cx="857250"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10E4F8F-4B8D-4A3B-9DF5-1E376261B473}"/>
              </a:ext>
            </a:extLst>
          </p:cNvPr>
          <p:cNvCxnSpPr>
            <a:stCxn id="8" idx="1"/>
            <a:endCxn id="9" idx="3"/>
          </p:cNvCxnSpPr>
          <p:nvPr/>
        </p:nvCxnSpPr>
        <p:spPr>
          <a:xfrm flipH="1">
            <a:off x="7620000" y="4310063"/>
            <a:ext cx="857250"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B73E4117-5B76-4E5A-8BB5-34C221B82F7E}"/>
              </a:ext>
            </a:extLst>
          </p:cNvPr>
          <p:cNvCxnSpPr>
            <a:stCxn id="7" idx="2"/>
            <a:endCxn id="8" idx="0"/>
          </p:cNvCxnSpPr>
          <p:nvPr/>
        </p:nvCxnSpPr>
        <p:spPr>
          <a:xfrm>
            <a:off x="10001250" y="2476500"/>
            <a:ext cx="0" cy="1285875"/>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09070000-C21C-4BC7-BF91-30BCC364F0F6}"/>
              </a:ext>
            </a:extLst>
          </p:cNvPr>
          <p:cNvCxnSpPr>
            <a:stCxn id="6" idx="3"/>
            <a:endCxn id="7" idx="1"/>
          </p:cNvCxnSpPr>
          <p:nvPr/>
        </p:nvCxnSpPr>
        <p:spPr>
          <a:xfrm>
            <a:off x="7620000" y="1928813"/>
            <a:ext cx="857250" cy="0"/>
          </a:xfrm>
          <a:prstGeom prst="straightConnector1">
            <a:avLst/>
          </a:prstGeom>
          <a:ln w="19050">
            <a:solidFill>
              <a:srgbClr val="002060"/>
            </a:solidFill>
            <a:tailEnd type="arrow" w="med" len="med"/>
          </a:ln>
        </p:spPr>
      </p:cxnSp>
      <p:cxnSp>
        <p:nvCxnSpPr>
          <p:cNvPr id="11" name="Straight Arrow Connector 10">
            <a:extLst>
              <a:ext uri="{FF2B5EF4-FFF2-40B4-BE49-F238E27FC236}">
                <a16:creationId xmlns:a16="http://schemas.microsoft.com/office/drawing/2014/main" id="{004B0B8E-68C5-4015-ABFD-87E112F549F5}"/>
              </a:ext>
            </a:extLst>
          </p:cNvPr>
          <p:cNvCxnSpPr>
            <a:stCxn id="5" idx="3"/>
            <a:endCxn id="6" idx="1"/>
          </p:cNvCxnSpPr>
          <p:nvPr/>
        </p:nvCxnSpPr>
        <p:spPr>
          <a:xfrm>
            <a:off x="3714750" y="1928813"/>
            <a:ext cx="857250" cy="0"/>
          </a:xfrm>
          <a:prstGeom prst="straightConnector1">
            <a:avLst/>
          </a:prstGeom>
          <a:ln w="19050">
            <a:solidFill>
              <a:srgbClr val="002060"/>
            </a:solidFill>
            <a:tailEnd type="arrow" w="med" len="med"/>
          </a:ln>
        </p:spPr>
      </p:cxnSp>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a:ext uri="{FF2B5EF4-FFF2-40B4-BE49-F238E27FC236}">
                <a16:creationId xmlns:a16="http://schemas.microsoft.com/office/drawing/2014/main" id="{3EC534E1-DB52-4D82-BC53-5163A72AFED6}"/>
              </a:ext>
            </a:extLst>
          </p:cNvPr>
          <p:cNvSpPr>
            <a:spLocks noGrp="1"/>
          </p:cNvSpPr>
          <p:nvPr/>
        </p:nvSpPr>
        <p:spPr>
          <a:xfrm>
            <a:off x="6667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a:ext uri="{FF2B5EF4-FFF2-40B4-BE49-F238E27FC236}">
                <a16:creationId xmlns:a16="http://schemas.microsoft.com/office/drawing/2014/main" id="{70D61D34-2748-45DF-9DE5-B2FE4FE041BA}"/>
              </a:ext>
            </a:extLst>
          </p:cNvPr>
          <p:cNvSpPr>
            <a:spLocks noGrp="1"/>
          </p:cNvSpPr>
          <p:nvPr/>
        </p:nvSpPr>
        <p:spPr>
          <a:xfrm>
            <a:off x="457200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a:ext uri="{FF2B5EF4-FFF2-40B4-BE49-F238E27FC236}">
                <a16:creationId xmlns:a16="http://schemas.microsoft.com/office/drawing/2014/main" id="{752EE862-24C5-4C2C-BFD8-42C07AA96859}"/>
              </a:ext>
            </a:extLst>
          </p:cNvPr>
          <p:cNvSpPr>
            <a:spLocks noGrp="1"/>
          </p:cNvSpPr>
          <p:nvPr/>
        </p:nvSpPr>
        <p:spPr>
          <a:xfrm>
            <a:off x="84772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a:ext uri="{FF2B5EF4-FFF2-40B4-BE49-F238E27FC236}">
                <a16:creationId xmlns:a16="http://schemas.microsoft.com/office/drawing/2014/main" id="{A90DB280-86FD-4D1C-861B-90313F97032F}"/>
              </a:ext>
            </a:extLst>
          </p:cNvPr>
          <p:cNvSpPr>
            <a:spLocks noGrp="1"/>
          </p:cNvSpPr>
          <p:nvPr/>
        </p:nvSpPr>
        <p:spPr>
          <a:xfrm>
            <a:off x="84772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a:ext uri="{FF2B5EF4-FFF2-40B4-BE49-F238E27FC236}">
                <a16:creationId xmlns:a16="http://schemas.microsoft.com/office/drawing/2014/main" id="{772BE867-2CA6-458C-8A20-78D23F5D1951}"/>
              </a:ext>
            </a:extLst>
          </p:cNvPr>
          <p:cNvSpPr>
            <a:spLocks noGrp="1"/>
          </p:cNvSpPr>
          <p:nvPr/>
        </p:nvSpPr>
        <p:spPr>
          <a:xfrm>
            <a:off x="457200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Receive simulated</a:t>
            </a:r>
          </a:p>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vital observations</a:t>
            </a:r>
          </a:p>
        </p:txBody>
      </p:sp>
      <p:sp>
        <p:nvSpPr>
          <p:cNvPr id="10" name="Decode and display&#10;HR, SpO2, temperature">
            <a:extLst>
              <a:ext uri="{FF2B5EF4-FFF2-40B4-BE49-F238E27FC236}">
                <a16:creationId xmlns:a16="http://schemas.microsoft.com/office/drawing/2014/main" id="{9F2374F1-590F-4E20-A086-E040650A59C6}"/>
              </a:ext>
            </a:extLst>
          </p:cNvPr>
          <p:cNvSpPr>
            <a:spLocks noGrp="1"/>
          </p:cNvSpPr>
          <p:nvPr/>
        </p:nvSpPr>
        <p:spPr>
          <a:xfrm>
            <a:off x="6667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a:ext uri="{FF2B5EF4-FFF2-40B4-BE49-F238E27FC236}">
                <a16:creationId xmlns:a16="http://schemas.microsoft.com/office/drawing/2014/main" id="{A9FF0872-432F-4647-9E3B-26FF09BA661E}"/>
              </a:ext>
            </a:extLst>
          </p:cNvPr>
          <p:cNvSpPr>
            <a:spLocks noGrp="1"/>
          </p:cNvSpPr>
          <p:nvPr/>
        </p:nvSpPr>
        <p:spPr>
          <a:xfrm>
            <a:off x="664303" y="2762250"/>
            <a:ext cx="10477500" cy="571500"/>
          </a:xfrm>
          <a:prstGeom prst="rect">
            <a:avLst/>
          </a:prstGeom>
          <a:noFill/>
          <a:ln w="0">
            <a:noFill/>
          </a:ln>
        </p:spPr>
        <p:txBody>
          <a:bodyPr lIns="76200" tIns="76200" rIns="76200" bIns="76200" anchor="ctr"/>
          <a:lstStyle>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a:pPr algn="l">
              <a:defRPr sz="232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After subscription, the app enables start/stop control</a:t>
            </a:r>
          </a:p>
        </p:txBody>
      </p:sp>
      <p:sp>
        <p:nvSpPr>
          <p:cNvPr id="17" name="Stop: 0x02     Disconnect: ESP32 resumes adve">
            <a:extLst>
              <a:ext uri="{FF2B5EF4-FFF2-40B4-BE49-F238E27FC236}">
                <a16:creationId xmlns:a16="http://schemas.microsoft.com/office/drawing/2014/main" id="{A971D6EE-DC0D-4018-A4B4-5B5E8D6E1384}"/>
              </a:ext>
            </a:extLst>
          </p:cNvPr>
          <p:cNvSpPr>
            <a:spLocks noGrp="1"/>
          </p:cNvSpPr>
          <p:nvPr/>
        </p:nvSpPr>
        <p:spPr>
          <a:xfrm>
            <a:off x="666488" y="5077698"/>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Stop: 0x02     Disconnect: ESP32 resumes advertising     Reconnect: scan and select again</a:t>
            </a:r>
          </a:p>
        </p:txBody>
      </p:sp>
      <p:sp>
        <p:nvSpPr>
          <p:cNvPr id="18" name="5">
            <a:extLst>
              <a:ext uri="{FF2B5EF4-FFF2-40B4-BE49-F238E27FC236}">
                <a16:creationId xmlns:a16="http://schemas.microsoft.com/office/drawing/2014/main" id="{3BED381B-E896-48C8-87C3-BF1D1FD6DFD2}"/>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5</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54F42C30-595C-440C-ADDC-23277F929579}"/>
              </a:ext>
            </a:extLst>
          </p:cNvPr>
          <p:cNvGraphicFramePr/>
          <p:nvPr>
            <p:extLst>
              <p:ext uri="{D42A27DB-BD31-4B8C-83A1-F6EECF244321}">
                <p14:modId xmlns:p14="http://schemas.microsoft.com/office/powerpoint/2010/main" val="1415780120"/>
              </p:ext>
            </p:extLst>
          </p:nvPr>
        </p:nvGraphicFramePr>
        <p:xfrm>
          <a:off x="1349710" y="1112156"/>
          <a:ext cx="9492580" cy="4286250"/>
        </p:xfrm>
        <a:graphic>
          <a:graphicData uri="http://schemas.openxmlformats.org/drawingml/2006/table">
            <a:tbl>
              <a:tblPr/>
              <a:tblGrid>
                <a:gridCol w="4749086">
                  <a:extLst>
                    <a:ext uri="{9D8B030D-6E8A-4147-A177-3AD203B41FA5}">
                      <a16:colId xmlns:a16="http://schemas.microsoft.com/office/drawing/2014/main" val="20000"/>
                    </a:ext>
                  </a:extLst>
                </a:gridCol>
                <a:gridCol w="4743494">
                  <a:extLst>
                    <a:ext uri="{9D8B030D-6E8A-4147-A177-3AD203B41FA5}">
                      <a16:colId xmlns:a16="http://schemas.microsoft.com/office/drawing/2014/main" val="20002"/>
                    </a:ext>
                  </a:extLst>
                </a:gridCol>
              </a:tblGrid>
              <a:tr h="714375">
                <a:tc>
                  <a:txBody>
                    <a:bodyPr/>
                    <a:lstStyle/>
                    <a:p>
                      <a:pPr algn="ctr"/>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pPr algn="ctr"/>
                      <a:r>
                        <a:rPr sz="2175" b="1" dirty="0">
                          <a:solidFill>
                            <a:srgbClr val="FFFFFF"/>
                          </a:solidFill>
                          <a:latin typeface="Times New Roman"/>
                          <a:ea typeface="Times New Roman"/>
                          <a:cs typeface="Times New Roman"/>
                        </a:rPr>
                        <a:t>Target design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cap="flat" cmpd="sng" algn="ctr">
                      <a:solidFill>
                        <a:srgbClr val="CAD2D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714375">
                <a:tc>
                  <a:txBody>
                    <a:bodyPr/>
                    <a:lstStyle/>
                    <a:p>
                      <a:pPr algn="ctr"/>
                      <a:r>
                        <a:rPr sz="2175" b="0" dirty="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a:solidFill>
                            <a:srgbClr val="111111"/>
                          </a:solidFill>
                          <a:latin typeface="Times New Roman"/>
                          <a:ea typeface="Times New Roman"/>
                          <a:cs typeface="Times New Roman"/>
                        </a:rPr>
                        <a:t>Retain BLE gateway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1"/>
                  </a:ext>
                </a:extLst>
              </a:tr>
              <a:tr h="714375">
                <a:tc>
                  <a:txBody>
                    <a:bodyPr/>
                    <a:lstStyle/>
                    <a:p>
                      <a:pPr algn="ctr"/>
                      <a:r>
                        <a:rPr sz="2175" b="0" dirty="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a:solidFill>
                            <a:srgbClr val="111111"/>
                          </a:solidFill>
                          <a:latin typeface="Times New Roman"/>
                          <a:ea typeface="Times New Roman"/>
                          <a:cs typeface="Times New Roman"/>
                        </a:rPr>
                        <a:t>MQTT/TLS with CoAP fallback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4375">
                <a:tc>
                  <a:txBody>
                    <a:bodyPr/>
                    <a:lstStyle/>
                    <a:p>
                      <a:pPr algn="ctr"/>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Integrated physical sensors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3"/>
                  </a:ext>
                </a:extLst>
              </a:tr>
              <a:tr h="714375">
                <a:tc>
                  <a:txBody>
                    <a:bodyPr/>
                    <a:lstStyle/>
                    <a:p>
                      <a:pPr algn="ctr"/>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dirty="0">
                          <a:solidFill>
                            <a:srgbClr val="111111"/>
                          </a:solidFill>
                          <a:latin typeface="Times New Roman"/>
                          <a:ea typeface="Times New Roman"/>
                          <a:cs typeface="Times New Roman"/>
                        </a:rPr>
                        <a:t>ML risk classification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4375">
                <a:tc>
                  <a:txBody>
                    <a:bodyPr/>
                    <a:lstStyle/>
                    <a:p>
                      <a:pPr algn="ctr"/>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Phone GPS with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supports the local link. Cloud transports">
            <a:extLst>
              <a:ext uri="{FF2B5EF4-FFF2-40B4-BE49-F238E27FC236}">
                <a16:creationId xmlns:a16="http://schemas.microsoft.com/office/drawing/2014/main" id="{93050350-D90E-4BE7-8097-5D2C8DC53885}"/>
              </a:ext>
            </a:extLst>
          </p:cNvPr>
          <p:cNvSpPr>
            <a:spLocks noGrp="1"/>
          </p:cNvSpPr>
          <p:nvPr/>
        </p:nvSpPr>
        <p:spPr>
          <a:xfrm>
            <a:off x="523875" y="5572649"/>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supports the local link. Cloud transports require phone internet connectivity.</a:t>
            </a:r>
          </a:p>
        </p:txBody>
      </p:sp>
      <p:sp>
        <p:nvSpPr>
          <p:cNvPr id="7" name="6">
            <a:extLst>
              <a:ext uri="{FF2B5EF4-FFF2-40B4-BE49-F238E27FC236}">
                <a16:creationId xmlns:a16="http://schemas.microsoft.com/office/drawing/2014/main" id="{72F8E5FE-8578-4D96-B2E9-83E6A8A3903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6</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96AF17B3-C550-48EB-B276-006546E5C772}"/>
              </a:ext>
            </a:extLst>
          </p:cNvPr>
          <p:cNvGraphicFramePr/>
          <p:nvPr/>
        </p:nvGraphicFramePr>
        <p:xfrm>
          <a:off x="523875" y="1190625"/>
          <a:ext cx="11144250" cy="4572001"/>
        </p:xfrm>
        <a:graphic>
          <a:graphicData uri="http://schemas.openxmlformats.org/drawingml/2006/table">
            <a:tbl>
              <a:tblPr/>
              <a:tblGrid>
                <a:gridCol w="95250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7">
            <a:extLst>
              <a:ext uri="{FF2B5EF4-FFF2-40B4-BE49-F238E27FC236}">
                <a16:creationId xmlns:a16="http://schemas.microsoft.com/office/drawing/2014/main" id="{DC8E7CFA-4BC5-4084-B3E0-3471A4748F1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A01DF5BD-049E-48F5-9B67-EA9CB0A63420}"/>
              </a:ext>
            </a:extLst>
          </p:cNvPr>
          <p:cNvGraphicFramePr/>
          <p:nvPr/>
        </p:nvGraphicFramePr>
        <p:xfrm>
          <a:off x="523875" y="1285875"/>
          <a:ext cx="11144250" cy="4532632"/>
        </p:xfrm>
        <a:graphic>
          <a:graphicData uri="http://schemas.openxmlformats.org/drawingml/2006/table">
            <a:tbl>
              <a:tblPr/>
              <a:tblGrid>
                <a:gridCol w="2238375">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Latency, endurance and reliability thresholds">
            <a:extLst>
              <a:ext uri="{FF2B5EF4-FFF2-40B4-BE49-F238E27FC236}">
                <a16:creationId xmlns:a16="http://schemas.microsoft.com/office/drawing/2014/main" id="{0AC70777-0095-4E86-9418-F31C399FE586}"/>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Latency, endurance and reliability thresholds remain proposed until measured and agreed.</a:t>
            </a:r>
          </a:p>
        </p:txBody>
      </p:sp>
      <p:sp>
        <p:nvSpPr>
          <p:cNvPr id="7" name="8">
            <a:extLst>
              <a:ext uri="{FF2B5EF4-FFF2-40B4-BE49-F238E27FC236}">
                <a16:creationId xmlns:a16="http://schemas.microsoft.com/office/drawing/2014/main" id="{EACF86FD-0354-4F71-8403-7D21C467650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8</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322400A1-A7ED-4E0A-9976-1F301F477979}"/>
              </a:ext>
            </a:extLst>
          </p:cNvPr>
          <p:cNvGraphicFramePr/>
          <p:nvPr>
            <p:extLst>
              <p:ext uri="{D42A27DB-BD31-4B8C-83A1-F6EECF244321}">
                <p14:modId xmlns:p14="http://schemas.microsoft.com/office/powerpoint/2010/main" val="753592872"/>
              </p:ext>
            </p:extLst>
          </p:nvPr>
        </p:nvGraphicFramePr>
        <p:xfrm>
          <a:off x="523875" y="1190625"/>
          <a:ext cx="11144250" cy="4402455"/>
        </p:xfrm>
        <a:graphic>
          <a:graphicData uri="http://schemas.openxmlformats.org/drawingml/2006/table">
            <a:tbl>
              <a:tblPr/>
              <a:tblGrid>
                <a:gridCol w="2428875">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dirty="0">
                          <a:solidFill>
                            <a:srgbClr val="111111"/>
                          </a:solidFill>
                          <a:latin typeface="Times New Roman"/>
                          <a:ea typeface="Times New Roman"/>
                          <a:cs typeface="Times New Roman"/>
                        </a:rPr>
                        <a:t>Phone handles cloud uplink </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14375">
                <a:tc>
                  <a:txBody>
                    <a:bodyPr/>
                    <a:lstStyle/>
                    <a:p>
                      <a:r>
                        <a:rPr sz="2100" b="0" dirty="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dirty="0">
                          <a:solidFill>
                            <a:srgbClr val="111111"/>
                          </a:solidFill>
                          <a:latin typeface="Times New Roman"/>
                          <a:ea typeface="Times New Roman"/>
                          <a:cs typeface="Times New Roman"/>
                        </a:rPr>
                        <a:t>Low-power design; savings unmeasured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fits the phone gateway design. Phone prox">
            <a:extLst>
              <a:ext uri="{FF2B5EF4-FFF2-40B4-BE49-F238E27FC236}">
                <a16:creationId xmlns:a16="http://schemas.microsoft.com/office/drawing/2014/main" id="{F572C4D4-3512-4B90-A78F-4587339B68D7}"/>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fits the phone gateway design. Phone proximity remains a requirement.</a:t>
            </a:r>
          </a:p>
        </p:txBody>
      </p:sp>
      <p:sp>
        <p:nvSpPr>
          <p:cNvPr id="7" name="9">
            <a:extLst>
              <a:ext uri="{FF2B5EF4-FFF2-40B4-BE49-F238E27FC236}">
                <a16:creationId xmlns:a16="http://schemas.microsoft.com/office/drawing/2014/main" id="{042C8049-62C7-450C-9BDB-B813F9E8227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9</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BA6B1BED-F14E-4A0D-B272-1890C1397E0B}"/>
              </a:ext>
            </a:extLst>
          </p:cNvPr>
          <p:cNvGraphicFramePr/>
          <p:nvPr/>
        </p:nvGraphicFramePr>
        <p:xfrm>
          <a:off x="523875" y="1285875"/>
          <a:ext cx="11144250" cy="4238628"/>
        </p:xfrm>
        <a:graphic>
          <a:graphicData uri="http://schemas.openxmlformats.org/drawingml/2006/table">
            <a:tbl>
              <a:tblPr/>
              <a:tblGrid>
                <a:gridCol w="190500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Execution status: evidence pending. Capture t">
            <a:extLst>
              <a:ext uri="{FF2B5EF4-FFF2-40B4-BE49-F238E27FC236}">
                <a16:creationId xmlns:a16="http://schemas.microsoft.com/office/drawing/2014/main" id="{11A48837-BA84-46A2-A172-82344334FA23}"/>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Execution status: evidence pending. Capture the observed outcome before marking Pass.</a:t>
            </a:r>
          </a:p>
        </p:txBody>
      </p:sp>
      <p:sp>
        <p:nvSpPr>
          <p:cNvPr id="7" name="10">
            <a:extLst>
              <a:ext uri="{FF2B5EF4-FFF2-40B4-BE49-F238E27FC236}">
                <a16:creationId xmlns:a16="http://schemas.microsoft.com/office/drawing/2014/main" id="{0715AA64-A2D2-49A2-818E-9E277ADB245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10</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1ABC1FB1-160B-4398-B92F-A16E5B693D69}"/>
              </a:ext>
            </a:extLst>
          </p:cNvPr>
          <p:cNvGraphicFramePr/>
          <p:nvPr/>
        </p:nvGraphicFramePr>
        <p:xfrm>
          <a:off x="523875" y="1285875"/>
          <a:ext cx="11144250" cy="4238628"/>
        </p:xfrm>
        <a:graphic>
          <a:graphicData uri="http://schemas.openxmlformats.org/drawingml/2006/table">
            <a:tbl>
              <a:tblPr/>
              <a:tblGrid>
                <a:gridCol w="2428875">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All cases on this slide are planned. No cloud">
            <a:extLst>
              <a:ext uri="{FF2B5EF4-FFF2-40B4-BE49-F238E27FC236}">
                <a16:creationId xmlns:a16="http://schemas.microsoft.com/office/drawing/2014/main" id="{445289BF-EA09-42DB-9EDC-E23C48D7912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a:ext uri="{FF2B5EF4-FFF2-40B4-BE49-F238E27FC236}">
                <a16:creationId xmlns:a16="http://schemas.microsoft.com/office/drawing/2014/main" id="{790258E3-4172-4B82-945C-A2B8BC04DE2A}"/>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11</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4CF3A94D-C996-4313-B03D-B0C5436F1D81}"/>
              </a:ext>
            </a:extLst>
          </p:cNvPr>
          <p:cNvGraphicFramePr/>
          <p:nvPr/>
        </p:nvGraphicFramePr>
        <p:xfrm>
          <a:off x="523875" y="1143000"/>
          <a:ext cx="11144250" cy="4831080"/>
        </p:xfrm>
        <a:graphic>
          <a:graphicData uri="http://schemas.openxmlformats.org/drawingml/2006/table">
            <a:tbl>
              <a:tblPr/>
              <a:tblGrid>
                <a:gridCol w="2476500">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12">
            <a:extLst>
              <a:ext uri="{FF2B5EF4-FFF2-40B4-BE49-F238E27FC236}">
                <a16:creationId xmlns:a16="http://schemas.microsoft.com/office/drawing/2014/main" id="{B6423052-90BB-4036-A723-2A62F220BAA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12</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20B156C6-6F63-4077-B2B4-93238B036224}"/>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11" name="Use real device captures. Pair the app displa">
            <a:extLst>
              <a:ext uri="{FF2B5EF4-FFF2-40B4-BE49-F238E27FC236}">
                <a16:creationId xmlns:a16="http://schemas.microsoft.com/office/drawing/2014/main" id="{10D4419E-65F8-4AF8-ABFE-000A5A89DE9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7B76A915-D870-41E6-BAF2-B5FA79CDAC3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13</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A41E0-43D1-4EB5-05B3-131B7942C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18039-CE3F-5D31-47D1-81032C3D345E}"/>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703ABF20-4077-C004-EA78-EA0362C0EC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112DCB65-BAD5-923B-B142-39135B68F746}"/>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A818A6BD-A4AD-3B7F-84CC-E45C5CF0AF38}"/>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DD732C11-C9ED-DF11-34F2-9FAACCE6D6CA}"/>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A647C3A9-35D0-D63F-5016-1819F9FCFDA5}"/>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2C958E9D-A671-B7C0-0DC1-873F58585BD9}"/>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8D13F93E-51D5-BD57-E85F-16E64373B31F}"/>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D4E6AF3D-BB35-9A87-189D-741176C91E60}"/>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1F1D172C-9CD4-6C25-0C8D-32B70DEC02E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14</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2984334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F302-8F37-9B0A-598C-3641E87C4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195DA-E4DE-7952-B2D3-C3677B03761F}"/>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0FA670C1-AF38-7D83-610C-E0B1FBAAB3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CB847F55-70AE-2CCE-8F47-5FF875BB8CBF}"/>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85F8C1C0-A3DB-D1B0-C216-0AB17DC9459B}"/>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93B5EF9A-1507-C5CF-2573-7C011A126F8D}"/>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C8FAB7F7-5CA5-FAC4-E081-656BE97C4141}"/>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D5D280F4-6E93-23C5-27DB-55525A2EF972}"/>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052947C7-05F8-A830-A56F-8A2FF21A8327}"/>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1DBFD638-25F2-45BD-3A7B-3F7A398218BA}"/>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FF7F7340-4D17-F9C6-BE25-0259878AD64D}"/>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15</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925995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a:ext uri="{FF2B5EF4-FFF2-40B4-BE49-F238E27FC236}">
                <a16:creationId xmlns:a16="http://schemas.microsoft.com/office/drawing/2014/main" id="{B84EC8C5-B46C-4435-9A1C-74A4C9868B47}"/>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a:pPr algn="r">
              <a:buNone/>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16</a:t>
            </a:r>
            <a:endParaRPr sz="1200" b="1">
              <a:solidFill>
                <a:srgbClr val="FFFFFF"/>
              </a:solidFill>
              <a:latin typeface="Times New Roman"/>
              <a:ea typeface="Times New Roman"/>
              <a:cs typeface="Times New Roman"/>
            </a:endParaRPr>
          </a:p>
        </p:txBody>
      </p:sp>
      <p:sp>
        <p:nvSpPr>
          <p:cNvPr id="16" name="Conclusion and future work bullets">
            <a:extLst>
              <a:ext uri="{FF2B5EF4-FFF2-40B4-BE49-F238E27FC236}">
                <a16:creationId xmlns:a16="http://schemas.microsoft.com/office/drawing/2014/main" id="{E4ABBF5B-8045-467A-B70B-6EC5DD7F3F99}"/>
              </a:ext>
            </a:extLst>
          </p:cNvPr>
          <p:cNvSpPr>
            <a:spLocks noGrp="1"/>
          </p:cNvSpPr>
          <p:nvPr/>
        </p:nvSpPr>
        <p:spPr>
          <a:xfrm>
            <a:off x="762000" y="1333500"/>
            <a:ext cx="10668000" cy="4524375"/>
          </a:xfrm>
          <a:prstGeom prst="rect">
            <a:avLst/>
          </a:prstGeom>
          <a:noFill/>
          <a:ln w="0">
            <a:noFill/>
          </a:ln>
        </p:spPr>
        <p:txBody>
          <a:bodyPr lIns="0" tIns="0" rIns="0" bIns="0">
            <a:noAutofit/>
          </a:bodyPr>
          <a:lstStyle>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65809"/>
          </a:xfrm>
          <a:prstGeom prst="rect">
            <a:avLst/>
          </a:prstGeom>
          <a:solidFill>
            <a:srgbClr val="002060"/>
          </a:solidFill>
        </p:spPr>
        <p:txBody>
          <a:bodyPr>
            <a:normAutofit/>
          </a:bodyPr>
          <a:lstStyle/>
          <a:p>
            <a:pPr algn="ctr">
              <a:buNone/>
            </a:pPr>
            <a:endParaRPr sz="3600" b="1">
              <a:solidFill>
                <a:schemeClr val="bg1"/>
              </a:solidFill>
              <a:latin typeface="Times New Roman"/>
              <a:ea typeface="Times New Roman"/>
              <a:cs typeface="Times New Roman"/>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a:ext uri="{FF2B5EF4-FFF2-40B4-BE49-F238E27FC236}">
                <a16:creationId xmlns:a16="http://schemas.microsoft.com/office/drawing/2014/main" id="{1C9D027C-64E9-914D-D965-A429BBC87943}"/>
              </a:ext>
            </a:extLst>
          </p:cNvPr>
          <p:cNvSpPr>
            <a:spLocks noGrp="1"/>
          </p:cNvSpPr>
          <p:nvPr/>
        </p:nvSpPr>
        <p:spPr>
          <a:xfrm>
            <a:off x="4563762" y="3429000"/>
            <a:ext cx="3387722" cy="1015663"/>
          </a:xfrm>
          <a:prstGeom prst="rect">
            <a:avLst/>
          </a:prstGeom>
          <a:noFill/>
        </p:spPr>
        <p:txBody>
          <a:bodyPr wrap="none">
            <a:spAutoFit/>
          </a:bodyPr>
          <a:lstStyle/>
          <a:p>
            <a:r>
              <a:rPr sz="6000">
                <a:solidFill>
                  <a:srgbClr val="0070C0"/>
                </a:solidFill>
              </a:rPr>
              <a:t>Thank You</a:t>
            </a:r>
          </a:p>
        </p:txBody>
      </p:sp>
      <p:sp>
        <p:nvSpPr>
          <p:cNvPr id="8" name="15">
            <a:extLst>
              <a:ext uri="{FF2B5EF4-FFF2-40B4-BE49-F238E27FC236}">
                <a16:creationId xmlns:a16="http://schemas.microsoft.com/office/drawing/2014/main" id="{5A51434F-8A9A-48B7-AE15-5E50A8D5B94F}"/>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310531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2789</Words>
  <Application>Microsoft Office PowerPoint</Application>
  <DocSecurity>0</DocSecurity>
  <PresentationFormat>Widescreen</PresentationFormat>
  <Paragraphs>265</Paragraphs>
  <Slides>17</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Calibri Light</vt:lpstr>
      <vt:lpstr>Times New Roman</vt:lpstr>
      <vt:lpstr>Office Theme</vt:lpstr>
      <vt:lpstr>Office Theme</vt:lpstr>
      <vt:lpstr>Project Work Phase-2        7th semester  AY: 2026-27</vt:lpstr>
      <vt:lpstr>Project Objectives</vt:lpstr>
      <vt:lpstr>Architecture</vt:lpstr>
      <vt:lpstr>PowerPoint Presentation</vt:lpstr>
      <vt:lpstr>BLE Communication Workflow</vt:lpstr>
      <vt:lpstr>Methods and Design Comparison</vt:lpstr>
      <vt:lpstr>Functional Requirements</vt:lpstr>
      <vt:lpstr>Non-Functional Requirements</vt:lpstr>
      <vt:lpstr>Wi-Fi vs BLE: Design Rationale</vt:lpstr>
      <vt:lpstr>BLE Test Cases</vt:lpstr>
      <vt:lpstr>Planned Integration Tests</vt:lpstr>
      <vt:lpstr>Implementation Status</vt:lpstr>
      <vt:lpstr>Prototype Evidence</vt:lpstr>
      <vt:lpstr>Prototype Evidence</vt:lpstr>
      <vt:lpstr>Prototype Evidence</vt:lpstr>
      <vt:lpstr>Conclusion and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Rahul S</cp:lastModifiedBy>
  <cp:revision>8</cp:revision>
  <dcterms:created xsi:type="dcterms:W3CDTF">2026-10-19T06:24:58Z</dcterms:created>
  <dcterms:modified xsi:type="dcterms:W3CDTF">2026-10-19T09:07:28Z</dcterms:modified>
</cp:coreProperties>
</file>