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e2a93ac62b54338" /><Relationship Type="http://schemas.openxmlformats.org/officeDocument/2006/relationships/extended-properties" Target="/docProps/app.xml" Id="R0f3548f6606c4610" /><Relationship Type="http://schemas.openxmlformats.org/officeDocument/2006/relationships/officeDocument" Target="/ppt/presentation.xml" Id="R8a080f025cfe4307" /></Relationships>
</file>

<file path=ppt/presentation.xml><?xml version="1.0" encoding="utf-8"?>
<p:presentation xmlns:p="http://schemas.openxmlformats.org/presentationml/2006/main">
  <p:sldMasterIdLst>
    <p:sldMasterId xmlns:r="http://schemas.openxmlformats.org/officeDocument/2006/relationships" id="2147483648" r:id="R3e2fcee8a5e04234"/>
  </p:sldMasterIdLst>
  <p:notesMasterIdLst>
    <p:notesMasterId xmlns:r="http://schemas.openxmlformats.org/officeDocument/2006/relationships" r:id="Rd897c2eafe294bff"/>
  </p:notesMasterIdLst>
  <p:sldIdLst>
    <p:sldId xmlns:r="http://schemas.openxmlformats.org/officeDocument/2006/relationships" id="256" r:id="R5585d8638d8e45cc"/>
    <p:sldId xmlns:r="http://schemas.openxmlformats.org/officeDocument/2006/relationships" id="257" r:id="R0bf595f4e4a74ad1"/>
    <p:sldId xmlns:r="http://schemas.openxmlformats.org/officeDocument/2006/relationships" id="258" r:id="R9fc2b34323964fef"/>
    <p:sldId xmlns:r="http://schemas.openxmlformats.org/officeDocument/2006/relationships" id="259" r:id="Re82d8b5741654629"/>
    <p:sldId xmlns:r="http://schemas.openxmlformats.org/officeDocument/2006/relationships" id="260" r:id="R96c6c02b9b3d45b5"/>
    <p:sldId xmlns:r="http://schemas.openxmlformats.org/officeDocument/2006/relationships" id="261" r:id="R4221c59447aa4c42"/>
    <p:sldId xmlns:r="http://schemas.openxmlformats.org/officeDocument/2006/relationships" id="262" r:id="R3560353aabbc4aff"/>
    <p:sldId xmlns:r="http://schemas.openxmlformats.org/officeDocument/2006/relationships" id="263" r:id="R7223a9e5bc014ade"/>
    <p:sldId xmlns:r="http://schemas.openxmlformats.org/officeDocument/2006/relationships" id="264" r:id="R0a914f58001e4d52"/>
    <p:sldId xmlns:r="http://schemas.openxmlformats.org/officeDocument/2006/relationships" id="265" r:id="Redd6717a373d4da2"/>
    <p:sldId xmlns:r="http://schemas.openxmlformats.org/officeDocument/2006/relationships" id="266" r:id="R79976944b0a04992"/>
    <p:sldId xmlns:r="http://schemas.openxmlformats.org/officeDocument/2006/relationships" id="267" r:id="Rb1bc84e38e954774"/>
    <p:sldId xmlns:r="http://schemas.openxmlformats.org/officeDocument/2006/relationships" id="268" r:id="R4e944f539aa442e6"/>
    <p:sldId xmlns:r="http://schemas.openxmlformats.org/officeDocument/2006/relationships" id="269" r:id="Rf7e096f127f14621"/>
    <p:sldId xmlns:r="http://schemas.openxmlformats.org/officeDocument/2006/relationships" id="270" r:id="R471ae66c23874480"/>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e7dd8ecab4184df7" /><Relationship Type="http://schemas.openxmlformats.org/officeDocument/2006/relationships/slideMaster" Target="/ppt/slideMasters/slideMaster1.xml" Id="R3e2fcee8a5e04234" /><Relationship Type="http://schemas.openxmlformats.org/officeDocument/2006/relationships/notesMaster" Target="/ppt/notesMasters/notesMaster1.xml" Id="Rd897c2eafe294bff" /><Relationship Type="http://schemas.openxmlformats.org/officeDocument/2006/relationships/presProps" Target="/ppt/presProps.xml" Id="Ra9bac0a681294ddc" /><Relationship Type="http://schemas.openxmlformats.org/officeDocument/2006/relationships/viewProps" Target="/ppt/viewProps.xml" Id="R8c21552bf7104cc5" /><Relationship Type="http://schemas.openxmlformats.org/officeDocument/2006/relationships/tableStyles" Target="/ppt/tableStyles.xml" Id="Rcf0520817ff64ac3" /><Relationship Type="http://schemas.openxmlformats.org/officeDocument/2006/relationships/slide" Target="/ppt/slides/slide1.xml" Id="R5585d8638d8e45cc" /><Relationship Type="http://schemas.openxmlformats.org/officeDocument/2006/relationships/slide" Target="/ppt/slides/slide2.xml" Id="R0bf595f4e4a74ad1" /><Relationship Type="http://schemas.openxmlformats.org/officeDocument/2006/relationships/slide" Target="/ppt/slides/slide3.xml" Id="R9fc2b34323964fef" /><Relationship Type="http://schemas.openxmlformats.org/officeDocument/2006/relationships/slide" Target="/ppt/slides/slide4.xml" Id="Re82d8b5741654629" /><Relationship Type="http://schemas.openxmlformats.org/officeDocument/2006/relationships/slide" Target="/ppt/slides/slide5.xml" Id="R96c6c02b9b3d45b5" /><Relationship Type="http://schemas.openxmlformats.org/officeDocument/2006/relationships/slide" Target="/ppt/slides/slide6.xml" Id="R4221c59447aa4c42" /><Relationship Type="http://schemas.openxmlformats.org/officeDocument/2006/relationships/slide" Target="/ppt/slides/slide7.xml" Id="R3560353aabbc4aff" /><Relationship Type="http://schemas.openxmlformats.org/officeDocument/2006/relationships/slide" Target="/ppt/slides/slide8.xml" Id="R7223a9e5bc014ade" /><Relationship Type="http://schemas.openxmlformats.org/officeDocument/2006/relationships/slide" Target="/ppt/slides/slide9.xml" Id="R0a914f58001e4d52" /><Relationship Type="http://schemas.openxmlformats.org/officeDocument/2006/relationships/slide" Target="/ppt/slides/slide10.xml" Id="Redd6717a373d4da2" /><Relationship Type="http://schemas.openxmlformats.org/officeDocument/2006/relationships/slide" Target="/ppt/slides/slide11.xml" Id="R79976944b0a04992" /><Relationship Type="http://schemas.openxmlformats.org/officeDocument/2006/relationships/slide" Target="/ppt/slides/slide12.xml" Id="Rb1bc84e38e954774" /><Relationship Type="http://schemas.openxmlformats.org/officeDocument/2006/relationships/slide" Target="/ppt/slides/slide13.xml" Id="R4e944f539aa442e6" /><Relationship Type="http://schemas.openxmlformats.org/officeDocument/2006/relationships/slide" Target="/ppt/slides/slide14.xml" Id="Rf7e096f127f14621" /><Relationship Type="http://schemas.openxmlformats.org/officeDocument/2006/relationships/slide" Target="/ppt/slides/slide15.xml" Id="R471ae66c2387448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522236e8ea44de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3cf49b5d9ed4483" /><Relationship Type="http://schemas.openxmlformats.org/officeDocument/2006/relationships/notesMaster" Target="/ppt/notesMasters/notesMaster1.xml" Id="R79d14d563f564a4b" /></Relationships>
</file>

<file path=ppt/notesSlides/_rels/notesSlide2.xml.rels>&#65279;<?xml version="1.0" encoding="utf-8"?><Relationships xmlns="http://schemas.openxmlformats.org/package/2006/relationships"><Relationship Type="http://schemas.openxmlformats.org/officeDocument/2006/relationships/slide" Target="/ppt/slides/slide2.xml" Id="Rfe61470776194f6a" /><Relationship Type="http://schemas.openxmlformats.org/officeDocument/2006/relationships/notesMaster" Target="/ppt/notesMasters/notesMaster1.xml" Id="R90a30e14fe764eba" /></Relationships>
</file>

<file path=ppt/notesSlides/_rels/notesSlide3.xml.rels>&#65279;<?xml version="1.0" encoding="utf-8"?><Relationships xmlns="http://schemas.openxmlformats.org/package/2006/relationships"><Relationship Type="http://schemas.openxmlformats.org/officeDocument/2006/relationships/slide" Target="/ppt/slides/slide3.xml" Id="R3b9fd8d9d3eb44fe" /><Relationship Type="http://schemas.openxmlformats.org/officeDocument/2006/relationships/notesMaster" Target="/ppt/notesMasters/notesMaster1.xml" Id="R89ffc27860924b3b" /></Relationships>
</file>

<file path=ppt/notesSlides/_rels/notesSlide4.xml.rels>&#65279;<?xml version="1.0" encoding="utf-8"?><Relationships xmlns="http://schemas.openxmlformats.org/package/2006/relationships"><Relationship Type="http://schemas.openxmlformats.org/officeDocument/2006/relationships/slide" Target="/ppt/slides/slide4.xml" Id="Re469e2f9644642b0" /><Relationship Type="http://schemas.openxmlformats.org/officeDocument/2006/relationships/notesMaster" Target="/ppt/notesMasters/notesMaster1.xml" Id="R0f5a49bd01d8426c" /></Relationships>
</file>

<file path=ppt/notesSlides/_rels/notesSlide5.xml.rels>&#65279;<?xml version="1.0" encoding="utf-8"?><Relationships xmlns="http://schemas.openxmlformats.org/package/2006/relationships"><Relationship Type="http://schemas.openxmlformats.org/officeDocument/2006/relationships/slide" Target="/ppt/slides/slide5.xml" Id="Rd61e839fb9d24ae0" /><Relationship Type="http://schemas.openxmlformats.org/officeDocument/2006/relationships/notesMaster" Target="/ppt/notesMasters/notesMaster1.xml" Id="R4b1b8a410c0c457d" /></Relationships>
</file>

<file path=ppt/notesSlides/_rels/notesSlide6.xml.rels>&#65279;<?xml version="1.0" encoding="utf-8"?><Relationships xmlns="http://schemas.openxmlformats.org/package/2006/relationships"><Relationship Type="http://schemas.openxmlformats.org/officeDocument/2006/relationships/slide" Target="/ppt/slides/slide6.xml" Id="R37f21fdae841463c" /><Relationship Type="http://schemas.openxmlformats.org/officeDocument/2006/relationships/notesMaster" Target="/ppt/notesMasters/notesMaster1.xml" Id="R1285535d91e243fb" /></Relationships>
</file>

<file path=ppt/notesSlides/_rels/notesSlide7.xml.rels>&#65279;<?xml version="1.0" encoding="utf-8"?><Relationships xmlns="http://schemas.openxmlformats.org/package/2006/relationships"><Relationship Type="http://schemas.openxmlformats.org/officeDocument/2006/relationships/slide" Target="/ppt/slides/slide7.xml" Id="R11251c8970124139" /><Relationship Type="http://schemas.openxmlformats.org/officeDocument/2006/relationships/notesMaster" Target="/ppt/notesMasters/notesMaster1.xml" Id="R2ee230c636d34ce4" /></Relationships>
</file>

<file path=ppt/notesSlides/_rels/notesSlide8.xml.rels>&#65279;<?xml version="1.0" encoding="utf-8"?><Relationships xmlns="http://schemas.openxmlformats.org/package/2006/relationships"><Relationship Type="http://schemas.openxmlformats.org/officeDocument/2006/relationships/slide" Target="/ppt/slides/slide8.xml" Id="R2535895fa4c04294" /><Relationship Type="http://schemas.openxmlformats.org/officeDocument/2006/relationships/notesMaster" Target="/ppt/notesMasters/notesMaster1.xml" Id="R780c39410c9742fa" /></Relationships>
</file>

<file path=ppt/notesSlides/_rels/notesSlide9.xml.rels>&#65279;<?xml version="1.0" encoding="utf-8"?><Relationships xmlns="http://schemas.openxmlformats.org/package/2006/relationships"><Relationship Type="http://schemas.openxmlformats.org/officeDocument/2006/relationships/slide" Target="/ppt/slides/slide9.xml" Id="R7195f9aee53745dd" /><Relationship Type="http://schemas.openxmlformats.org/officeDocument/2006/relationships/notesMaster" Target="/ppt/notesMasters/notesMaster1.xml" Id="R3d2000b6eb9743d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f14ad2e42884736" /><Relationship Type="http://schemas.openxmlformats.org/officeDocument/2006/relationships/notesMaster" Target="/ppt/notesMasters/notesMaster1.xml" Id="Rc3a93c69397f464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dac868bfb574828" /><Relationship Type="http://schemas.openxmlformats.org/officeDocument/2006/relationships/notesMaster" Target="/ppt/notesMasters/notesMaster1.xml" Id="R21edb5e74389410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c874cd0dcc24895" /><Relationship Type="http://schemas.openxmlformats.org/officeDocument/2006/relationships/notesMaster" Target="/ppt/notesMasters/notesMaster1.xml" Id="Rcecb0f25effb439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ea7196e2cf44199" /><Relationship Type="http://schemas.openxmlformats.org/officeDocument/2006/relationships/notesMaster" Target="/ppt/notesMasters/notesMaster1.xml" Id="Ra9b76a9a739b473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6af1c74d8db4a26" /><Relationship Type="http://schemas.openxmlformats.org/officeDocument/2006/relationships/notesMaster" Target="/ppt/notesMasters/notesMaster1.xml" Id="R2c502907564048b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da299b8fdd64d52" /><Relationship Type="http://schemas.openxmlformats.org/officeDocument/2006/relationships/notesMaster" Target="/ppt/notesMasters/notesMaster1.xml" Id="Ra4cd77ca667b4f7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title and team details retained from the supplied Review 2 template.</a:t>
            </a:r>
            <a:endParaRP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 2 topics follow the supplied template. Additional slides separate methods, validation and evidence to keep each slide concise.</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Objectives preserve the template scope. User explicitly retained ML as an objective and added both GPS location and ETA. These are objectives, not completed results.</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architecture replaces the dense source image with an editable diagram. Current firmware generates simulated observations. Planned phone-to-cloud transport is MQTT over TLS with CoAP fallback. GPS provider, ETA method, backend and ML model remain to be selected.</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GHSS UUID 0x1840; observations 0x2B8B; control point 0x2BF4. Firmware creates simulated readings on a nominal one-second task interval. The two rows show setup followed by telemetry, with editable step objects. Automatic app reconnection is not implemented.</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Comparison describes observed implementation versus the user-approved target, without claiming measured superiority over competing protocols. No backend stack or risk model is finalized in the current repository.</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FR1 and FR2 are implemented in source but need hardware evidence. Sensor sketches exist separately. Persistent queueing, cloud transport, GPS, ETA, ML and hospital dashboard are requirements for subsequent integration.</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Security code uses LE Secure Connections with Just Works and NVS bonds. This does not establish authenticated protection against active interception. No measured latency, delivery ratio, endurance or clinical accuracy is available.</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Design rationale, not measured Wi-Fi versus BLE test results. The earlier project README describes direct ESP32 Wi-Fi MQTT/TLS upload. The current architecture moves internet upload, GPS and planned buffering to the phone, while BLE carries nearby vital observations. Wi-Fi also supports local communication without internet, and a phone hotspot can provide a Wi-Fi uplink. The selected design removes Wi-Fi credentials and cloud connection handling from the ESP32 local link; it does not establish better latency, reliability, range or measured power consumption. BLE is designed for low-power point-to-point data exchange, including health monitoring. A fair empirical comparison would use the same board, workload, distance and observation duration, recording current draw, delivery ratio, update interval and recovery time. Sources: https://www.bluetooth.com/learn-about-bluetooth/topology-options/ ; https://www.bluetooth.com/bluetooth-le-primer/ ; https://docs.espressif.com/projects/esp-idf/en/latest/esp32/api-reference/bluetooth/bt_le.html ; earlier project README at D:/Academ/Projects/Major Project 2026-27/Coding Part/Smart Ambulance/README.md.</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cases validate the current BLE prototype. Capture at least two updates for TC3, and a recording or timestamped logs for TC4 and TC5. A stopped app may retain the last displayed values. Reconnection is manual.</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Future tests need a defined telemetry contract and acceptance thresholds. ETA should be compared with actual arrival times on test routes. ML evaluation requires a selected dataset, labels, model and held-out split. Do not invent accuracy figures.</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repository checked at D:/Academ/git-local/smart-ambulance. The older Coding Part/Smart Ambulance README describes a Wi-Fi/cloud design, but the inspected backend/frontend folders contain remnants rather than a complete current implementation. Status follows current source and the user confirmation, not older README claims.</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slots intentionally await user screenshots. Suggested captures: connected-ready status; streaming HR/SpO2/temperature; stopped status or successful manual reconnection. A recording must establish changing readings and cessation of updates. All readings in the current demonstration are simulated.</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Conclusions distinguish implemented code from demonstrated hardware results. The full system remains a prototype. ML risk assessment is a project objective and requires dataset/model selection and evaluation.</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 of Review 2 presentation.</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1c4446c16749e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0857692018547a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6cccb0abaf64f7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b5f6c37131b4a1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8a01191a63b44d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bce4d6b540b41a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79298062c9f4d36"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0c856755e944652"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19a2dde058824664"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b9872768913848a4"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6bd880d8258457b"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494D745-0B20-BBAA-074F-EF62988991C7}"/>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B2EFF7C1-57C4-8D79-46D3-BDDCA99C45F2}"/>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33CCF0EC-6478-6AA0-39C5-5817AD45084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CC65D64-61A9-40CD-B94D-857C621C06A3}" type="datetime1">
              <a:t>19-10-2026</a:t>
            </a:fld>
            <a:endParaRPr/>
          </a:p>
        </p:txBody>
      </p:sp>
      <p:sp>
        <p:nvSpPr>
          <p:cNvPr id="5" name="Footer Placeholder 4">
            <a:extLst xmlns:a="http://schemas.openxmlformats.org/drawingml/2006/main">
              <a:ext uri="{FF2B5EF4-FFF2-40B4-BE49-F238E27FC236}">
                <a16:creationId xmlns:a16="http://schemas.microsoft.com/office/drawing/2014/main" id="{698BCB53-894F-5921-306C-CB1B74E5C14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6" name="Slide Number Placeholder 5">
            <a:extLst xmlns:a="http://schemas.openxmlformats.org/drawingml/2006/main">
              <a:ext uri="{FF2B5EF4-FFF2-40B4-BE49-F238E27FC236}">
                <a16:creationId xmlns:a16="http://schemas.microsoft.com/office/drawing/2014/main" id="{70334AD7-6A1F-1788-A433-EC6F920012B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54E90A8-DEF0-CAF0-21F0-8DA2786EE90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BD7C1FC8-0708-512D-2CA8-4E94945F6E87}"/>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1EA0AE94-1A7F-8535-63EB-8091A1D2950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E250B2B8-E89D-450D-848F-CCC0D3A80066}" type="datetime1">
              <a:t>19-10-2026</a:t>
            </a:fld>
            <a:endParaRPr/>
          </a:p>
        </p:txBody>
      </p:sp>
      <p:sp>
        <p:nvSpPr>
          <p:cNvPr id="5" name="Footer Placeholder 4">
            <a:extLst xmlns:a="http://schemas.openxmlformats.org/drawingml/2006/main">
              <a:ext uri="{FF2B5EF4-FFF2-40B4-BE49-F238E27FC236}">
                <a16:creationId xmlns:a16="http://schemas.microsoft.com/office/drawing/2014/main" id="{832C18AA-665C-9174-40C7-2700EFF77BF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6" name="Slide Number Placeholder 5">
            <a:extLst xmlns:a="http://schemas.openxmlformats.org/drawingml/2006/main">
              <a:ext uri="{FF2B5EF4-FFF2-40B4-BE49-F238E27FC236}">
                <a16:creationId xmlns:a16="http://schemas.microsoft.com/office/drawing/2014/main" id="{CE2C036A-33A8-E88E-99D0-2903B7C5EA4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D38FBD5-1561-3932-E297-A14174187F05}"/>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2C63A73B-59E7-B791-E521-B97995C4F948}"/>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95F228BA-5DBB-745C-5F7F-6B4CA6E1B33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E451025-BBAB-4BD1-9DF2-DE64D763EA4D}" type="datetime1">
              <a:t>19-10-2026</a:t>
            </a:fld>
            <a:endParaRPr/>
          </a:p>
        </p:txBody>
      </p:sp>
      <p:sp>
        <p:nvSpPr>
          <p:cNvPr id="5" name="Footer Placeholder 4">
            <a:extLst xmlns:a="http://schemas.openxmlformats.org/drawingml/2006/main">
              <a:ext uri="{FF2B5EF4-FFF2-40B4-BE49-F238E27FC236}">
                <a16:creationId xmlns:a16="http://schemas.microsoft.com/office/drawing/2014/main" id="{80566780-0A65-9A5C-D8B4-219B02057C8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6" name="Slide Number Placeholder 5">
            <a:extLst xmlns:a="http://schemas.openxmlformats.org/drawingml/2006/main">
              <a:ext uri="{FF2B5EF4-FFF2-40B4-BE49-F238E27FC236}">
                <a16:creationId xmlns:a16="http://schemas.microsoft.com/office/drawing/2014/main" id="{C3372F2B-5703-1917-0A03-01068F1345A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78012EB-C7E9-76BE-0540-9539DA88967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ABCFC33C-641D-27E9-8511-1DA0B2D9E4E4}"/>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226661FD-66D9-9C58-FC7C-869A43023EC5}"/>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95E4514F-A4CC-1761-9CEA-1FC19B4F7B7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C7DA566-B459-4C7A-85E5-C2A7C24A1420}" type="datetime1">
              <a:t>19-10-2026</a:t>
            </a:fld>
            <a:endParaRPr/>
          </a:p>
        </p:txBody>
      </p:sp>
      <p:sp>
        <p:nvSpPr>
          <p:cNvPr id="6" name="Footer Placeholder 5">
            <a:extLst xmlns:a="http://schemas.openxmlformats.org/drawingml/2006/main">
              <a:ext uri="{FF2B5EF4-FFF2-40B4-BE49-F238E27FC236}">
                <a16:creationId xmlns:a16="http://schemas.microsoft.com/office/drawing/2014/main" id="{B1F1B018-A66A-E116-D076-220E61B8E72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7" name="Slide Number Placeholder 6">
            <a:extLst xmlns:a="http://schemas.openxmlformats.org/drawingml/2006/main">
              <a:ext uri="{FF2B5EF4-FFF2-40B4-BE49-F238E27FC236}">
                <a16:creationId xmlns:a16="http://schemas.microsoft.com/office/drawing/2014/main" id="{CB2419CD-4D96-32BF-7F1C-E1BF7EE6154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2314BB9-4AB7-8C6A-8BFF-A3621A872B39}"/>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E21CF5D-7A32-863B-E9E6-6BA58C5B3B6B}"/>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5ADB264E-C915-888B-18DA-22E34FCD2A3F}"/>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5F5859C3-3260-535B-BAB4-EA190AE0E0D5}"/>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8E67C906-088A-950B-EF70-FA0DAFD933C1}"/>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6A5F40AF-125E-31C4-B571-B32EF373BB0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5763DEA-064E-425A-A301-4B3BA0502A3F}" type="datetime1">
              <a:t>19-10-2026</a:t>
            </a:fld>
            <a:endParaRPr/>
          </a:p>
        </p:txBody>
      </p:sp>
      <p:sp>
        <p:nvSpPr>
          <p:cNvPr id="8" name="Footer Placeholder 7">
            <a:extLst xmlns:a="http://schemas.openxmlformats.org/drawingml/2006/main">
              <a:ext uri="{FF2B5EF4-FFF2-40B4-BE49-F238E27FC236}">
                <a16:creationId xmlns:a16="http://schemas.microsoft.com/office/drawing/2014/main" id="{7F1D0E3D-EC0A-214F-AE51-D3A6DA70B7F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9" name="Slide Number Placeholder 8">
            <a:extLst xmlns:a="http://schemas.openxmlformats.org/drawingml/2006/main">
              <a:ext uri="{FF2B5EF4-FFF2-40B4-BE49-F238E27FC236}">
                <a16:creationId xmlns:a16="http://schemas.microsoft.com/office/drawing/2014/main" id="{C11E67A1-465D-9A8A-60C8-9F260A5F312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CB29077-248C-58C0-5973-D9AC97BC11C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ECDA6BA2-43B1-8708-AB4E-AA8A134DE08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38D0107-E616-461D-9207-52B0BDAA9751}" type="datetime1">
              <a:t>19-10-2026</a:t>
            </a:fld>
            <a:endParaRPr/>
          </a:p>
        </p:txBody>
      </p:sp>
      <p:sp>
        <p:nvSpPr>
          <p:cNvPr id="4" name="Footer Placeholder 3">
            <a:extLst xmlns:a="http://schemas.openxmlformats.org/drawingml/2006/main">
              <a:ext uri="{FF2B5EF4-FFF2-40B4-BE49-F238E27FC236}">
                <a16:creationId xmlns:a16="http://schemas.microsoft.com/office/drawing/2014/main" id="{69113DAA-528F-ACAE-BCFF-72E4C3714E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5" name="Slide Number Placeholder 4">
            <a:extLst xmlns:a="http://schemas.openxmlformats.org/drawingml/2006/main">
              <a:ext uri="{FF2B5EF4-FFF2-40B4-BE49-F238E27FC236}">
                <a16:creationId xmlns:a16="http://schemas.microsoft.com/office/drawing/2014/main" id="{96EE596D-B02B-5ECD-DEA8-8B5F226A568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F0A7191E-B112-54E5-E29A-F71A7DF454C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50B6DF2-7F2A-4D21-830E-C34D54E5DB26}" type="datetime1">
              <a:t>19-10-2026</a:t>
            </a:fld>
            <a:endParaRPr/>
          </a:p>
        </p:txBody>
      </p:sp>
      <p:sp>
        <p:nvSpPr>
          <p:cNvPr id="3" name="Footer Placeholder 2">
            <a:extLst xmlns:a="http://schemas.openxmlformats.org/drawingml/2006/main">
              <a:ext uri="{FF2B5EF4-FFF2-40B4-BE49-F238E27FC236}">
                <a16:creationId xmlns:a16="http://schemas.microsoft.com/office/drawing/2014/main" id="{D33BDEFE-732E-C016-6AB1-9E18E867B58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4" name="Slide Number Placeholder 3">
            <a:extLst xmlns:a="http://schemas.openxmlformats.org/drawingml/2006/main">
              <a:ext uri="{FF2B5EF4-FFF2-40B4-BE49-F238E27FC236}">
                <a16:creationId xmlns:a16="http://schemas.microsoft.com/office/drawing/2014/main" id="{417B749E-E48B-CAF5-E430-6FE27ED57E7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F84B7CA-0679-E8C0-23AD-92B1DFE0E6DA}"/>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79A98F6F-E9AC-DC82-132D-29B0BBC4F473}"/>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960FA807-3DD8-13E7-498A-153246EE0A06}"/>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E7B0A236-2402-8ACA-6847-F03201A03C8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7E140C3B-5552-4017-A7F7-1D3DC73ABB6C}" type="datetime1">
              <a:t>19-10-2026</a:t>
            </a:fld>
            <a:endParaRPr/>
          </a:p>
        </p:txBody>
      </p:sp>
      <p:sp>
        <p:nvSpPr>
          <p:cNvPr id="6" name="Footer Placeholder 5">
            <a:extLst xmlns:a="http://schemas.openxmlformats.org/drawingml/2006/main">
              <a:ext uri="{FF2B5EF4-FFF2-40B4-BE49-F238E27FC236}">
                <a16:creationId xmlns:a16="http://schemas.microsoft.com/office/drawing/2014/main" id="{9FA06F1D-F4E2-655D-0ECB-0762E4A519F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7" name="Slide Number Placeholder 6">
            <a:extLst xmlns:a="http://schemas.openxmlformats.org/drawingml/2006/main">
              <a:ext uri="{FF2B5EF4-FFF2-40B4-BE49-F238E27FC236}">
                <a16:creationId xmlns:a16="http://schemas.microsoft.com/office/drawing/2014/main" id="{9D059C62-9D81-A148-F3A8-E735B1A707C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0A4FF6-EEF0-8B97-696A-746280ACA59A}"/>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F2097AEC-9604-18F5-B68A-9DDAC80CB6F7}"/>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ABF86077-F677-6962-4FED-10D159B67E32}"/>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B3114E18-CA26-8F9E-AC5A-76906484DCB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8762C1D-5720-48A1-898D-8041400C55BC}" type="datetime1">
              <a:t>19-10-2026</a:t>
            </a:fld>
            <a:endParaRPr/>
          </a:p>
        </p:txBody>
      </p:sp>
      <p:sp>
        <p:nvSpPr>
          <p:cNvPr id="6" name="Footer Placeholder 5">
            <a:extLst xmlns:a="http://schemas.openxmlformats.org/drawingml/2006/main">
              <a:ext uri="{FF2B5EF4-FFF2-40B4-BE49-F238E27FC236}">
                <a16:creationId xmlns:a16="http://schemas.microsoft.com/office/drawing/2014/main" id="{7AA36461-552C-E633-1CF0-DB8BC7B4399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7" name="Slide Number Placeholder 6">
            <a:extLst xmlns:a="http://schemas.openxmlformats.org/drawingml/2006/main">
              <a:ext uri="{FF2B5EF4-FFF2-40B4-BE49-F238E27FC236}">
                <a16:creationId xmlns:a16="http://schemas.microsoft.com/office/drawing/2014/main" id="{4365D169-0627-C229-C26B-84AA64B3836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AA5CB26-31EA-5AE3-3E63-6F2EFEC5C15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36815B1A-9C33-E8AE-6618-E625DB8E7DA4}"/>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088B927-04A1-6ACB-7D83-CF9A4549718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C140E7-F52A-4119-97FF-78F9513B4388}" type="datetime1">
              <a:t>19-10-2026</a:t>
            </a:fld>
            <a:endParaRPr/>
          </a:p>
        </p:txBody>
      </p:sp>
      <p:sp>
        <p:nvSpPr>
          <p:cNvPr id="5" name="Footer Placeholder 4">
            <a:extLst xmlns:a="http://schemas.openxmlformats.org/drawingml/2006/main">
              <a:ext uri="{FF2B5EF4-FFF2-40B4-BE49-F238E27FC236}">
                <a16:creationId xmlns:a16="http://schemas.microsoft.com/office/drawing/2014/main" id="{E7E9898D-9F32-B8B8-1CB9-8DAEBCCF6BC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6" name="Slide Number Placeholder 5">
            <a:extLst xmlns:a="http://schemas.openxmlformats.org/drawingml/2006/main">
              <a:ext uri="{FF2B5EF4-FFF2-40B4-BE49-F238E27FC236}">
                <a16:creationId xmlns:a16="http://schemas.microsoft.com/office/drawing/2014/main" id="{C3F0E129-A7D7-908A-2DB9-C14597E8F08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242730AC-48F0-F0FE-FE21-835054F7282A}"/>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4F894533-AC0F-B196-504E-399428B58639}"/>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A42A9436-E8A2-F71D-A637-B20EA1490A0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4E1CFB4-31DA-40A2-AE2B-F9FC033D0834}" type="datetime1">
              <a:t>19-10-2026</a:t>
            </a:fld>
            <a:endParaRPr/>
          </a:p>
        </p:txBody>
      </p:sp>
      <p:sp>
        <p:nvSpPr>
          <p:cNvPr id="5" name="Footer Placeholder 4">
            <a:extLst xmlns:a="http://schemas.openxmlformats.org/drawingml/2006/main">
              <a:ext uri="{FF2B5EF4-FFF2-40B4-BE49-F238E27FC236}">
                <a16:creationId xmlns:a16="http://schemas.microsoft.com/office/drawing/2014/main" id="{3A1BF561-DBF4-21B8-CB10-BC790D20941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6" name="Slide Number Placeholder 5">
            <a:extLst xmlns:a="http://schemas.openxmlformats.org/drawingml/2006/main">
              <a:ext uri="{FF2B5EF4-FFF2-40B4-BE49-F238E27FC236}">
                <a16:creationId xmlns:a16="http://schemas.microsoft.com/office/drawing/2014/main" id="{F2FADF1E-7BDA-43E8-BEF6-6F3FA39F5E6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88a310718d849dc" /><Relationship Type="http://schemas.openxmlformats.org/officeDocument/2006/relationships/slideLayout" Target="/ppt/slideLayouts/slideLayout1.xml" Id="Rb2ffb1eba3294db5" /><Relationship Type="http://schemas.openxmlformats.org/officeDocument/2006/relationships/slideLayout" Target="/ppt/slideLayouts/slideLayout2.xml" Id="Rf5b329ef0d56494a" /><Relationship Type="http://schemas.openxmlformats.org/officeDocument/2006/relationships/slideLayout" Target="/ppt/slideLayouts/slideLayout3.xml" Id="R812428773e194a14" /><Relationship Type="http://schemas.openxmlformats.org/officeDocument/2006/relationships/slideLayout" Target="/ppt/slideLayouts/slideLayout4.xml" Id="R0e07a6bbb2b84eb8" /><Relationship Type="http://schemas.openxmlformats.org/officeDocument/2006/relationships/slideLayout" Target="/ppt/slideLayouts/slideLayout5.xml" Id="R9f703c090a604268" /><Relationship Type="http://schemas.openxmlformats.org/officeDocument/2006/relationships/slideLayout" Target="/ppt/slideLayouts/slideLayout6.xml" Id="R68f915fdcc6a4874" /><Relationship Type="http://schemas.openxmlformats.org/officeDocument/2006/relationships/slideLayout" Target="/ppt/slideLayouts/slideLayout7.xml" Id="R600ba07ebbd74668" /><Relationship Type="http://schemas.openxmlformats.org/officeDocument/2006/relationships/slideLayout" Target="/ppt/slideLayouts/slideLayout8.xml" Id="Rb2b857599f4e43de" /><Relationship Type="http://schemas.openxmlformats.org/officeDocument/2006/relationships/slideLayout" Target="/ppt/slideLayouts/slideLayout9.xml" Id="R8e0b83e9c4c44b90" /><Relationship Type="http://schemas.openxmlformats.org/officeDocument/2006/relationships/slideLayout" Target="/ppt/slideLayouts/slideLayout10.xml" Id="R0c21c4193a3b43b3" /><Relationship Type="http://schemas.openxmlformats.org/officeDocument/2006/relationships/slideLayout" Target="/ppt/slideLayouts/slideLayout11.xml" Id="Rc91c5c766a9f4b06"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D1D4D9F3-48CF-9F1F-5BF9-D29B73C5EE1F}"/>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D05C8141-6A62-88D2-9C9C-A178134DFAD7}"/>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506B990C-8F8B-41B6-BFA9-D2812EADA711}"/>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B3E8678F-226F-4E2D-9FCF-8D6254E13B72}" type="datetime1">
              <a:t>19-10-2026</a:t>
            </a:fld>
            <a:endParaRPr/>
          </a:p>
        </p:txBody>
      </p:sp>
      <p:sp>
        <p:nvSpPr>
          <p:cNvPr id="5" name="Footer Placeholder 4">
            <a:extLst xmlns:a="http://schemas.openxmlformats.org/drawingml/2006/main">
              <a:ext uri="{FF2B5EF4-FFF2-40B4-BE49-F238E27FC236}">
                <a16:creationId xmlns:a16="http://schemas.microsoft.com/office/drawing/2014/main" id="{451F15A3-C5A8-D8EF-2CC0-B9FB4E8C3655}"/>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r>
              <a:t>Dept. of ECE, NMIT, Bengaluru</a:t>
            </a:r>
            <a:endParaRPr/>
          </a:p>
        </p:txBody>
      </p:sp>
      <p:sp>
        <p:nvSpPr>
          <p:cNvPr id="6" name="Slide Number Placeholder 5">
            <a:extLst xmlns:a="http://schemas.openxmlformats.org/drawingml/2006/main">
              <a:ext uri="{FF2B5EF4-FFF2-40B4-BE49-F238E27FC236}">
                <a16:creationId xmlns:a16="http://schemas.microsoft.com/office/drawing/2014/main" id="{D3726CD6-7954-5145-9A9B-B583B27B2BD4}"/>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75249B9C-BF50-4540-B2D1-32A225E7564A}"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2ffb1eba3294db5"/>
    <p:sldLayoutId xmlns:r="http://schemas.openxmlformats.org/officeDocument/2006/relationships" id="2147483650" r:id="Rf5b329ef0d56494a"/>
    <p:sldLayoutId xmlns:r="http://schemas.openxmlformats.org/officeDocument/2006/relationships" id="2147483651" r:id="R812428773e194a14"/>
    <p:sldLayoutId xmlns:r="http://schemas.openxmlformats.org/officeDocument/2006/relationships" id="2147483652" r:id="R0e07a6bbb2b84eb8"/>
    <p:sldLayoutId xmlns:r="http://schemas.openxmlformats.org/officeDocument/2006/relationships" id="2147483653" r:id="R9f703c090a604268"/>
    <p:sldLayoutId xmlns:r="http://schemas.openxmlformats.org/officeDocument/2006/relationships" id="2147483654" r:id="R68f915fdcc6a4874"/>
    <p:sldLayoutId xmlns:r="http://schemas.openxmlformats.org/officeDocument/2006/relationships" id="2147483655" r:id="R600ba07ebbd74668"/>
    <p:sldLayoutId xmlns:r="http://schemas.openxmlformats.org/officeDocument/2006/relationships" id="2147483656" r:id="Rb2b857599f4e43de"/>
    <p:sldLayoutId xmlns:r="http://schemas.openxmlformats.org/officeDocument/2006/relationships" id="2147483657" r:id="R8e0b83e9c4c44b90"/>
    <p:sldLayoutId xmlns:r="http://schemas.openxmlformats.org/officeDocument/2006/relationships" id="2147483658" r:id="R0c21c4193a3b43b3"/>
    <p:sldLayoutId xmlns:r="http://schemas.openxmlformats.org/officeDocument/2006/relationships" id="2147483659" r:id="Rc91c5c766a9f4b06"/>
  </p:sldLayoutIdLst>
  <p:hf sldNum="0" hdr="0" dt="0"/>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958e02e56ca84486" /><Relationship Type="http://schemas.openxmlformats.org/officeDocument/2006/relationships/image" Target="/ppt/media/image.png" Id="Reb090374d3a246d3" /><Relationship Type="http://schemas.openxmlformats.org/officeDocument/2006/relationships/notesSlide" Target="/ppt/notesSlides/notesSlide1.xml" Id="Rf8b0e46960324ad6"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5ae5a2ebc9c34329" /><Relationship Type="http://schemas.openxmlformats.org/officeDocument/2006/relationships/notesSlide" Target="/ppt/notesSlides/notesSlide2.xml" Id="R07213d48f91b4b1e"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be449d7deefe4d54" /><Relationship Type="http://schemas.openxmlformats.org/officeDocument/2006/relationships/notesSlide" Target="/ppt/notesSlides/notesSlide3.xml" Id="Rbe1a4a34b7e744e4"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666a6c0b24b04666" /><Relationship Type="http://schemas.openxmlformats.org/officeDocument/2006/relationships/notesSlide" Target="/ppt/notesSlides/notesSlide4.xml" Id="R2ab9f986c8a148ab"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8914aab8847a45b9" /><Relationship Type="http://schemas.openxmlformats.org/officeDocument/2006/relationships/notesSlide" Target="/ppt/notesSlides/notesSlide5.xml" Id="Re159d821251f4e1b"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91800859392d47ab" /><Relationship Type="http://schemas.openxmlformats.org/officeDocument/2006/relationships/notesSlide" Target="/ppt/notesSlides/notesSlide6.xml" Id="R4bfbf2dd9bdb4ad8"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a95f5d8247904c7c" /><Relationship Type="http://schemas.openxmlformats.org/officeDocument/2006/relationships/notesSlide" Target="/ppt/notesSlides/notesSlide7.xml" Id="Raabd2a61d2a949b8"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beff0cb4444147ef" /><Relationship Type="http://schemas.openxmlformats.org/officeDocument/2006/relationships/notesSlide" Target="/ppt/notesSlides/notesSlide8.xml" Id="R2c6b86d09715479f"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1c3775a1ca81422a" /><Relationship Type="http://schemas.openxmlformats.org/officeDocument/2006/relationships/notesSlide" Target="/ppt/notesSlides/notesSlide9.xml" Id="R09bb03faf9fc494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a3313a615b6441cd" /><Relationship Type="http://schemas.openxmlformats.org/officeDocument/2006/relationships/notesSlide" Target="/ppt/notesSlides/notesSlide10.xml" Id="R7d474f5aaa1647f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e6a993fa670a4e5f" /><Relationship Type="http://schemas.openxmlformats.org/officeDocument/2006/relationships/notesSlide" Target="/ppt/notesSlides/notesSlide11.xml" Id="R94363ff74d3d44d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b15596651c344e9b" /><Relationship Type="http://schemas.openxmlformats.org/officeDocument/2006/relationships/notesSlide" Target="/ppt/notesSlides/notesSlide12.xml" Id="R50e0b51d9c1447d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710b3b3422df41f5" /><Relationship Type="http://schemas.openxmlformats.org/officeDocument/2006/relationships/notesSlide" Target="/ppt/notesSlides/notesSlide13.xml" Id="Rda441d200c2b4d1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2ecf55cde70c4ef4" /><Relationship Type="http://schemas.openxmlformats.org/officeDocument/2006/relationships/notesSlide" Target="/ppt/notesSlides/notesSlide14.xml" Id="R0253557a3556418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d82563d42499419e" /><Relationship Type="http://schemas.openxmlformats.org/officeDocument/2006/relationships/notesSlide" Target="/ppt/notesSlides/notesSlide15.xml" Id="R5d72e1bdc9a34d80"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1"/>
            <a:ext cx="12192000" cy="1074655"/>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90000"/>
          </a:bodyPr>
          <a:lstStyle xmlns:a="http://schemas.openxmlformats.org/drawingml/2006/main"/>
          <a:p xmlns:a="http://schemas.openxmlformats.org/drawingml/2006/main">
            <a:pPr algn="ctr">
              <a:lnSpc>
                <a:spcPct val="115000"/>
              </a:lnSpc>
              <a:spcAft>
                <a:spcPts val="1000"/>
              </a:spcAft>
              <a:buNone/>
            </a:pPr>
            <a:r>
              <a:rPr sz="4000" b="1">
                <a:solidFill>
                  <a:schemeClr val="bg1"/>
                </a:solidFill>
                <a:latin typeface="Times New Roman"/>
                <a:ea typeface="Times New Roman"/>
                <a:cs typeface="Times New Roman"/>
              </a:rPr>
              <a:t>Project Work Phase-2       </a:t>
            </a:r>
            <a:br>
              <a:rPr sz="4000" b="1">
                <a:solidFill>
                  <a:schemeClr val="bg1"/>
                </a:solidFill>
                <a:latin typeface="Times New Roman"/>
                <a:ea typeface="Times New Roman"/>
                <a:cs typeface="Times New Roman"/>
              </a:rPr>
            </a:br>
            <a:r>
              <a:rPr sz="4000" b="1">
                <a:solidFill>
                  <a:schemeClr val="bg1"/>
                </a:solidFill>
                <a:latin typeface="Times New Roman"/>
                <a:ea typeface="Times New Roman"/>
                <a:cs typeface="Times New Roman"/>
              </a:rPr>
              <a:t>7th semester  AY: 2026-27</a:t>
            </a:r>
            <a:endParaRPr sz="4000">
              <a:solidFill>
                <a:schemeClr val="bg1"/>
              </a:solidFill>
              <a:latin typeface="Calibri"/>
              <a:ea typeface="Calibri"/>
              <a:cs typeface="Calibri"/>
            </a:endParaRPr>
          </a:p>
        </p:txBody>
      </p:sp>
      <p:sp>
        <p:nvSpPr>
          <p:cNvPr id="3" name="Content Placeholder 2">
            <a:extLst xmlns:a="http://schemas.openxmlformats.org/drawingml/2006/main">
              <a:ext uri="{FF2B5EF4-FFF2-40B4-BE49-F238E27FC236}">
                <a16:creationId xmlns:a16="http://schemas.microsoft.com/office/drawing/2014/main" id="{3B6D72A9-5B77-2FAD-A296-659695D34C01}"/>
              </a:ext>
            </a:extLst>
          </p:cNvPr>
          <p:cNvSpPr>
            <a:spLocks xmlns:a="http://schemas.openxmlformats.org/drawingml/2006/main" noGrp="1"/>
          </p:cNvSpPr>
          <p:nvPr>
            <p:ph idx="1"/>
          </p:nvPr>
        </p:nvSpPr>
        <p:spPr>
          <a:xfrm xmlns:a="http://schemas.openxmlformats.org/drawingml/2006/main">
            <a:off x="-1" y="1382565"/>
            <a:ext cx="12191999" cy="4980528"/>
          </a:xfrm>
        </p:spPr>
        <p:txBody>
          <a:bodyPr xmlns:a="http://schemas.openxmlformats.org/drawingml/2006/main">
            <a:normAutofit fontScale="100000" lnSpcReduction="10000"/>
          </a:bodyPr>
          <a:lstStyle xmlns:a="http://schemas.openxmlformats.org/drawingml/2006/main">
            <a:defPPr algn="ctr">
              <a:defRPr sz="2475">
                <a:solidFill>
                  <a:srgbClr val="111111"/>
                </a:solidFill>
                <a:latin typeface="Times New Roman"/>
                <a:ea typeface="Times New Roman"/>
                <a:cs typeface="Times New Roman"/>
              </a:defRPr>
            </a:defPPr>
            <a:lvl1pPr algn="ctr">
              <a:defRPr sz="2475">
                <a:solidFill>
                  <a:srgbClr val="111111"/>
                </a:solidFill>
                <a:latin typeface="Times New Roman"/>
                <a:ea typeface="Times New Roman"/>
                <a:cs typeface="Times New Roman"/>
              </a:defRPr>
            </a:lvl1pPr>
            <a:lvl2pPr algn="ctr">
              <a:defRPr sz="2475">
                <a:solidFill>
                  <a:srgbClr val="111111"/>
                </a:solidFill>
                <a:latin typeface="Times New Roman"/>
                <a:ea typeface="Times New Roman"/>
                <a:cs typeface="Times New Roman"/>
              </a:defRPr>
            </a:lvl2pPr>
            <a:lvl3pPr algn="ctr">
              <a:defRPr sz="2475">
                <a:solidFill>
                  <a:srgbClr val="111111"/>
                </a:solidFill>
                <a:latin typeface="Times New Roman"/>
                <a:ea typeface="Times New Roman"/>
                <a:cs typeface="Times New Roman"/>
              </a:defRPr>
            </a:lvl3pPr>
            <a:lvl4pPr algn="ctr">
              <a:defRPr sz="2475">
                <a:solidFill>
                  <a:srgbClr val="111111"/>
                </a:solidFill>
                <a:latin typeface="Times New Roman"/>
                <a:ea typeface="Times New Roman"/>
                <a:cs typeface="Times New Roman"/>
              </a:defRPr>
            </a:lvl4pPr>
            <a:lvl5pPr algn="ctr">
              <a:defRPr sz="2475">
                <a:solidFill>
                  <a:srgbClr val="111111"/>
                </a:solidFill>
                <a:latin typeface="Times New Roman"/>
                <a:ea typeface="Times New Roman"/>
                <a:cs typeface="Times New Roman"/>
              </a:defRPr>
            </a:lvl5pPr>
            <a:lvl6pPr algn="ctr">
              <a:defRPr sz="2475">
                <a:solidFill>
                  <a:srgbClr val="111111"/>
                </a:solidFill>
                <a:latin typeface="Times New Roman"/>
                <a:ea typeface="Times New Roman"/>
                <a:cs typeface="Times New Roman"/>
              </a:defRPr>
            </a:lvl6pPr>
            <a:lvl7pPr algn="ctr">
              <a:defRPr sz="2475">
                <a:solidFill>
                  <a:srgbClr val="111111"/>
                </a:solidFill>
                <a:latin typeface="Times New Roman"/>
                <a:ea typeface="Times New Roman"/>
                <a:cs typeface="Times New Roman"/>
              </a:defRPr>
            </a:lvl7pPr>
            <a:lvl8pPr algn="ctr">
              <a:defRPr sz="2475">
                <a:solidFill>
                  <a:srgbClr val="111111"/>
                </a:solidFill>
                <a:latin typeface="Times New Roman"/>
                <a:ea typeface="Times New Roman"/>
                <a:cs typeface="Times New Roman"/>
              </a:defRPr>
            </a:lvl8pPr>
            <a:lvl9pPr algn="ctr">
              <a:defRPr sz="2475">
                <a:solidFill>
                  <a:srgbClr val="111111"/>
                </a:solidFill>
                <a:latin typeface="Times New Roman"/>
                <a:ea typeface="Times New Roman"/>
                <a:cs typeface="Times New Roman"/>
              </a:defRPr>
            </a:lvl9pPr>
          </a:lstStyle>
          <a:p xmlns:a="http://schemas.openxmlformats.org/drawingml/2006/main">
            <a:pPr marL="0" indent="0" algn="ctr">
              <a:buNone/>
              <a:defRPr sz="2475">
                <a:solidFill>
                  <a:srgbClr val="111111"/>
                </a:solidFill>
                <a:latin typeface="Times New Roman"/>
                <a:ea typeface="Times New Roman"/>
                <a:cs typeface="Times New Roman"/>
              </a:defRPr>
            </a:pPr>
            <a:r>
              <a:rPr sz="2475" b="1">
                <a:solidFill>
                  <a:srgbClr val="111111"/>
                </a:solidFill>
                <a:latin typeface="Times New Roman"/>
                <a:ea typeface="Times New Roman"/>
                <a:cs typeface="Times New Roman"/>
              </a:rPr>
              <a:t>Review 2 Presentation</a:t>
            </a:r>
          </a:p>
          <a:p xmlns:a="http://schemas.openxmlformats.org/drawingml/2006/main">
            <a:pPr marL="0" indent="0" algn="ctr">
              <a:buNone/>
              <a:defRPr sz="2475">
                <a:solidFill>
                  <a:srgbClr val="111111"/>
                </a:solidFill>
                <a:latin typeface="Times New Roman"/>
                <a:ea typeface="Times New Roman"/>
                <a:cs typeface="Times New Roman"/>
              </a:defRPr>
            </a:pPr>
            <a:r>
              <a:rPr sz="2475" b="1">
                <a:solidFill>
                  <a:srgbClr val="111111"/>
                </a:solidFill>
                <a:latin typeface="Times New Roman"/>
                <a:ea typeface="Times New Roman"/>
                <a:cs typeface="Times New Roman"/>
              </a:rPr>
              <a:t>Enhancing Emergency Response Through IoT-Integrated</a:t>
            </a:r>
          </a:p>
          <a:p xmlns:a="http://schemas.openxmlformats.org/drawingml/2006/main">
            <a:pPr marL="0" indent="0" algn="ctr">
              <a:buNone/>
              <a:defRPr sz="2475">
                <a:solidFill>
                  <a:srgbClr val="111111"/>
                </a:solidFill>
                <a:latin typeface="Times New Roman"/>
                <a:ea typeface="Times New Roman"/>
                <a:cs typeface="Times New Roman"/>
              </a:defRPr>
            </a:pPr>
            <a:r>
              <a:rPr sz="2475">
                <a:solidFill>
                  <a:srgbClr val="111111"/>
                </a:solidFill>
                <a:latin typeface="Times New Roman"/>
                <a:ea typeface="Times New Roman"/>
                <a:cs typeface="Times New Roman"/>
              </a:rPr>
              <a:t>Smart Ambulance and GPS Monitoring</a:t>
            </a:r>
            <a:endParaRPr b="1">
              <a:latin typeface="Times New Roman"/>
              <a:ea typeface="Times New Roman"/>
              <a:cs typeface="Times New Roman"/>
            </a:endParaRPr>
          </a:p>
          <a:p xmlns:a="http://schemas.openxmlformats.org/drawingml/2006/main">
            <a:pPr marL="0" indent="0" algn="ctr">
              <a:buNone/>
            </a:pPr>
            <a:r>
              <a:rPr sz="2400" b="1">
                <a:latin typeface="Times New Roman"/>
                <a:ea typeface="Times New Roman"/>
                <a:cs typeface="Times New Roman"/>
              </a:rPr>
              <a:t/>
            </a:r>
          </a:p>
          <a:p xmlns:a="http://schemas.openxmlformats.org/drawingml/2006/main">
            <a:pPr marL="0" indent="0" algn="ctr">
              <a:buNone/>
              <a:defRPr sz="2475">
                <a:solidFill>
                  <a:srgbClr val="111111"/>
                </a:solidFill>
                <a:latin typeface="Times New Roman"/>
                <a:ea typeface="Times New Roman"/>
                <a:cs typeface="Times New Roman"/>
              </a:defRPr>
            </a:pPr>
            <a:r>
              <a:rPr sz="2475">
                <a:solidFill>
                  <a:srgbClr val="111111"/>
                </a:solidFill>
                <a:latin typeface="Times New Roman"/>
                <a:ea typeface="Times New Roman"/>
                <a:cs typeface="Times New Roman"/>
              </a:rPr>
              <a:t>Rahul S (1NT23EC120)     Rakshita S Wagge (1NT23EC124)</a:t>
            </a:r>
          </a:p>
          <a:p xmlns:a="http://schemas.openxmlformats.org/drawingml/2006/main">
            <a:pPr marL="0" indent="0" algn="ctr">
              <a:buNone/>
            </a:pPr>
            <a:r>
              <a:rPr sz="2100">
                <a:latin typeface="Times New Roman"/>
                <a:ea typeface="Times New Roman"/>
                <a:cs typeface="Times New Roman"/>
              </a:rPr>
              <a:t/>
            </a:r>
          </a:p>
          <a:p xmlns:a="http://schemas.openxmlformats.org/drawingml/2006/main">
            <a:pPr marL="0" indent="0" algn="ctr">
              <a:buNone/>
              <a:defRPr sz="2475">
                <a:solidFill>
                  <a:srgbClr val="111111"/>
                </a:solidFill>
                <a:latin typeface="Times New Roman"/>
                <a:ea typeface="Times New Roman"/>
                <a:cs typeface="Times New Roman"/>
              </a:defRPr>
            </a:pPr>
            <a:r>
              <a:rPr sz="2475" b="1">
                <a:solidFill>
                  <a:srgbClr val="111111"/>
                </a:solidFill>
                <a:latin typeface="Times New Roman"/>
                <a:ea typeface="Times New Roman"/>
                <a:cs typeface="Times New Roman"/>
              </a:rPr>
              <a:t>Project Supervisor</a:t>
            </a:r>
          </a:p>
          <a:p xmlns:a="http://schemas.openxmlformats.org/drawingml/2006/main">
            <a:pPr marL="0" indent="0" algn="ctr">
              <a:buNone/>
              <a:defRPr sz="2475">
                <a:solidFill>
                  <a:srgbClr val="111111"/>
                </a:solidFill>
                <a:latin typeface="Times New Roman"/>
                <a:ea typeface="Times New Roman"/>
                <a:cs typeface="Times New Roman"/>
              </a:defRPr>
            </a:pPr>
            <a:r>
              <a:rPr sz="2475" b="1">
                <a:solidFill>
                  <a:srgbClr val="111111"/>
                </a:solidFill>
                <a:latin typeface="Times New Roman"/>
                <a:ea typeface="Times New Roman"/>
                <a:cs typeface="Times New Roman"/>
              </a:rPr>
              <a:t>Dr. Manjula B M, Professor</a:t>
            </a:r>
          </a:p>
          <a:p xmlns:a="http://schemas.openxmlformats.org/drawingml/2006/main">
            <a:pPr marL="0" indent="0" algn="ctr">
              <a:buNone/>
              <a:defRPr sz="2475">
                <a:solidFill>
                  <a:srgbClr val="111111"/>
                </a:solidFill>
                <a:latin typeface="Times New Roman"/>
                <a:ea typeface="Times New Roman"/>
                <a:cs typeface="Times New Roman"/>
              </a:defRPr>
            </a:pPr>
            <a:r>
              <a:rPr sz="2475">
                <a:solidFill>
                  <a:srgbClr val="111111"/>
                </a:solidFill>
                <a:latin typeface="Times New Roman"/>
                <a:ea typeface="Times New Roman"/>
                <a:cs typeface="Times New Roman"/>
              </a:rPr>
              <a:t>Department of Electronics and Communication Engineering</a:t>
            </a:r>
          </a:p>
          <a:p xmlns:a="http://schemas.openxmlformats.org/drawingml/2006/main">
            <a:pPr marL="0" indent="0" algn="ctr">
              <a:buNone/>
              <a:defRPr sz="2475">
                <a:solidFill>
                  <a:srgbClr val="111111"/>
                </a:solidFill>
                <a:latin typeface="Times New Roman"/>
                <a:ea typeface="Times New Roman"/>
                <a:cs typeface="Times New Roman"/>
              </a:defRPr>
            </a:pPr>
            <a:r>
              <a:rPr sz="2475">
                <a:solidFill>
                  <a:srgbClr val="111111"/>
                </a:solidFill>
                <a:latin typeface="Times New Roman"/>
                <a:ea typeface="Times New Roman"/>
                <a:cs typeface="Times New Roman"/>
              </a:rPr>
              <a:t>Nitte Meenakshi Institute of Technology, Bengaluru</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pic>
        <p:nvPicPr>
          <p:cNvPr id="6" name="Picture 5">
            <a:extLst xmlns:a="http://schemas.openxmlformats.org/drawingml/2006/main">
              <a:ext uri="{FF2B5EF4-FFF2-40B4-BE49-F238E27FC236}">
                <a16:creationId xmlns:a16="http://schemas.microsoft.com/office/drawing/2014/main" id="{FA948A98-4D54-41E4-9522-47118D2B7FB0}"/>
              </a:ext>
            </a:extLst>
          </p:cNvPr>
          <p:cNvPicPr>
            <a:picLocks xmlns:a="http://schemas.openxmlformats.org/drawingml/2006/main" noChangeAspect="1"/>
          </p:cNvPicPr>
          <p:nvPr/>
        </p:nvPicPr>
        <p:blipFill>
          <a:blip xmlns:r="http://schemas.openxmlformats.org/officeDocument/2006/relationships" xmlns:a="http://schemas.openxmlformats.org/drawingml/2006/main" r:embed="Reb090374d3a246d3"/>
          <a:stretch xmlns:a="http://schemas.openxmlformats.org/drawingml/2006/main">
            <a:fillRect l="0" t="0" r="0" b="0"/>
          </a:stretch>
        </p:blipFill>
        <p:spPr>
          <a:xfrm xmlns:a="http://schemas.openxmlformats.org/drawingml/2006/main">
            <a:off x="0" y="155183"/>
            <a:ext cx="3443603" cy="770103"/>
          </a:xfrm>
          <a:prstGeom xmlns:a="http://schemas.openxmlformats.org/drawingml/2006/main" prst="rect">
            <a:avLst/>
          </a:prstGeom>
        </p:spPr>
      </p:pic>
      <p:sp>
        <p:nvSpPr>
          <p:cNvPr id="7" name="1">
            <a:extLst xmlns:a="http://schemas.openxmlformats.org/drawingml/2006/main">
              <a:ext uri="{FF2B5EF4-FFF2-40B4-BE49-F238E27FC236}">
                <a16:creationId xmlns:a16="http://schemas.microsoft.com/office/drawing/2014/main" id="{13270C04-2162-4B55-B1F4-32919D482BFD}"/>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a:t>
            </a:r>
          </a:p>
        </p:txBody>
      </p:sp>
    </p:spTree>
    <p:extLst>
      <p:ext uri="{BB962C8B-B14F-4D97-AF65-F5344CB8AC3E}">
        <p14:creationId xmlns:p14="http://schemas.microsoft.com/office/powerpoint/2010/main" val="409725594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Presentation Outline</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1.  Objectives and system architecture">
            <a:extLst xmlns:a="http://schemas.openxmlformats.org/drawingml/2006/main">
              <a:ext uri="{FF2B5EF4-FFF2-40B4-BE49-F238E27FC236}">
                <a16:creationId xmlns:a16="http://schemas.microsoft.com/office/drawing/2014/main" id="{32F927BB-BEA1-4D5D-818E-0D0C852F7DCC}"/>
              </a:ext>
            </a:extLst>
          </p:cNvPr>
          <p:cNvSpPr>
            <a:spLocks xmlns:a="http://schemas.openxmlformats.org/drawingml/2006/main" noGrp="1"/>
          </p:cNvSpPr>
          <p:nvPr/>
        </p:nvSpPr>
        <p:spPr>
          <a:xfrm xmlns:a="http://schemas.openxmlformats.org/drawingml/2006/main">
            <a:off x="857250" y="13811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775" b="0">
                <a:solidFill>
                  <a:srgbClr val="111111"/>
                </a:solidFill>
                <a:latin typeface="Times New Roman"/>
                <a:ea typeface="Times New Roman"/>
                <a:cs typeface="Times New Roman"/>
              </a:defRPr>
            </a:defPPr>
            <a:lvl1pPr algn="l">
              <a:defRPr sz="2775" b="0">
                <a:solidFill>
                  <a:srgbClr val="111111"/>
                </a:solidFill>
                <a:latin typeface="Times New Roman"/>
                <a:ea typeface="Times New Roman"/>
                <a:cs typeface="Times New Roman"/>
              </a:defRPr>
            </a:lvl1pPr>
            <a:lvl2pPr algn="l">
              <a:defRPr sz="2775" b="0">
                <a:solidFill>
                  <a:srgbClr val="111111"/>
                </a:solidFill>
                <a:latin typeface="Times New Roman"/>
                <a:ea typeface="Times New Roman"/>
                <a:cs typeface="Times New Roman"/>
              </a:defRPr>
            </a:lvl2pPr>
            <a:lvl3pPr algn="l">
              <a:defRPr sz="2775" b="0">
                <a:solidFill>
                  <a:srgbClr val="111111"/>
                </a:solidFill>
                <a:latin typeface="Times New Roman"/>
                <a:ea typeface="Times New Roman"/>
                <a:cs typeface="Times New Roman"/>
              </a:defRPr>
            </a:lvl3pPr>
            <a:lvl4pPr algn="l">
              <a:defRPr sz="2775" b="0">
                <a:solidFill>
                  <a:srgbClr val="111111"/>
                </a:solidFill>
                <a:latin typeface="Times New Roman"/>
                <a:ea typeface="Times New Roman"/>
                <a:cs typeface="Times New Roman"/>
              </a:defRPr>
            </a:lvl4pPr>
            <a:lvl5pPr algn="l">
              <a:defRPr sz="2775" b="0">
                <a:solidFill>
                  <a:srgbClr val="111111"/>
                </a:solidFill>
                <a:latin typeface="Times New Roman"/>
                <a:ea typeface="Times New Roman"/>
                <a:cs typeface="Times New Roman"/>
              </a:defRPr>
            </a:lvl5pPr>
            <a:lvl6pPr algn="l">
              <a:defRPr sz="2775" b="0">
                <a:solidFill>
                  <a:srgbClr val="111111"/>
                </a:solidFill>
                <a:latin typeface="Times New Roman"/>
                <a:ea typeface="Times New Roman"/>
                <a:cs typeface="Times New Roman"/>
              </a:defRPr>
            </a:lvl6pPr>
            <a:lvl7pPr algn="l">
              <a:defRPr sz="2775" b="0">
                <a:solidFill>
                  <a:srgbClr val="111111"/>
                </a:solidFill>
                <a:latin typeface="Times New Roman"/>
                <a:ea typeface="Times New Roman"/>
                <a:cs typeface="Times New Roman"/>
              </a:defRPr>
            </a:lvl7pPr>
            <a:lvl8pPr algn="l">
              <a:defRPr sz="2775" b="0">
                <a:solidFill>
                  <a:srgbClr val="111111"/>
                </a:solidFill>
                <a:latin typeface="Times New Roman"/>
                <a:ea typeface="Times New Roman"/>
                <a:cs typeface="Times New Roman"/>
              </a:defRPr>
            </a:lvl8pPr>
            <a:lvl9pPr algn="l">
              <a:defRPr sz="2775" b="0">
                <a:solidFill>
                  <a:srgbClr val="111111"/>
                </a:solidFill>
                <a:latin typeface="Times New Roman"/>
                <a:ea typeface="Times New Roman"/>
                <a:cs typeface="Times New Roman"/>
              </a:defRPr>
            </a:lvl9pPr>
          </a:lstStyle>
          <a:p xmlns:a="http://schemas.openxmlformats.org/drawingml/2006/main">
            <a:pPr algn="l">
              <a:defRPr sz="2775" b="0">
                <a:solidFill>
                  <a:srgbClr val="111111"/>
                </a:solidFill>
                <a:latin typeface="Times New Roman"/>
                <a:ea typeface="Times New Roman"/>
                <a:cs typeface="Times New Roman"/>
              </a:defRPr>
            </a:pPr>
            <a:r>
              <a:rPr sz="2775" b="0">
                <a:solidFill>
                  <a:srgbClr val="111111"/>
                </a:solidFill>
                <a:latin typeface="Times New Roman"/>
                <a:ea typeface="Times New Roman"/>
                <a:cs typeface="Times New Roman"/>
              </a:rPr>
              <a:t>1.  Objectives and system architecture</a:t>
            </a:r>
          </a:p>
        </p:txBody>
      </p:sp>
      <p:sp>
        <p:nvSpPr>
          <p:cNvPr id="6" name="2.  BLE workflow and design comparison">
            <a:extLst xmlns:a="http://schemas.openxmlformats.org/drawingml/2006/main">
              <a:ext uri="{FF2B5EF4-FFF2-40B4-BE49-F238E27FC236}">
                <a16:creationId xmlns:a16="http://schemas.microsoft.com/office/drawing/2014/main" id="{CC8CE83A-459C-4757-A257-459EA9BCF5B5}"/>
              </a:ext>
            </a:extLst>
          </p:cNvPr>
          <p:cNvSpPr>
            <a:spLocks xmlns:a="http://schemas.openxmlformats.org/drawingml/2006/main" noGrp="1"/>
          </p:cNvSpPr>
          <p:nvPr/>
        </p:nvSpPr>
        <p:spPr>
          <a:xfrm xmlns:a="http://schemas.openxmlformats.org/drawingml/2006/main">
            <a:off x="857250" y="22002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775" b="0">
                <a:solidFill>
                  <a:srgbClr val="111111"/>
                </a:solidFill>
                <a:latin typeface="Times New Roman"/>
                <a:ea typeface="Times New Roman"/>
                <a:cs typeface="Times New Roman"/>
              </a:defRPr>
            </a:defPPr>
            <a:lvl1pPr algn="l">
              <a:defRPr sz="2775" b="0">
                <a:solidFill>
                  <a:srgbClr val="111111"/>
                </a:solidFill>
                <a:latin typeface="Times New Roman"/>
                <a:ea typeface="Times New Roman"/>
                <a:cs typeface="Times New Roman"/>
              </a:defRPr>
            </a:lvl1pPr>
            <a:lvl2pPr algn="l">
              <a:defRPr sz="2775" b="0">
                <a:solidFill>
                  <a:srgbClr val="111111"/>
                </a:solidFill>
                <a:latin typeface="Times New Roman"/>
                <a:ea typeface="Times New Roman"/>
                <a:cs typeface="Times New Roman"/>
              </a:defRPr>
            </a:lvl2pPr>
            <a:lvl3pPr algn="l">
              <a:defRPr sz="2775" b="0">
                <a:solidFill>
                  <a:srgbClr val="111111"/>
                </a:solidFill>
                <a:latin typeface="Times New Roman"/>
                <a:ea typeface="Times New Roman"/>
                <a:cs typeface="Times New Roman"/>
              </a:defRPr>
            </a:lvl3pPr>
            <a:lvl4pPr algn="l">
              <a:defRPr sz="2775" b="0">
                <a:solidFill>
                  <a:srgbClr val="111111"/>
                </a:solidFill>
                <a:latin typeface="Times New Roman"/>
                <a:ea typeface="Times New Roman"/>
                <a:cs typeface="Times New Roman"/>
              </a:defRPr>
            </a:lvl4pPr>
            <a:lvl5pPr algn="l">
              <a:defRPr sz="2775" b="0">
                <a:solidFill>
                  <a:srgbClr val="111111"/>
                </a:solidFill>
                <a:latin typeface="Times New Roman"/>
                <a:ea typeface="Times New Roman"/>
                <a:cs typeface="Times New Roman"/>
              </a:defRPr>
            </a:lvl5pPr>
            <a:lvl6pPr algn="l">
              <a:defRPr sz="2775" b="0">
                <a:solidFill>
                  <a:srgbClr val="111111"/>
                </a:solidFill>
                <a:latin typeface="Times New Roman"/>
                <a:ea typeface="Times New Roman"/>
                <a:cs typeface="Times New Roman"/>
              </a:defRPr>
            </a:lvl6pPr>
            <a:lvl7pPr algn="l">
              <a:defRPr sz="2775" b="0">
                <a:solidFill>
                  <a:srgbClr val="111111"/>
                </a:solidFill>
                <a:latin typeface="Times New Roman"/>
                <a:ea typeface="Times New Roman"/>
                <a:cs typeface="Times New Roman"/>
              </a:defRPr>
            </a:lvl7pPr>
            <a:lvl8pPr algn="l">
              <a:defRPr sz="2775" b="0">
                <a:solidFill>
                  <a:srgbClr val="111111"/>
                </a:solidFill>
                <a:latin typeface="Times New Roman"/>
                <a:ea typeface="Times New Roman"/>
                <a:cs typeface="Times New Roman"/>
              </a:defRPr>
            </a:lvl8pPr>
            <a:lvl9pPr algn="l">
              <a:defRPr sz="2775" b="0">
                <a:solidFill>
                  <a:srgbClr val="111111"/>
                </a:solidFill>
                <a:latin typeface="Times New Roman"/>
                <a:ea typeface="Times New Roman"/>
                <a:cs typeface="Times New Roman"/>
              </a:defRPr>
            </a:lvl9pPr>
          </a:lstStyle>
          <a:p xmlns:a="http://schemas.openxmlformats.org/drawingml/2006/main">
            <a:pPr algn="l">
              <a:defRPr sz="2775" b="0">
                <a:solidFill>
                  <a:srgbClr val="111111"/>
                </a:solidFill>
                <a:latin typeface="Times New Roman"/>
                <a:ea typeface="Times New Roman"/>
                <a:cs typeface="Times New Roman"/>
              </a:defRPr>
            </a:pPr>
            <a:r>
              <a:rPr sz="2775" b="0">
                <a:solidFill>
                  <a:srgbClr val="111111"/>
                </a:solidFill>
                <a:latin typeface="Times New Roman"/>
                <a:ea typeface="Times New Roman"/>
                <a:cs typeface="Times New Roman"/>
              </a:rPr>
              <a:t>2.  BLE workflow and design comparison</a:t>
            </a:r>
          </a:p>
        </p:txBody>
      </p:sp>
      <p:sp>
        <p:nvSpPr>
          <p:cNvPr id="7" name="3.  Requirements and validation plan">
            <a:extLst xmlns:a="http://schemas.openxmlformats.org/drawingml/2006/main">
              <a:ext uri="{FF2B5EF4-FFF2-40B4-BE49-F238E27FC236}">
                <a16:creationId xmlns:a16="http://schemas.microsoft.com/office/drawing/2014/main" id="{F4FE0103-0647-4275-AB44-0E4F7CD78B46}"/>
              </a:ext>
            </a:extLst>
          </p:cNvPr>
          <p:cNvSpPr>
            <a:spLocks xmlns:a="http://schemas.openxmlformats.org/drawingml/2006/main" noGrp="1"/>
          </p:cNvSpPr>
          <p:nvPr/>
        </p:nvSpPr>
        <p:spPr>
          <a:xfrm xmlns:a="http://schemas.openxmlformats.org/drawingml/2006/main">
            <a:off x="857250" y="30194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775" b="0">
                <a:solidFill>
                  <a:srgbClr val="111111"/>
                </a:solidFill>
                <a:latin typeface="Times New Roman"/>
                <a:ea typeface="Times New Roman"/>
                <a:cs typeface="Times New Roman"/>
              </a:defRPr>
            </a:defPPr>
            <a:lvl1pPr algn="l">
              <a:defRPr sz="2775" b="0">
                <a:solidFill>
                  <a:srgbClr val="111111"/>
                </a:solidFill>
                <a:latin typeface="Times New Roman"/>
                <a:ea typeface="Times New Roman"/>
                <a:cs typeface="Times New Roman"/>
              </a:defRPr>
            </a:lvl1pPr>
            <a:lvl2pPr algn="l">
              <a:defRPr sz="2775" b="0">
                <a:solidFill>
                  <a:srgbClr val="111111"/>
                </a:solidFill>
                <a:latin typeface="Times New Roman"/>
                <a:ea typeface="Times New Roman"/>
                <a:cs typeface="Times New Roman"/>
              </a:defRPr>
            </a:lvl2pPr>
            <a:lvl3pPr algn="l">
              <a:defRPr sz="2775" b="0">
                <a:solidFill>
                  <a:srgbClr val="111111"/>
                </a:solidFill>
                <a:latin typeface="Times New Roman"/>
                <a:ea typeface="Times New Roman"/>
                <a:cs typeface="Times New Roman"/>
              </a:defRPr>
            </a:lvl3pPr>
            <a:lvl4pPr algn="l">
              <a:defRPr sz="2775" b="0">
                <a:solidFill>
                  <a:srgbClr val="111111"/>
                </a:solidFill>
                <a:latin typeface="Times New Roman"/>
                <a:ea typeface="Times New Roman"/>
                <a:cs typeface="Times New Roman"/>
              </a:defRPr>
            </a:lvl4pPr>
            <a:lvl5pPr algn="l">
              <a:defRPr sz="2775" b="0">
                <a:solidFill>
                  <a:srgbClr val="111111"/>
                </a:solidFill>
                <a:latin typeface="Times New Roman"/>
                <a:ea typeface="Times New Roman"/>
                <a:cs typeface="Times New Roman"/>
              </a:defRPr>
            </a:lvl5pPr>
            <a:lvl6pPr algn="l">
              <a:defRPr sz="2775" b="0">
                <a:solidFill>
                  <a:srgbClr val="111111"/>
                </a:solidFill>
                <a:latin typeface="Times New Roman"/>
                <a:ea typeface="Times New Roman"/>
                <a:cs typeface="Times New Roman"/>
              </a:defRPr>
            </a:lvl6pPr>
            <a:lvl7pPr algn="l">
              <a:defRPr sz="2775" b="0">
                <a:solidFill>
                  <a:srgbClr val="111111"/>
                </a:solidFill>
                <a:latin typeface="Times New Roman"/>
                <a:ea typeface="Times New Roman"/>
                <a:cs typeface="Times New Roman"/>
              </a:defRPr>
            </a:lvl7pPr>
            <a:lvl8pPr algn="l">
              <a:defRPr sz="2775" b="0">
                <a:solidFill>
                  <a:srgbClr val="111111"/>
                </a:solidFill>
                <a:latin typeface="Times New Roman"/>
                <a:ea typeface="Times New Roman"/>
                <a:cs typeface="Times New Roman"/>
              </a:defRPr>
            </a:lvl8pPr>
            <a:lvl9pPr algn="l">
              <a:defRPr sz="2775" b="0">
                <a:solidFill>
                  <a:srgbClr val="111111"/>
                </a:solidFill>
                <a:latin typeface="Times New Roman"/>
                <a:ea typeface="Times New Roman"/>
                <a:cs typeface="Times New Roman"/>
              </a:defRPr>
            </a:lvl9pPr>
          </a:lstStyle>
          <a:p xmlns:a="http://schemas.openxmlformats.org/drawingml/2006/main">
            <a:pPr algn="l">
              <a:defRPr sz="2775" b="0">
                <a:solidFill>
                  <a:srgbClr val="111111"/>
                </a:solidFill>
                <a:latin typeface="Times New Roman"/>
                <a:ea typeface="Times New Roman"/>
                <a:cs typeface="Times New Roman"/>
              </a:defRPr>
            </a:pPr>
            <a:r>
              <a:rPr sz="2775" b="0">
                <a:solidFill>
                  <a:srgbClr val="111111"/>
                </a:solidFill>
                <a:latin typeface="Times New Roman"/>
                <a:ea typeface="Times New Roman"/>
                <a:cs typeface="Times New Roman"/>
              </a:rPr>
              <a:t>3.  Requirements and validation plan</a:t>
            </a:r>
          </a:p>
        </p:txBody>
      </p:sp>
      <p:sp>
        <p:nvSpPr>
          <p:cNvPr id="8" name="4.  Implementation status and evidence">
            <a:extLst xmlns:a="http://schemas.openxmlformats.org/drawingml/2006/main">
              <a:ext uri="{FF2B5EF4-FFF2-40B4-BE49-F238E27FC236}">
                <a16:creationId xmlns:a16="http://schemas.microsoft.com/office/drawing/2014/main" id="{1D54518E-1196-427A-B018-AF130179765D}"/>
              </a:ext>
            </a:extLst>
          </p:cNvPr>
          <p:cNvSpPr>
            <a:spLocks xmlns:a="http://schemas.openxmlformats.org/drawingml/2006/main" noGrp="1"/>
          </p:cNvSpPr>
          <p:nvPr/>
        </p:nvSpPr>
        <p:spPr>
          <a:xfrm xmlns:a="http://schemas.openxmlformats.org/drawingml/2006/main">
            <a:off x="857250" y="38385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775" b="0">
                <a:solidFill>
                  <a:srgbClr val="111111"/>
                </a:solidFill>
                <a:latin typeface="Times New Roman"/>
                <a:ea typeface="Times New Roman"/>
                <a:cs typeface="Times New Roman"/>
              </a:defRPr>
            </a:defPPr>
            <a:lvl1pPr algn="l">
              <a:defRPr sz="2775" b="0">
                <a:solidFill>
                  <a:srgbClr val="111111"/>
                </a:solidFill>
                <a:latin typeface="Times New Roman"/>
                <a:ea typeface="Times New Roman"/>
                <a:cs typeface="Times New Roman"/>
              </a:defRPr>
            </a:lvl1pPr>
            <a:lvl2pPr algn="l">
              <a:defRPr sz="2775" b="0">
                <a:solidFill>
                  <a:srgbClr val="111111"/>
                </a:solidFill>
                <a:latin typeface="Times New Roman"/>
                <a:ea typeface="Times New Roman"/>
                <a:cs typeface="Times New Roman"/>
              </a:defRPr>
            </a:lvl2pPr>
            <a:lvl3pPr algn="l">
              <a:defRPr sz="2775" b="0">
                <a:solidFill>
                  <a:srgbClr val="111111"/>
                </a:solidFill>
                <a:latin typeface="Times New Roman"/>
                <a:ea typeface="Times New Roman"/>
                <a:cs typeface="Times New Roman"/>
              </a:defRPr>
            </a:lvl3pPr>
            <a:lvl4pPr algn="l">
              <a:defRPr sz="2775" b="0">
                <a:solidFill>
                  <a:srgbClr val="111111"/>
                </a:solidFill>
                <a:latin typeface="Times New Roman"/>
                <a:ea typeface="Times New Roman"/>
                <a:cs typeface="Times New Roman"/>
              </a:defRPr>
            </a:lvl4pPr>
            <a:lvl5pPr algn="l">
              <a:defRPr sz="2775" b="0">
                <a:solidFill>
                  <a:srgbClr val="111111"/>
                </a:solidFill>
                <a:latin typeface="Times New Roman"/>
                <a:ea typeface="Times New Roman"/>
                <a:cs typeface="Times New Roman"/>
              </a:defRPr>
            </a:lvl5pPr>
            <a:lvl6pPr algn="l">
              <a:defRPr sz="2775" b="0">
                <a:solidFill>
                  <a:srgbClr val="111111"/>
                </a:solidFill>
                <a:latin typeface="Times New Roman"/>
                <a:ea typeface="Times New Roman"/>
                <a:cs typeface="Times New Roman"/>
              </a:defRPr>
            </a:lvl6pPr>
            <a:lvl7pPr algn="l">
              <a:defRPr sz="2775" b="0">
                <a:solidFill>
                  <a:srgbClr val="111111"/>
                </a:solidFill>
                <a:latin typeface="Times New Roman"/>
                <a:ea typeface="Times New Roman"/>
                <a:cs typeface="Times New Roman"/>
              </a:defRPr>
            </a:lvl7pPr>
            <a:lvl8pPr algn="l">
              <a:defRPr sz="2775" b="0">
                <a:solidFill>
                  <a:srgbClr val="111111"/>
                </a:solidFill>
                <a:latin typeface="Times New Roman"/>
                <a:ea typeface="Times New Roman"/>
                <a:cs typeface="Times New Roman"/>
              </a:defRPr>
            </a:lvl8pPr>
            <a:lvl9pPr algn="l">
              <a:defRPr sz="2775" b="0">
                <a:solidFill>
                  <a:srgbClr val="111111"/>
                </a:solidFill>
                <a:latin typeface="Times New Roman"/>
                <a:ea typeface="Times New Roman"/>
                <a:cs typeface="Times New Roman"/>
              </a:defRPr>
            </a:lvl9pPr>
          </a:lstStyle>
          <a:p xmlns:a="http://schemas.openxmlformats.org/drawingml/2006/main">
            <a:pPr algn="l">
              <a:defRPr sz="2775" b="0">
                <a:solidFill>
                  <a:srgbClr val="111111"/>
                </a:solidFill>
                <a:latin typeface="Times New Roman"/>
                <a:ea typeface="Times New Roman"/>
                <a:cs typeface="Times New Roman"/>
              </a:defRPr>
            </a:pPr>
            <a:r>
              <a:rPr sz="2775" b="0">
                <a:solidFill>
                  <a:srgbClr val="111111"/>
                </a:solidFill>
                <a:latin typeface="Times New Roman"/>
                <a:ea typeface="Times New Roman"/>
                <a:cs typeface="Times New Roman"/>
              </a:rPr>
              <a:t>4.  Implementation status and evidence</a:t>
            </a:r>
          </a:p>
        </p:txBody>
      </p:sp>
      <p:sp>
        <p:nvSpPr>
          <p:cNvPr id="9" name="5.  Conclusion and future work">
            <a:extLst xmlns:a="http://schemas.openxmlformats.org/drawingml/2006/main">
              <a:ext uri="{FF2B5EF4-FFF2-40B4-BE49-F238E27FC236}">
                <a16:creationId xmlns:a16="http://schemas.microsoft.com/office/drawing/2014/main" id="{7C4F2216-4FEA-4B93-A7F3-DE2DF6DD031E}"/>
              </a:ext>
            </a:extLst>
          </p:cNvPr>
          <p:cNvSpPr>
            <a:spLocks xmlns:a="http://schemas.openxmlformats.org/drawingml/2006/main" noGrp="1"/>
          </p:cNvSpPr>
          <p:nvPr/>
        </p:nvSpPr>
        <p:spPr>
          <a:xfrm xmlns:a="http://schemas.openxmlformats.org/drawingml/2006/main">
            <a:off x="857250" y="46577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775" b="0">
                <a:solidFill>
                  <a:srgbClr val="111111"/>
                </a:solidFill>
                <a:latin typeface="Times New Roman"/>
                <a:ea typeface="Times New Roman"/>
                <a:cs typeface="Times New Roman"/>
              </a:defRPr>
            </a:defPPr>
            <a:lvl1pPr algn="l">
              <a:defRPr sz="2775" b="0">
                <a:solidFill>
                  <a:srgbClr val="111111"/>
                </a:solidFill>
                <a:latin typeface="Times New Roman"/>
                <a:ea typeface="Times New Roman"/>
                <a:cs typeface="Times New Roman"/>
              </a:defRPr>
            </a:lvl1pPr>
            <a:lvl2pPr algn="l">
              <a:defRPr sz="2775" b="0">
                <a:solidFill>
                  <a:srgbClr val="111111"/>
                </a:solidFill>
                <a:latin typeface="Times New Roman"/>
                <a:ea typeface="Times New Roman"/>
                <a:cs typeface="Times New Roman"/>
              </a:defRPr>
            </a:lvl2pPr>
            <a:lvl3pPr algn="l">
              <a:defRPr sz="2775" b="0">
                <a:solidFill>
                  <a:srgbClr val="111111"/>
                </a:solidFill>
                <a:latin typeface="Times New Roman"/>
                <a:ea typeface="Times New Roman"/>
                <a:cs typeface="Times New Roman"/>
              </a:defRPr>
            </a:lvl3pPr>
            <a:lvl4pPr algn="l">
              <a:defRPr sz="2775" b="0">
                <a:solidFill>
                  <a:srgbClr val="111111"/>
                </a:solidFill>
                <a:latin typeface="Times New Roman"/>
                <a:ea typeface="Times New Roman"/>
                <a:cs typeface="Times New Roman"/>
              </a:defRPr>
            </a:lvl4pPr>
            <a:lvl5pPr algn="l">
              <a:defRPr sz="2775" b="0">
                <a:solidFill>
                  <a:srgbClr val="111111"/>
                </a:solidFill>
                <a:latin typeface="Times New Roman"/>
                <a:ea typeface="Times New Roman"/>
                <a:cs typeface="Times New Roman"/>
              </a:defRPr>
            </a:lvl5pPr>
            <a:lvl6pPr algn="l">
              <a:defRPr sz="2775" b="0">
                <a:solidFill>
                  <a:srgbClr val="111111"/>
                </a:solidFill>
                <a:latin typeface="Times New Roman"/>
                <a:ea typeface="Times New Roman"/>
                <a:cs typeface="Times New Roman"/>
              </a:defRPr>
            </a:lvl6pPr>
            <a:lvl7pPr algn="l">
              <a:defRPr sz="2775" b="0">
                <a:solidFill>
                  <a:srgbClr val="111111"/>
                </a:solidFill>
                <a:latin typeface="Times New Roman"/>
                <a:ea typeface="Times New Roman"/>
                <a:cs typeface="Times New Roman"/>
              </a:defRPr>
            </a:lvl7pPr>
            <a:lvl8pPr algn="l">
              <a:defRPr sz="2775" b="0">
                <a:solidFill>
                  <a:srgbClr val="111111"/>
                </a:solidFill>
                <a:latin typeface="Times New Roman"/>
                <a:ea typeface="Times New Roman"/>
                <a:cs typeface="Times New Roman"/>
              </a:defRPr>
            </a:lvl8pPr>
            <a:lvl9pPr algn="l">
              <a:defRPr sz="2775" b="0">
                <a:solidFill>
                  <a:srgbClr val="111111"/>
                </a:solidFill>
                <a:latin typeface="Times New Roman"/>
                <a:ea typeface="Times New Roman"/>
                <a:cs typeface="Times New Roman"/>
              </a:defRPr>
            </a:lvl9pPr>
          </a:lstStyle>
          <a:p xmlns:a="http://schemas.openxmlformats.org/drawingml/2006/main">
            <a:pPr algn="l">
              <a:defRPr sz="2775" b="0">
                <a:solidFill>
                  <a:srgbClr val="111111"/>
                </a:solidFill>
                <a:latin typeface="Times New Roman"/>
                <a:ea typeface="Times New Roman"/>
                <a:cs typeface="Times New Roman"/>
              </a:defRPr>
            </a:pPr>
            <a:r>
              <a:rPr sz="2775" b="0">
                <a:solidFill>
                  <a:srgbClr val="111111"/>
                </a:solidFill>
                <a:latin typeface="Times New Roman"/>
                <a:ea typeface="Times New Roman"/>
                <a:cs typeface="Times New Roman"/>
              </a:rPr>
              <a:t>5.  Conclusion and future work</a:t>
            </a:r>
          </a:p>
        </p:txBody>
      </p:sp>
      <p:sp>
        <p:nvSpPr>
          <p:cNvPr id="10" name="2">
            <a:extLst xmlns:a="http://schemas.openxmlformats.org/drawingml/2006/main">
              <a:ext uri="{FF2B5EF4-FFF2-40B4-BE49-F238E27FC236}">
                <a16:creationId xmlns:a16="http://schemas.microsoft.com/office/drawing/2014/main" id="{DAF550DB-0CE1-4A5F-9A22-5704E8396910}"/>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2</a:t>
            </a:r>
          </a:p>
        </p:txBody>
      </p:sp>
    </p:spTree>
    <p:extLst>
      <p:ext uri="{BB962C8B-B14F-4D97-AF65-F5344CB8AC3E}">
        <p14:creationId xmlns:p14="http://schemas.microsoft.com/office/powerpoint/2010/main" val="173359637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Project Objectives</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Communication">
            <a:extLst xmlns:a="http://schemas.openxmlformats.org/drawingml/2006/main">
              <a:ext uri="{FF2B5EF4-FFF2-40B4-BE49-F238E27FC236}">
                <a16:creationId xmlns:a16="http://schemas.microsoft.com/office/drawing/2014/main" id="{64D7F758-97C6-4EA3-B9FC-9868411A17D4}"/>
              </a:ext>
            </a:extLst>
          </p:cNvPr>
          <p:cNvSpPr>
            <a:spLocks xmlns:a="http://schemas.openxmlformats.org/drawingml/2006/main" noGrp="1"/>
          </p:cNvSpPr>
          <p:nvPr/>
        </p:nvSpPr>
        <p:spPr>
          <a:xfrm xmlns:a="http://schemas.openxmlformats.org/drawingml/2006/main">
            <a:off x="619125" y="1190625"/>
            <a:ext cx="247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400" b="1">
                <a:solidFill>
                  <a:srgbClr val="002060"/>
                </a:solidFill>
                <a:latin typeface="Times New Roman"/>
                <a:ea typeface="Times New Roman"/>
                <a:cs typeface="Times New Roman"/>
              </a:defRPr>
            </a:defPPr>
            <a:lvl1pPr algn="l">
              <a:defRPr sz="2400" b="1">
                <a:solidFill>
                  <a:srgbClr val="002060"/>
                </a:solidFill>
                <a:latin typeface="Times New Roman"/>
                <a:ea typeface="Times New Roman"/>
                <a:cs typeface="Times New Roman"/>
              </a:defRPr>
            </a:lvl1pPr>
            <a:lvl2pPr algn="l">
              <a:defRPr sz="2400" b="1">
                <a:solidFill>
                  <a:srgbClr val="002060"/>
                </a:solidFill>
                <a:latin typeface="Times New Roman"/>
                <a:ea typeface="Times New Roman"/>
                <a:cs typeface="Times New Roman"/>
              </a:defRPr>
            </a:lvl2pPr>
            <a:lvl3pPr algn="l">
              <a:defRPr sz="2400" b="1">
                <a:solidFill>
                  <a:srgbClr val="002060"/>
                </a:solidFill>
                <a:latin typeface="Times New Roman"/>
                <a:ea typeface="Times New Roman"/>
                <a:cs typeface="Times New Roman"/>
              </a:defRPr>
            </a:lvl3pPr>
            <a:lvl4pPr algn="l">
              <a:defRPr sz="2400" b="1">
                <a:solidFill>
                  <a:srgbClr val="002060"/>
                </a:solidFill>
                <a:latin typeface="Times New Roman"/>
                <a:ea typeface="Times New Roman"/>
                <a:cs typeface="Times New Roman"/>
              </a:defRPr>
            </a:lvl4pPr>
            <a:lvl5pPr algn="l">
              <a:defRPr sz="2400" b="1">
                <a:solidFill>
                  <a:srgbClr val="002060"/>
                </a:solidFill>
                <a:latin typeface="Times New Roman"/>
                <a:ea typeface="Times New Roman"/>
                <a:cs typeface="Times New Roman"/>
              </a:defRPr>
            </a:lvl5pPr>
            <a:lvl6pPr algn="l">
              <a:defRPr sz="2400" b="1">
                <a:solidFill>
                  <a:srgbClr val="002060"/>
                </a:solidFill>
                <a:latin typeface="Times New Roman"/>
                <a:ea typeface="Times New Roman"/>
                <a:cs typeface="Times New Roman"/>
              </a:defRPr>
            </a:lvl6pPr>
            <a:lvl7pPr algn="l">
              <a:defRPr sz="2400" b="1">
                <a:solidFill>
                  <a:srgbClr val="002060"/>
                </a:solidFill>
                <a:latin typeface="Times New Roman"/>
                <a:ea typeface="Times New Roman"/>
                <a:cs typeface="Times New Roman"/>
              </a:defRPr>
            </a:lvl7pPr>
            <a:lvl8pPr algn="l">
              <a:defRPr sz="2400" b="1">
                <a:solidFill>
                  <a:srgbClr val="002060"/>
                </a:solidFill>
                <a:latin typeface="Times New Roman"/>
                <a:ea typeface="Times New Roman"/>
                <a:cs typeface="Times New Roman"/>
              </a:defRPr>
            </a:lvl8pPr>
            <a:lvl9pPr algn="l">
              <a:defRPr sz="2400" b="1">
                <a:solidFill>
                  <a:srgbClr val="002060"/>
                </a:solidFill>
                <a:latin typeface="Times New Roman"/>
                <a:ea typeface="Times New Roman"/>
                <a:cs typeface="Times New Roman"/>
              </a:defRPr>
            </a:lvl9pPr>
          </a:lstStyle>
          <a:p xmlns:a="http://schemas.openxmlformats.org/drawingml/2006/main">
            <a:pPr algn="l">
              <a:defRPr sz="2400" b="1">
                <a:solidFill>
                  <a:srgbClr val="002060"/>
                </a:solidFill>
                <a:latin typeface="Times New Roman"/>
                <a:ea typeface="Times New Roman"/>
                <a:cs typeface="Times New Roman"/>
              </a:defRPr>
            </a:pPr>
            <a:r>
              <a:rPr sz="2400" b="1">
                <a:solidFill>
                  <a:srgbClr val="002060"/>
                </a:solidFill>
                <a:latin typeface="Times New Roman"/>
                <a:ea typeface="Times New Roman"/>
                <a:cs typeface="Times New Roman"/>
              </a:rPr>
              <a:t>Communication</a:t>
            </a:r>
          </a:p>
        </p:txBody>
      </p:sp>
      <p:sp>
        <p:nvSpPr>
          <p:cNvPr id="6" name="BLE gateway with MQTT over TLS and CoAP fallb">
            <a:extLst xmlns:a="http://schemas.openxmlformats.org/drawingml/2006/main">
              <a:ext uri="{FF2B5EF4-FFF2-40B4-BE49-F238E27FC236}">
                <a16:creationId xmlns:a16="http://schemas.microsoft.com/office/drawing/2014/main" id="{14919CA2-AEB0-4FB4-A67F-D6352E542F60}"/>
              </a:ext>
            </a:extLst>
          </p:cNvPr>
          <p:cNvSpPr>
            <a:spLocks xmlns:a="http://schemas.openxmlformats.org/drawingml/2006/main" noGrp="1"/>
          </p:cNvSpPr>
          <p:nvPr/>
        </p:nvSpPr>
        <p:spPr>
          <a:xfrm xmlns:a="http://schemas.openxmlformats.org/drawingml/2006/main">
            <a:off x="3238500" y="1190625"/>
            <a:ext cx="828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400" b="0">
                <a:solidFill>
                  <a:srgbClr val="111111"/>
                </a:solidFill>
                <a:latin typeface="Times New Roman"/>
                <a:ea typeface="Times New Roman"/>
                <a:cs typeface="Times New Roman"/>
              </a:defRPr>
            </a:defPPr>
            <a:lvl1pPr algn="l">
              <a:defRPr sz="2400" b="0">
                <a:solidFill>
                  <a:srgbClr val="111111"/>
                </a:solidFill>
                <a:latin typeface="Times New Roman"/>
                <a:ea typeface="Times New Roman"/>
                <a:cs typeface="Times New Roman"/>
              </a:defRPr>
            </a:lvl1pPr>
            <a:lvl2pPr algn="l">
              <a:defRPr sz="2400" b="0">
                <a:solidFill>
                  <a:srgbClr val="111111"/>
                </a:solidFill>
                <a:latin typeface="Times New Roman"/>
                <a:ea typeface="Times New Roman"/>
                <a:cs typeface="Times New Roman"/>
              </a:defRPr>
            </a:lvl2pPr>
            <a:lvl3pPr algn="l">
              <a:defRPr sz="2400" b="0">
                <a:solidFill>
                  <a:srgbClr val="111111"/>
                </a:solidFill>
                <a:latin typeface="Times New Roman"/>
                <a:ea typeface="Times New Roman"/>
                <a:cs typeface="Times New Roman"/>
              </a:defRPr>
            </a:lvl3pPr>
            <a:lvl4pPr algn="l">
              <a:defRPr sz="2400" b="0">
                <a:solidFill>
                  <a:srgbClr val="111111"/>
                </a:solidFill>
                <a:latin typeface="Times New Roman"/>
                <a:ea typeface="Times New Roman"/>
                <a:cs typeface="Times New Roman"/>
              </a:defRPr>
            </a:lvl4pPr>
            <a:lvl5pPr algn="l">
              <a:defRPr sz="2400" b="0">
                <a:solidFill>
                  <a:srgbClr val="111111"/>
                </a:solidFill>
                <a:latin typeface="Times New Roman"/>
                <a:ea typeface="Times New Roman"/>
                <a:cs typeface="Times New Roman"/>
              </a:defRPr>
            </a:lvl5pPr>
            <a:lvl6pPr algn="l">
              <a:defRPr sz="2400" b="0">
                <a:solidFill>
                  <a:srgbClr val="111111"/>
                </a:solidFill>
                <a:latin typeface="Times New Roman"/>
                <a:ea typeface="Times New Roman"/>
                <a:cs typeface="Times New Roman"/>
              </a:defRPr>
            </a:lvl6pPr>
            <a:lvl7pPr algn="l">
              <a:defRPr sz="2400" b="0">
                <a:solidFill>
                  <a:srgbClr val="111111"/>
                </a:solidFill>
                <a:latin typeface="Times New Roman"/>
                <a:ea typeface="Times New Roman"/>
                <a:cs typeface="Times New Roman"/>
              </a:defRPr>
            </a:lvl7pPr>
            <a:lvl8pPr algn="l">
              <a:defRPr sz="2400" b="0">
                <a:solidFill>
                  <a:srgbClr val="111111"/>
                </a:solidFill>
                <a:latin typeface="Times New Roman"/>
                <a:ea typeface="Times New Roman"/>
                <a:cs typeface="Times New Roman"/>
              </a:defRPr>
            </a:lvl8pPr>
            <a:lvl9pPr algn="l">
              <a:defRPr sz="2400" b="0">
                <a:solidFill>
                  <a:srgbClr val="111111"/>
                </a:solidFill>
                <a:latin typeface="Times New Roman"/>
                <a:ea typeface="Times New Roman"/>
                <a:cs typeface="Times New Roman"/>
              </a:defRPr>
            </a:lvl9pPr>
          </a:lstStyle>
          <a:p xmlns:a="http://schemas.openxmlformats.org/drawingml/2006/main">
            <a:pPr algn="l">
              <a:defRPr sz="2400" b="0">
                <a:solidFill>
                  <a:srgbClr val="111111"/>
                </a:solidFill>
                <a:latin typeface="Times New Roman"/>
                <a:ea typeface="Times New Roman"/>
                <a:cs typeface="Times New Roman"/>
              </a:defRPr>
            </a:pPr>
            <a:r>
              <a:rPr sz="2400" b="0">
                <a:solidFill>
                  <a:srgbClr val="111111"/>
                </a:solidFill>
                <a:latin typeface="Times New Roman"/>
                <a:ea typeface="Times New Roman"/>
                <a:cs typeface="Times New Roman"/>
              </a:rPr>
              <a:t>BLE gateway with MQTT over TLS and CoAP fallback</a:t>
            </a:r>
          </a:p>
        </p:txBody>
      </p:sp>
      <p:sp>
        <p:nvSpPr>
          <p:cNvPr id="7" name="Monitoring">
            <a:extLst xmlns:a="http://schemas.openxmlformats.org/drawingml/2006/main">
              <a:ext uri="{FF2B5EF4-FFF2-40B4-BE49-F238E27FC236}">
                <a16:creationId xmlns:a16="http://schemas.microsoft.com/office/drawing/2014/main" id="{4D91FAE9-C67A-4D45-9F48-D4F9E224C2D3}"/>
              </a:ext>
            </a:extLst>
          </p:cNvPr>
          <p:cNvSpPr>
            <a:spLocks xmlns:a="http://schemas.openxmlformats.org/drawingml/2006/main" noGrp="1"/>
          </p:cNvSpPr>
          <p:nvPr/>
        </p:nvSpPr>
        <p:spPr>
          <a:xfrm xmlns:a="http://schemas.openxmlformats.org/drawingml/2006/main">
            <a:off x="619125" y="2124075"/>
            <a:ext cx="247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400" b="1">
                <a:solidFill>
                  <a:srgbClr val="002060"/>
                </a:solidFill>
                <a:latin typeface="Times New Roman"/>
                <a:ea typeface="Times New Roman"/>
                <a:cs typeface="Times New Roman"/>
              </a:defRPr>
            </a:defPPr>
            <a:lvl1pPr algn="l">
              <a:defRPr sz="2400" b="1">
                <a:solidFill>
                  <a:srgbClr val="002060"/>
                </a:solidFill>
                <a:latin typeface="Times New Roman"/>
                <a:ea typeface="Times New Roman"/>
                <a:cs typeface="Times New Roman"/>
              </a:defRPr>
            </a:lvl1pPr>
            <a:lvl2pPr algn="l">
              <a:defRPr sz="2400" b="1">
                <a:solidFill>
                  <a:srgbClr val="002060"/>
                </a:solidFill>
                <a:latin typeface="Times New Roman"/>
                <a:ea typeface="Times New Roman"/>
                <a:cs typeface="Times New Roman"/>
              </a:defRPr>
            </a:lvl2pPr>
            <a:lvl3pPr algn="l">
              <a:defRPr sz="2400" b="1">
                <a:solidFill>
                  <a:srgbClr val="002060"/>
                </a:solidFill>
                <a:latin typeface="Times New Roman"/>
                <a:ea typeface="Times New Roman"/>
                <a:cs typeface="Times New Roman"/>
              </a:defRPr>
            </a:lvl3pPr>
            <a:lvl4pPr algn="l">
              <a:defRPr sz="2400" b="1">
                <a:solidFill>
                  <a:srgbClr val="002060"/>
                </a:solidFill>
                <a:latin typeface="Times New Roman"/>
                <a:ea typeface="Times New Roman"/>
                <a:cs typeface="Times New Roman"/>
              </a:defRPr>
            </a:lvl4pPr>
            <a:lvl5pPr algn="l">
              <a:defRPr sz="2400" b="1">
                <a:solidFill>
                  <a:srgbClr val="002060"/>
                </a:solidFill>
                <a:latin typeface="Times New Roman"/>
                <a:ea typeface="Times New Roman"/>
                <a:cs typeface="Times New Roman"/>
              </a:defRPr>
            </a:lvl5pPr>
            <a:lvl6pPr algn="l">
              <a:defRPr sz="2400" b="1">
                <a:solidFill>
                  <a:srgbClr val="002060"/>
                </a:solidFill>
                <a:latin typeface="Times New Roman"/>
                <a:ea typeface="Times New Roman"/>
                <a:cs typeface="Times New Roman"/>
              </a:defRPr>
            </a:lvl6pPr>
            <a:lvl7pPr algn="l">
              <a:defRPr sz="2400" b="1">
                <a:solidFill>
                  <a:srgbClr val="002060"/>
                </a:solidFill>
                <a:latin typeface="Times New Roman"/>
                <a:ea typeface="Times New Roman"/>
                <a:cs typeface="Times New Roman"/>
              </a:defRPr>
            </a:lvl7pPr>
            <a:lvl8pPr algn="l">
              <a:defRPr sz="2400" b="1">
                <a:solidFill>
                  <a:srgbClr val="002060"/>
                </a:solidFill>
                <a:latin typeface="Times New Roman"/>
                <a:ea typeface="Times New Roman"/>
                <a:cs typeface="Times New Roman"/>
              </a:defRPr>
            </a:lvl8pPr>
            <a:lvl9pPr algn="l">
              <a:defRPr sz="2400" b="1">
                <a:solidFill>
                  <a:srgbClr val="002060"/>
                </a:solidFill>
                <a:latin typeface="Times New Roman"/>
                <a:ea typeface="Times New Roman"/>
                <a:cs typeface="Times New Roman"/>
              </a:defRPr>
            </a:lvl9pPr>
          </a:lstStyle>
          <a:p xmlns:a="http://schemas.openxmlformats.org/drawingml/2006/main">
            <a:pPr algn="l">
              <a:defRPr sz="2400" b="1">
                <a:solidFill>
                  <a:srgbClr val="002060"/>
                </a:solidFill>
                <a:latin typeface="Times New Roman"/>
                <a:ea typeface="Times New Roman"/>
                <a:cs typeface="Times New Roman"/>
              </a:defRPr>
            </a:pPr>
            <a:r>
              <a:rPr sz="2400" b="1">
                <a:solidFill>
                  <a:srgbClr val="002060"/>
                </a:solidFill>
                <a:latin typeface="Times New Roman"/>
                <a:ea typeface="Times New Roman"/>
                <a:cs typeface="Times New Roman"/>
              </a:rPr>
              <a:t>Monitoring</a:t>
            </a:r>
          </a:p>
        </p:txBody>
      </p:sp>
      <p:sp>
        <p:nvSpPr>
          <p:cNvPr id="8" name="Integrate patient sensors and local display">
            <a:extLst xmlns:a="http://schemas.openxmlformats.org/drawingml/2006/main">
              <a:ext uri="{FF2B5EF4-FFF2-40B4-BE49-F238E27FC236}">
                <a16:creationId xmlns:a16="http://schemas.microsoft.com/office/drawing/2014/main" id="{0EDAD152-C732-473F-B572-740CEA4D625A}"/>
              </a:ext>
            </a:extLst>
          </p:cNvPr>
          <p:cNvSpPr>
            <a:spLocks xmlns:a="http://schemas.openxmlformats.org/drawingml/2006/main" noGrp="1"/>
          </p:cNvSpPr>
          <p:nvPr/>
        </p:nvSpPr>
        <p:spPr>
          <a:xfrm xmlns:a="http://schemas.openxmlformats.org/drawingml/2006/main">
            <a:off x="3238500" y="2124075"/>
            <a:ext cx="828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400" b="0">
                <a:solidFill>
                  <a:srgbClr val="111111"/>
                </a:solidFill>
                <a:latin typeface="Times New Roman"/>
                <a:ea typeface="Times New Roman"/>
                <a:cs typeface="Times New Roman"/>
              </a:defRPr>
            </a:defPPr>
            <a:lvl1pPr algn="l">
              <a:defRPr sz="2400" b="0">
                <a:solidFill>
                  <a:srgbClr val="111111"/>
                </a:solidFill>
                <a:latin typeface="Times New Roman"/>
                <a:ea typeface="Times New Roman"/>
                <a:cs typeface="Times New Roman"/>
              </a:defRPr>
            </a:lvl1pPr>
            <a:lvl2pPr algn="l">
              <a:defRPr sz="2400" b="0">
                <a:solidFill>
                  <a:srgbClr val="111111"/>
                </a:solidFill>
                <a:latin typeface="Times New Roman"/>
                <a:ea typeface="Times New Roman"/>
                <a:cs typeface="Times New Roman"/>
              </a:defRPr>
            </a:lvl2pPr>
            <a:lvl3pPr algn="l">
              <a:defRPr sz="2400" b="0">
                <a:solidFill>
                  <a:srgbClr val="111111"/>
                </a:solidFill>
                <a:latin typeface="Times New Roman"/>
                <a:ea typeface="Times New Roman"/>
                <a:cs typeface="Times New Roman"/>
              </a:defRPr>
            </a:lvl3pPr>
            <a:lvl4pPr algn="l">
              <a:defRPr sz="2400" b="0">
                <a:solidFill>
                  <a:srgbClr val="111111"/>
                </a:solidFill>
                <a:latin typeface="Times New Roman"/>
                <a:ea typeface="Times New Roman"/>
                <a:cs typeface="Times New Roman"/>
              </a:defRPr>
            </a:lvl4pPr>
            <a:lvl5pPr algn="l">
              <a:defRPr sz="2400" b="0">
                <a:solidFill>
                  <a:srgbClr val="111111"/>
                </a:solidFill>
                <a:latin typeface="Times New Roman"/>
                <a:ea typeface="Times New Roman"/>
                <a:cs typeface="Times New Roman"/>
              </a:defRPr>
            </a:lvl5pPr>
            <a:lvl6pPr algn="l">
              <a:defRPr sz="2400" b="0">
                <a:solidFill>
                  <a:srgbClr val="111111"/>
                </a:solidFill>
                <a:latin typeface="Times New Roman"/>
                <a:ea typeface="Times New Roman"/>
                <a:cs typeface="Times New Roman"/>
              </a:defRPr>
            </a:lvl6pPr>
            <a:lvl7pPr algn="l">
              <a:defRPr sz="2400" b="0">
                <a:solidFill>
                  <a:srgbClr val="111111"/>
                </a:solidFill>
                <a:latin typeface="Times New Roman"/>
                <a:ea typeface="Times New Roman"/>
                <a:cs typeface="Times New Roman"/>
              </a:defRPr>
            </a:lvl7pPr>
            <a:lvl8pPr algn="l">
              <a:defRPr sz="2400" b="0">
                <a:solidFill>
                  <a:srgbClr val="111111"/>
                </a:solidFill>
                <a:latin typeface="Times New Roman"/>
                <a:ea typeface="Times New Roman"/>
                <a:cs typeface="Times New Roman"/>
              </a:defRPr>
            </a:lvl8pPr>
            <a:lvl9pPr algn="l">
              <a:defRPr sz="2400" b="0">
                <a:solidFill>
                  <a:srgbClr val="111111"/>
                </a:solidFill>
                <a:latin typeface="Times New Roman"/>
                <a:ea typeface="Times New Roman"/>
                <a:cs typeface="Times New Roman"/>
              </a:defRPr>
            </a:lvl9pPr>
          </a:lstStyle>
          <a:p xmlns:a="http://schemas.openxmlformats.org/drawingml/2006/main">
            <a:pPr algn="l">
              <a:defRPr sz="2400" b="0">
                <a:solidFill>
                  <a:srgbClr val="111111"/>
                </a:solidFill>
                <a:latin typeface="Times New Roman"/>
                <a:ea typeface="Times New Roman"/>
                <a:cs typeface="Times New Roman"/>
              </a:defRPr>
            </a:pPr>
            <a:r>
              <a:rPr sz="2400" b="0">
                <a:solidFill>
                  <a:srgbClr val="111111"/>
                </a:solidFill>
                <a:latin typeface="Times New Roman"/>
                <a:ea typeface="Times New Roman"/>
                <a:cs typeface="Times New Roman"/>
              </a:rPr>
              <a:t>Integrate patient sensors and local display</a:t>
            </a:r>
          </a:p>
        </p:txBody>
      </p:sp>
      <p:sp>
        <p:nvSpPr>
          <p:cNvPr id="9" name="Concurrency">
            <a:extLst xmlns:a="http://schemas.openxmlformats.org/drawingml/2006/main">
              <a:ext uri="{FF2B5EF4-FFF2-40B4-BE49-F238E27FC236}">
                <a16:creationId xmlns:a16="http://schemas.microsoft.com/office/drawing/2014/main" id="{FF0A2745-AFCA-43DD-86F3-29EF3B8C1769}"/>
              </a:ext>
            </a:extLst>
          </p:cNvPr>
          <p:cNvSpPr>
            <a:spLocks xmlns:a="http://schemas.openxmlformats.org/drawingml/2006/main" noGrp="1"/>
          </p:cNvSpPr>
          <p:nvPr/>
        </p:nvSpPr>
        <p:spPr>
          <a:xfrm xmlns:a="http://schemas.openxmlformats.org/drawingml/2006/main">
            <a:off x="619125" y="3057525"/>
            <a:ext cx="247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400" b="1">
                <a:solidFill>
                  <a:srgbClr val="002060"/>
                </a:solidFill>
                <a:latin typeface="Times New Roman"/>
                <a:ea typeface="Times New Roman"/>
                <a:cs typeface="Times New Roman"/>
              </a:defRPr>
            </a:defPPr>
            <a:lvl1pPr algn="l">
              <a:defRPr sz="2400" b="1">
                <a:solidFill>
                  <a:srgbClr val="002060"/>
                </a:solidFill>
                <a:latin typeface="Times New Roman"/>
                <a:ea typeface="Times New Roman"/>
                <a:cs typeface="Times New Roman"/>
              </a:defRPr>
            </a:lvl1pPr>
            <a:lvl2pPr algn="l">
              <a:defRPr sz="2400" b="1">
                <a:solidFill>
                  <a:srgbClr val="002060"/>
                </a:solidFill>
                <a:latin typeface="Times New Roman"/>
                <a:ea typeface="Times New Roman"/>
                <a:cs typeface="Times New Roman"/>
              </a:defRPr>
            </a:lvl2pPr>
            <a:lvl3pPr algn="l">
              <a:defRPr sz="2400" b="1">
                <a:solidFill>
                  <a:srgbClr val="002060"/>
                </a:solidFill>
                <a:latin typeface="Times New Roman"/>
                <a:ea typeface="Times New Roman"/>
                <a:cs typeface="Times New Roman"/>
              </a:defRPr>
            </a:lvl3pPr>
            <a:lvl4pPr algn="l">
              <a:defRPr sz="2400" b="1">
                <a:solidFill>
                  <a:srgbClr val="002060"/>
                </a:solidFill>
                <a:latin typeface="Times New Roman"/>
                <a:ea typeface="Times New Roman"/>
                <a:cs typeface="Times New Roman"/>
              </a:defRPr>
            </a:lvl4pPr>
            <a:lvl5pPr algn="l">
              <a:defRPr sz="2400" b="1">
                <a:solidFill>
                  <a:srgbClr val="002060"/>
                </a:solidFill>
                <a:latin typeface="Times New Roman"/>
                <a:ea typeface="Times New Roman"/>
                <a:cs typeface="Times New Roman"/>
              </a:defRPr>
            </a:lvl5pPr>
            <a:lvl6pPr algn="l">
              <a:defRPr sz="2400" b="1">
                <a:solidFill>
                  <a:srgbClr val="002060"/>
                </a:solidFill>
                <a:latin typeface="Times New Roman"/>
                <a:ea typeface="Times New Roman"/>
                <a:cs typeface="Times New Roman"/>
              </a:defRPr>
            </a:lvl6pPr>
            <a:lvl7pPr algn="l">
              <a:defRPr sz="2400" b="1">
                <a:solidFill>
                  <a:srgbClr val="002060"/>
                </a:solidFill>
                <a:latin typeface="Times New Roman"/>
                <a:ea typeface="Times New Roman"/>
                <a:cs typeface="Times New Roman"/>
              </a:defRPr>
            </a:lvl7pPr>
            <a:lvl8pPr algn="l">
              <a:defRPr sz="2400" b="1">
                <a:solidFill>
                  <a:srgbClr val="002060"/>
                </a:solidFill>
                <a:latin typeface="Times New Roman"/>
                <a:ea typeface="Times New Roman"/>
                <a:cs typeface="Times New Roman"/>
              </a:defRPr>
            </a:lvl8pPr>
            <a:lvl9pPr algn="l">
              <a:defRPr sz="2400" b="1">
                <a:solidFill>
                  <a:srgbClr val="002060"/>
                </a:solidFill>
                <a:latin typeface="Times New Roman"/>
                <a:ea typeface="Times New Roman"/>
                <a:cs typeface="Times New Roman"/>
              </a:defRPr>
            </a:lvl9pPr>
          </a:lstStyle>
          <a:p xmlns:a="http://schemas.openxmlformats.org/drawingml/2006/main">
            <a:pPr algn="l">
              <a:defRPr sz="2400" b="1">
                <a:solidFill>
                  <a:srgbClr val="002060"/>
                </a:solidFill>
                <a:latin typeface="Times New Roman"/>
                <a:ea typeface="Times New Roman"/>
                <a:cs typeface="Times New Roman"/>
              </a:defRPr>
            </a:pPr>
            <a:r>
              <a:rPr sz="2400" b="1">
                <a:solidFill>
                  <a:srgbClr val="002060"/>
                </a:solidFill>
                <a:latin typeface="Times New Roman"/>
                <a:ea typeface="Times New Roman"/>
                <a:cs typeface="Times New Roman"/>
              </a:rPr>
              <a:t>Concurrency</a:t>
            </a:r>
          </a:p>
        </p:txBody>
      </p:sp>
      <p:sp>
        <p:nvSpPr>
          <p:cNvPr id="10" name="Coordinate acquisition and communication usin">
            <a:extLst xmlns:a="http://schemas.openxmlformats.org/drawingml/2006/main">
              <a:ext uri="{FF2B5EF4-FFF2-40B4-BE49-F238E27FC236}">
                <a16:creationId xmlns:a16="http://schemas.microsoft.com/office/drawing/2014/main" id="{AFAE5F28-B3F0-4F56-B77B-D501F46D783B}"/>
              </a:ext>
            </a:extLst>
          </p:cNvPr>
          <p:cNvSpPr>
            <a:spLocks xmlns:a="http://schemas.openxmlformats.org/drawingml/2006/main" noGrp="1"/>
          </p:cNvSpPr>
          <p:nvPr/>
        </p:nvSpPr>
        <p:spPr>
          <a:xfrm xmlns:a="http://schemas.openxmlformats.org/drawingml/2006/main">
            <a:off x="3238500" y="3057525"/>
            <a:ext cx="828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400" b="0">
                <a:solidFill>
                  <a:srgbClr val="111111"/>
                </a:solidFill>
                <a:latin typeface="Times New Roman"/>
                <a:ea typeface="Times New Roman"/>
                <a:cs typeface="Times New Roman"/>
              </a:defRPr>
            </a:defPPr>
            <a:lvl1pPr algn="l">
              <a:defRPr sz="2400" b="0">
                <a:solidFill>
                  <a:srgbClr val="111111"/>
                </a:solidFill>
                <a:latin typeface="Times New Roman"/>
                <a:ea typeface="Times New Roman"/>
                <a:cs typeface="Times New Roman"/>
              </a:defRPr>
            </a:lvl1pPr>
            <a:lvl2pPr algn="l">
              <a:defRPr sz="2400" b="0">
                <a:solidFill>
                  <a:srgbClr val="111111"/>
                </a:solidFill>
                <a:latin typeface="Times New Roman"/>
                <a:ea typeface="Times New Roman"/>
                <a:cs typeface="Times New Roman"/>
              </a:defRPr>
            </a:lvl2pPr>
            <a:lvl3pPr algn="l">
              <a:defRPr sz="2400" b="0">
                <a:solidFill>
                  <a:srgbClr val="111111"/>
                </a:solidFill>
                <a:latin typeface="Times New Roman"/>
                <a:ea typeface="Times New Roman"/>
                <a:cs typeface="Times New Roman"/>
              </a:defRPr>
            </a:lvl3pPr>
            <a:lvl4pPr algn="l">
              <a:defRPr sz="2400" b="0">
                <a:solidFill>
                  <a:srgbClr val="111111"/>
                </a:solidFill>
                <a:latin typeface="Times New Roman"/>
                <a:ea typeface="Times New Roman"/>
                <a:cs typeface="Times New Roman"/>
              </a:defRPr>
            </a:lvl4pPr>
            <a:lvl5pPr algn="l">
              <a:defRPr sz="2400" b="0">
                <a:solidFill>
                  <a:srgbClr val="111111"/>
                </a:solidFill>
                <a:latin typeface="Times New Roman"/>
                <a:ea typeface="Times New Roman"/>
                <a:cs typeface="Times New Roman"/>
              </a:defRPr>
            </a:lvl5pPr>
            <a:lvl6pPr algn="l">
              <a:defRPr sz="2400" b="0">
                <a:solidFill>
                  <a:srgbClr val="111111"/>
                </a:solidFill>
                <a:latin typeface="Times New Roman"/>
                <a:ea typeface="Times New Roman"/>
                <a:cs typeface="Times New Roman"/>
              </a:defRPr>
            </a:lvl6pPr>
            <a:lvl7pPr algn="l">
              <a:defRPr sz="2400" b="0">
                <a:solidFill>
                  <a:srgbClr val="111111"/>
                </a:solidFill>
                <a:latin typeface="Times New Roman"/>
                <a:ea typeface="Times New Roman"/>
                <a:cs typeface="Times New Roman"/>
              </a:defRPr>
            </a:lvl7pPr>
            <a:lvl8pPr algn="l">
              <a:defRPr sz="2400" b="0">
                <a:solidFill>
                  <a:srgbClr val="111111"/>
                </a:solidFill>
                <a:latin typeface="Times New Roman"/>
                <a:ea typeface="Times New Roman"/>
                <a:cs typeface="Times New Roman"/>
              </a:defRPr>
            </a:lvl8pPr>
            <a:lvl9pPr algn="l">
              <a:defRPr sz="2400" b="0">
                <a:solidFill>
                  <a:srgbClr val="111111"/>
                </a:solidFill>
                <a:latin typeface="Times New Roman"/>
                <a:ea typeface="Times New Roman"/>
                <a:cs typeface="Times New Roman"/>
              </a:defRPr>
            </a:lvl9pPr>
          </a:lstStyle>
          <a:p xmlns:a="http://schemas.openxmlformats.org/drawingml/2006/main">
            <a:pPr algn="l">
              <a:defRPr sz="2400" b="0">
                <a:solidFill>
                  <a:srgbClr val="111111"/>
                </a:solidFill>
                <a:latin typeface="Times New Roman"/>
                <a:ea typeface="Times New Roman"/>
                <a:cs typeface="Times New Roman"/>
              </a:defRPr>
            </a:pPr>
            <a:r>
              <a:rPr sz="2400" b="0">
                <a:solidFill>
                  <a:srgbClr val="111111"/>
                </a:solidFill>
                <a:latin typeface="Times New Roman"/>
                <a:ea typeface="Times New Roman"/>
                <a:cs typeface="Times New Roman"/>
              </a:rPr>
              <a:t>Coordinate acquisition and communication using RTOS</a:t>
            </a:r>
          </a:p>
        </p:txBody>
      </p:sp>
      <p:sp>
        <p:nvSpPr>
          <p:cNvPr id="11" name="Risk assessment">
            <a:extLst xmlns:a="http://schemas.openxmlformats.org/drawingml/2006/main">
              <a:ext uri="{FF2B5EF4-FFF2-40B4-BE49-F238E27FC236}">
                <a16:creationId xmlns:a16="http://schemas.microsoft.com/office/drawing/2014/main" id="{4FEFA19F-BF0F-4144-B183-8B46D0A2D73C}"/>
              </a:ext>
            </a:extLst>
          </p:cNvPr>
          <p:cNvSpPr>
            <a:spLocks xmlns:a="http://schemas.openxmlformats.org/drawingml/2006/main" noGrp="1"/>
          </p:cNvSpPr>
          <p:nvPr/>
        </p:nvSpPr>
        <p:spPr>
          <a:xfrm xmlns:a="http://schemas.openxmlformats.org/drawingml/2006/main">
            <a:off x="619125" y="3990975"/>
            <a:ext cx="247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400" b="1">
                <a:solidFill>
                  <a:srgbClr val="002060"/>
                </a:solidFill>
                <a:latin typeface="Times New Roman"/>
                <a:ea typeface="Times New Roman"/>
                <a:cs typeface="Times New Roman"/>
              </a:defRPr>
            </a:defPPr>
            <a:lvl1pPr algn="l">
              <a:defRPr sz="2400" b="1">
                <a:solidFill>
                  <a:srgbClr val="002060"/>
                </a:solidFill>
                <a:latin typeface="Times New Roman"/>
                <a:ea typeface="Times New Roman"/>
                <a:cs typeface="Times New Roman"/>
              </a:defRPr>
            </a:lvl1pPr>
            <a:lvl2pPr algn="l">
              <a:defRPr sz="2400" b="1">
                <a:solidFill>
                  <a:srgbClr val="002060"/>
                </a:solidFill>
                <a:latin typeface="Times New Roman"/>
                <a:ea typeface="Times New Roman"/>
                <a:cs typeface="Times New Roman"/>
              </a:defRPr>
            </a:lvl2pPr>
            <a:lvl3pPr algn="l">
              <a:defRPr sz="2400" b="1">
                <a:solidFill>
                  <a:srgbClr val="002060"/>
                </a:solidFill>
                <a:latin typeface="Times New Roman"/>
                <a:ea typeface="Times New Roman"/>
                <a:cs typeface="Times New Roman"/>
              </a:defRPr>
            </a:lvl3pPr>
            <a:lvl4pPr algn="l">
              <a:defRPr sz="2400" b="1">
                <a:solidFill>
                  <a:srgbClr val="002060"/>
                </a:solidFill>
                <a:latin typeface="Times New Roman"/>
                <a:ea typeface="Times New Roman"/>
                <a:cs typeface="Times New Roman"/>
              </a:defRPr>
            </a:lvl4pPr>
            <a:lvl5pPr algn="l">
              <a:defRPr sz="2400" b="1">
                <a:solidFill>
                  <a:srgbClr val="002060"/>
                </a:solidFill>
                <a:latin typeface="Times New Roman"/>
                <a:ea typeface="Times New Roman"/>
                <a:cs typeface="Times New Roman"/>
              </a:defRPr>
            </a:lvl5pPr>
            <a:lvl6pPr algn="l">
              <a:defRPr sz="2400" b="1">
                <a:solidFill>
                  <a:srgbClr val="002060"/>
                </a:solidFill>
                <a:latin typeface="Times New Roman"/>
                <a:ea typeface="Times New Roman"/>
                <a:cs typeface="Times New Roman"/>
              </a:defRPr>
            </a:lvl6pPr>
            <a:lvl7pPr algn="l">
              <a:defRPr sz="2400" b="1">
                <a:solidFill>
                  <a:srgbClr val="002060"/>
                </a:solidFill>
                <a:latin typeface="Times New Roman"/>
                <a:ea typeface="Times New Roman"/>
                <a:cs typeface="Times New Roman"/>
              </a:defRPr>
            </a:lvl7pPr>
            <a:lvl8pPr algn="l">
              <a:defRPr sz="2400" b="1">
                <a:solidFill>
                  <a:srgbClr val="002060"/>
                </a:solidFill>
                <a:latin typeface="Times New Roman"/>
                <a:ea typeface="Times New Roman"/>
                <a:cs typeface="Times New Roman"/>
              </a:defRPr>
            </a:lvl8pPr>
            <a:lvl9pPr algn="l">
              <a:defRPr sz="2400" b="1">
                <a:solidFill>
                  <a:srgbClr val="002060"/>
                </a:solidFill>
                <a:latin typeface="Times New Roman"/>
                <a:ea typeface="Times New Roman"/>
                <a:cs typeface="Times New Roman"/>
              </a:defRPr>
            </a:lvl9pPr>
          </a:lstStyle>
          <a:p xmlns:a="http://schemas.openxmlformats.org/drawingml/2006/main">
            <a:pPr algn="l">
              <a:defRPr sz="2400" b="1">
                <a:solidFill>
                  <a:srgbClr val="002060"/>
                </a:solidFill>
                <a:latin typeface="Times New Roman"/>
                <a:ea typeface="Times New Roman"/>
                <a:cs typeface="Times New Roman"/>
              </a:defRPr>
            </a:pPr>
            <a:r>
              <a:rPr sz="2400" b="1">
                <a:solidFill>
                  <a:srgbClr val="002060"/>
                </a:solidFill>
                <a:latin typeface="Times New Roman"/>
                <a:ea typeface="Times New Roman"/>
                <a:cs typeface="Times New Roman"/>
              </a:rPr>
              <a:t>Risk assessment</a:t>
            </a:r>
          </a:p>
        </p:txBody>
      </p:sp>
      <p:sp>
        <p:nvSpPr>
          <p:cNvPr id="12" name="Develop ML classification of patient deterior">
            <a:extLst xmlns:a="http://schemas.openxmlformats.org/drawingml/2006/main">
              <a:ext uri="{FF2B5EF4-FFF2-40B4-BE49-F238E27FC236}">
                <a16:creationId xmlns:a16="http://schemas.microsoft.com/office/drawing/2014/main" id="{1244F6E6-1E21-4219-BE03-CAE9B41174A2}"/>
              </a:ext>
            </a:extLst>
          </p:cNvPr>
          <p:cNvSpPr>
            <a:spLocks xmlns:a="http://schemas.openxmlformats.org/drawingml/2006/main" noGrp="1"/>
          </p:cNvSpPr>
          <p:nvPr/>
        </p:nvSpPr>
        <p:spPr>
          <a:xfrm xmlns:a="http://schemas.openxmlformats.org/drawingml/2006/main">
            <a:off x="3238500" y="3990975"/>
            <a:ext cx="828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400" b="0">
                <a:solidFill>
                  <a:srgbClr val="111111"/>
                </a:solidFill>
                <a:latin typeface="Times New Roman"/>
                <a:ea typeface="Times New Roman"/>
                <a:cs typeface="Times New Roman"/>
              </a:defRPr>
            </a:defPPr>
            <a:lvl1pPr algn="l">
              <a:defRPr sz="2400" b="0">
                <a:solidFill>
                  <a:srgbClr val="111111"/>
                </a:solidFill>
                <a:latin typeface="Times New Roman"/>
                <a:ea typeface="Times New Roman"/>
                <a:cs typeface="Times New Roman"/>
              </a:defRPr>
            </a:lvl1pPr>
            <a:lvl2pPr algn="l">
              <a:defRPr sz="2400" b="0">
                <a:solidFill>
                  <a:srgbClr val="111111"/>
                </a:solidFill>
                <a:latin typeface="Times New Roman"/>
                <a:ea typeface="Times New Roman"/>
                <a:cs typeface="Times New Roman"/>
              </a:defRPr>
            </a:lvl2pPr>
            <a:lvl3pPr algn="l">
              <a:defRPr sz="2400" b="0">
                <a:solidFill>
                  <a:srgbClr val="111111"/>
                </a:solidFill>
                <a:latin typeface="Times New Roman"/>
                <a:ea typeface="Times New Roman"/>
                <a:cs typeface="Times New Roman"/>
              </a:defRPr>
            </a:lvl3pPr>
            <a:lvl4pPr algn="l">
              <a:defRPr sz="2400" b="0">
                <a:solidFill>
                  <a:srgbClr val="111111"/>
                </a:solidFill>
                <a:latin typeface="Times New Roman"/>
                <a:ea typeface="Times New Roman"/>
                <a:cs typeface="Times New Roman"/>
              </a:defRPr>
            </a:lvl4pPr>
            <a:lvl5pPr algn="l">
              <a:defRPr sz="2400" b="0">
                <a:solidFill>
                  <a:srgbClr val="111111"/>
                </a:solidFill>
                <a:latin typeface="Times New Roman"/>
                <a:ea typeface="Times New Roman"/>
                <a:cs typeface="Times New Roman"/>
              </a:defRPr>
            </a:lvl5pPr>
            <a:lvl6pPr algn="l">
              <a:defRPr sz="2400" b="0">
                <a:solidFill>
                  <a:srgbClr val="111111"/>
                </a:solidFill>
                <a:latin typeface="Times New Roman"/>
                <a:ea typeface="Times New Roman"/>
                <a:cs typeface="Times New Roman"/>
              </a:defRPr>
            </a:lvl6pPr>
            <a:lvl7pPr algn="l">
              <a:defRPr sz="2400" b="0">
                <a:solidFill>
                  <a:srgbClr val="111111"/>
                </a:solidFill>
                <a:latin typeface="Times New Roman"/>
                <a:ea typeface="Times New Roman"/>
                <a:cs typeface="Times New Roman"/>
              </a:defRPr>
            </a:lvl7pPr>
            <a:lvl8pPr algn="l">
              <a:defRPr sz="2400" b="0">
                <a:solidFill>
                  <a:srgbClr val="111111"/>
                </a:solidFill>
                <a:latin typeface="Times New Roman"/>
                <a:ea typeface="Times New Roman"/>
                <a:cs typeface="Times New Roman"/>
              </a:defRPr>
            </a:lvl8pPr>
            <a:lvl9pPr algn="l">
              <a:defRPr sz="2400" b="0">
                <a:solidFill>
                  <a:srgbClr val="111111"/>
                </a:solidFill>
                <a:latin typeface="Times New Roman"/>
                <a:ea typeface="Times New Roman"/>
                <a:cs typeface="Times New Roman"/>
              </a:defRPr>
            </a:lvl9pPr>
          </a:lstStyle>
          <a:p xmlns:a="http://schemas.openxmlformats.org/drawingml/2006/main">
            <a:pPr algn="l">
              <a:defRPr sz="2400" b="0">
                <a:solidFill>
                  <a:srgbClr val="111111"/>
                </a:solidFill>
                <a:latin typeface="Times New Roman"/>
                <a:ea typeface="Times New Roman"/>
                <a:cs typeface="Times New Roman"/>
              </a:defRPr>
            </a:pPr>
            <a:r>
              <a:rPr sz="2400" b="0">
                <a:solidFill>
                  <a:srgbClr val="111111"/>
                </a:solidFill>
                <a:latin typeface="Times New Roman"/>
                <a:ea typeface="Times New Roman"/>
                <a:cs typeface="Times New Roman"/>
              </a:rPr>
              <a:t>Develop ML classification of patient deterioration</a:t>
            </a:r>
          </a:p>
        </p:txBody>
      </p:sp>
      <p:sp>
        <p:nvSpPr>
          <p:cNvPr id="13" name="Location and ETA">
            <a:extLst xmlns:a="http://schemas.openxmlformats.org/drawingml/2006/main">
              <a:ext uri="{FF2B5EF4-FFF2-40B4-BE49-F238E27FC236}">
                <a16:creationId xmlns:a16="http://schemas.microsoft.com/office/drawing/2014/main" id="{68ED57F3-ED7D-4A4F-A8EC-232B85AC6CE1}"/>
              </a:ext>
            </a:extLst>
          </p:cNvPr>
          <p:cNvSpPr>
            <a:spLocks xmlns:a="http://schemas.openxmlformats.org/drawingml/2006/main" noGrp="1"/>
          </p:cNvSpPr>
          <p:nvPr/>
        </p:nvSpPr>
        <p:spPr>
          <a:xfrm xmlns:a="http://schemas.openxmlformats.org/drawingml/2006/main">
            <a:off x="619125" y="4924425"/>
            <a:ext cx="247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400" b="1">
                <a:solidFill>
                  <a:srgbClr val="002060"/>
                </a:solidFill>
                <a:latin typeface="Times New Roman"/>
                <a:ea typeface="Times New Roman"/>
                <a:cs typeface="Times New Roman"/>
              </a:defRPr>
            </a:defPPr>
            <a:lvl1pPr algn="l">
              <a:defRPr sz="2400" b="1">
                <a:solidFill>
                  <a:srgbClr val="002060"/>
                </a:solidFill>
                <a:latin typeface="Times New Roman"/>
                <a:ea typeface="Times New Roman"/>
                <a:cs typeface="Times New Roman"/>
              </a:defRPr>
            </a:lvl1pPr>
            <a:lvl2pPr algn="l">
              <a:defRPr sz="2400" b="1">
                <a:solidFill>
                  <a:srgbClr val="002060"/>
                </a:solidFill>
                <a:latin typeface="Times New Roman"/>
                <a:ea typeface="Times New Roman"/>
                <a:cs typeface="Times New Roman"/>
              </a:defRPr>
            </a:lvl2pPr>
            <a:lvl3pPr algn="l">
              <a:defRPr sz="2400" b="1">
                <a:solidFill>
                  <a:srgbClr val="002060"/>
                </a:solidFill>
                <a:latin typeface="Times New Roman"/>
                <a:ea typeface="Times New Roman"/>
                <a:cs typeface="Times New Roman"/>
              </a:defRPr>
            </a:lvl3pPr>
            <a:lvl4pPr algn="l">
              <a:defRPr sz="2400" b="1">
                <a:solidFill>
                  <a:srgbClr val="002060"/>
                </a:solidFill>
                <a:latin typeface="Times New Roman"/>
                <a:ea typeface="Times New Roman"/>
                <a:cs typeface="Times New Roman"/>
              </a:defRPr>
            </a:lvl4pPr>
            <a:lvl5pPr algn="l">
              <a:defRPr sz="2400" b="1">
                <a:solidFill>
                  <a:srgbClr val="002060"/>
                </a:solidFill>
                <a:latin typeface="Times New Roman"/>
                <a:ea typeface="Times New Roman"/>
                <a:cs typeface="Times New Roman"/>
              </a:defRPr>
            </a:lvl5pPr>
            <a:lvl6pPr algn="l">
              <a:defRPr sz="2400" b="1">
                <a:solidFill>
                  <a:srgbClr val="002060"/>
                </a:solidFill>
                <a:latin typeface="Times New Roman"/>
                <a:ea typeface="Times New Roman"/>
                <a:cs typeface="Times New Roman"/>
              </a:defRPr>
            </a:lvl6pPr>
            <a:lvl7pPr algn="l">
              <a:defRPr sz="2400" b="1">
                <a:solidFill>
                  <a:srgbClr val="002060"/>
                </a:solidFill>
                <a:latin typeface="Times New Roman"/>
                <a:ea typeface="Times New Roman"/>
                <a:cs typeface="Times New Roman"/>
              </a:defRPr>
            </a:lvl7pPr>
            <a:lvl8pPr algn="l">
              <a:defRPr sz="2400" b="1">
                <a:solidFill>
                  <a:srgbClr val="002060"/>
                </a:solidFill>
                <a:latin typeface="Times New Roman"/>
                <a:ea typeface="Times New Roman"/>
                <a:cs typeface="Times New Roman"/>
              </a:defRPr>
            </a:lvl8pPr>
            <a:lvl9pPr algn="l">
              <a:defRPr sz="2400" b="1">
                <a:solidFill>
                  <a:srgbClr val="002060"/>
                </a:solidFill>
                <a:latin typeface="Times New Roman"/>
                <a:ea typeface="Times New Roman"/>
                <a:cs typeface="Times New Roman"/>
              </a:defRPr>
            </a:lvl9pPr>
          </a:lstStyle>
          <a:p xmlns:a="http://schemas.openxmlformats.org/drawingml/2006/main">
            <a:pPr algn="l">
              <a:defRPr sz="2400" b="1">
                <a:solidFill>
                  <a:srgbClr val="002060"/>
                </a:solidFill>
                <a:latin typeface="Times New Roman"/>
                <a:ea typeface="Times New Roman"/>
                <a:cs typeface="Times New Roman"/>
              </a:defRPr>
            </a:pPr>
            <a:r>
              <a:rPr sz="2400" b="1">
                <a:solidFill>
                  <a:srgbClr val="002060"/>
                </a:solidFill>
                <a:latin typeface="Times New Roman"/>
                <a:ea typeface="Times New Roman"/>
                <a:cs typeface="Times New Roman"/>
              </a:rPr>
              <a:t>Location and ETA</a:t>
            </a:r>
          </a:p>
        </p:txBody>
      </p:sp>
      <p:sp>
        <p:nvSpPr>
          <p:cNvPr id="14" name="Track ambulance location and estimate arrival">
            <a:extLst xmlns:a="http://schemas.openxmlformats.org/drawingml/2006/main">
              <a:ext uri="{FF2B5EF4-FFF2-40B4-BE49-F238E27FC236}">
                <a16:creationId xmlns:a16="http://schemas.microsoft.com/office/drawing/2014/main" id="{7D3DC944-5731-4382-998D-A801312B67DA}"/>
              </a:ext>
            </a:extLst>
          </p:cNvPr>
          <p:cNvSpPr>
            <a:spLocks xmlns:a="http://schemas.openxmlformats.org/drawingml/2006/main" noGrp="1"/>
          </p:cNvSpPr>
          <p:nvPr/>
        </p:nvSpPr>
        <p:spPr>
          <a:xfrm xmlns:a="http://schemas.openxmlformats.org/drawingml/2006/main">
            <a:off x="3238500" y="4924425"/>
            <a:ext cx="828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400" b="0">
                <a:solidFill>
                  <a:srgbClr val="111111"/>
                </a:solidFill>
                <a:latin typeface="Times New Roman"/>
                <a:ea typeface="Times New Roman"/>
                <a:cs typeface="Times New Roman"/>
              </a:defRPr>
            </a:defPPr>
            <a:lvl1pPr algn="l">
              <a:defRPr sz="2400" b="0">
                <a:solidFill>
                  <a:srgbClr val="111111"/>
                </a:solidFill>
                <a:latin typeface="Times New Roman"/>
                <a:ea typeface="Times New Roman"/>
                <a:cs typeface="Times New Roman"/>
              </a:defRPr>
            </a:lvl1pPr>
            <a:lvl2pPr algn="l">
              <a:defRPr sz="2400" b="0">
                <a:solidFill>
                  <a:srgbClr val="111111"/>
                </a:solidFill>
                <a:latin typeface="Times New Roman"/>
                <a:ea typeface="Times New Roman"/>
                <a:cs typeface="Times New Roman"/>
              </a:defRPr>
            </a:lvl2pPr>
            <a:lvl3pPr algn="l">
              <a:defRPr sz="2400" b="0">
                <a:solidFill>
                  <a:srgbClr val="111111"/>
                </a:solidFill>
                <a:latin typeface="Times New Roman"/>
                <a:ea typeface="Times New Roman"/>
                <a:cs typeface="Times New Roman"/>
              </a:defRPr>
            </a:lvl3pPr>
            <a:lvl4pPr algn="l">
              <a:defRPr sz="2400" b="0">
                <a:solidFill>
                  <a:srgbClr val="111111"/>
                </a:solidFill>
                <a:latin typeface="Times New Roman"/>
                <a:ea typeface="Times New Roman"/>
                <a:cs typeface="Times New Roman"/>
              </a:defRPr>
            </a:lvl4pPr>
            <a:lvl5pPr algn="l">
              <a:defRPr sz="2400" b="0">
                <a:solidFill>
                  <a:srgbClr val="111111"/>
                </a:solidFill>
                <a:latin typeface="Times New Roman"/>
                <a:ea typeface="Times New Roman"/>
                <a:cs typeface="Times New Roman"/>
              </a:defRPr>
            </a:lvl5pPr>
            <a:lvl6pPr algn="l">
              <a:defRPr sz="2400" b="0">
                <a:solidFill>
                  <a:srgbClr val="111111"/>
                </a:solidFill>
                <a:latin typeface="Times New Roman"/>
                <a:ea typeface="Times New Roman"/>
                <a:cs typeface="Times New Roman"/>
              </a:defRPr>
            </a:lvl6pPr>
            <a:lvl7pPr algn="l">
              <a:defRPr sz="2400" b="0">
                <a:solidFill>
                  <a:srgbClr val="111111"/>
                </a:solidFill>
                <a:latin typeface="Times New Roman"/>
                <a:ea typeface="Times New Roman"/>
                <a:cs typeface="Times New Roman"/>
              </a:defRPr>
            </a:lvl7pPr>
            <a:lvl8pPr algn="l">
              <a:defRPr sz="2400" b="0">
                <a:solidFill>
                  <a:srgbClr val="111111"/>
                </a:solidFill>
                <a:latin typeface="Times New Roman"/>
                <a:ea typeface="Times New Roman"/>
                <a:cs typeface="Times New Roman"/>
              </a:defRPr>
            </a:lvl8pPr>
            <a:lvl9pPr algn="l">
              <a:defRPr sz="2400" b="0">
                <a:solidFill>
                  <a:srgbClr val="111111"/>
                </a:solidFill>
                <a:latin typeface="Times New Roman"/>
                <a:ea typeface="Times New Roman"/>
                <a:cs typeface="Times New Roman"/>
              </a:defRPr>
            </a:lvl9pPr>
          </a:lstStyle>
          <a:p xmlns:a="http://schemas.openxmlformats.org/drawingml/2006/main">
            <a:pPr algn="l">
              <a:defRPr sz="2400" b="0">
                <a:solidFill>
                  <a:srgbClr val="111111"/>
                </a:solidFill>
                <a:latin typeface="Times New Roman"/>
                <a:ea typeface="Times New Roman"/>
                <a:cs typeface="Times New Roman"/>
              </a:defRPr>
            </a:pPr>
            <a:r>
              <a:rPr sz="2400" b="0">
                <a:solidFill>
                  <a:srgbClr val="111111"/>
                </a:solidFill>
                <a:latin typeface="Times New Roman"/>
                <a:ea typeface="Times New Roman"/>
                <a:cs typeface="Times New Roman"/>
              </a:rPr>
              <a:t>Track ambulance location and estimate arrival time</a:t>
            </a:r>
          </a:p>
        </p:txBody>
      </p:sp>
      <p:sp>
        <p:nvSpPr>
          <p:cNvPr id="15" name="3">
            <a:extLst xmlns:a="http://schemas.openxmlformats.org/drawingml/2006/main">
              <a:ext uri="{FF2B5EF4-FFF2-40B4-BE49-F238E27FC236}">
                <a16:creationId xmlns:a16="http://schemas.microsoft.com/office/drawing/2014/main" id="{494F68E9-272B-441F-A8E7-5C38365C5B6A}"/>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3</a:t>
            </a:r>
          </a:p>
        </p:txBody>
      </p:sp>
    </p:spTree>
    <p:extLst>
      <p:ext uri="{BB962C8B-B14F-4D97-AF65-F5344CB8AC3E}">
        <p14:creationId xmlns:p14="http://schemas.microsoft.com/office/powerpoint/2010/main" val="173359637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9D4ECF5C-0D1A-43B0-871D-7DC8B2598B9A}"/>
              </a:ext>
            </a:extLst>
          </p:cNvPr>
          <p:cNvCxnSpPr>
            <a:stCxn xmlns:a="http://schemas.openxmlformats.org/drawingml/2006/main" id="12" idx="1"/>
            <a:endCxn xmlns:a="http://schemas.openxmlformats.org/drawingml/2006/main" id="13" idx="3"/>
          </p:cNvCxnSpPr>
          <p:nvPr/>
        </p:nvCxnSpPr>
        <p:spPr>
          <a:xfrm xmlns:a="http://schemas.openxmlformats.org/drawingml/2006/main" flipH="1">
            <a:off x="3095625" y="4333875"/>
            <a:ext cx="809625" cy="0"/>
          </a:xfrm>
          <a:prstGeom xmlns:a="http://schemas.openxmlformats.org/drawingml/2006/main" prst="straightConnector1">
            <a:avLst/>
          </a:prstGeom>
          <a:ln xmlns:a="http://schemas.openxmlformats.org/drawingml/2006/main" w="19050">
            <a:solidFill>
              <a:srgbClr val="002060"/>
            </a:solidFill>
            <a:tailEnd type="arrow" w="med" len="med"/>
          </a:ln>
        </p:spPr>
      </p:cxnSp>
      <p:cxnSp>
        <p:nvCxnSpPr>
          <p:cNvPr id="15" name="">
            <a:extLst xmlns:a="http://schemas.openxmlformats.org/drawingml/2006/main">
              <a:ext uri="{FF2B5EF4-FFF2-40B4-BE49-F238E27FC236}">
                <a16:creationId xmlns:a16="http://schemas.microsoft.com/office/drawing/2014/main" id="{412E33BE-63F6-4FF6-AC52-76C9837E24E9}"/>
              </a:ext>
            </a:extLst>
          </p:cNvPr>
          <p:cNvCxnSpPr>
            <a:stCxn xmlns:a="http://schemas.openxmlformats.org/drawingml/2006/main" id="11" idx="1"/>
            <a:endCxn xmlns:a="http://schemas.openxmlformats.org/drawingml/2006/main" id="12" idx="3"/>
          </p:cNvCxnSpPr>
          <p:nvPr/>
        </p:nvCxnSpPr>
        <p:spPr>
          <a:xfrm xmlns:a="http://schemas.openxmlformats.org/drawingml/2006/main" flipH="1">
            <a:off x="6762750" y="4333875"/>
            <a:ext cx="857250" cy="0"/>
          </a:xfrm>
          <a:prstGeom xmlns:a="http://schemas.openxmlformats.org/drawingml/2006/main" prst="straightConnector1">
            <a:avLst/>
          </a:prstGeom>
          <a:ln xmlns:a="http://schemas.openxmlformats.org/drawingml/2006/main" w="19050">
            <a:solidFill>
              <a:srgbClr val="002060"/>
            </a:solidFill>
            <a:tailEnd type="arrow" w="med" len="med"/>
          </a:ln>
        </p:spPr>
      </p:cxnSp>
      <p:cxnSp>
        <p:nvCxnSpPr>
          <p:cNvPr id="14" name="">
            <a:extLst xmlns:a="http://schemas.openxmlformats.org/drawingml/2006/main">
              <a:ext uri="{FF2B5EF4-FFF2-40B4-BE49-F238E27FC236}">
                <a16:creationId xmlns:a16="http://schemas.microsoft.com/office/drawing/2014/main" id="{CD5DF722-2EBD-4EDE-A331-4A339616564B}"/>
              </a:ext>
            </a:extLst>
          </p:cNvPr>
          <p:cNvCxnSpPr>
            <a:stCxn xmlns:a="http://schemas.openxmlformats.org/drawingml/2006/main" id="7" idx="2"/>
            <a:endCxn xmlns:a="http://schemas.openxmlformats.org/drawingml/2006/main" id="11" idx="0"/>
          </p:cNvCxnSpPr>
          <p:nvPr/>
        </p:nvCxnSpPr>
        <p:spPr>
          <a:xfrm xmlns:a="http://schemas.openxmlformats.org/drawingml/2006/main">
            <a:off x="9334500" y="2524125"/>
            <a:ext cx="0" cy="1285875"/>
          </a:xfrm>
          <a:prstGeom xmlns:a="http://schemas.openxmlformats.org/drawingml/2006/main" prst="straightConnector1">
            <a:avLst/>
          </a:prstGeom>
          <a:ln xmlns:a="http://schemas.openxmlformats.org/drawingml/2006/main" w="19050">
            <a:solidFill>
              <a:srgbClr val="002060"/>
            </a:solidFill>
            <a:tailEnd type="arrow" w="med" len="med"/>
          </a:ln>
        </p:spPr>
      </p:cxnSp>
      <p:cxnSp>
        <p:nvCxnSpPr>
          <p:cNvPr id="9" name="">
            <a:extLst xmlns:a="http://schemas.openxmlformats.org/drawingml/2006/main">
              <a:ext uri="{FF2B5EF4-FFF2-40B4-BE49-F238E27FC236}">
                <a16:creationId xmlns:a16="http://schemas.microsoft.com/office/drawing/2014/main" id="{7BE17B6F-31B5-4E59-B877-586EBD38246C}"/>
              </a:ext>
            </a:extLst>
          </p:cNvPr>
          <p:cNvCxnSpPr>
            <a:stCxn xmlns:a="http://schemas.openxmlformats.org/drawingml/2006/main" id="6" idx="3"/>
            <a:endCxn xmlns:a="http://schemas.openxmlformats.org/drawingml/2006/main" id="7" idx="1"/>
          </p:cNvCxnSpPr>
          <p:nvPr/>
        </p:nvCxnSpPr>
        <p:spPr>
          <a:xfrm xmlns:a="http://schemas.openxmlformats.org/drawingml/2006/main">
            <a:off x="6191250" y="2000250"/>
            <a:ext cx="1428750" cy="0"/>
          </a:xfrm>
          <a:prstGeom xmlns:a="http://schemas.openxmlformats.org/drawingml/2006/main" prst="straightConnector1">
            <a:avLst/>
          </a:prstGeom>
          <a:ln xmlns:a="http://schemas.openxmlformats.org/drawingml/2006/main" w="19050">
            <a:solidFill>
              <a:srgbClr val="002060"/>
            </a:solidFill>
            <a:tailEnd type="arrow" w="med" len="med"/>
          </a:ln>
        </p:spPr>
      </p:cxnSp>
      <p:cxnSp>
        <p:nvCxnSpPr>
          <p:cNvPr id="8" name="">
            <a:extLst xmlns:a="http://schemas.openxmlformats.org/drawingml/2006/main">
              <a:ext uri="{FF2B5EF4-FFF2-40B4-BE49-F238E27FC236}">
                <a16:creationId xmlns:a16="http://schemas.microsoft.com/office/drawing/2014/main" id="{47EF8A89-D456-4246-B2B8-7B81B35EABEF}"/>
              </a:ext>
            </a:extLst>
          </p:cNvPr>
          <p:cNvCxnSpPr>
            <a:stCxn xmlns:a="http://schemas.openxmlformats.org/drawingml/2006/main" id="5" idx="3"/>
            <a:endCxn xmlns:a="http://schemas.openxmlformats.org/drawingml/2006/main" id="6" idx="1"/>
          </p:cNvCxnSpPr>
          <p:nvPr/>
        </p:nvCxnSpPr>
        <p:spPr>
          <a:xfrm xmlns:a="http://schemas.openxmlformats.org/drawingml/2006/main">
            <a:off x="3048000" y="2000250"/>
            <a:ext cx="666750" cy="0"/>
          </a:xfrm>
          <a:prstGeom xmlns:a="http://schemas.openxmlformats.org/drawingml/2006/main" prst="straightConnector1">
            <a:avLst/>
          </a:prstGeom>
          <a:ln xmlns:a="http://schemas.openxmlformats.org/drawingml/2006/main" w="19050">
            <a:solidFill>
              <a:srgbClr val="002060"/>
            </a:solidFill>
            <a:tailEnd type="arrow" w="med" len="med"/>
          </a:ln>
        </p:spPr>
      </p:cxnSp>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System Architecture</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Patient sensors&#10;Integration planned">
            <a:extLst xmlns:a="http://schemas.openxmlformats.org/drawingml/2006/main">
              <a:ext uri="{FF2B5EF4-FFF2-40B4-BE49-F238E27FC236}">
                <a16:creationId xmlns:a16="http://schemas.microsoft.com/office/drawing/2014/main" id="{F2F7203B-074B-4A1E-830D-E6C78F092135}"/>
              </a:ext>
            </a:extLst>
          </p:cNvPr>
          <p:cNvSpPr>
            <a:spLocks xmlns:a="http://schemas.openxmlformats.org/drawingml/2006/main" noGrp="1"/>
          </p:cNvSpPr>
          <p:nvPr/>
        </p:nvSpPr>
        <p:spPr>
          <a:xfrm xmlns:a="http://schemas.openxmlformats.org/drawingml/2006/main">
            <a:off x="571500" y="1476375"/>
            <a:ext cx="2476500"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0070C0"/>
            </a:solidFill>
          </a:ln>
        </p:spPr>
        <p:txBody>
          <a:bodyPr xmlns:a="http://schemas.openxmlformats.org/drawingml/2006/main" lIns="76200" tIns="76200" rIns="76200" bIns="76200" anchor="ctr"/>
          <a:lstStyle xmlns:a="http://schemas.openxmlformats.org/drawingml/2006/main">
            <a:defPPr algn="ctr">
              <a:defRPr sz="2175" b="1">
                <a:solidFill>
                  <a:srgbClr val="0070C0"/>
                </a:solidFill>
                <a:latin typeface="Times New Roman"/>
                <a:ea typeface="Times New Roman"/>
                <a:cs typeface="Times New Roman"/>
              </a:defRPr>
            </a:defPPr>
            <a:lvl1pPr algn="ctr">
              <a:defRPr sz="2175" b="1">
                <a:solidFill>
                  <a:srgbClr val="0070C0"/>
                </a:solidFill>
                <a:latin typeface="Times New Roman"/>
                <a:ea typeface="Times New Roman"/>
                <a:cs typeface="Times New Roman"/>
              </a:defRPr>
            </a:lvl1pPr>
            <a:lvl2pPr algn="ctr">
              <a:defRPr sz="2175" b="1">
                <a:solidFill>
                  <a:srgbClr val="0070C0"/>
                </a:solidFill>
                <a:latin typeface="Times New Roman"/>
                <a:ea typeface="Times New Roman"/>
                <a:cs typeface="Times New Roman"/>
              </a:defRPr>
            </a:lvl2pPr>
            <a:lvl3pPr algn="ctr">
              <a:defRPr sz="2175" b="1">
                <a:solidFill>
                  <a:srgbClr val="0070C0"/>
                </a:solidFill>
                <a:latin typeface="Times New Roman"/>
                <a:ea typeface="Times New Roman"/>
                <a:cs typeface="Times New Roman"/>
              </a:defRPr>
            </a:lvl3pPr>
            <a:lvl4pPr algn="ctr">
              <a:defRPr sz="2175" b="1">
                <a:solidFill>
                  <a:srgbClr val="0070C0"/>
                </a:solidFill>
                <a:latin typeface="Times New Roman"/>
                <a:ea typeface="Times New Roman"/>
                <a:cs typeface="Times New Roman"/>
              </a:defRPr>
            </a:lvl4pPr>
            <a:lvl5pPr algn="ctr">
              <a:defRPr sz="2175" b="1">
                <a:solidFill>
                  <a:srgbClr val="0070C0"/>
                </a:solidFill>
                <a:latin typeface="Times New Roman"/>
                <a:ea typeface="Times New Roman"/>
                <a:cs typeface="Times New Roman"/>
              </a:defRPr>
            </a:lvl5pPr>
            <a:lvl6pPr algn="ctr">
              <a:defRPr sz="2175" b="1">
                <a:solidFill>
                  <a:srgbClr val="0070C0"/>
                </a:solidFill>
                <a:latin typeface="Times New Roman"/>
                <a:ea typeface="Times New Roman"/>
                <a:cs typeface="Times New Roman"/>
              </a:defRPr>
            </a:lvl6pPr>
            <a:lvl7pPr algn="ctr">
              <a:defRPr sz="2175" b="1">
                <a:solidFill>
                  <a:srgbClr val="0070C0"/>
                </a:solidFill>
                <a:latin typeface="Times New Roman"/>
                <a:ea typeface="Times New Roman"/>
                <a:cs typeface="Times New Roman"/>
              </a:defRPr>
            </a:lvl7pPr>
            <a:lvl8pPr algn="ctr">
              <a:defRPr sz="2175" b="1">
                <a:solidFill>
                  <a:srgbClr val="0070C0"/>
                </a:solidFill>
                <a:latin typeface="Times New Roman"/>
                <a:ea typeface="Times New Roman"/>
                <a:cs typeface="Times New Roman"/>
              </a:defRPr>
            </a:lvl8pPr>
            <a:lvl9pPr algn="ctr">
              <a:defRPr sz="2175" b="1">
                <a:solidFill>
                  <a:srgbClr val="0070C0"/>
                </a:solidFill>
                <a:latin typeface="Times New Roman"/>
                <a:ea typeface="Times New Roman"/>
                <a:cs typeface="Times New Roman"/>
              </a:defRPr>
            </a:lvl9pPr>
          </a:lstStyle>
          <a:p xmlns:a="http://schemas.openxmlformats.org/drawingml/2006/main">
            <a:pPr algn="ctr">
              <a:defRPr sz="2175" b="1">
                <a:solidFill>
                  <a:srgbClr val="0070C0"/>
                </a:solidFill>
                <a:latin typeface="Times New Roman"/>
                <a:ea typeface="Times New Roman"/>
                <a:cs typeface="Times New Roman"/>
              </a:defRPr>
            </a:pPr>
            <a:r>
              <a:rPr sz="2175" b="1">
                <a:solidFill>
                  <a:srgbClr val="0070C0"/>
                </a:solidFill>
                <a:latin typeface="Times New Roman"/>
                <a:ea typeface="Times New Roman"/>
                <a:cs typeface="Times New Roman"/>
              </a:rPr>
              <a:t>Patient sensors</a:t>
            </a:r>
          </a:p>
          <a:p xmlns:a="http://schemas.openxmlformats.org/drawingml/2006/main">
            <a:pPr algn="ctr">
              <a:defRPr sz="2175" b="1">
                <a:solidFill>
                  <a:srgbClr val="0070C0"/>
                </a:solidFill>
                <a:latin typeface="Times New Roman"/>
                <a:ea typeface="Times New Roman"/>
                <a:cs typeface="Times New Roman"/>
              </a:defRPr>
            </a:pPr>
            <a:r>
              <a:rPr sz="2175" b="1">
                <a:solidFill>
                  <a:srgbClr val="0070C0"/>
                </a:solidFill>
                <a:latin typeface="Times New Roman"/>
                <a:ea typeface="Times New Roman"/>
                <a:cs typeface="Times New Roman"/>
              </a:rPr>
              <a:t>Integration planned</a:t>
            </a:r>
          </a:p>
        </p:txBody>
      </p:sp>
      <p:sp>
        <p:nvSpPr>
          <p:cNvPr id="6" name="ESP32&#10;BLE implemented">
            <a:extLst xmlns:a="http://schemas.openxmlformats.org/drawingml/2006/main">
              <a:ext uri="{FF2B5EF4-FFF2-40B4-BE49-F238E27FC236}">
                <a16:creationId xmlns:a16="http://schemas.microsoft.com/office/drawing/2014/main" id="{F17A854C-9E13-4183-B2F2-719E5C5CB81F}"/>
              </a:ext>
            </a:extLst>
          </p:cNvPr>
          <p:cNvSpPr>
            <a:spLocks xmlns:a="http://schemas.openxmlformats.org/drawingml/2006/main" noGrp="1"/>
          </p:cNvSpPr>
          <p:nvPr/>
        </p:nvSpPr>
        <p:spPr>
          <a:xfrm xmlns:a="http://schemas.openxmlformats.org/drawingml/2006/main">
            <a:off x="3714750" y="1476375"/>
            <a:ext cx="2476500" cy="1047750"/>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ESP32</a:t>
            </a:r>
          </a:p>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BLE implemented</a:t>
            </a:r>
          </a:p>
        </p:txBody>
      </p:sp>
      <p:sp>
        <p:nvSpPr>
          <p:cNvPr id="7" name="Flutter gateway&#10;BLE implemented">
            <a:extLst xmlns:a="http://schemas.openxmlformats.org/drawingml/2006/main">
              <a:ext uri="{FF2B5EF4-FFF2-40B4-BE49-F238E27FC236}">
                <a16:creationId xmlns:a16="http://schemas.microsoft.com/office/drawing/2014/main" id="{C87265FD-0FF1-40DD-A602-F30D0B1A6AB3}"/>
              </a:ext>
            </a:extLst>
          </p:cNvPr>
          <p:cNvSpPr>
            <a:spLocks xmlns:a="http://schemas.openxmlformats.org/drawingml/2006/main" noGrp="1"/>
          </p:cNvSpPr>
          <p:nvPr/>
        </p:nvSpPr>
        <p:spPr>
          <a:xfrm xmlns:a="http://schemas.openxmlformats.org/drawingml/2006/main">
            <a:off x="7620000" y="1476375"/>
            <a:ext cx="3429000" cy="1047750"/>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Flutter gateway</a:t>
            </a:r>
          </a:p>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BLE implemented</a:t>
            </a:r>
          </a:p>
        </p:txBody>
      </p:sp>
      <p:sp>
        <p:nvSpPr>
          <p:cNvPr id="10" name="OLED and full RTOS pipeline: planned">
            <a:extLst xmlns:a="http://schemas.openxmlformats.org/drawingml/2006/main">
              <a:ext uri="{FF2B5EF4-FFF2-40B4-BE49-F238E27FC236}">
                <a16:creationId xmlns:a16="http://schemas.microsoft.com/office/drawing/2014/main" id="{97D99842-E397-439C-A012-9003471CC2E6}"/>
              </a:ext>
            </a:extLst>
          </p:cNvPr>
          <p:cNvSpPr>
            <a:spLocks xmlns:a="http://schemas.openxmlformats.org/drawingml/2006/main" noGrp="1"/>
          </p:cNvSpPr>
          <p:nvPr/>
        </p:nvSpPr>
        <p:spPr>
          <a:xfrm xmlns:a="http://schemas.openxmlformats.org/drawingml/2006/main">
            <a:off x="666750" y="2762250"/>
            <a:ext cx="628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100" b="0">
                <a:solidFill>
                  <a:srgbClr val="0070C0"/>
                </a:solidFill>
                <a:latin typeface="Times New Roman"/>
                <a:ea typeface="Times New Roman"/>
                <a:cs typeface="Times New Roman"/>
              </a:defRPr>
            </a:defPPr>
            <a:lvl1pPr algn="l">
              <a:defRPr sz="2100" b="0">
                <a:solidFill>
                  <a:srgbClr val="0070C0"/>
                </a:solidFill>
                <a:latin typeface="Times New Roman"/>
                <a:ea typeface="Times New Roman"/>
                <a:cs typeface="Times New Roman"/>
              </a:defRPr>
            </a:lvl1pPr>
            <a:lvl2pPr algn="l">
              <a:defRPr sz="2100" b="0">
                <a:solidFill>
                  <a:srgbClr val="0070C0"/>
                </a:solidFill>
                <a:latin typeface="Times New Roman"/>
                <a:ea typeface="Times New Roman"/>
                <a:cs typeface="Times New Roman"/>
              </a:defRPr>
            </a:lvl2pPr>
            <a:lvl3pPr algn="l">
              <a:defRPr sz="2100" b="0">
                <a:solidFill>
                  <a:srgbClr val="0070C0"/>
                </a:solidFill>
                <a:latin typeface="Times New Roman"/>
                <a:ea typeface="Times New Roman"/>
                <a:cs typeface="Times New Roman"/>
              </a:defRPr>
            </a:lvl3pPr>
            <a:lvl4pPr algn="l">
              <a:defRPr sz="2100" b="0">
                <a:solidFill>
                  <a:srgbClr val="0070C0"/>
                </a:solidFill>
                <a:latin typeface="Times New Roman"/>
                <a:ea typeface="Times New Roman"/>
                <a:cs typeface="Times New Roman"/>
              </a:defRPr>
            </a:lvl4pPr>
            <a:lvl5pPr algn="l">
              <a:defRPr sz="2100" b="0">
                <a:solidFill>
                  <a:srgbClr val="0070C0"/>
                </a:solidFill>
                <a:latin typeface="Times New Roman"/>
                <a:ea typeface="Times New Roman"/>
                <a:cs typeface="Times New Roman"/>
              </a:defRPr>
            </a:lvl5pPr>
            <a:lvl6pPr algn="l">
              <a:defRPr sz="2100" b="0">
                <a:solidFill>
                  <a:srgbClr val="0070C0"/>
                </a:solidFill>
                <a:latin typeface="Times New Roman"/>
                <a:ea typeface="Times New Roman"/>
                <a:cs typeface="Times New Roman"/>
              </a:defRPr>
            </a:lvl6pPr>
            <a:lvl7pPr algn="l">
              <a:defRPr sz="2100" b="0">
                <a:solidFill>
                  <a:srgbClr val="0070C0"/>
                </a:solidFill>
                <a:latin typeface="Times New Roman"/>
                <a:ea typeface="Times New Roman"/>
                <a:cs typeface="Times New Roman"/>
              </a:defRPr>
            </a:lvl7pPr>
            <a:lvl8pPr algn="l">
              <a:defRPr sz="2100" b="0">
                <a:solidFill>
                  <a:srgbClr val="0070C0"/>
                </a:solidFill>
                <a:latin typeface="Times New Roman"/>
                <a:ea typeface="Times New Roman"/>
                <a:cs typeface="Times New Roman"/>
              </a:defRPr>
            </a:lvl8pPr>
            <a:lvl9pPr algn="l">
              <a:defRPr sz="2100" b="0">
                <a:solidFill>
                  <a:srgbClr val="0070C0"/>
                </a:solidFill>
                <a:latin typeface="Times New Roman"/>
                <a:ea typeface="Times New Roman"/>
                <a:cs typeface="Times New Roman"/>
              </a:defRPr>
            </a:lvl9pPr>
          </a:lstStyle>
          <a:p xmlns:a="http://schemas.openxmlformats.org/drawingml/2006/main">
            <a:pPr algn="l">
              <a:defRPr sz="2100" b="0">
                <a:solidFill>
                  <a:srgbClr val="0070C0"/>
                </a:solidFill>
                <a:latin typeface="Times New Roman"/>
                <a:ea typeface="Times New Roman"/>
                <a:cs typeface="Times New Roman"/>
              </a:defRPr>
            </a:pPr>
            <a:r>
              <a:rPr sz="2100" b="0">
                <a:solidFill>
                  <a:srgbClr val="0070C0"/>
                </a:solidFill>
                <a:latin typeface="Times New Roman"/>
                <a:ea typeface="Times New Roman"/>
                <a:cs typeface="Times New Roman"/>
              </a:rPr>
              <a:t>OLED and full RTOS pipeline: planned</a:t>
            </a:r>
          </a:p>
        </p:txBody>
      </p:sp>
      <p:sp>
        <p:nvSpPr>
          <p:cNvPr id="11" name="Cloud ingestion&#10;and storage">
            <a:extLst xmlns:a="http://schemas.openxmlformats.org/drawingml/2006/main">
              <a:ext uri="{FF2B5EF4-FFF2-40B4-BE49-F238E27FC236}">
                <a16:creationId xmlns:a16="http://schemas.microsoft.com/office/drawing/2014/main" id="{779495CD-7E42-469E-A110-CC547FF522B5}"/>
              </a:ext>
            </a:extLst>
          </p:cNvPr>
          <p:cNvSpPr>
            <a:spLocks xmlns:a="http://schemas.openxmlformats.org/drawingml/2006/main" noGrp="1"/>
          </p:cNvSpPr>
          <p:nvPr/>
        </p:nvSpPr>
        <p:spPr>
          <a:xfrm xmlns:a="http://schemas.openxmlformats.org/drawingml/2006/main">
            <a:off x="7620000" y="3810000"/>
            <a:ext cx="3429000"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0070C0"/>
            </a:solidFill>
          </a:ln>
        </p:spPr>
        <p:txBody>
          <a:bodyPr xmlns:a="http://schemas.openxmlformats.org/drawingml/2006/main" lIns="76200" tIns="76200" rIns="76200" bIns="76200" anchor="ctr"/>
          <a:lstStyle xmlns:a="http://schemas.openxmlformats.org/drawingml/2006/main">
            <a:defPPr algn="ctr">
              <a:defRPr sz="2175" b="1">
                <a:solidFill>
                  <a:srgbClr val="0070C0"/>
                </a:solidFill>
                <a:latin typeface="Times New Roman"/>
                <a:ea typeface="Times New Roman"/>
                <a:cs typeface="Times New Roman"/>
              </a:defRPr>
            </a:defPPr>
            <a:lvl1pPr algn="ctr">
              <a:defRPr sz="2175" b="1">
                <a:solidFill>
                  <a:srgbClr val="0070C0"/>
                </a:solidFill>
                <a:latin typeface="Times New Roman"/>
                <a:ea typeface="Times New Roman"/>
                <a:cs typeface="Times New Roman"/>
              </a:defRPr>
            </a:lvl1pPr>
            <a:lvl2pPr algn="ctr">
              <a:defRPr sz="2175" b="1">
                <a:solidFill>
                  <a:srgbClr val="0070C0"/>
                </a:solidFill>
                <a:latin typeface="Times New Roman"/>
                <a:ea typeface="Times New Roman"/>
                <a:cs typeface="Times New Roman"/>
              </a:defRPr>
            </a:lvl2pPr>
            <a:lvl3pPr algn="ctr">
              <a:defRPr sz="2175" b="1">
                <a:solidFill>
                  <a:srgbClr val="0070C0"/>
                </a:solidFill>
                <a:latin typeface="Times New Roman"/>
                <a:ea typeface="Times New Roman"/>
                <a:cs typeface="Times New Roman"/>
              </a:defRPr>
            </a:lvl3pPr>
            <a:lvl4pPr algn="ctr">
              <a:defRPr sz="2175" b="1">
                <a:solidFill>
                  <a:srgbClr val="0070C0"/>
                </a:solidFill>
                <a:latin typeface="Times New Roman"/>
                <a:ea typeface="Times New Roman"/>
                <a:cs typeface="Times New Roman"/>
              </a:defRPr>
            </a:lvl4pPr>
            <a:lvl5pPr algn="ctr">
              <a:defRPr sz="2175" b="1">
                <a:solidFill>
                  <a:srgbClr val="0070C0"/>
                </a:solidFill>
                <a:latin typeface="Times New Roman"/>
                <a:ea typeface="Times New Roman"/>
                <a:cs typeface="Times New Roman"/>
              </a:defRPr>
            </a:lvl5pPr>
            <a:lvl6pPr algn="ctr">
              <a:defRPr sz="2175" b="1">
                <a:solidFill>
                  <a:srgbClr val="0070C0"/>
                </a:solidFill>
                <a:latin typeface="Times New Roman"/>
                <a:ea typeface="Times New Roman"/>
                <a:cs typeface="Times New Roman"/>
              </a:defRPr>
            </a:lvl6pPr>
            <a:lvl7pPr algn="ctr">
              <a:defRPr sz="2175" b="1">
                <a:solidFill>
                  <a:srgbClr val="0070C0"/>
                </a:solidFill>
                <a:latin typeface="Times New Roman"/>
                <a:ea typeface="Times New Roman"/>
                <a:cs typeface="Times New Roman"/>
              </a:defRPr>
            </a:lvl7pPr>
            <a:lvl8pPr algn="ctr">
              <a:defRPr sz="2175" b="1">
                <a:solidFill>
                  <a:srgbClr val="0070C0"/>
                </a:solidFill>
                <a:latin typeface="Times New Roman"/>
                <a:ea typeface="Times New Roman"/>
                <a:cs typeface="Times New Roman"/>
              </a:defRPr>
            </a:lvl8pPr>
            <a:lvl9pPr algn="ctr">
              <a:defRPr sz="2175" b="1">
                <a:solidFill>
                  <a:srgbClr val="0070C0"/>
                </a:solidFill>
                <a:latin typeface="Times New Roman"/>
                <a:ea typeface="Times New Roman"/>
                <a:cs typeface="Times New Roman"/>
              </a:defRPr>
            </a:lvl9pPr>
          </a:lstStyle>
          <a:p xmlns:a="http://schemas.openxmlformats.org/drawingml/2006/main">
            <a:pPr algn="ctr">
              <a:defRPr sz="2175" b="1">
                <a:solidFill>
                  <a:srgbClr val="0070C0"/>
                </a:solidFill>
                <a:latin typeface="Times New Roman"/>
                <a:ea typeface="Times New Roman"/>
                <a:cs typeface="Times New Roman"/>
              </a:defRPr>
            </a:pPr>
            <a:r>
              <a:rPr sz="2175" b="1">
                <a:solidFill>
                  <a:srgbClr val="0070C0"/>
                </a:solidFill>
                <a:latin typeface="Times New Roman"/>
                <a:ea typeface="Times New Roman"/>
                <a:cs typeface="Times New Roman"/>
              </a:rPr>
              <a:t>Cloud ingestion</a:t>
            </a:r>
          </a:p>
          <a:p xmlns:a="http://schemas.openxmlformats.org/drawingml/2006/main">
            <a:pPr algn="ctr">
              <a:defRPr sz="2175" b="1">
                <a:solidFill>
                  <a:srgbClr val="0070C0"/>
                </a:solidFill>
                <a:latin typeface="Times New Roman"/>
                <a:ea typeface="Times New Roman"/>
                <a:cs typeface="Times New Roman"/>
              </a:defRPr>
            </a:pPr>
            <a:r>
              <a:rPr sz="2175" b="1">
                <a:solidFill>
                  <a:srgbClr val="0070C0"/>
                </a:solidFill>
                <a:latin typeface="Times New Roman"/>
                <a:ea typeface="Times New Roman"/>
                <a:cs typeface="Times New Roman"/>
              </a:rPr>
              <a:t>and storage</a:t>
            </a:r>
          </a:p>
        </p:txBody>
      </p:sp>
      <p:sp>
        <p:nvSpPr>
          <p:cNvPr id="12" name="ML risk assessment">
            <a:extLst xmlns:a="http://schemas.openxmlformats.org/drawingml/2006/main">
              <a:ext uri="{FF2B5EF4-FFF2-40B4-BE49-F238E27FC236}">
                <a16:creationId xmlns:a16="http://schemas.microsoft.com/office/drawing/2014/main" id="{72B6BE68-DCF2-4FC4-9737-FB1BC9C4F6BF}"/>
              </a:ext>
            </a:extLst>
          </p:cNvPr>
          <p:cNvSpPr>
            <a:spLocks xmlns:a="http://schemas.openxmlformats.org/drawingml/2006/main" noGrp="1"/>
          </p:cNvSpPr>
          <p:nvPr/>
        </p:nvSpPr>
        <p:spPr>
          <a:xfrm xmlns:a="http://schemas.openxmlformats.org/drawingml/2006/main">
            <a:off x="3905250" y="3810000"/>
            <a:ext cx="2857500"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0070C0"/>
            </a:solidFill>
          </a:ln>
        </p:spPr>
        <p:txBody>
          <a:bodyPr xmlns:a="http://schemas.openxmlformats.org/drawingml/2006/main" lIns="76200" tIns="76200" rIns="76200" bIns="76200" anchor="ctr"/>
          <a:lstStyle xmlns:a="http://schemas.openxmlformats.org/drawingml/2006/main">
            <a:defPPr algn="ctr">
              <a:defRPr sz="2175" b="1">
                <a:solidFill>
                  <a:srgbClr val="0070C0"/>
                </a:solidFill>
                <a:latin typeface="Times New Roman"/>
                <a:ea typeface="Times New Roman"/>
                <a:cs typeface="Times New Roman"/>
              </a:defRPr>
            </a:defPPr>
            <a:lvl1pPr algn="ctr">
              <a:defRPr sz="2175" b="1">
                <a:solidFill>
                  <a:srgbClr val="0070C0"/>
                </a:solidFill>
                <a:latin typeface="Times New Roman"/>
                <a:ea typeface="Times New Roman"/>
                <a:cs typeface="Times New Roman"/>
              </a:defRPr>
            </a:lvl1pPr>
            <a:lvl2pPr algn="ctr">
              <a:defRPr sz="2175" b="1">
                <a:solidFill>
                  <a:srgbClr val="0070C0"/>
                </a:solidFill>
                <a:latin typeface="Times New Roman"/>
                <a:ea typeface="Times New Roman"/>
                <a:cs typeface="Times New Roman"/>
              </a:defRPr>
            </a:lvl2pPr>
            <a:lvl3pPr algn="ctr">
              <a:defRPr sz="2175" b="1">
                <a:solidFill>
                  <a:srgbClr val="0070C0"/>
                </a:solidFill>
                <a:latin typeface="Times New Roman"/>
                <a:ea typeface="Times New Roman"/>
                <a:cs typeface="Times New Roman"/>
              </a:defRPr>
            </a:lvl3pPr>
            <a:lvl4pPr algn="ctr">
              <a:defRPr sz="2175" b="1">
                <a:solidFill>
                  <a:srgbClr val="0070C0"/>
                </a:solidFill>
                <a:latin typeface="Times New Roman"/>
                <a:ea typeface="Times New Roman"/>
                <a:cs typeface="Times New Roman"/>
              </a:defRPr>
            </a:lvl4pPr>
            <a:lvl5pPr algn="ctr">
              <a:defRPr sz="2175" b="1">
                <a:solidFill>
                  <a:srgbClr val="0070C0"/>
                </a:solidFill>
                <a:latin typeface="Times New Roman"/>
                <a:ea typeface="Times New Roman"/>
                <a:cs typeface="Times New Roman"/>
              </a:defRPr>
            </a:lvl5pPr>
            <a:lvl6pPr algn="ctr">
              <a:defRPr sz="2175" b="1">
                <a:solidFill>
                  <a:srgbClr val="0070C0"/>
                </a:solidFill>
                <a:latin typeface="Times New Roman"/>
                <a:ea typeface="Times New Roman"/>
                <a:cs typeface="Times New Roman"/>
              </a:defRPr>
            </a:lvl6pPr>
            <a:lvl7pPr algn="ctr">
              <a:defRPr sz="2175" b="1">
                <a:solidFill>
                  <a:srgbClr val="0070C0"/>
                </a:solidFill>
                <a:latin typeface="Times New Roman"/>
                <a:ea typeface="Times New Roman"/>
                <a:cs typeface="Times New Roman"/>
              </a:defRPr>
            </a:lvl7pPr>
            <a:lvl8pPr algn="ctr">
              <a:defRPr sz="2175" b="1">
                <a:solidFill>
                  <a:srgbClr val="0070C0"/>
                </a:solidFill>
                <a:latin typeface="Times New Roman"/>
                <a:ea typeface="Times New Roman"/>
                <a:cs typeface="Times New Roman"/>
              </a:defRPr>
            </a:lvl8pPr>
            <a:lvl9pPr algn="ctr">
              <a:defRPr sz="2175" b="1">
                <a:solidFill>
                  <a:srgbClr val="0070C0"/>
                </a:solidFill>
                <a:latin typeface="Times New Roman"/>
                <a:ea typeface="Times New Roman"/>
                <a:cs typeface="Times New Roman"/>
              </a:defRPr>
            </a:lvl9pPr>
          </a:lstStyle>
          <a:p xmlns:a="http://schemas.openxmlformats.org/drawingml/2006/main">
            <a:pPr algn="ctr">
              <a:defRPr sz="2175" b="1">
                <a:solidFill>
                  <a:srgbClr val="0070C0"/>
                </a:solidFill>
                <a:latin typeface="Times New Roman"/>
                <a:ea typeface="Times New Roman"/>
                <a:cs typeface="Times New Roman"/>
              </a:defRPr>
            </a:pPr>
            <a:r>
              <a:rPr sz="2175" b="1">
                <a:solidFill>
                  <a:srgbClr val="0070C0"/>
                </a:solidFill>
                <a:latin typeface="Times New Roman"/>
                <a:ea typeface="Times New Roman"/>
                <a:cs typeface="Times New Roman"/>
              </a:rPr>
              <a:t>ML risk assessment</a:t>
            </a:r>
          </a:p>
        </p:txBody>
      </p:sp>
      <p:sp>
        <p:nvSpPr>
          <p:cNvPr id="13" name="Hospital dashboard">
            <a:extLst xmlns:a="http://schemas.openxmlformats.org/drawingml/2006/main">
              <a:ext uri="{FF2B5EF4-FFF2-40B4-BE49-F238E27FC236}">
                <a16:creationId xmlns:a16="http://schemas.microsoft.com/office/drawing/2014/main" id="{745D0ED8-ED84-4A69-A8AF-29B2A20C1032}"/>
              </a:ext>
            </a:extLst>
          </p:cNvPr>
          <p:cNvSpPr>
            <a:spLocks xmlns:a="http://schemas.openxmlformats.org/drawingml/2006/main" noGrp="1"/>
          </p:cNvSpPr>
          <p:nvPr/>
        </p:nvSpPr>
        <p:spPr>
          <a:xfrm xmlns:a="http://schemas.openxmlformats.org/drawingml/2006/main">
            <a:off x="523875" y="3810000"/>
            <a:ext cx="2571750"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0070C0"/>
            </a:solidFill>
          </a:ln>
        </p:spPr>
        <p:txBody>
          <a:bodyPr xmlns:a="http://schemas.openxmlformats.org/drawingml/2006/main" lIns="76200" tIns="76200" rIns="76200" bIns="76200" anchor="ctr"/>
          <a:lstStyle xmlns:a="http://schemas.openxmlformats.org/drawingml/2006/main">
            <a:defPPr algn="ctr">
              <a:defRPr sz="2175" b="1">
                <a:solidFill>
                  <a:srgbClr val="0070C0"/>
                </a:solidFill>
                <a:latin typeface="Times New Roman"/>
                <a:ea typeface="Times New Roman"/>
                <a:cs typeface="Times New Roman"/>
              </a:defRPr>
            </a:defPPr>
            <a:lvl1pPr algn="ctr">
              <a:defRPr sz="2175" b="1">
                <a:solidFill>
                  <a:srgbClr val="0070C0"/>
                </a:solidFill>
                <a:latin typeface="Times New Roman"/>
                <a:ea typeface="Times New Roman"/>
                <a:cs typeface="Times New Roman"/>
              </a:defRPr>
            </a:lvl1pPr>
            <a:lvl2pPr algn="ctr">
              <a:defRPr sz="2175" b="1">
                <a:solidFill>
                  <a:srgbClr val="0070C0"/>
                </a:solidFill>
                <a:latin typeface="Times New Roman"/>
                <a:ea typeface="Times New Roman"/>
                <a:cs typeface="Times New Roman"/>
              </a:defRPr>
            </a:lvl2pPr>
            <a:lvl3pPr algn="ctr">
              <a:defRPr sz="2175" b="1">
                <a:solidFill>
                  <a:srgbClr val="0070C0"/>
                </a:solidFill>
                <a:latin typeface="Times New Roman"/>
                <a:ea typeface="Times New Roman"/>
                <a:cs typeface="Times New Roman"/>
              </a:defRPr>
            </a:lvl3pPr>
            <a:lvl4pPr algn="ctr">
              <a:defRPr sz="2175" b="1">
                <a:solidFill>
                  <a:srgbClr val="0070C0"/>
                </a:solidFill>
                <a:latin typeface="Times New Roman"/>
                <a:ea typeface="Times New Roman"/>
                <a:cs typeface="Times New Roman"/>
              </a:defRPr>
            </a:lvl4pPr>
            <a:lvl5pPr algn="ctr">
              <a:defRPr sz="2175" b="1">
                <a:solidFill>
                  <a:srgbClr val="0070C0"/>
                </a:solidFill>
                <a:latin typeface="Times New Roman"/>
                <a:ea typeface="Times New Roman"/>
                <a:cs typeface="Times New Roman"/>
              </a:defRPr>
            </a:lvl5pPr>
            <a:lvl6pPr algn="ctr">
              <a:defRPr sz="2175" b="1">
                <a:solidFill>
                  <a:srgbClr val="0070C0"/>
                </a:solidFill>
                <a:latin typeface="Times New Roman"/>
                <a:ea typeface="Times New Roman"/>
                <a:cs typeface="Times New Roman"/>
              </a:defRPr>
            </a:lvl6pPr>
            <a:lvl7pPr algn="ctr">
              <a:defRPr sz="2175" b="1">
                <a:solidFill>
                  <a:srgbClr val="0070C0"/>
                </a:solidFill>
                <a:latin typeface="Times New Roman"/>
                <a:ea typeface="Times New Roman"/>
                <a:cs typeface="Times New Roman"/>
              </a:defRPr>
            </a:lvl7pPr>
            <a:lvl8pPr algn="ctr">
              <a:defRPr sz="2175" b="1">
                <a:solidFill>
                  <a:srgbClr val="0070C0"/>
                </a:solidFill>
                <a:latin typeface="Times New Roman"/>
                <a:ea typeface="Times New Roman"/>
                <a:cs typeface="Times New Roman"/>
              </a:defRPr>
            </a:lvl8pPr>
            <a:lvl9pPr algn="ctr">
              <a:defRPr sz="2175" b="1">
                <a:solidFill>
                  <a:srgbClr val="0070C0"/>
                </a:solidFill>
                <a:latin typeface="Times New Roman"/>
                <a:ea typeface="Times New Roman"/>
                <a:cs typeface="Times New Roman"/>
              </a:defRPr>
            </a:lvl9pPr>
          </a:lstStyle>
          <a:p xmlns:a="http://schemas.openxmlformats.org/drawingml/2006/main">
            <a:pPr algn="ctr">
              <a:defRPr sz="2175" b="1">
                <a:solidFill>
                  <a:srgbClr val="0070C0"/>
                </a:solidFill>
                <a:latin typeface="Times New Roman"/>
                <a:ea typeface="Times New Roman"/>
                <a:cs typeface="Times New Roman"/>
              </a:defRPr>
            </a:pPr>
            <a:r>
              <a:rPr sz="2175" b="1">
                <a:solidFill>
                  <a:srgbClr val="0070C0"/>
                </a:solidFill>
                <a:latin typeface="Times New Roman"/>
                <a:ea typeface="Times New Roman"/>
                <a:cs typeface="Times New Roman"/>
              </a:rPr>
              <a:t>Hospital dashboard</a:t>
            </a:r>
          </a:p>
        </p:txBody>
      </p:sp>
      <p:sp>
        <p:nvSpPr>
          <p:cNvPr id="17" name="Phone GPS and ETA: planned gateway functions">
            <a:extLst xmlns:a="http://schemas.openxmlformats.org/drawingml/2006/main">
              <a:ext uri="{FF2B5EF4-FFF2-40B4-BE49-F238E27FC236}">
                <a16:creationId xmlns:a16="http://schemas.microsoft.com/office/drawing/2014/main" id="{31FE3EB2-2D53-485D-B73E-9A7FDE2A605D}"/>
              </a:ext>
            </a:extLst>
          </p:cNvPr>
          <p:cNvSpPr>
            <a:spLocks xmlns:a="http://schemas.openxmlformats.org/drawingml/2006/main" noGrp="1"/>
          </p:cNvSpPr>
          <p:nvPr/>
        </p:nvSpPr>
        <p:spPr>
          <a:xfrm xmlns:a="http://schemas.openxmlformats.org/drawingml/2006/main">
            <a:off x="666750" y="32861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025" b="0">
                <a:solidFill>
                  <a:srgbClr val="0070C0"/>
                </a:solidFill>
                <a:latin typeface="Times New Roman"/>
                <a:ea typeface="Times New Roman"/>
                <a:cs typeface="Times New Roman"/>
              </a:defRPr>
            </a:defPPr>
            <a:lvl1pPr algn="l">
              <a:defRPr sz="2025" b="0">
                <a:solidFill>
                  <a:srgbClr val="0070C0"/>
                </a:solidFill>
                <a:latin typeface="Times New Roman"/>
                <a:ea typeface="Times New Roman"/>
                <a:cs typeface="Times New Roman"/>
              </a:defRPr>
            </a:lvl1pPr>
            <a:lvl2pPr algn="l">
              <a:defRPr sz="2025" b="0">
                <a:solidFill>
                  <a:srgbClr val="0070C0"/>
                </a:solidFill>
                <a:latin typeface="Times New Roman"/>
                <a:ea typeface="Times New Roman"/>
                <a:cs typeface="Times New Roman"/>
              </a:defRPr>
            </a:lvl2pPr>
            <a:lvl3pPr algn="l">
              <a:defRPr sz="2025" b="0">
                <a:solidFill>
                  <a:srgbClr val="0070C0"/>
                </a:solidFill>
                <a:latin typeface="Times New Roman"/>
                <a:ea typeface="Times New Roman"/>
                <a:cs typeface="Times New Roman"/>
              </a:defRPr>
            </a:lvl3pPr>
            <a:lvl4pPr algn="l">
              <a:defRPr sz="2025" b="0">
                <a:solidFill>
                  <a:srgbClr val="0070C0"/>
                </a:solidFill>
                <a:latin typeface="Times New Roman"/>
                <a:ea typeface="Times New Roman"/>
                <a:cs typeface="Times New Roman"/>
              </a:defRPr>
            </a:lvl4pPr>
            <a:lvl5pPr algn="l">
              <a:defRPr sz="2025" b="0">
                <a:solidFill>
                  <a:srgbClr val="0070C0"/>
                </a:solidFill>
                <a:latin typeface="Times New Roman"/>
                <a:ea typeface="Times New Roman"/>
                <a:cs typeface="Times New Roman"/>
              </a:defRPr>
            </a:lvl5pPr>
            <a:lvl6pPr algn="l">
              <a:defRPr sz="2025" b="0">
                <a:solidFill>
                  <a:srgbClr val="0070C0"/>
                </a:solidFill>
                <a:latin typeface="Times New Roman"/>
                <a:ea typeface="Times New Roman"/>
                <a:cs typeface="Times New Roman"/>
              </a:defRPr>
            </a:lvl6pPr>
            <a:lvl7pPr algn="l">
              <a:defRPr sz="2025" b="0">
                <a:solidFill>
                  <a:srgbClr val="0070C0"/>
                </a:solidFill>
                <a:latin typeface="Times New Roman"/>
                <a:ea typeface="Times New Roman"/>
                <a:cs typeface="Times New Roman"/>
              </a:defRPr>
            </a:lvl7pPr>
            <a:lvl8pPr algn="l">
              <a:defRPr sz="2025" b="0">
                <a:solidFill>
                  <a:srgbClr val="0070C0"/>
                </a:solidFill>
                <a:latin typeface="Times New Roman"/>
                <a:ea typeface="Times New Roman"/>
                <a:cs typeface="Times New Roman"/>
              </a:defRPr>
            </a:lvl8pPr>
            <a:lvl9pPr algn="l">
              <a:defRPr sz="2025" b="0">
                <a:solidFill>
                  <a:srgbClr val="0070C0"/>
                </a:solidFill>
                <a:latin typeface="Times New Roman"/>
                <a:ea typeface="Times New Roman"/>
                <a:cs typeface="Times New Roman"/>
              </a:defRPr>
            </a:lvl9pPr>
          </a:lstStyle>
          <a:p xmlns:a="http://schemas.openxmlformats.org/drawingml/2006/main">
            <a:pPr algn="l">
              <a:defRPr sz="2025" b="0">
                <a:solidFill>
                  <a:srgbClr val="0070C0"/>
                </a:solidFill>
                <a:latin typeface="Times New Roman"/>
                <a:ea typeface="Times New Roman"/>
                <a:cs typeface="Times New Roman"/>
              </a:defRPr>
            </a:pPr>
            <a:r>
              <a:rPr sz="2025" b="0">
                <a:solidFill>
                  <a:srgbClr val="0070C0"/>
                </a:solidFill>
                <a:latin typeface="Times New Roman"/>
                <a:ea typeface="Times New Roman"/>
                <a:cs typeface="Times New Roman"/>
              </a:rPr>
              <a:t>Phone GPS and ETA: planned gateway functions</a:t>
            </a:r>
          </a:p>
        </p:txBody>
      </p:sp>
      <p:sp>
        <p:nvSpPr>
          <p:cNvPr id="18" name="Filled blocks: current BLE prototype     Outl">
            <a:extLst xmlns:a="http://schemas.openxmlformats.org/drawingml/2006/main">
              <a:ext uri="{FF2B5EF4-FFF2-40B4-BE49-F238E27FC236}">
                <a16:creationId xmlns:a16="http://schemas.microsoft.com/office/drawing/2014/main" id="{2A0B14EF-E453-49EB-BE17-6C1EC1DA266B}"/>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xmlns:a="http://schemas.openxmlformats.org/drawingml/2006/main">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Filled blocks: current BLE prototype     Outlined blocks: planned integration</a:t>
            </a:r>
          </a:p>
        </p:txBody>
      </p:sp>
      <p:sp>
        <p:nvSpPr>
          <p:cNvPr id="19" name="4">
            <a:extLst xmlns:a="http://schemas.openxmlformats.org/drawingml/2006/main">
              <a:ext uri="{FF2B5EF4-FFF2-40B4-BE49-F238E27FC236}">
                <a16:creationId xmlns:a16="http://schemas.microsoft.com/office/drawing/2014/main" id="{016F0446-ABD0-4D1F-AA9D-6F05735E21F2}"/>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4</a:t>
            </a:r>
          </a:p>
        </p:txBody>
      </p:sp>
    </p:spTree>
    <p:extLst>
      <p:ext uri="{BB962C8B-B14F-4D97-AF65-F5344CB8AC3E}">
        <p14:creationId xmlns:p14="http://schemas.microsoft.com/office/powerpoint/2010/main" val="173359637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543147E5-7AE6-4C6D-98A7-186F80DD2148}"/>
              </a:ext>
            </a:extLst>
          </p:cNvPr>
          <p:cNvCxnSpPr>
            <a:stCxn xmlns:a="http://schemas.openxmlformats.org/drawingml/2006/main" id="9" idx="1"/>
            <a:endCxn xmlns:a="http://schemas.openxmlformats.org/drawingml/2006/main" id="10" idx="3"/>
          </p:cNvCxnSpPr>
          <p:nvPr/>
        </p:nvCxnSpPr>
        <p:spPr>
          <a:xfrm xmlns:a="http://schemas.openxmlformats.org/drawingml/2006/main" flipH="1">
            <a:off x="3714750" y="4310063"/>
            <a:ext cx="857250" cy="0"/>
          </a:xfrm>
          <a:prstGeom xmlns:a="http://schemas.openxmlformats.org/drawingml/2006/main" prst="straightConnector1">
            <a:avLst/>
          </a:prstGeom>
          <a:ln xmlns:a="http://schemas.openxmlformats.org/drawingml/2006/main" w="19050">
            <a:solidFill>
              <a:srgbClr val="002060"/>
            </a:solidFill>
            <a:tailEnd type="arrow" w="med" len="med"/>
          </a:ln>
        </p:spPr>
      </p:cxnSp>
      <p:cxnSp>
        <p:nvCxnSpPr>
          <p:cNvPr id="14" name="">
            <a:extLst xmlns:a="http://schemas.openxmlformats.org/drawingml/2006/main">
              <a:ext uri="{FF2B5EF4-FFF2-40B4-BE49-F238E27FC236}">
                <a16:creationId xmlns:a16="http://schemas.microsoft.com/office/drawing/2014/main" id="{510E4F8F-4B8D-4A3B-9DF5-1E376261B473}"/>
              </a:ext>
            </a:extLst>
          </p:cNvPr>
          <p:cNvCxnSpPr>
            <a:stCxn xmlns:a="http://schemas.openxmlformats.org/drawingml/2006/main" id="8" idx="1"/>
            <a:endCxn xmlns:a="http://schemas.openxmlformats.org/drawingml/2006/main" id="9" idx="3"/>
          </p:cNvCxnSpPr>
          <p:nvPr/>
        </p:nvCxnSpPr>
        <p:spPr>
          <a:xfrm xmlns:a="http://schemas.openxmlformats.org/drawingml/2006/main" flipH="1">
            <a:off x="7620000" y="4310063"/>
            <a:ext cx="857250" cy="0"/>
          </a:xfrm>
          <a:prstGeom xmlns:a="http://schemas.openxmlformats.org/drawingml/2006/main" prst="straightConnector1">
            <a:avLst/>
          </a:prstGeom>
          <a:ln xmlns:a="http://schemas.openxmlformats.org/drawingml/2006/main" w="19050">
            <a:solidFill>
              <a:srgbClr val="002060"/>
            </a:solidFill>
            <a:tailEnd type="arrow" w="med" len="med"/>
          </a:ln>
        </p:spPr>
      </p:cxnSp>
      <p:cxnSp>
        <p:nvCxnSpPr>
          <p:cNvPr id="13" name="">
            <a:extLst xmlns:a="http://schemas.openxmlformats.org/drawingml/2006/main">
              <a:ext uri="{FF2B5EF4-FFF2-40B4-BE49-F238E27FC236}">
                <a16:creationId xmlns:a16="http://schemas.microsoft.com/office/drawing/2014/main" id="{B73E4117-5B76-4E5A-8BB5-34C221B82F7E}"/>
              </a:ext>
            </a:extLst>
          </p:cNvPr>
          <p:cNvCxnSpPr>
            <a:stCxn xmlns:a="http://schemas.openxmlformats.org/drawingml/2006/main" id="7" idx="2"/>
            <a:endCxn xmlns:a="http://schemas.openxmlformats.org/drawingml/2006/main" id="8" idx="0"/>
          </p:cNvCxnSpPr>
          <p:nvPr/>
        </p:nvCxnSpPr>
        <p:spPr>
          <a:xfrm xmlns:a="http://schemas.openxmlformats.org/drawingml/2006/main">
            <a:off x="10001250" y="2476500"/>
            <a:ext cx="0" cy="1285875"/>
          </a:xfrm>
          <a:prstGeom xmlns:a="http://schemas.openxmlformats.org/drawingml/2006/main" prst="straightConnector1">
            <a:avLst/>
          </a:prstGeom>
          <a:ln xmlns:a="http://schemas.openxmlformats.org/drawingml/2006/main" w="19050">
            <a:solidFill>
              <a:srgbClr val="002060"/>
            </a:solidFill>
            <a:tailEnd type="arrow" w="med" len="med"/>
          </a:ln>
        </p:spPr>
      </p:cxnSp>
      <p:cxnSp>
        <p:nvCxnSpPr>
          <p:cNvPr id="12" name="">
            <a:extLst xmlns:a="http://schemas.openxmlformats.org/drawingml/2006/main">
              <a:ext uri="{FF2B5EF4-FFF2-40B4-BE49-F238E27FC236}">
                <a16:creationId xmlns:a16="http://schemas.microsoft.com/office/drawing/2014/main" id="{09070000-C21C-4BC7-BF91-30BCC364F0F6}"/>
              </a:ext>
            </a:extLst>
          </p:cNvPr>
          <p:cNvCxnSpPr>
            <a:stCxn xmlns:a="http://schemas.openxmlformats.org/drawingml/2006/main" id="6" idx="3"/>
            <a:endCxn xmlns:a="http://schemas.openxmlformats.org/drawingml/2006/main" id="7" idx="1"/>
          </p:cNvCxnSpPr>
          <p:nvPr/>
        </p:nvCxnSpPr>
        <p:spPr>
          <a:xfrm xmlns:a="http://schemas.openxmlformats.org/drawingml/2006/main">
            <a:off x="7620000" y="1928813"/>
            <a:ext cx="857250" cy="0"/>
          </a:xfrm>
          <a:prstGeom xmlns:a="http://schemas.openxmlformats.org/drawingml/2006/main" prst="straightConnector1">
            <a:avLst/>
          </a:prstGeom>
          <a:ln xmlns:a="http://schemas.openxmlformats.org/drawingml/2006/main" w="19050">
            <a:solidFill>
              <a:srgbClr val="002060"/>
            </a:solidFill>
            <a:tailEnd type="arrow" w="med" len="med"/>
          </a:ln>
        </p:spPr>
      </p:cxnSp>
      <p:cxnSp>
        <p:nvCxnSpPr>
          <p:cNvPr id="11" name="">
            <a:extLst xmlns:a="http://schemas.openxmlformats.org/drawingml/2006/main">
              <a:ext uri="{FF2B5EF4-FFF2-40B4-BE49-F238E27FC236}">
                <a16:creationId xmlns:a16="http://schemas.microsoft.com/office/drawing/2014/main" id="{004B0B8E-68C5-4015-ABFD-87E112F549F5}"/>
              </a:ext>
            </a:extLst>
          </p:cNvPr>
          <p:cNvCxnSpPr>
            <a:stCxn xmlns:a="http://schemas.openxmlformats.org/drawingml/2006/main" id="5" idx="3"/>
            <a:endCxn xmlns:a="http://schemas.openxmlformats.org/drawingml/2006/main" id="6" idx="1"/>
          </p:cNvCxnSpPr>
          <p:nvPr/>
        </p:nvCxnSpPr>
        <p:spPr>
          <a:xfrm xmlns:a="http://schemas.openxmlformats.org/drawingml/2006/main">
            <a:off x="3714750" y="1928813"/>
            <a:ext cx="857250" cy="0"/>
          </a:xfrm>
          <a:prstGeom xmlns:a="http://schemas.openxmlformats.org/drawingml/2006/main" prst="straightConnector1">
            <a:avLst/>
          </a:prstGeom>
          <a:ln xmlns:a="http://schemas.openxmlformats.org/drawingml/2006/main" w="19050">
            <a:solidFill>
              <a:srgbClr val="002060"/>
            </a:solidFill>
            <a:tailEnd type="arrow" w="med" len="med"/>
          </a:ln>
        </p:spPr>
      </p:cxnSp>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BLE Communication Workflow</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Scan for&#10;Smart_Ambulance">
            <a:extLst xmlns:a="http://schemas.openxmlformats.org/drawingml/2006/main">
              <a:ext uri="{FF2B5EF4-FFF2-40B4-BE49-F238E27FC236}">
                <a16:creationId xmlns:a16="http://schemas.microsoft.com/office/drawing/2014/main" id="{3EC534E1-DB52-4D82-BC53-5163A72AFED6}"/>
              </a:ext>
            </a:extLst>
          </p:cNvPr>
          <p:cNvSpPr>
            <a:spLocks xmlns:a="http://schemas.openxmlformats.org/drawingml/2006/main" noGrp="1"/>
          </p:cNvSpPr>
          <p:nvPr/>
        </p:nvSpPr>
        <p:spPr>
          <a:xfrm xmlns:a="http://schemas.openxmlformats.org/drawingml/2006/main">
            <a:off x="666750" y="1381125"/>
            <a:ext cx="3048000" cy="1095375"/>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Scan for</a:t>
            </a:r>
          </a:p>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Smart_Ambulance</a:t>
            </a:r>
          </a:p>
        </p:txBody>
      </p:sp>
      <p:sp>
        <p:nvSpPr>
          <p:cNvPr id="6" name="Connect and&#10;encrypt link">
            <a:extLst xmlns:a="http://schemas.openxmlformats.org/drawingml/2006/main">
              <a:ext uri="{FF2B5EF4-FFF2-40B4-BE49-F238E27FC236}">
                <a16:creationId xmlns:a16="http://schemas.microsoft.com/office/drawing/2014/main" id="{70D61D34-2748-45DF-9DE5-B2FE4FE041BA}"/>
              </a:ext>
            </a:extLst>
          </p:cNvPr>
          <p:cNvSpPr>
            <a:spLocks xmlns:a="http://schemas.openxmlformats.org/drawingml/2006/main" noGrp="1"/>
          </p:cNvSpPr>
          <p:nvPr/>
        </p:nvSpPr>
        <p:spPr>
          <a:xfrm xmlns:a="http://schemas.openxmlformats.org/drawingml/2006/main">
            <a:off x="4572000" y="1381125"/>
            <a:ext cx="3048000" cy="1095375"/>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Connect and</a:t>
            </a:r>
          </a:p>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encrypt link</a:t>
            </a:r>
          </a:p>
        </p:txBody>
      </p:sp>
      <p:sp>
        <p:nvSpPr>
          <p:cNvPr id="7" name="Discover GHSS&#10;and subscribe">
            <a:extLst xmlns:a="http://schemas.openxmlformats.org/drawingml/2006/main">
              <a:ext uri="{FF2B5EF4-FFF2-40B4-BE49-F238E27FC236}">
                <a16:creationId xmlns:a16="http://schemas.microsoft.com/office/drawing/2014/main" id="{752EE862-24C5-4C2C-BFD8-42C07AA96859}"/>
              </a:ext>
            </a:extLst>
          </p:cNvPr>
          <p:cNvSpPr>
            <a:spLocks xmlns:a="http://schemas.openxmlformats.org/drawingml/2006/main" noGrp="1"/>
          </p:cNvSpPr>
          <p:nvPr/>
        </p:nvSpPr>
        <p:spPr>
          <a:xfrm xmlns:a="http://schemas.openxmlformats.org/drawingml/2006/main">
            <a:off x="8477250" y="1381125"/>
            <a:ext cx="3048000" cy="1095375"/>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Discover GHSS</a:t>
            </a:r>
          </a:p>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and subscribe</a:t>
            </a:r>
          </a:p>
        </p:txBody>
      </p:sp>
      <p:sp>
        <p:nvSpPr>
          <p:cNvPr id="8" name="Send Start&#10;command 0x01">
            <a:extLst xmlns:a="http://schemas.openxmlformats.org/drawingml/2006/main">
              <a:ext uri="{FF2B5EF4-FFF2-40B4-BE49-F238E27FC236}">
                <a16:creationId xmlns:a16="http://schemas.microsoft.com/office/drawing/2014/main" id="{A90DB280-86FD-4D1C-861B-90313F97032F}"/>
              </a:ext>
            </a:extLst>
          </p:cNvPr>
          <p:cNvSpPr>
            <a:spLocks xmlns:a="http://schemas.openxmlformats.org/drawingml/2006/main" noGrp="1"/>
          </p:cNvSpPr>
          <p:nvPr/>
        </p:nvSpPr>
        <p:spPr>
          <a:xfrm xmlns:a="http://schemas.openxmlformats.org/drawingml/2006/main">
            <a:off x="8477250" y="3762375"/>
            <a:ext cx="3048000" cy="1095375"/>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Send Start</a:t>
            </a:r>
          </a:p>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command 0x01</a:t>
            </a:r>
          </a:p>
        </p:txBody>
      </p:sp>
      <p:sp>
        <p:nvSpPr>
          <p:cNvPr id="9" name="Receive simulated&#10;vital observations">
            <a:extLst xmlns:a="http://schemas.openxmlformats.org/drawingml/2006/main">
              <a:ext uri="{FF2B5EF4-FFF2-40B4-BE49-F238E27FC236}">
                <a16:creationId xmlns:a16="http://schemas.microsoft.com/office/drawing/2014/main" id="{772BE867-2CA6-458C-8A20-78D23F5D1951}"/>
              </a:ext>
            </a:extLst>
          </p:cNvPr>
          <p:cNvSpPr>
            <a:spLocks xmlns:a="http://schemas.openxmlformats.org/drawingml/2006/main" noGrp="1"/>
          </p:cNvSpPr>
          <p:nvPr/>
        </p:nvSpPr>
        <p:spPr>
          <a:xfrm xmlns:a="http://schemas.openxmlformats.org/drawingml/2006/main">
            <a:off x="4572000" y="3762375"/>
            <a:ext cx="3048000" cy="1095375"/>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Receive simulated</a:t>
            </a:r>
          </a:p>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vital observations</a:t>
            </a:r>
          </a:p>
        </p:txBody>
      </p:sp>
      <p:sp>
        <p:nvSpPr>
          <p:cNvPr id="10" name="Decode and display&#10;HR, SpO2, temperature">
            <a:extLst xmlns:a="http://schemas.openxmlformats.org/drawingml/2006/main">
              <a:ext uri="{FF2B5EF4-FFF2-40B4-BE49-F238E27FC236}">
                <a16:creationId xmlns:a16="http://schemas.microsoft.com/office/drawing/2014/main" id="{9F2374F1-590F-4E20-A086-E040650A59C6}"/>
              </a:ext>
            </a:extLst>
          </p:cNvPr>
          <p:cNvSpPr>
            <a:spLocks xmlns:a="http://schemas.openxmlformats.org/drawingml/2006/main" noGrp="1"/>
          </p:cNvSpPr>
          <p:nvPr/>
        </p:nvSpPr>
        <p:spPr>
          <a:xfrm xmlns:a="http://schemas.openxmlformats.org/drawingml/2006/main">
            <a:off x="666750" y="3762375"/>
            <a:ext cx="3048000" cy="1095375"/>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Decode and display</a:t>
            </a:r>
          </a:p>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HR, SpO2, temperature</a:t>
            </a:r>
          </a:p>
        </p:txBody>
      </p:sp>
      <p:sp>
        <p:nvSpPr>
          <p:cNvPr id="16" name="After subscription, the app enables start/sto">
            <a:extLst xmlns:a="http://schemas.openxmlformats.org/drawingml/2006/main">
              <a:ext uri="{FF2B5EF4-FFF2-40B4-BE49-F238E27FC236}">
                <a16:creationId xmlns:a16="http://schemas.microsoft.com/office/drawing/2014/main" id="{A9FF0872-432F-4647-9E3B-26FF09BA661E}"/>
              </a:ext>
            </a:extLst>
          </p:cNvPr>
          <p:cNvSpPr>
            <a:spLocks xmlns:a="http://schemas.openxmlformats.org/drawingml/2006/main" noGrp="1"/>
          </p:cNvSpPr>
          <p:nvPr/>
        </p:nvSpPr>
        <p:spPr>
          <a:xfrm xmlns:a="http://schemas.openxmlformats.org/drawingml/2006/main">
            <a:off x="857250" y="27622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325" b="0">
                <a:solidFill>
                  <a:srgbClr val="0070C0"/>
                </a:solidFill>
                <a:latin typeface="Times New Roman"/>
                <a:ea typeface="Times New Roman"/>
                <a:cs typeface="Times New Roman"/>
              </a:defRPr>
            </a:defPPr>
            <a:lvl1pPr algn="l">
              <a:defRPr sz="2325" b="0">
                <a:solidFill>
                  <a:srgbClr val="0070C0"/>
                </a:solidFill>
                <a:latin typeface="Times New Roman"/>
                <a:ea typeface="Times New Roman"/>
                <a:cs typeface="Times New Roman"/>
              </a:defRPr>
            </a:lvl1pPr>
            <a:lvl2pPr algn="l">
              <a:defRPr sz="2325" b="0">
                <a:solidFill>
                  <a:srgbClr val="0070C0"/>
                </a:solidFill>
                <a:latin typeface="Times New Roman"/>
                <a:ea typeface="Times New Roman"/>
                <a:cs typeface="Times New Roman"/>
              </a:defRPr>
            </a:lvl2pPr>
            <a:lvl3pPr algn="l">
              <a:defRPr sz="2325" b="0">
                <a:solidFill>
                  <a:srgbClr val="0070C0"/>
                </a:solidFill>
                <a:latin typeface="Times New Roman"/>
                <a:ea typeface="Times New Roman"/>
                <a:cs typeface="Times New Roman"/>
              </a:defRPr>
            </a:lvl3pPr>
            <a:lvl4pPr algn="l">
              <a:defRPr sz="2325" b="0">
                <a:solidFill>
                  <a:srgbClr val="0070C0"/>
                </a:solidFill>
                <a:latin typeface="Times New Roman"/>
                <a:ea typeface="Times New Roman"/>
                <a:cs typeface="Times New Roman"/>
              </a:defRPr>
            </a:lvl4pPr>
            <a:lvl5pPr algn="l">
              <a:defRPr sz="2325" b="0">
                <a:solidFill>
                  <a:srgbClr val="0070C0"/>
                </a:solidFill>
                <a:latin typeface="Times New Roman"/>
                <a:ea typeface="Times New Roman"/>
                <a:cs typeface="Times New Roman"/>
              </a:defRPr>
            </a:lvl5pPr>
            <a:lvl6pPr algn="l">
              <a:defRPr sz="2325" b="0">
                <a:solidFill>
                  <a:srgbClr val="0070C0"/>
                </a:solidFill>
                <a:latin typeface="Times New Roman"/>
                <a:ea typeface="Times New Roman"/>
                <a:cs typeface="Times New Roman"/>
              </a:defRPr>
            </a:lvl6pPr>
            <a:lvl7pPr algn="l">
              <a:defRPr sz="2325" b="0">
                <a:solidFill>
                  <a:srgbClr val="0070C0"/>
                </a:solidFill>
                <a:latin typeface="Times New Roman"/>
                <a:ea typeface="Times New Roman"/>
                <a:cs typeface="Times New Roman"/>
              </a:defRPr>
            </a:lvl7pPr>
            <a:lvl8pPr algn="l">
              <a:defRPr sz="2325" b="0">
                <a:solidFill>
                  <a:srgbClr val="0070C0"/>
                </a:solidFill>
                <a:latin typeface="Times New Roman"/>
                <a:ea typeface="Times New Roman"/>
                <a:cs typeface="Times New Roman"/>
              </a:defRPr>
            </a:lvl8pPr>
            <a:lvl9pPr algn="l">
              <a:defRPr sz="2325" b="0">
                <a:solidFill>
                  <a:srgbClr val="0070C0"/>
                </a:solidFill>
                <a:latin typeface="Times New Roman"/>
                <a:ea typeface="Times New Roman"/>
                <a:cs typeface="Times New Roman"/>
              </a:defRPr>
            </a:lvl9pPr>
          </a:lstStyle>
          <a:p xmlns:a="http://schemas.openxmlformats.org/drawingml/2006/main">
            <a:pPr algn="l">
              <a:defRPr sz="2325" b="0">
                <a:solidFill>
                  <a:srgbClr val="0070C0"/>
                </a:solidFill>
                <a:latin typeface="Times New Roman"/>
                <a:ea typeface="Times New Roman"/>
                <a:cs typeface="Times New Roman"/>
              </a:defRPr>
            </a:pPr>
            <a:r>
              <a:rPr sz="2325" b="0">
                <a:solidFill>
                  <a:srgbClr val="0070C0"/>
                </a:solidFill>
                <a:latin typeface="Times New Roman"/>
                <a:ea typeface="Times New Roman"/>
                <a:cs typeface="Times New Roman"/>
              </a:rPr>
              <a:t>After subscription, the app enables start/stop control</a:t>
            </a:r>
          </a:p>
        </p:txBody>
      </p:sp>
      <p:sp>
        <p:nvSpPr>
          <p:cNvPr id="17" name="Stop: 0x02     Disconnect: ESP32 resumes adve">
            <a:extLst xmlns:a="http://schemas.openxmlformats.org/drawingml/2006/main">
              <a:ext uri="{FF2B5EF4-FFF2-40B4-BE49-F238E27FC236}">
                <a16:creationId xmlns:a16="http://schemas.microsoft.com/office/drawing/2014/main" id="{A971D6EE-DC0D-4018-A4B4-5B5E8D6E1384}"/>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xmlns:a="http://schemas.openxmlformats.org/drawingml/2006/main">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Stop: 0x02     Disconnect: ESP32 resumes advertising     Reconnect: scan and select again</a:t>
            </a:r>
          </a:p>
        </p:txBody>
      </p:sp>
      <p:sp>
        <p:nvSpPr>
          <p:cNvPr id="18" name="5">
            <a:extLst xmlns:a="http://schemas.openxmlformats.org/drawingml/2006/main">
              <a:ext uri="{FF2B5EF4-FFF2-40B4-BE49-F238E27FC236}">
                <a16:creationId xmlns:a16="http://schemas.microsoft.com/office/drawing/2014/main" id="{3BED381B-E896-48C8-87C3-BF1D1FD6DFD2}"/>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5</a:t>
            </a:r>
          </a:p>
        </p:txBody>
      </p:sp>
    </p:spTree>
    <p:extLst>
      <p:ext uri="{BB962C8B-B14F-4D97-AF65-F5344CB8AC3E}">
        <p14:creationId xmlns:p14="http://schemas.microsoft.com/office/powerpoint/2010/main" val="173359637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Methods and Design Comparison</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
            <a:extLst xmlns:a="http://schemas.openxmlformats.org/drawingml/2006/main">
              <a:ext uri="{FF2B5EF4-FFF2-40B4-BE49-F238E27FC236}">
                <a16:creationId xmlns:a16="http://schemas.microsoft.com/office/drawing/2014/main" id="{54F42C30-595C-440C-ADDC-23277F929579}"/>
              </a:ext>
            </a:extLst>
          </p:cNvPr>
          <p:cNvGraphicFramePr/>
          <p:nvPr/>
        </p:nvGraphicFramePr>
        <p:xfrm>
          <a:off xmlns:a="http://schemas.openxmlformats.org/drawingml/2006/main" x="523875" y="1285875"/>
          <a:ext xmlns:a="http://schemas.openxmlformats.org/drawingml/2006/main" cx="11144250" cy="4286250"/>
        </p:xfrm>
        <a:graphic xmlns:a="http://schemas.openxmlformats.org/drawingml/2006/main">
          <a:graphicData uri="http://schemas.openxmlformats.org/drawingml/2006/table">
            <a:tbl>
              <a:tblPr/>
              <a:tblGrid>
                <a:gridCol w="2571750"/>
                <a:gridCol w="4000500"/>
                <a:gridCol w="4572000"/>
              </a:tblGrid>
              <a:tr h="714375">
                <a:tc>
                  <a:txBody>
                    <a:bodyPr/>
                    <a:lstStyle/>
                    <a:p>
                      <a:r>
                        <a:rPr sz="2175" b="1">
                          <a:solidFill>
                            <a:srgbClr val="FFFFFF"/>
                          </a:solidFill>
                          <a:latin typeface="Times New Roman"/>
                          <a:ea typeface="Times New Roman"/>
                          <a:cs typeface="Times New Roman"/>
                        </a:rPr>
                        <a:t>Design aspect</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Current prototype</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Target design</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r>
              <a:tr h="714375">
                <a:tc>
                  <a:txBody>
                    <a:bodyPr/>
                    <a:lstStyle/>
                    <a:p>
                      <a:r>
                        <a:rPr sz="2175" b="0">
                          <a:solidFill>
                            <a:srgbClr val="111111"/>
                          </a:solidFill>
                          <a:latin typeface="Times New Roman"/>
                          <a:ea typeface="Times New Roman"/>
                          <a:cs typeface="Times New Roman"/>
                        </a:rPr>
                        <a:t>Device to phone</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BLE notifications</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Retain BLE gateway</a:t>
                      </a:r>
                    </a:p>
                  </a:txBody>
                  <a:tcPr marL="114300" marR="95250" marT="95250" marB="95250" anchor="ctr">
                    <a:lnR w="9525">
                      <a:solidFill>
                        <a:srgbClr val="CAD2DF"/>
                      </a:solidFill>
                    </a:lnR>
                    <a:lnB w="9525">
                      <a:solidFill>
                        <a:srgbClr val="CAD2DF"/>
                      </a:solidFill>
                    </a:lnB>
                    <a:solidFill>
                      <a:srgbClr val="EDF3F9"/>
                    </a:solidFill>
                  </a:tcPr>
                </a:tc>
              </a:tr>
              <a:tr h="714375">
                <a:tc>
                  <a:txBody>
                    <a:bodyPr/>
                    <a:lstStyle/>
                    <a:p>
                      <a:r>
                        <a:rPr sz="2175" b="0">
                          <a:solidFill>
                            <a:srgbClr val="111111"/>
                          </a:solidFill>
                          <a:latin typeface="Times New Roman"/>
                          <a:ea typeface="Times New Roman"/>
                          <a:cs typeface="Times New Roman"/>
                        </a:rPr>
                        <a:t>Wide-area upload</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Not implemented</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MQTT/TLS with CoAP fallback</a:t>
                      </a:r>
                    </a:p>
                  </a:txBody>
                  <a:tcPr marL="114300" marR="95250" marT="95250" marB="95250" anchor="ctr">
                    <a:lnR w="9525">
                      <a:solidFill>
                        <a:srgbClr val="CAD2DF"/>
                      </a:solidFill>
                    </a:lnR>
                    <a:lnB w="9525">
                      <a:solidFill>
                        <a:srgbClr val="CAD2DF"/>
                      </a:solidFill>
                    </a:lnB>
                    <a:solidFill>
                      <a:srgbClr val="FFFFFF"/>
                    </a:solidFill>
                  </a:tcPr>
                </a:tc>
              </a:tr>
              <a:tr h="714375">
                <a:tc>
                  <a:txBody>
                    <a:bodyPr/>
                    <a:lstStyle/>
                    <a:p>
                      <a:r>
                        <a:rPr sz="2175" b="0">
                          <a:solidFill>
                            <a:srgbClr val="111111"/>
                          </a:solidFill>
                          <a:latin typeface="Times New Roman"/>
                          <a:ea typeface="Times New Roman"/>
                          <a:cs typeface="Times New Roman"/>
                        </a:rPr>
                        <a:t>Data source</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Simulated observations</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Integrated physical sensors</a:t>
                      </a:r>
                    </a:p>
                  </a:txBody>
                  <a:tcPr marL="114300" marR="95250" marT="95250" marB="95250" anchor="ctr">
                    <a:lnR w="9525">
                      <a:solidFill>
                        <a:srgbClr val="CAD2DF"/>
                      </a:solidFill>
                    </a:lnR>
                    <a:lnB w="9525">
                      <a:solidFill>
                        <a:srgbClr val="CAD2DF"/>
                      </a:solidFill>
                    </a:lnB>
                    <a:solidFill>
                      <a:srgbClr val="EDF3F9"/>
                    </a:solidFill>
                  </a:tcPr>
                </a:tc>
              </a:tr>
              <a:tr h="714375">
                <a:tc>
                  <a:txBody>
                    <a:bodyPr/>
                    <a:lstStyle/>
                    <a:p>
                      <a:r>
                        <a:rPr sz="2175" b="0">
                          <a:solidFill>
                            <a:srgbClr val="111111"/>
                          </a:solidFill>
                          <a:latin typeface="Times New Roman"/>
                          <a:ea typeface="Times New Roman"/>
                          <a:cs typeface="Times New Roman"/>
                        </a:rPr>
                        <a:t>Patient assessment</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Vitals display</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ML risk classification</a:t>
                      </a:r>
                    </a:p>
                  </a:txBody>
                  <a:tcPr marL="114300" marR="95250" marT="95250" marB="95250" anchor="ctr">
                    <a:lnR w="9525">
                      <a:solidFill>
                        <a:srgbClr val="CAD2DF"/>
                      </a:solidFill>
                    </a:lnR>
                    <a:lnB w="9525">
                      <a:solidFill>
                        <a:srgbClr val="CAD2DF"/>
                      </a:solidFill>
                    </a:lnB>
                    <a:solidFill>
                      <a:srgbClr val="FFFFFF"/>
                    </a:solidFill>
                  </a:tcPr>
                </a:tc>
              </a:tr>
              <a:tr h="714375">
                <a:tc>
                  <a:txBody>
                    <a:bodyPr/>
                    <a:lstStyle/>
                    <a:p>
                      <a:r>
                        <a:rPr sz="2175" b="0">
                          <a:solidFill>
                            <a:srgbClr val="111111"/>
                          </a:solidFill>
                          <a:latin typeface="Times New Roman"/>
                          <a:ea typeface="Times New Roman"/>
                          <a:cs typeface="Times New Roman"/>
                        </a:rPr>
                        <a:t>Ambulance location</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Not implemented</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Phone GPS with ETA</a:t>
                      </a:r>
                    </a:p>
                  </a:txBody>
                  <a:tcPr marL="114300" marR="95250" marT="95250" marB="95250" anchor="ctr">
                    <a:lnR w="9525">
                      <a:solidFill>
                        <a:srgbClr val="CAD2DF"/>
                      </a:solidFill>
                    </a:lnR>
                    <a:lnB w="9525">
                      <a:solidFill>
                        <a:srgbClr val="CAD2DF"/>
                      </a:solidFill>
                    </a:lnB>
                    <a:solidFill>
                      <a:srgbClr val="EDF3F9"/>
                    </a:solidFill>
                  </a:tcPr>
                </a:tc>
              </a:tr>
            </a:tbl>
          </a:graphicData>
        </a:graphic>
      </p:graphicFrame>
      <p:sp>
        <p:nvSpPr>
          <p:cNvPr id="6" name="BLE supports the local link. Cloud transports">
            <a:extLst xmlns:a="http://schemas.openxmlformats.org/drawingml/2006/main">
              <a:ext uri="{FF2B5EF4-FFF2-40B4-BE49-F238E27FC236}">
                <a16:creationId xmlns:a16="http://schemas.microsoft.com/office/drawing/2014/main" id="{93050350-D90E-4BE7-8097-5D2C8DC53885}"/>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xmlns:a="http://schemas.openxmlformats.org/drawingml/2006/main">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BLE supports the local link. Cloud transports require phone internet connectivity.</a:t>
            </a:r>
          </a:p>
        </p:txBody>
      </p:sp>
      <p:sp>
        <p:nvSpPr>
          <p:cNvPr id="7" name="6">
            <a:extLst xmlns:a="http://schemas.openxmlformats.org/drawingml/2006/main">
              <a:ext uri="{FF2B5EF4-FFF2-40B4-BE49-F238E27FC236}">
                <a16:creationId xmlns:a16="http://schemas.microsoft.com/office/drawing/2014/main" id="{72F8E5FE-8578-4D96-B2E9-83E6A8A39035}"/>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6</a:t>
            </a:r>
          </a:p>
        </p:txBody>
      </p:sp>
    </p:spTree>
    <p:extLst>
      <p:ext uri="{BB962C8B-B14F-4D97-AF65-F5344CB8AC3E}">
        <p14:creationId xmlns:p14="http://schemas.microsoft.com/office/powerpoint/2010/main" val="173359637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Functional Requirements</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
            <a:extLst xmlns:a="http://schemas.openxmlformats.org/drawingml/2006/main">
              <a:ext uri="{FF2B5EF4-FFF2-40B4-BE49-F238E27FC236}">
                <a16:creationId xmlns:a16="http://schemas.microsoft.com/office/drawing/2014/main" id="{96AF17B3-C550-48EB-B276-006546E5C772}"/>
              </a:ext>
            </a:extLst>
          </p:cNvPr>
          <p:cNvGraphicFramePr/>
          <p:nvPr/>
        </p:nvGraphicFramePr>
        <p:xfrm>
          <a:off xmlns:a="http://schemas.openxmlformats.org/drawingml/2006/main" x="523875" y="1190625"/>
          <a:ext xmlns:a="http://schemas.openxmlformats.org/drawingml/2006/main" cx="11144250" cy="4572000"/>
        </p:xfrm>
        <a:graphic xmlns:a="http://schemas.openxmlformats.org/drawingml/2006/main">
          <a:graphicData uri="http://schemas.openxmlformats.org/drawingml/2006/table">
            <a:tbl>
              <a:tblPr/>
              <a:tblGrid>
                <a:gridCol w="952500"/>
                <a:gridCol w="6953250"/>
                <a:gridCol w="3238500"/>
              </a:tblGrid>
              <a:tr h="653143">
                <a:tc>
                  <a:txBody>
                    <a:bodyPr/>
                    <a:lstStyle/>
                    <a:p>
                      <a:r>
                        <a:rPr sz="2175" b="1">
                          <a:solidFill>
                            <a:srgbClr val="FFFFFF"/>
                          </a:solidFill>
                          <a:latin typeface="Times New Roman"/>
                          <a:ea typeface="Times New Roman"/>
                          <a:cs typeface="Times New Roman"/>
                        </a:rPr>
                        <a:t>ID</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Required behavior</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Implementation</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r>
              <a:tr h="653143">
                <a:tc>
                  <a:txBody>
                    <a:bodyPr/>
                    <a:lstStyle/>
                    <a:p>
                      <a:r>
                        <a:rPr sz="2175" b="0">
                          <a:solidFill>
                            <a:srgbClr val="111111"/>
                          </a:solidFill>
                          <a:latin typeface="Times New Roman"/>
                          <a:ea typeface="Times New Roman"/>
                          <a:cs typeface="Times New Roman"/>
                        </a:rPr>
                        <a:t>FR1</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Discover, connect and receive BLE vitals</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Code present</a:t>
                      </a:r>
                    </a:p>
                  </a:txBody>
                  <a:tcPr marL="114300" marR="95250" marT="95250" marB="95250" anchor="ctr">
                    <a:lnR w="9525">
                      <a:solidFill>
                        <a:srgbClr val="CAD2DF"/>
                      </a:solidFill>
                    </a:lnR>
                    <a:lnB w="9525">
                      <a:solidFill>
                        <a:srgbClr val="CAD2DF"/>
                      </a:solidFill>
                    </a:lnB>
                    <a:solidFill>
                      <a:srgbClr val="EDF3F9"/>
                    </a:solidFill>
                  </a:tcPr>
                </a:tc>
              </a:tr>
              <a:tr h="653143">
                <a:tc>
                  <a:txBody>
                    <a:bodyPr/>
                    <a:lstStyle/>
                    <a:p>
                      <a:r>
                        <a:rPr sz="2175" b="0">
                          <a:solidFill>
                            <a:srgbClr val="111111"/>
                          </a:solidFill>
                          <a:latin typeface="Times New Roman"/>
                          <a:ea typeface="Times New Roman"/>
                          <a:cs typeface="Times New Roman"/>
                        </a:rPr>
                        <a:t>FR2</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Start/stop telemetry from the app</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Code present</a:t>
                      </a:r>
                    </a:p>
                  </a:txBody>
                  <a:tcPr marL="114300" marR="95250" marT="95250" marB="95250" anchor="ctr">
                    <a:lnR w="9525">
                      <a:solidFill>
                        <a:srgbClr val="CAD2DF"/>
                      </a:solidFill>
                    </a:lnR>
                    <a:lnB w="9525">
                      <a:solidFill>
                        <a:srgbClr val="CAD2DF"/>
                      </a:solidFill>
                    </a:lnB>
                    <a:solidFill>
                      <a:srgbClr val="FFFFFF"/>
                    </a:solidFill>
                  </a:tcPr>
                </a:tc>
              </a:tr>
              <a:tr h="653143">
                <a:tc>
                  <a:txBody>
                    <a:bodyPr/>
                    <a:lstStyle/>
                    <a:p>
                      <a:r>
                        <a:rPr sz="2175" b="0">
                          <a:solidFill>
                            <a:srgbClr val="111111"/>
                          </a:solidFill>
                          <a:latin typeface="Times New Roman"/>
                          <a:ea typeface="Times New Roman"/>
                          <a:cs typeface="Times New Roman"/>
                        </a:rPr>
                        <a:t>FR3</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Acquire sensors and update local OLED</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Integration pending</a:t>
                      </a:r>
                    </a:p>
                  </a:txBody>
                  <a:tcPr marL="114300" marR="95250" marT="95250" marB="95250" anchor="ctr">
                    <a:lnR w="9525">
                      <a:solidFill>
                        <a:srgbClr val="CAD2DF"/>
                      </a:solidFill>
                    </a:lnR>
                    <a:lnB w="9525">
                      <a:solidFill>
                        <a:srgbClr val="CAD2DF"/>
                      </a:solidFill>
                    </a:lnB>
                    <a:solidFill>
                      <a:srgbClr val="EDF3F9"/>
                    </a:solidFill>
                  </a:tcPr>
                </a:tc>
              </a:tr>
              <a:tr h="653143">
                <a:tc>
                  <a:txBody>
                    <a:bodyPr/>
                    <a:lstStyle/>
                    <a:p>
                      <a:r>
                        <a:rPr sz="2175" b="0">
                          <a:solidFill>
                            <a:srgbClr val="111111"/>
                          </a:solidFill>
                          <a:latin typeface="Times New Roman"/>
                          <a:ea typeface="Times New Roman"/>
                          <a:cs typeface="Times New Roman"/>
                        </a:rPr>
                        <a:t>FR4</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Queue and upload telemetry to cloud</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Planned</a:t>
                      </a:r>
                    </a:p>
                  </a:txBody>
                  <a:tcPr marL="114300" marR="95250" marT="95250" marB="95250" anchor="ctr">
                    <a:lnR w="9525">
                      <a:solidFill>
                        <a:srgbClr val="CAD2DF"/>
                      </a:solidFill>
                    </a:lnR>
                    <a:lnB w="9525">
                      <a:solidFill>
                        <a:srgbClr val="CAD2DF"/>
                      </a:solidFill>
                    </a:lnB>
                    <a:solidFill>
                      <a:srgbClr val="FFFFFF"/>
                    </a:solidFill>
                  </a:tcPr>
                </a:tc>
              </a:tr>
              <a:tr h="653143">
                <a:tc>
                  <a:txBody>
                    <a:bodyPr/>
                    <a:lstStyle/>
                    <a:p>
                      <a:r>
                        <a:rPr sz="2175" b="0">
                          <a:solidFill>
                            <a:srgbClr val="111111"/>
                          </a:solidFill>
                          <a:latin typeface="Times New Roman"/>
                          <a:ea typeface="Times New Roman"/>
                          <a:cs typeface="Times New Roman"/>
                        </a:rPr>
                        <a:t>FR5</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Provide GPS location and ETA</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Planned</a:t>
                      </a:r>
                    </a:p>
                  </a:txBody>
                  <a:tcPr marL="114300" marR="95250" marT="95250" marB="95250" anchor="ctr">
                    <a:lnR w="9525">
                      <a:solidFill>
                        <a:srgbClr val="CAD2DF"/>
                      </a:solidFill>
                    </a:lnR>
                    <a:lnB w="9525">
                      <a:solidFill>
                        <a:srgbClr val="CAD2DF"/>
                      </a:solidFill>
                    </a:lnB>
                    <a:solidFill>
                      <a:srgbClr val="EDF3F9"/>
                    </a:solidFill>
                  </a:tcPr>
                </a:tc>
              </a:tr>
              <a:tr h="653143">
                <a:tc>
                  <a:txBody>
                    <a:bodyPr/>
                    <a:lstStyle/>
                    <a:p>
                      <a:r>
                        <a:rPr sz="2175" b="0">
                          <a:solidFill>
                            <a:srgbClr val="111111"/>
                          </a:solidFill>
                          <a:latin typeface="Times New Roman"/>
                          <a:ea typeface="Times New Roman"/>
                          <a:cs typeface="Times New Roman"/>
                        </a:rPr>
                        <a:t>FR6</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Predict risk and show hospital updates</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Planned</a:t>
                      </a:r>
                    </a:p>
                  </a:txBody>
                  <a:tcPr marL="114300" marR="95250" marT="95250" marB="95250" anchor="ctr">
                    <a:lnR w="9525">
                      <a:solidFill>
                        <a:srgbClr val="CAD2DF"/>
                      </a:solidFill>
                    </a:lnR>
                    <a:lnB w="9525">
                      <a:solidFill>
                        <a:srgbClr val="CAD2DF"/>
                      </a:solidFill>
                    </a:lnB>
                    <a:solidFill>
                      <a:srgbClr val="FFFFFF"/>
                    </a:solidFill>
                  </a:tcPr>
                </a:tc>
              </a:tr>
            </a:tbl>
          </a:graphicData>
        </a:graphic>
      </p:graphicFrame>
      <p:sp>
        <p:nvSpPr>
          <p:cNvPr id="6" name="7">
            <a:extLst xmlns:a="http://schemas.openxmlformats.org/drawingml/2006/main">
              <a:ext uri="{FF2B5EF4-FFF2-40B4-BE49-F238E27FC236}">
                <a16:creationId xmlns:a16="http://schemas.microsoft.com/office/drawing/2014/main" id="{DC8E7CFA-4BC5-4084-B3E0-3471A4748F1C}"/>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7</a:t>
            </a:r>
          </a:p>
        </p:txBody>
      </p:sp>
    </p:spTree>
    <p:extLst>
      <p:ext uri="{BB962C8B-B14F-4D97-AF65-F5344CB8AC3E}">
        <p14:creationId xmlns:p14="http://schemas.microsoft.com/office/powerpoint/2010/main" val="173359637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Non-Functional Requirements</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
            <a:extLst xmlns:a="http://schemas.openxmlformats.org/drawingml/2006/main">
              <a:ext uri="{FF2B5EF4-FFF2-40B4-BE49-F238E27FC236}">
                <a16:creationId xmlns:a16="http://schemas.microsoft.com/office/drawing/2014/main" id="{A01DF5BD-049E-48F5-9B67-EA9CB0A63420}"/>
              </a:ext>
            </a:extLst>
          </p:cNvPr>
          <p:cNvGraphicFramePr/>
          <p:nvPr/>
        </p:nvGraphicFramePr>
        <p:xfrm>
          <a:off xmlns:a="http://schemas.openxmlformats.org/drawingml/2006/main" x="523875" y="1285875"/>
          <a:ext xmlns:a="http://schemas.openxmlformats.org/drawingml/2006/main" cx="11144250" cy="4238625"/>
        </p:xfrm>
        <a:graphic xmlns:a="http://schemas.openxmlformats.org/drawingml/2006/main">
          <a:graphicData uri="http://schemas.openxmlformats.org/drawingml/2006/table">
            <a:tbl>
              <a:tblPr/>
              <a:tblGrid>
                <a:gridCol w="2238375"/>
                <a:gridCol w="5429250"/>
                <a:gridCol w="3476625"/>
              </a:tblGrid>
              <a:tr h="706438">
                <a:tc>
                  <a:txBody>
                    <a:bodyPr/>
                    <a:lstStyle/>
                    <a:p>
                      <a:r>
                        <a:rPr sz="2175" b="1">
                          <a:solidFill>
                            <a:srgbClr val="FFFFFF"/>
                          </a:solidFill>
                          <a:latin typeface="Times New Roman"/>
                          <a:ea typeface="Times New Roman"/>
                          <a:cs typeface="Times New Roman"/>
                        </a:rPr>
                        <a:t>Quality</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Acceptance check</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Evidence needed</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r>
              <a:tr h="706438">
                <a:tc>
                  <a:txBody>
                    <a:bodyPr/>
                    <a:lstStyle/>
                    <a:p>
                      <a:r>
                        <a:rPr sz="2175" b="0">
                          <a:solidFill>
                            <a:srgbClr val="111111"/>
                          </a:solidFill>
                          <a:latin typeface="Times New Roman"/>
                          <a:ea typeface="Times New Roman"/>
                          <a:cs typeface="Times New Roman"/>
                        </a:rPr>
                        <a:t>Security</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Encrypted BLE before stream control</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ESP32 encryption log</a:t>
                      </a:r>
                    </a:p>
                  </a:txBody>
                  <a:tcPr marL="114300" marR="95250" marT="95250" marB="95250" anchor="ctr">
                    <a:lnR w="9525">
                      <a:solidFill>
                        <a:srgbClr val="CAD2DF"/>
                      </a:solidFill>
                    </a:lnR>
                    <a:lnB w="9525">
                      <a:solidFill>
                        <a:srgbClr val="CAD2DF"/>
                      </a:solidFill>
                    </a:lnB>
                    <a:solidFill>
                      <a:srgbClr val="EDF3F9"/>
                    </a:solidFill>
                  </a:tcPr>
                </a:tc>
              </a:tr>
              <a:tr h="706438">
                <a:tc>
                  <a:txBody>
                    <a:bodyPr/>
                    <a:lstStyle/>
                    <a:p>
                      <a:r>
                        <a:rPr sz="2175" b="0">
                          <a:solidFill>
                            <a:srgbClr val="111111"/>
                          </a:solidFill>
                          <a:latin typeface="Times New Roman"/>
                          <a:ea typeface="Times New Roman"/>
                          <a:cs typeface="Times New Roman"/>
                        </a:rPr>
                        <a:t>Responsiveness</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Regular updates without a frozen UI</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Timed recording and logs</a:t>
                      </a:r>
                    </a:p>
                  </a:txBody>
                  <a:tcPr marL="114300" marR="95250" marT="95250" marB="95250" anchor="ctr">
                    <a:lnR w="9525">
                      <a:solidFill>
                        <a:srgbClr val="CAD2DF"/>
                      </a:solidFill>
                    </a:lnR>
                    <a:lnB w="9525">
                      <a:solidFill>
                        <a:srgbClr val="CAD2DF"/>
                      </a:solidFill>
                    </a:lnB>
                    <a:solidFill>
                      <a:srgbClr val="FFFFFF"/>
                    </a:solidFill>
                  </a:tcPr>
                </a:tc>
              </a:tr>
              <a:tr h="706438">
                <a:tc>
                  <a:txBody>
                    <a:bodyPr/>
                    <a:lstStyle/>
                    <a:p>
                      <a:r>
                        <a:rPr sz="2175" b="0">
                          <a:solidFill>
                            <a:srgbClr val="111111"/>
                          </a:solidFill>
                          <a:latin typeface="Times New Roman"/>
                          <a:ea typeface="Times New Roman"/>
                          <a:cs typeface="Times New Roman"/>
                        </a:rPr>
                        <a:t>Recovery</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Resume telemetry after reconnect</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Disconnect/reconnect recording</a:t>
                      </a:r>
                    </a:p>
                  </a:txBody>
                  <a:tcPr marL="114300" marR="95250" marT="95250" marB="95250" anchor="ctr">
                    <a:lnR w="9525">
                      <a:solidFill>
                        <a:srgbClr val="CAD2DF"/>
                      </a:solidFill>
                    </a:lnR>
                    <a:lnB w="9525">
                      <a:solidFill>
                        <a:srgbClr val="CAD2DF"/>
                      </a:solidFill>
                    </a:lnB>
                    <a:solidFill>
                      <a:srgbClr val="EDF3F9"/>
                    </a:solidFill>
                  </a:tcPr>
                </a:tc>
              </a:tr>
              <a:tr h="706438">
                <a:tc>
                  <a:txBody>
                    <a:bodyPr/>
                    <a:lstStyle/>
                    <a:p>
                      <a:r>
                        <a:rPr sz="2175" b="0">
                          <a:solidFill>
                            <a:srgbClr val="111111"/>
                          </a:solidFill>
                          <a:latin typeface="Times New Roman"/>
                          <a:ea typeface="Times New Roman"/>
                          <a:cs typeface="Times New Roman"/>
                        </a:rPr>
                        <a:t>Data integrity</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App values match transmitted values</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Matched app and serial captures</a:t>
                      </a:r>
                    </a:p>
                  </a:txBody>
                  <a:tcPr marL="114300" marR="95250" marT="95250" marB="95250" anchor="ctr">
                    <a:lnR w="9525">
                      <a:solidFill>
                        <a:srgbClr val="CAD2DF"/>
                      </a:solidFill>
                    </a:lnR>
                    <a:lnB w="9525">
                      <a:solidFill>
                        <a:srgbClr val="CAD2DF"/>
                      </a:solidFill>
                    </a:lnB>
                    <a:solidFill>
                      <a:srgbClr val="FFFFFF"/>
                    </a:solidFill>
                  </a:tcPr>
                </a:tc>
              </a:tr>
              <a:tr h="706438">
                <a:tc>
                  <a:txBody>
                    <a:bodyPr/>
                    <a:lstStyle/>
                    <a:p>
                      <a:r>
                        <a:rPr sz="2175" b="0">
                          <a:solidFill>
                            <a:srgbClr val="111111"/>
                          </a:solidFill>
                          <a:latin typeface="Times New Roman"/>
                          <a:ea typeface="Times New Roman"/>
                          <a:cs typeface="Times New Roman"/>
                        </a:rPr>
                        <a:t>Continuity</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Retain unsent readings during outage</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Future queue/retry test</a:t>
                      </a:r>
                    </a:p>
                  </a:txBody>
                  <a:tcPr marL="114300" marR="95250" marT="95250" marB="95250" anchor="ctr">
                    <a:lnR w="9525">
                      <a:solidFill>
                        <a:srgbClr val="CAD2DF"/>
                      </a:solidFill>
                    </a:lnR>
                    <a:lnB w="9525">
                      <a:solidFill>
                        <a:srgbClr val="CAD2DF"/>
                      </a:solidFill>
                    </a:lnB>
                    <a:solidFill>
                      <a:srgbClr val="EDF3F9"/>
                    </a:solidFill>
                  </a:tcPr>
                </a:tc>
              </a:tr>
            </a:tbl>
          </a:graphicData>
        </a:graphic>
      </p:graphicFrame>
      <p:sp>
        <p:nvSpPr>
          <p:cNvPr id="6" name="Latency, endurance and reliability thresholds">
            <a:extLst xmlns:a="http://schemas.openxmlformats.org/drawingml/2006/main">
              <a:ext uri="{FF2B5EF4-FFF2-40B4-BE49-F238E27FC236}">
                <a16:creationId xmlns:a16="http://schemas.microsoft.com/office/drawing/2014/main" id="{0AC70777-0095-4E86-9418-F31C399FE586}"/>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xmlns:a="http://schemas.openxmlformats.org/drawingml/2006/main">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Latency, endurance and reliability thresholds remain proposed until measured and agreed.</a:t>
            </a:r>
          </a:p>
        </p:txBody>
      </p:sp>
      <p:sp>
        <p:nvSpPr>
          <p:cNvPr id="7" name="8">
            <a:extLst xmlns:a="http://schemas.openxmlformats.org/drawingml/2006/main">
              <a:ext uri="{FF2B5EF4-FFF2-40B4-BE49-F238E27FC236}">
                <a16:creationId xmlns:a16="http://schemas.microsoft.com/office/drawing/2014/main" id="{EACF86FD-0354-4F71-8403-7D21C467650C}"/>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8</a:t>
            </a:r>
          </a:p>
        </p:txBody>
      </p:sp>
    </p:spTree>
    <p:extLst>
      <p:ext uri="{BB962C8B-B14F-4D97-AF65-F5344CB8AC3E}">
        <p14:creationId xmlns:p14="http://schemas.microsoft.com/office/powerpoint/2010/main" val="173359637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Wi-Fi vs BLE: Design Rationale</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
            <a:extLst xmlns:a="http://schemas.openxmlformats.org/drawingml/2006/main">
              <a:ext uri="{FF2B5EF4-FFF2-40B4-BE49-F238E27FC236}">
                <a16:creationId xmlns:a16="http://schemas.microsoft.com/office/drawing/2014/main" id="{322400A1-A7ED-4E0A-9976-1F301F477979}"/>
              </a:ext>
            </a:extLst>
          </p:cNvPr>
          <p:cNvGraphicFramePr/>
          <p:nvPr/>
        </p:nvGraphicFramePr>
        <p:xfrm>
          <a:off xmlns:a="http://schemas.openxmlformats.org/drawingml/2006/main" x="523875" y="1190625"/>
          <a:ext xmlns:a="http://schemas.openxmlformats.org/drawingml/2006/main" cx="11144250" cy="4286250"/>
        </p:xfrm>
        <a:graphic xmlns:a="http://schemas.openxmlformats.org/drawingml/2006/main">
          <a:graphicData uri="http://schemas.openxmlformats.org/drawingml/2006/table">
            <a:tbl>
              <a:tblPr/>
              <a:tblGrid>
                <a:gridCol w="2428875"/>
                <a:gridCol w="4286250"/>
                <a:gridCol w="4429125"/>
              </a:tblGrid>
              <a:tr h="714375">
                <a:tc>
                  <a:txBody>
                    <a:bodyPr/>
                    <a:lstStyle/>
                    <a:p>
                      <a:r>
                        <a:rPr sz="2100" b="1">
                          <a:solidFill>
                            <a:srgbClr val="FFFFFF"/>
                          </a:solidFill>
                          <a:latin typeface="Times New Roman"/>
                          <a:ea typeface="Times New Roman"/>
                          <a:cs typeface="Times New Roman"/>
                        </a:rPr>
                        <a:t>Criterion</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Earlier Wi-Fi approach</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Selected BLE approach</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r>
              <a:tr h="714375">
                <a:tc>
                  <a:txBody>
                    <a:bodyPr/>
                    <a:lstStyle/>
                    <a:p>
                      <a:r>
                        <a:rPr sz="2100" b="0">
                          <a:solidFill>
                            <a:srgbClr val="111111"/>
                          </a:solidFill>
                          <a:latin typeface="Times New Roman"/>
                          <a:ea typeface="Times New Roman"/>
                          <a:cs typeface="Times New Roman"/>
                        </a:rPr>
                        <a:t>Local connection</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ESP32 joins access point or hotspot</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ESP32 connects directly to phone</a:t>
                      </a:r>
                    </a:p>
                  </a:txBody>
                  <a:tcPr marL="114300" marR="95250" marT="95250" marB="95250" anchor="ctr">
                    <a:lnR w="9525">
                      <a:solidFill>
                        <a:srgbClr val="CAD2DF"/>
                      </a:solidFill>
                    </a:lnR>
                    <a:lnB w="9525">
                      <a:solidFill>
                        <a:srgbClr val="CAD2DF"/>
                      </a:solidFill>
                    </a:lnB>
                    <a:solidFill>
                      <a:srgbClr val="EDF3F9"/>
                    </a:solidFill>
                  </a:tcPr>
                </a:tc>
              </a:tr>
              <a:tr h="714375">
                <a:tc>
                  <a:txBody>
                    <a:bodyPr/>
                    <a:lstStyle/>
                    <a:p>
                      <a:r>
                        <a:rPr sz="2100" b="0">
                          <a:solidFill>
                            <a:srgbClr val="111111"/>
                          </a:solidFill>
                          <a:latin typeface="Times New Roman"/>
                          <a:ea typeface="Times New Roman"/>
                          <a:cs typeface="Times New Roman"/>
                        </a:rPr>
                        <a:t>Internet gateway</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ESP32 manages network uplink</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Phone handles cloud uplink (planned)</a:t>
                      </a:r>
                    </a:p>
                  </a:txBody>
                  <a:tcPr marL="114300" marR="95250" marT="95250" marB="95250" anchor="ctr">
                    <a:lnR w="9525">
                      <a:solidFill>
                        <a:srgbClr val="CAD2DF"/>
                      </a:solidFill>
                    </a:lnR>
                    <a:lnB w="9525">
                      <a:solidFill>
                        <a:srgbClr val="CAD2DF"/>
                      </a:solidFill>
                    </a:lnB>
                    <a:solidFill>
                      <a:srgbClr val="FFFFFF"/>
                    </a:solidFill>
                  </a:tcPr>
                </a:tc>
              </a:tr>
              <a:tr h="714375">
                <a:tc>
                  <a:txBody>
                    <a:bodyPr/>
                    <a:lstStyle/>
                    <a:p>
                      <a:r>
                        <a:rPr sz="2100" b="0">
                          <a:solidFill>
                            <a:srgbClr val="111111"/>
                          </a:solidFill>
                          <a:latin typeface="Times New Roman"/>
                          <a:ea typeface="Times New Roman"/>
                          <a:cs typeface="Times New Roman"/>
                        </a:rPr>
                        <a:t>Data workload</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Supports higher data throughput</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Fits small, periodic vital readings</a:t>
                      </a:r>
                    </a:p>
                  </a:txBody>
                  <a:tcPr marL="114300" marR="95250" marT="95250" marB="95250" anchor="ctr">
                    <a:lnR w="9525">
                      <a:solidFill>
                        <a:srgbClr val="CAD2DF"/>
                      </a:solidFill>
                    </a:lnR>
                    <a:lnB w="9525">
                      <a:solidFill>
                        <a:srgbClr val="CAD2DF"/>
                      </a:solidFill>
                    </a:lnB>
                    <a:solidFill>
                      <a:srgbClr val="EDF3F9"/>
                    </a:solidFill>
                  </a:tcPr>
                </a:tc>
              </a:tr>
              <a:tr h="714375">
                <a:tc>
                  <a:txBody>
                    <a:bodyPr/>
                    <a:lstStyle/>
                    <a:p>
                      <a:r>
                        <a:rPr sz="2100" b="0">
                          <a:solidFill>
                            <a:srgbClr val="111111"/>
                          </a:solidFill>
                          <a:latin typeface="Times New Roman"/>
                          <a:ea typeface="Times New Roman"/>
                          <a:cs typeface="Times New Roman"/>
                        </a:rPr>
                        <a:t>Device setup</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Configure SSID and password</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Discover device and pair</a:t>
                      </a:r>
                    </a:p>
                  </a:txBody>
                  <a:tcPr marL="114300" marR="95250" marT="95250" marB="95250" anchor="ctr">
                    <a:lnR w="9525">
                      <a:solidFill>
                        <a:srgbClr val="CAD2DF"/>
                      </a:solidFill>
                    </a:lnR>
                    <a:lnB w="9525">
                      <a:solidFill>
                        <a:srgbClr val="CAD2DF"/>
                      </a:solidFill>
                    </a:lnB>
                    <a:solidFill>
                      <a:srgbClr val="FFFFFF"/>
                    </a:solidFill>
                  </a:tcPr>
                </a:tc>
              </a:tr>
              <a:tr h="714375">
                <a:tc>
                  <a:txBody>
                    <a:bodyPr/>
                    <a:lstStyle/>
                    <a:p>
                      <a:r>
                        <a:rPr sz="2100" b="0">
                          <a:solidFill>
                            <a:srgbClr val="111111"/>
                          </a:solidFill>
                          <a:latin typeface="Times New Roman"/>
                          <a:ea typeface="Times New Roman"/>
                          <a:cs typeface="Times New Roman"/>
                        </a:rPr>
                        <a:t>Power rationale</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Measure under the same workload</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Low-power design; savings unmeasured</a:t>
                      </a:r>
                    </a:p>
                  </a:txBody>
                  <a:tcPr marL="114300" marR="95250" marT="95250" marB="95250" anchor="ctr">
                    <a:lnR w="9525">
                      <a:solidFill>
                        <a:srgbClr val="CAD2DF"/>
                      </a:solidFill>
                    </a:lnR>
                    <a:lnB w="9525">
                      <a:solidFill>
                        <a:srgbClr val="CAD2DF"/>
                      </a:solidFill>
                    </a:lnB>
                    <a:solidFill>
                      <a:srgbClr val="EDF3F9"/>
                    </a:solidFill>
                  </a:tcPr>
                </a:tc>
              </a:tr>
            </a:tbl>
          </a:graphicData>
        </a:graphic>
      </p:graphicFrame>
      <p:sp>
        <p:nvSpPr>
          <p:cNvPr id="6" name="BLE fits the phone gateway design. Phone prox">
            <a:extLst xmlns:a="http://schemas.openxmlformats.org/drawingml/2006/main">
              <a:ext uri="{FF2B5EF4-FFF2-40B4-BE49-F238E27FC236}">
                <a16:creationId xmlns:a16="http://schemas.microsoft.com/office/drawing/2014/main" id="{F572C4D4-3512-4B90-A78F-4587339B68D7}"/>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xmlns:a="http://schemas.openxmlformats.org/drawingml/2006/main">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BLE fits the phone gateway design. Phone proximity remains a requirement.</a:t>
            </a:r>
          </a:p>
        </p:txBody>
      </p:sp>
      <p:sp>
        <p:nvSpPr>
          <p:cNvPr id="7" name="9">
            <a:extLst xmlns:a="http://schemas.openxmlformats.org/drawingml/2006/main">
              <a:ext uri="{FF2B5EF4-FFF2-40B4-BE49-F238E27FC236}">
                <a16:creationId xmlns:a16="http://schemas.microsoft.com/office/drawing/2014/main" id="{042C8049-62C7-450C-9BDB-B813F9E82271}"/>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9</a:t>
            </a:r>
          </a:p>
        </p:txBody>
      </p:sp>
    </p:spTree>
    <p:extLst>
      <p:ext uri="{BB962C8B-B14F-4D97-AF65-F5344CB8AC3E}">
        <p14:creationId xmlns:p14="http://schemas.microsoft.com/office/powerpoint/2010/main" val="173359637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BLE Test Cases</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
            <a:extLst xmlns:a="http://schemas.openxmlformats.org/drawingml/2006/main">
              <a:ext uri="{FF2B5EF4-FFF2-40B4-BE49-F238E27FC236}">
                <a16:creationId xmlns:a16="http://schemas.microsoft.com/office/drawing/2014/main" id="{BA6B1BED-F14E-4A0D-B272-1890C1397E0B}"/>
              </a:ext>
            </a:extLst>
          </p:cNvPr>
          <p:cNvGraphicFramePr/>
          <p:nvPr/>
        </p:nvGraphicFramePr>
        <p:xfrm>
          <a:off xmlns:a="http://schemas.openxmlformats.org/drawingml/2006/main" x="523875" y="1285875"/>
          <a:ext xmlns:a="http://schemas.openxmlformats.org/drawingml/2006/main" cx="11144250" cy="4238625"/>
        </p:xfrm>
        <a:graphic xmlns:a="http://schemas.openxmlformats.org/drawingml/2006/main">
          <a:graphicData uri="http://schemas.openxmlformats.org/drawingml/2006/table">
            <a:tbl>
              <a:tblPr/>
              <a:tblGrid>
                <a:gridCol w="1905000"/>
                <a:gridCol w="4286250"/>
                <a:gridCol w="4953000"/>
              </a:tblGrid>
              <a:tr h="706438">
                <a:tc>
                  <a:txBody>
                    <a:bodyPr/>
                    <a:lstStyle/>
                    <a:p>
                      <a:r>
                        <a:rPr sz="2175" b="1">
                          <a:solidFill>
                            <a:srgbClr val="FFFFFF"/>
                          </a:solidFill>
                          <a:latin typeface="Times New Roman"/>
                          <a:ea typeface="Times New Roman"/>
                          <a:cs typeface="Times New Roman"/>
                        </a:rPr>
                        <a:t>Test</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Action</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Expected observation</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r>
              <a:tr h="706438">
                <a:tc>
                  <a:txBody>
                    <a:bodyPr/>
                    <a:lstStyle/>
                    <a:p>
                      <a:r>
                        <a:rPr sz="2175" b="0">
                          <a:solidFill>
                            <a:srgbClr val="111111"/>
                          </a:solidFill>
                          <a:latin typeface="Times New Roman"/>
                          <a:ea typeface="Times New Roman"/>
                          <a:cs typeface="Times New Roman"/>
                        </a:rPr>
                        <a:t>TC1 / FR1</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Scan with ESP32 advertising</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Smart_Ambulance appears</a:t>
                      </a:r>
                    </a:p>
                  </a:txBody>
                  <a:tcPr marL="114300" marR="95250" marT="95250" marB="95250" anchor="ctr">
                    <a:lnR w="9525">
                      <a:solidFill>
                        <a:srgbClr val="CAD2DF"/>
                      </a:solidFill>
                    </a:lnR>
                    <a:lnB w="9525">
                      <a:solidFill>
                        <a:srgbClr val="CAD2DF"/>
                      </a:solidFill>
                    </a:lnB>
                    <a:solidFill>
                      <a:srgbClr val="EDF3F9"/>
                    </a:solidFill>
                  </a:tcPr>
                </a:tc>
              </a:tr>
              <a:tr h="706438">
                <a:tc>
                  <a:txBody>
                    <a:bodyPr/>
                    <a:lstStyle/>
                    <a:p>
                      <a:r>
                        <a:rPr sz="2175" b="0">
                          <a:solidFill>
                            <a:srgbClr val="111111"/>
                          </a:solidFill>
                          <a:latin typeface="Times New Roman"/>
                          <a:ea typeface="Times New Roman"/>
                          <a:cs typeface="Times New Roman"/>
                        </a:rPr>
                        <a:t>TC2 / FR1</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Select device and pair</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Connected and ready status</a:t>
                      </a:r>
                    </a:p>
                  </a:txBody>
                  <a:tcPr marL="114300" marR="95250" marT="95250" marB="95250" anchor="ctr">
                    <a:lnR w="9525">
                      <a:solidFill>
                        <a:srgbClr val="CAD2DF"/>
                      </a:solidFill>
                    </a:lnR>
                    <a:lnB w="9525">
                      <a:solidFill>
                        <a:srgbClr val="CAD2DF"/>
                      </a:solidFill>
                    </a:lnB>
                    <a:solidFill>
                      <a:srgbClr val="FFFFFF"/>
                    </a:solidFill>
                  </a:tcPr>
                </a:tc>
              </a:tr>
              <a:tr h="706438">
                <a:tc>
                  <a:txBody>
                    <a:bodyPr/>
                    <a:lstStyle/>
                    <a:p>
                      <a:r>
                        <a:rPr sz="2175" b="0">
                          <a:solidFill>
                            <a:srgbClr val="111111"/>
                          </a:solidFill>
                          <a:latin typeface="Times New Roman"/>
                          <a:ea typeface="Times New Roman"/>
                          <a:cs typeface="Times New Roman"/>
                        </a:rPr>
                        <a:t>TC3 / FR1</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Start telemetry</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Vitals update and match logs</a:t>
                      </a:r>
                    </a:p>
                  </a:txBody>
                  <a:tcPr marL="114300" marR="95250" marT="95250" marB="95250" anchor="ctr">
                    <a:lnR w="9525">
                      <a:solidFill>
                        <a:srgbClr val="CAD2DF"/>
                      </a:solidFill>
                    </a:lnR>
                    <a:lnB w="9525">
                      <a:solidFill>
                        <a:srgbClr val="CAD2DF"/>
                      </a:solidFill>
                    </a:lnB>
                    <a:solidFill>
                      <a:srgbClr val="EDF3F9"/>
                    </a:solidFill>
                  </a:tcPr>
                </a:tc>
              </a:tr>
              <a:tr h="706438">
                <a:tc>
                  <a:txBody>
                    <a:bodyPr/>
                    <a:lstStyle/>
                    <a:p>
                      <a:r>
                        <a:rPr sz="2175" b="0">
                          <a:solidFill>
                            <a:srgbClr val="111111"/>
                          </a:solidFill>
                          <a:latin typeface="Times New Roman"/>
                          <a:ea typeface="Times New Roman"/>
                          <a:cs typeface="Times New Roman"/>
                        </a:rPr>
                        <a:t>TC4 / FR2</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Tap Stop</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Stop acknowledged; updates cease</a:t>
                      </a:r>
                    </a:p>
                  </a:txBody>
                  <a:tcPr marL="114300" marR="95250" marT="95250" marB="95250" anchor="ctr">
                    <a:lnR w="9525">
                      <a:solidFill>
                        <a:srgbClr val="CAD2DF"/>
                      </a:solidFill>
                    </a:lnR>
                    <a:lnB w="9525">
                      <a:solidFill>
                        <a:srgbClr val="CAD2DF"/>
                      </a:solidFill>
                    </a:lnB>
                    <a:solidFill>
                      <a:srgbClr val="FFFFFF"/>
                    </a:solidFill>
                  </a:tcPr>
                </a:tc>
              </a:tr>
              <a:tr h="706438">
                <a:tc>
                  <a:txBody>
                    <a:bodyPr/>
                    <a:lstStyle/>
                    <a:p>
                      <a:r>
                        <a:rPr sz="2175" b="0">
                          <a:solidFill>
                            <a:srgbClr val="111111"/>
                          </a:solidFill>
                          <a:latin typeface="Times New Roman"/>
                          <a:ea typeface="Times New Roman"/>
                          <a:cs typeface="Times New Roman"/>
                        </a:rPr>
                        <a:t>TC5 / FR1</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Disconnect, then scan and connect</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Telemetry can restart</a:t>
                      </a:r>
                    </a:p>
                  </a:txBody>
                  <a:tcPr marL="114300" marR="95250" marT="95250" marB="95250" anchor="ctr">
                    <a:lnR w="9525">
                      <a:solidFill>
                        <a:srgbClr val="CAD2DF"/>
                      </a:solidFill>
                    </a:lnR>
                    <a:lnB w="9525">
                      <a:solidFill>
                        <a:srgbClr val="CAD2DF"/>
                      </a:solidFill>
                    </a:lnB>
                    <a:solidFill>
                      <a:srgbClr val="EDF3F9"/>
                    </a:solidFill>
                  </a:tcPr>
                </a:tc>
              </a:tr>
            </a:tbl>
          </a:graphicData>
        </a:graphic>
      </p:graphicFrame>
      <p:sp>
        <p:nvSpPr>
          <p:cNvPr id="6" name="Execution status: evidence pending. Capture t">
            <a:extLst xmlns:a="http://schemas.openxmlformats.org/drawingml/2006/main">
              <a:ext uri="{FF2B5EF4-FFF2-40B4-BE49-F238E27FC236}">
                <a16:creationId xmlns:a16="http://schemas.microsoft.com/office/drawing/2014/main" id="{11A48837-BA84-46A2-A172-82344334FA23}"/>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xmlns:a="http://schemas.openxmlformats.org/drawingml/2006/main">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Execution status: evidence pending. Capture the observed outcome before marking Pass.</a:t>
            </a:r>
          </a:p>
        </p:txBody>
      </p:sp>
      <p:sp>
        <p:nvSpPr>
          <p:cNvPr id="7" name="10">
            <a:extLst xmlns:a="http://schemas.openxmlformats.org/drawingml/2006/main">
              <a:ext uri="{FF2B5EF4-FFF2-40B4-BE49-F238E27FC236}">
                <a16:creationId xmlns:a16="http://schemas.microsoft.com/office/drawing/2014/main" id="{0715AA64-A2D2-49A2-818E-9E277ADB2455}"/>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10</a:t>
            </a:r>
          </a:p>
        </p:txBody>
      </p:sp>
    </p:spTree>
    <p:extLst>
      <p:ext uri="{BB962C8B-B14F-4D97-AF65-F5344CB8AC3E}">
        <p14:creationId xmlns:p14="http://schemas.microsoft.com/office/powerpoint/2010/main" val="173359637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Planned Integration Tests</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
            <a:extLst xmlns:a="http://schemas.openxmlformats.org/drawingml/2006/main">
              <a:ext uri="{FF2B5EF4-FFF2-40B4-BE49-F238E27FC236}">
                <a16:creationId xmlns:a16="http://schemas.microsoft.com/office/drawing/2014/main" id="{1ABC1FB1-160B-4398-B92F-A16E5B693D69}"/>
              </a:ext>
            </a:extLst>
          </p:cNvPr>
          <p:cNvGraphicFramePr/>
          <p:nvPr/>
        </p:nvGraphicFramePr>
        <p:xfrm>
          <a:off xmlns:a="http://schemas.openxmlformats.org/drawingml/2006/main" x="523875" y="1285875"/>
          <a:ext xmlns:a="http://schemas.openxmlformats.org/drawingml/2006/main" cx="11144250" cy="4238625"/>
        </p:xfrm>
        <a:graphic xmlns:a="http://schemas.openxmlformats.org/drawingml/2006/main">
          <a:graphicData uri="http://schemas.openxmlformats.org/drawingml/2006/table">
            <a:tbl>
              <a:tblPr/>
              <a:tblGrid>
                <a:gridCol w="2428875"/>
                <a:gridCol w="4524375"/>
                <a:gridCol w="4191000"/>
              </a:tblGrid>
              <a:tr h="706438">
                <a:tc>
                  <a:txBody>
                    <a:bodyPr/>
                    <a:lstStyle/>
                    <a:p>
                      <a:r>
                        <a:rPr sz="2100" b="1">
                          <a:solidFill>
                            <a:srgbClr val="FFFFFF"/>
                          </a:solidFill>
                          <a:latin typeface="Times New Roman"/>
                          <a:ea typeface="Times New Roman"/>
                          <a:cs typeface="Times New Roman"/>
                        </a:rPr>
                        <a:t>Requirement</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Test scenario</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Expected result</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r>
              <a:tr h="706438">
                <a:tc>
                  <a:txBody>
                    <a:bodyPr/>
                    <a:lstStyle/>
                    <a:p>
                      <a:r>
                        <a:rPr sz="2100" b="0">
                          <a:solidFill>
                            <a:srgbClr val="111111"/>
                          </a:solidFill>
                          <a:latin typeface="Times New Roman"/>
                          <a:ea typeface="Times New Roman"/>
                          <a:cs typeface="Times New Roman"/>
                        </a:rPr>
                        <a:t>FR3 / Sensors</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Connect sensors and OLED</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Correct acquisition and local display</a:t>
                      </a:r>
                    </a:p>
                  </a:txBody>
                  <a:tcPr marL="114300" marR="95250" marT="95250" marB="95250" anchor="ctr">
                    <a:lnR w="9525">
                      <a:solidFill>
                        <a:srgbClr val="CAD2DF"/>
                      </a:solidFill>
                    </a:lnR>
                    <a:lnB w="9525">
                      <a:solidFill>
                        <a:srgbClr val="CAD2DF"/>
                      </a:solidFill>
                    </a:lnB>
                    <a:solidFill>
                      <a:srgbClr val="EDF3F9"/>
                    </a:solidFill>
                  </a:tcPr>
                </a:tc>
              </a:tr>
              <a:tr h="706438">
                <a:tc>
                  <a:txBody>
                    <a:bodyPr/>
                    <a:lstStyle/>
                    <a:p>
                      <a:r>
                        <a:rPr sz="2100" b="0">
                          <a:solidFill>
                            <a:srgbClr val="111111"/>
                          </a:solidFill>
                          <a:latin typeface="Times New Roman"/>
                          <a:ea typeface="Times New Roman"/>
                          <a:cs typeface="Times New Roman"/>
                        </a:rPr>
                        <a:t>FR4 / Upload</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Lose and restore phone internet</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Queue retained and uploaded once</a:t>
                      </a:r>
                    </a:p>
                  </a:txBody>
                  <a:tcPr marL="114300" marR="95250" marT="95250" marB="95250" anchor="ctr">
                    <a:lnR w="9525">
                      <a:solidFill>
                        <a:srgbClr val="CAD2DF"/>
                      </a:solidFill>
                    </a:lnR>
                    <a:lnB w="9525">
                      <a:solidFill>
                        <a:srgbClr val="CAD2DF"/>
                      </a:solidFill>
                    </a:lnB>
                    <a:solidFill>
                      <a:srgbClr val="FFFFFF"/>
                    </a:solidFill>
                  </a:tcPr>
                </a:tc>
              </a:tr>
              <a:tr h="706438">
                <a:tc>
                  <a:txBody>
                    <a:bodyPr/>
                    <a:lstStyle/>
                    <a:p>
                      <a:r>
                        <a:rPr sz="2100" b="0">
                          <a:solidFill>
                            <a:srgbClr val="111111"/>
                          </a:solidFill>
                          <a:latin typeface="Times New Roman"/>
                          <a:ea typeface="Times New Roman"/>
                          <a:cs typeface="Times New Roman"/>
                        </a:rPr>
                        <a:t>FR5 / GPS + ETA</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Move along a known route</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Location and ETA update</a:t>
                      </a:r>
                    </a:p>
                  </a:txBody>
                  <a:tcPr marL="114300" marR="95250" marT="95250" marB="95250" anchor="ctr">
                    <a:lnR w="9525">
                      <a:solidFill>
                        <a:srgbClr val="CAD2DF"/>
                      </a:solidFill>
                    </a:lnR>
                    <a:lnB w="9525">
                      <a:solidFill>
                        <a:srgbClr val="CAD2DF"/>
                      </a:solidFill>
                    </a:lnB>
                    <a:solidFill>
                      <a:srgbClr val="EDF3F9"/>
                    </a:solidFill>
                  </a:tcPr>
                </a:tc>
              </a:tr>
              <a:tr h="706438">
                <a:tc>
                  <a:txBody>
                    <a:bodyPr/>
                    <a:lstStyle/>
                    <a:p>
                      <a:r>
                        <a:rPr sz="2100" b="0">
                          <a:solidFill>
                            <a:srgbClr val="111111"/>
                          </a:solidFill>
                          <a:latin typeface="Times New Roman"/>
                          <a:ea typeface="Times New Roman"/>
                          <a:cs typeface="Times New Roman"/>
                        </a:rPr>
                        <a:t>FR6 / ML</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Evaluate a labeled held-out dataset</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Report classification metrics</a:t>
                      </a:r>
                    </a:p>
                  </a:txBody>
                  <a:tcPr marL="114300" marR="95250" marT="95250" marB="95250" anchor="ctr">
                    <a:lnR w="9525">
                      <a:solidFill>
                        <a:srgbClr val="CAD2DF"/>
                      </a:solidFill>
                    </a:lnR>
                    <a:lnB w="9525">
                      <a:solidFill>
                        <a:srgbClr val="CAD2DF"/>
                      </a:solidFill>
                    </a:lnB>
                    <a:solidFill>
                      <a:srgbClr val="FFFFFF"/>
                    </a:solidFill>
                  </a:tcPr>
                </a:tc>
              </a:tr>
              <a:tr h="706438">
                <a:tc>
                  <a:txBody>
                    <a:bodyPr/>
                    <a:lstStyle/>
                    <a:p>
                      <a:r>
                        <a:rPr sz="2100" b="0">
                          <a:solidFill>
                            <a:srgbClr val="111111"/>
                          </a:solidFill>
                          <a:latin typeface="Times New Roman"/>
                          <a:ea typeface="Times New Roman"/>
                          <a:cs typeface="Times New Roman"/>
                        </a:rPr>
                        <a:t>FR6 / Dashboard</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Deliver live and stale telemetry</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Correct values and freshness state</a:t>
                      </a:r>
                    </a:p>
                  </a:txBody>
                  <a:tcPr marL="114300" marR="95250" marT="95250" marB="95250" anchor="ctr">
                    <a:lnR w="9525">
                      <a:solidFill>
                        <a:srgbClr val="CAD2DF"/>
                      </a:solidFill>
                    </a:lnR>
                    <a:lnB w="9525">
                      <a:solidFill>
                        <a:srgbClr val="CAD2DF"/>
                      </a:solidFill>
                    </a:lnB>
                    <a:solidFill>
                      <a:srgbClr val="EDF3F9"/>
                    </a:solidFill>
                  </a:tcPr>
                </a:tc>
              </a:tr>
            </a:tbl>
          </a:graphicData>
        </a:graphic>
      </p:graphicFrame>
      <p:sp>
        <p:nvSpPr>
          <p:cNvPr id="6" name="All cases on this slide are planned. No cloud">
            <a:extLst xmlns:a="http://schemas.openxmlformats.org/drawingml/2006/main">
              <a:ext uri="{FF2B5EF4-FFF2-40B4-BE49-F238E27FC236}">
                <a16:creationId xmlns:a16="http://schemas.microsoft.com/office/drawing/2014/main" id="{445289BF-EA09-42DB-9EDC-E23C48D79124}"/>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xmlns:a="http://schemas.openxmlformats.org/drawingml/2006/main">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All cases on this slide are planned. No cloud, GPS, ETA or ML results are claimed.</a:t>
            </a:r>
          </a:p>
        </p:txBody>
      </p:sp>
      <p:sp>
        <p:nvSpPr>
          <p:cNvPr id="7" name="11">
            <a:extLst xmlns:a="http://schemas.openxmlformats.org/drawingml/2006/main">
              <a:ext uri="{FF2B5EF4-FFF2-40B4-BE49-F238E27FC236}">
                <a16:creationId xmlns:a16="http://schemas.microsoft.com/office/drawing/2014/main" id="{790258E3-4172-4B82-945C-A2B8BC04DE2A}"/>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11</a:t>
            </a:r>
          </a:p>
        </p:txBody>
      </p:sp>
    </p:spTree>
    <p:extLst>
      <p:ext uri="{BB962C8B-B14F-4D97-AF65-F5344CB8AC3E}">
        <p14:creationId xmlns:p14="http://schemas.microsoft.com/office/powerpoint/2010/main" val="173359637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Implementation Status</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
            <a:extLst xmlns:a="http://schemas.openxmlformats.org/drawingml/2006/main">
              <a:ext uri="{FF2B5EF4-FFF2-40B4-BE49-F238E27FC236}">
                <a16:creationId xmlns:a16="http://schemas.microsoft.com/office/drawing/2014/main" id="{4CF3A94D-C996-4313-B03D-B0C5436F1D81}"/>
              </a:ext>
            </a:extLst>
          </p:cNvPr>
          <p:cNvGraphicFramePr/>
          <p:nvPr/>
        </p:nvGraphicFramePr>
        <p:xfrm>
          <a:off xmlns:a="http://schemas.openxmlformats.org/drawingml/2006/main" x="523875" y="1143000"/>
          <a:ext xmlns:a="http://schemas.openxmlformats.org/drawingml/2006/main" cx="11144250" cy="4667250"/>
        </p:xfrm>
        <a:graphic xmlns:a="http://schemas.openxmlformats.org/drawingml/2006/main">
          <a:graphicData uri="http://schemas.openxmlformats.org/drawingml/2006/table">
            <a:tbl>
              <a:tblPr/>
              <a:tblGrid>
                <a:gridCol w="2476500"/>
                <a:gridCol w="4429125"/>
                <a:gridCol w="4238625"/>
              </a:tblGrid>
              <a:tr h="666750">
                <a:tc>
                  <a:txBody>
                    <a:bodyPr/>
                    <a:lstStyle/>
                    <a:p>
                      <a:r>
                        <a:rPr sz="2100" b="1">
                          <a:solidFill>
                            <a:srgbClr val="FFFFFF"/>
                          </a:solidFill>
                          <a:latin typeface="Times New Roman"/>
                          <a:ea typeface="Times New Roman"/>
                          <a:cs typeface="Times New Roman"/>
                        </a:rPr>
                        <a:t>Module</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Current evidence</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Remaining work</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r>
              <a:tr h="666750">
                <a:tc>
                  <a:txBody>
                    <a:bodyPr/>
                    <a:lstStyle/>
                    <a:p>
                      <a:r>
                        <a:rPr sz="2100" b="0">
                          <a:solidFill>
                            <a:srgbClr val="111111"/>
                          </a:solidFill>
                          <a:latin typeface="Times New Roman"/>
                          <a:ea typeface="Times New Roman"/>
                          <a:cs typeface="Times New Roman"/>
                        </a:rPr>
                        <a:t>ESP32 BLE</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Advertising, encryption, streaming code</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Device validation evidence</a:t>
                      </a:r>
                    </a:p>
                  </a:txBody>
                  <a:tcPr marL="114300" marR="95250" marT="95250" marB="95250" anchor="ctr">
                    <a:lnR w="9525">
                      <a:solidFill>
                        <a:srgbClr val="CAD2DF"/>
                      </a:solidFill>
                    </a:lnR>
                    <a:lnB w="9525">
                      <a:solidFill>
                        <a:srgbClr val="CAD2DF"/>
                      </a:solidFill>
                    </a:lnB>
                    <a:solidFill>
                      <a:srgbClr val="EDF3F9"/>
                    </a:solidFill>
                  </a:tcPr>
                </a:tc>
              </a:tr>
              <a:tr h="666750">
                <a:tc>
                  <a:txBody>
                    <a:bodyPr/>
                    <a:lstStyle/>
                    <a:p>
                      <a:r>
                        <a:rPr sz="2100" b="0">
                          <a:solidFill>
                            <a:srgbClr val="111111"/>
                          </a:solidFill>
                          <a:latin typeface="Times New Roman"/>
                          <a:ea typeface="Times New Roman"/>
                          <a:cs typeface="Times New Roman"/>
                        </a:rPr>
                        <a:t>Flutter app</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Scan, connect, display, start/stop</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Gateway persistence and uploads</a:t>
                      </a:r>
                    </a:p>
                  </a:txBody>
                  <a:tcPr marL="114300" marR="95250" marT="95250" marB="95250" anchor="ctr">
                    <a:lnR w="9525">
                      <a:solidFill>
                        <a:srgbClr val="CAD2DF"/>
                      </a:solidFill>
                    </a:lnR>
                    <a:lnB w="9525">
                      <a:solidFill>
                        <a:srgbClr val="CAD2DF"/>
                      </a:solidFill>
                    </a:lnB>
                    <a:solidFill>
                      <a:srgbClr val="FFFFFF"/>
                    </a:solidFill>
                  </a:tcPr>
                </a:tc>
              </a:tr>
              <a:tr h="666750">
                <a:tc>
                  <a:txBody>
                    <a:bodyPr/>
                    <a:lstStyle/>
                    <a:p>
                      <a:r>
                        <a:rPr sz="2100" b="0">
                          <a:solidFill>
                            <a:srgbClr val="111111"/>
                          </a:solidFill>
                          <a:latin typeface="Times New Roman"/>
                          <a:ea typeface="Times New Roman"/>
                          <a:cs typeface="Times New Roman"/>
                        </a:rPr>
                        <a:t>Sensors / OLED</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Separate sensor sketches</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Integrate into BLE firmware</a:t>
                      </a:r>
                    </a:p>
                  </a:txBody>
                  <a:tcPr marL="114300" marR="95250" marT="95250" marB="95250" anchor="ctr">
                    <a:lnR w="9525">
                      <a:solidFill>
                        <a:srgbClr val="CAD2DF"/>
                      </a:solidFill>
                    </a:lnR>
                    <a:lnB w="9525">
                      <a:solidFill>
                        <a:srgbClr val="CAD2DF"/>
                      </a:solidFill>
                    </a:lnB>
                    <a:solidFill>
                      <a:srgbClr val="EDF3F9"/>
                    </a:solidFill>
                  </a:tcPr>
                </a:tc>
              </a:tr>
              <a:tr h="666750">
                <a:tc>
                  <a:txBody>
                    <a:bodyPr/>
                    <a:lstStyle/>
                    <a:p>
                      <a:r>
                        <a:rPr sz="2100" b="0">
                          <a:solidFill>
                            <a:srgbClr val="111111"/>
                          </a:solidFill>
                          <a:latin typeface="Times New Roman"/>
                          <a:ea typeface="Times New Roman"/>
                          <a:cs typeface="Times New Roman"/>
                        </a:rPr>
                        <a:t>RTOS</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BLE host and simulation tasks</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Full acquisition/display pipeline</a:t>
                      </a:r>
                    </a:p>
                  </a:txBody>
                  <a:tcPr marL="114300" marR="95250" marT="95250" marB="95250" anchor="ctr">
                    <a:lnR w="9525">
                      <a:solidFill>
                        <a:srgbClr val="CAD2DF"/>
                      </a:solidFill>
                    </a:lnR>
                    <a:lnB w="9525">
                      <a:solidFill>
                        <a:srgbClr val="CAD2DF"/>
                      </a:solidFill>
                    </a:lnB>
                    <a:solidFill>
                      <a:srgbClr val="FFFFFF"/>
                    </a:solidFill>
                  </a:tcPr>
                </a:tc>
              </a:tr>
              <a:tr h="666750">
                <a:tc>
                  <a:txBody>
                    <a:bodyPr/>
                    <a:lstStyle/>
                    <a:p>
                      <a:r>
                        <a:rPr sz="2100" b="0">
                          <a:solidFill>
                            <a:srgbClr val="111111"/>
                          </a:solidFill>
                          <a:latin typeface="Times New Roman"/>
                          <a:ea typeface="Times New Roman"/>
                          <a:cs typeface="Times New Roman"/>
                        </a:rPr>
                        <a:t>Cloud / Dashboard</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Placeholder component folders</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Implement and integrate</a:t>
                      </a:r>
                    </a:p>
                  </a:txBody>
                  <a:tcPr marL="114300" marR="95250" marT="95250" marB="95250" anchor="ctr">
                    <a:lnR w="9525">
                      <a:solidFill>
                        <a:srgbClr val="CAD2DF"/>
                      </a:solidFill>
                    </a:lnR>
                    <a:lnB w="9525">
                      <a:solidFill>
                        <a:srgbClr val="CAD2DF"/>
                      </a:solidFill>
                    </a:lnB>
                    <a:solidFill>
                      <a:srgbClr val="EDF3F9"/>
                    </a:solidFill>
                  </a:tcPr>
                </a:tc>
              </a:tr>
              <a:tr h="666750">
                <a:tc>
                  <a:txBody>
                    <a:bodyPr/>
                    <a:lstStyle/>
                    <a:p>
                      <a:r>
                        <a:rPr sz="2100" b="0">
                          <a:solidFill>
                            <a:srgbClr val="111111"/>
                          </a:solidFill>
                          <a:latin typeface="Times New Roman"/>
                          <a:ea typeface="Times New Roman"/>
                          <a:cs typeface="Times New Roman"/>
                        </a:rPr>
                        <a:t>GPS / ETA / ML</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No implementation found</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Design, implement and evaluate</a:t>
                      </a:r>
                    </a:p>
                  </a:txBody>
                  <a:tcPr marL="114300" marR="95250" marT="95250" marB="95250" anchor="ctr">
                    <a:lnR w="9525">
                      <a:solidFill>
                        <a:srgbClr val="CAD2DF"/>
                      </a:solidFill>
                    </a:lnR>
                    <a:lnB w="9525">
                      <a:solidFill>
                        <a:srgbClr val="CAD2DF"/>
                      </a:solidFill>
                    </a:lnB>
                    <a:solidFill>
                      <a:srgbClr val="FFFFFF"/>
                    </a:solidFill>
                  </a:tcPr>
                </a:tc>
              </a:tr>
            </a:tbl>
          </a:graphicData>
        </a:graphic>
      </p:graphicFrame>
      <p:sp>
        <p:nvSpPr>
          <p:cNvPr id="6" name="12">
            <a:extLst xmlns:a="http://schemas.openxmlformats.org/drawingml/2006/main">
              <a:ext uri="{FF2B5EF4-FFF2-40B4-BE49-F238E27FC236}">
                <a16:creationId xmlns:a16="http://schemas.microsoft.com/office/drawing/2014/main" id="{B6423052-90BB-4036-A723-2A62F220BAA9}"/>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12</a:t>
            </a:r>
          </a:p>
        </p:txBody>
      </p:sp>
    </p:spTree>
    <p:extLst>
      <p:ext uri="{BB962C8B-B14F-4D97-AF65-F5344CB8AC3E}">
        <p14:creationId xmlns:p14="http://schemas.microsoft.com/office/powerpoint/2010/main" val="173359637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Prototype Evidence</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Connected and ready">
            <a:extLst xmlns:a="http://schemas.openxmlformats.org/drawingml/2006/main">
              <a:ext uri="{FF2B5EF4-FFF2-40B4-BE49-F238E27FC236}">
                <a16:creationId xmlns:a16="http://schemas.microsoft.com/office/drawing/2014/main" id="{20B156C6-6F63-4077-B2B4-93238B036224}"/>
              </a:ext>
            </a:extLst>
          </p:cNvPr>
          <p:cNvSpPr>
            <a:spLocks xmlns:a="http://schemas.openxmlformats.org/drawingml/2006/main" noGrp="1"/>
          </p:cNvSpPr>
          <p:nvPr/>
        </p:nvSpPr>
        <p:spPr>
          <a:xfrm xmlns:a="http://schemas.openxmlformats.org/drawingml/2006/main">
            <a:off x="666750" y="1238250"/>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xmlns:a="http://schemas.openxmlformats.org/drawingml/2006/main">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Connected and ready</a:t>
            </a:r>
          </a:p>
        </p:txBody>
      </p:sp>
      <p:sp>
        <p:nvSpPr>
          <p:cNvPr id="6" name="Screenshot pending">
            <a:extLst xmlns:a="http://schemas.openxmlformats.org/drawingml/2006/main">
              <a:ext uri="{FF2B5EF4-FFF2-40B4-BE49-F238E27FC236}">
                <a16:creationId xmlns:a16="http://schemas.microsoft.com/office/drawing/2014/main" id="{D1530123-E1C4-430C-85D3-8F552FAE3993}"/>
              </a:ext>
            </a:extLst>
          </p:cNvPr>
          <p:cNvSpPr>
            <a:spLocks xmlns:a="http://schemas.openxmlformats.org/drawingml/2006/main" noGrp="1"/>
          </p:cNvSpPr>
          <p:nvPr/>
        </p:nvSpPr>
        <p:spPr>
          <a:xfrm xmlns:a="http://schemas.openxmlformats.org/drawingml/2006/main">
            <a:off x="857250" y="2047875"/>
            <a:ext cx="2667000" cy="3048000"/>
          </a:xfrm>
          <a:prstGeom xmlns:a="http://schemas.openxmlformats.org/drawingml/2006/main" prst="rect">
            <a:avLst/>
          </a:prstGeom>
          <a:solidFill xmlns:a="http://schemas.openxmlformats.org/drawingml/2006/main">
            <a:srgbClr val="F6F6F6"/>
          </a:solidFill>
          <a:ln xmlns:a="http://schemas.openxmlformats.org/drawingml/2006/main" w="14288">
            <a:solidFill>
              <a:srgbClr val="AAB4C4"/>
            </a:solidFill>
          </a:ln>
        </p:spPr>
        <p:txBody>
          <a:bodyPr xmlns:a="http://schemas.openxmlformats.org/drawingml/2006/main" lIns="76200" tIns="76200" rIns="76200" bIns="76200" anchor="ctr"/>
          <a:lstStyle xmlns:a="http://schemas.openxmlformats.org/drawingml/2006/main">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xmlns:a="http://schemas.openxmlformats.org/drawingml/2006/main">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7" name="Simulated vitals streaming">
            <a:extLst xmlns:a="http://schemas.openxmlformats.org/drawingml/2006/main">
              <a:ext uri="{FF2B5EF4-FFF2-40B4-BE49-F238E27FC236}">
                <a16:creationId xmlns:a16="http://schemas.microsoft.com/office/drawing/2014/main" id="{36964AD3-5E81-4EF4-95EF-2FB93450507A}"/>
              </a:ext>
            </a:extLst>
          </p:cNvPr>
          <p:cNvSpPr>
            <a:spLocks xmlns:a="http://schemas.openxmlformats.org/drawingml/2006/main" noGrp="1"/>
          </p:cNvSpPr>
          <p:nvPr/>
        </p:nvSpPr>
        <p:spPr>
          <a:xfrm xmlns:a="http://schemas.openxmlformats.org/drawingml/2006/main">
            <a:off x="4572000" y="1238250"/>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xmlns:a="http://schemas.openxmlformats.org/drawingml/2006/main">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Simulated vitals streaming</a:t>
            </a:r>
          </a:p>
        </p:txBody>
      </p:sp>
      <p:sp>
        <p:nvSpPr>
          <p:cNvPr id="8" name="Screenshot pending">
            <a:extLst xmlns:a="http://schemas.openxmlformats.org/drawingml/2006/main">
              <a:ext uri="{FF2B5EF4-FFF2-40B4-BE49-F238E27FC236}">
                <a16:creationId xmlns:a16="http://schemas.microsoft.com/office/drawing/2014/main" id="{ED237D89-32A7-47F1-ACC7-5F87B51E84B9}"/>
              </a:ext>
            </a:extLst>
          </p:cNvPr>
          <p:cNvSpPr>
            <a:spLocks xmlns:a="http://schemas.openxmlformats.org/drawingml/2006/main" noGrp="1"/>
          </p:cNvSpPr>
          <p:nvPr/>
        </p:nvSpPr>
        <p:spPr>
          <a:xfrm xmlns:a="http://schemas.openxmlformats.org/drawingml/2006/main">
            <a:off x="4762500" y="2047875"/>
            <a:ext cx="2667000" cy="3048000"/>
          </a:xfrm>
          <a:prstGeom xmlns:a="http://schemas.openxmlformats.org/drawingml/2006/main" prst="rect">
            <a:avLst/>
          </a:prstGeom>
          <a:solidFill xmlns:a="http://schemas.openxmlformats.org/drawingml/2006/main">
            <a:srgbClr val="F6F6F6"/>
          </a:solidFill>
          <a:ln xmlns:a="http://schemas.openxmlformats.org/drawingml/2006/main" w="14288">
            <a:solidFill>
              <a:srgbClr val="AAB4C4"/>
            </a:solidFill>
          </a:ln>
        </p:spPr>
        <p:txBody>
          <a:bodyPr xmlns:a="http://schemas.openxmlformats.org/drawingml/2006/main" lIns="76200" tIns="76200" rIns="76200" bIns="76200" anchor="ctr"/>
          <a:lstStyle xmlns:a="http://schemas.openxmlformats.org/drawingml/2006/main">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xmlns:a="http://schemas.openxmlformats.org/drawingml/2006/main">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9" name="Stopped or reconnected">
            <a:extLst xmlns:a="http://schemas.openxmlformats.org/drawingml/2006/main">
              <a:ext uri="{FF2B5EF4-FFF2-40B4-BE49-F238E27FC236}">
                <a16:creationId xmlns:a16="http://schemas.microsoft.com/office/drawing/2014/main" id="{1D7DFB66-01E7-49F5-B287-94FA429026DF}"/>
              </a:ext>
            </a:extLst>
          </p:cNvPr>
          <p:cNvSpPr>
            <a:spLocks xmlns:a="http://schemas.openxmlformats.org/drawingml/2006/main" noGrp="1"/>
          </p:cNvSpPr>
          <p:nvPr/>
        </p:nvSpPr>
        <p:spPr>
          <a:xfrm xmlns:a="http://schemas.openxmlformats.org/drawingml/2006/main">
            <a:off x="8477250" y="1238250"/>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xmlns:a="http://schemas.openxmlformats.org/drawingml/2006/main">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Stopped or reconnected</a:t>
            </a:r>
          </a:p>
        </p:txBody>
      </p:sp>
      <p:sp>
        <p:nvSpPr>
          <p:cNvPr id="10" name="Screenshot pending">
            <a:extLst xmlns:a="http://schemas.openxmlformats.org/drawingml/2006/main">
              <a:ext uri="{FF2B5EF4-FFF2-40B4-BE49-F238E27FC236}">
                <a16:creationId xmlns:a16="http://schemas.microsoft.com/office/drawing/2014/main" id="{C24DD76E-497C-45C1-81D2-3DFF32F64BF3}"/>
              </a:ext>
            </a:extLst>
          </p:cNvPr>
          <p:cNvSpPr>
            <a:spLocks xmlns:a="http://schemas.openxmlformats.org/drawingml/2006/main" noGrp="1"/>
          </p:cNvSpPr>
          <p:nvPr/>
        </p:nvSpPr>
        <p:spPr>
          <a:xfrm xmlns:a="http://schemas.openxmlformats.org/drawingml/2006/main">
            <a:off x="8667750" y="2047875"/>
            <a:ext cx="2667000" cy="3048000"/>
          </a:xfrm>
          <a:prstGeom xmlns:a="http://schemas.openxmlformats.org/drawingml/2006/main" prst="rect">
            <a:avLst/>
          </a:prstGeom>
          <a:solidFill xmlns:a="http://schemas.openxmlformats.org/drawingml/2006/main">
            <a:srgbClr val="F6F6F6"/>
          </a:solidFill>
          <a:ln xmlns:a="http://schemas.openxmlformats.org/drawingml/2006/main" w="14288">
            <a:solidFill>
              <a:srgbClr val="AAB4C4"/>
            </a:solidFill>
          </a:ln>
        </p:spPr>
        <p:txBody>
          <a:bodyPr xmlns:a="http://schemas.openxmlformats.org/drawingml/2006/main" lIns="76200" tIns="76200" rIns="76200" bIns="76200" anchor="ctr"/>
          <a:lstStyle xmlns:a="http://schemas.openxmlformats.org/drawingml/2006/main">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xmlns:a="http://schemas.openxmlformats.org/drawingml/2006/main">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11" name="Use real device captures. Pair the app displa">
            <a:extLst xmlns:a="http://schemas.openxmlformats.org/drawingml/2006/main">
              <a:ext uri="{FF2B5EF4-FFF2-40B4-BE49-F238E27FC236}">
                <a16:creationId xmlns:a16="http://schemas.microsoft.com/office/drawing/2014/main" id="{10D4419E-65F8-4AF8-ABFE-000A5A89DE94}"/>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xmlns:a="http://schemas.openxmlformats.org/drawingml/2006/main">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Use real device captures. Pair the app display with matching ESP32 serial logs.</a:t>
            </a:r>
          </a:p>
        </p:txBody>
      </p:sp>
      <p:sp>
        <p:nvSpPr>
          <p:cNvPr id="12" name="13">
            <a:extLst xmlns:a="http://schemas.openxmlformats.org/drawingml/2006/main">
              <a:ext uri="{FF2B5EF4-FFF2-40B4-BE49-F238E27FC236}">
                <a16:creationId xmlns:a16="http://schemas.microsoft.com/office/drawing/2014/main" id="{7B76A915-D870-41E6-BAF2-B5FA79CDAC31}"/>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13</a:t>
            </a:r>
          </a:p>
        </p:txBody>
      </p:sp>
    </p:spTree>
    <p:extLst>
      <p:ext uri="{BB962C8B-B14F-4D97-AF65-F5344CB8AC3E}">
        <p14:creationId xmlns:p14="http://schemas.microsoft.com/office/powerpoint/2010/main" val="1733596377"/>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F5112121-1E14-4CBB-B621-53C849B1C565}"/>
              </a:ext>
            </a:extLst>
          </p:cNvPr>
          <p:cNvCxnSpPr>
            <a:stCxn xmlns:a="http://schemas.openxmlformats.org/drawingml/2006/main" id="9" idx="3"/>
            <a:endCxn xmlns:a="http://schemas.openxmlformats.org/drawingml/2006/main" id="10" idx="1"/>
          </p:cNvCxnSpPr>
          <p:nvPr/>
        </p:nvCxnSpPr>
        <p:spPr>
          <a:xfrm xmlns:a="http://schemas.openxmlformats.org/drawingml/2006/main">
            <a:off x="8763000" y="4667250"/>
            <a:ext cx="476250" cy="0"/>
          </a:xfrm>
          <a:prstGeom xmlns:a="http://schemas.openxmlformats.org/drawingml/2006/main" prst="straightConnector1">
            <a:avLst/>
          </a:prstGeom>
          <a:ln xmlns:a="http://schemas.openxmlformats.org/drawingml/2006/main" w="19050">
            <a:solidFill>
              <a:srgbClr val="002060"/>
            </a:solidFill>
            <a:tailEnd type="arrow" w="med" len="med"/>
          </a:ln>
        </p:spPr>
      </p:cxnSp>
      <p:cxnSp>
        <p:nvCxnSpPr>
          <p:cNvPr id="12" name="">
            <a:extLst xmlns:a="http://schemas.openxmlformats.org/drawingml/2006/main">
              <a:ext uri="{FF2B5EF4-FFF2-40B4-BE49-F238E27FC236}">
                <a16:creationId xmlns:a16="http://schemas.microsoft.com/office/drawing/2014/main" id="{03FB8ECB-03AA-4EA8-B50E-6FA3C86F79C9}"/>
              </a:ext>
            </a:extLst>
          </p:cNvPr>
          <p:cNvCxnSpPr>
            <a:stCxn xmlns:a="http://schemas.openxmlformats.org/drawingml/2006/main" id="8" idx="3"/>
            <a:endCxn xmlns:a="http://schemas.openxmlformats.org/drawingml/2006/main" id="9" idx="1"/>
          </p:cNvCxnSpPr>
          <p:nvPr/>
        </p:nvCxnSpPr>
        <p:spPr>
          <a:xfrm xmlns:a="http://schemas.openxmlformats.org/drawingml/2006/main">
            <a:off x="5857875" y="4667250"/>
            <a:ext cx="476250" cy="0"/>
          </a:xfrm>
          <a:prstGeom xmlns:a="http://schemas.openxmlformats.org/drawingml/2006/main" prst="straightConnector1">
            <a:avLst/>
          </a:prstGeom>
          <a:ln xmlns:a="http://schemas.openxmlformats.org/drawingml/2006/main" w="19050">
            <a:solidFill>
              <a:srgbClr val="002060"/>
            </a:solidFill>
            <a:tailEnd type="arrow" w="med" len="med"/>
          </a:ln>
        </p:spPr>
      </p:cxnSp>
      <p:cxnSp>
        <p:nvCxnSpPr>
          <p:cNvPr id="11" name="">
            <a:extLst xmlns:a="http://schemas.openxmlformats.org/drawingml/2006/main">
              <a:ext uri="{FF2B5EF4-FFF2-40B4-BE49-F238E27FC236}">
                <a16:creationId xmlns:a16="http://schemas.microsoft.com/office/drawing/2014/main" id="{A5EAC431-387E-4814-AB34-219D786AB0FE}"/>
              </a:ext>
            </a:extLst>
          </p:cNvPr>
          <p:cNvCxnSpPr>
            <a:stCxn xmlns:a="http://schemas.openxmlformats.org/drawingml/2006/main" id="7" idx="3"/>
            <a:endCxn xmlns:a="http://schemas.openxmlformats.org/drawingml/2006/main" id="8" idx="1"/>
          </p:cNvCxnSpPr>
          <p:nvPr/>
        </p:nvCxnSpPr>
        <p:spPr>
          <a:xfrm xmlns:a="http://schemas.openxmlformats.org/drawingml/2006/main">
            <a:off x="2952750" y="4667250"/>
            <a:ext cx="476250" cy="0"/>
          </a:xfrm>
          <a:prstGeom xmlns:a="http://schemas.openxmlformats.org/drawingml/2006/main" prst="straightConnector1">
            <a:avLst/>
          </a:prstGeom>
          <a:ln xmlns:a="http://schemas.openxmlformats.org/drawingml/2006/main" w="19050">
            <a:solidFill>
              <a:srgbClr val="002060"/>
            </a:solidFill>
            <a:tailEnd type="arrow" w="med" len="med"/>
          </a:ln>
        </p:spPr>
      </p:cxnSp>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Conclusion and Future Work</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Current implementation">
            <a:extLst xmlns:a="http://schemas.openxmlformats.org/drawingml/2006/main">
              <a:ext uri="{FF2B5EF4-FFF2-40B4-BE49-F238E27FC236}">
                <a16:creationId xmlns:a16="http://schemas.microsoft.com/office/drawing/2014/main" id="{1BF69B1D-512C-4274-97E3-3BA216C6C7C9}"/>
              </a:ext>
            </a:extLst>
          </p:cNvPr>
          <p:cNvSpPr>
            <a:spLocks xmlns:a="http://schemas.openxmlformats.org/drawingml/2006/main" noGrp="1"/>
          </p:cNvSpPr>
          <p:nvPr/>
        </p:nvSpPr>
        <p:spPr>
          <a:xfrm xmlns:a="http://schemas.openxmlformats.org/drawingml/2006/main">
            <a:off x="666750" y="13335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850" b="1">
                <a:solidFill>
                  <a:srgbClr val="002060"/>
                </a:solidFill>
                <a:latin typeface="Times New Roman"/>
                <a:ea typeface="Times New Roman"/>
                <a:cs typeface="Times New Roman"/>
              </a:defRPr>
            </a:defPPr>
            <a:lvl1pPr algn="l">
              <a:defRPr sz="2850" b="1">
                <a:solidFill>
                  <a:srgbClr val="002060"/>
                </a:solidFill>
                <a:latin typeface="Times New Roman"/>
                <a:ea typeface="Times New Roman"/>
                <a:cs typeface="Times New Roman"/>
              </a:defRPr>
            </a:lvl1pPr>
            <a:lvl2pPr algn="l">
              <a:defRPr sz="2850" b="1">
                <a:solidFill>
                  <a:srgbClr val="002060"/>
                </a:solidFill>
                <a:latin typeface="Times New Roman"/>
                <a:ea typeface="Times New Roman"/>
                <a:cs typeface="Times New Roman"/>
              </a:defRPr>
            </a:lvl2pPr>
            <a:lvl3pPr algn="l">
              <a:defRPr sz="2850" b="1">
                <a:solidFill>
                  <a:srgbClr val="002060"/>
                </a:solidFill>
                <a:latin typeface="Times New Roman"/>
                <a:ea typeface="Times New Roman"/>
                <a:cs typeface="Times New Roman"/>
              </a:defRPr>
            </a:lvl3pPr>
            <a:lvl4pPr algn="l">
              <a:defRPr sz="2850" b="1">
                <a:solidFill>
                  <a:srgbClr val="002060"/>
                </a:solidFill>
                <a:latin typeface="Times New Roman"/>
                <a:ea typeface="Times New Roman"/>
                <a:cs typeface="Times New Roman"/>
              </a:defRPr>
            </a:lvl4pPr>
            <a:lvl5pPr algn="l">
              <a:defRPr sz="2850" b="1">
                <a:solidFill>
                  <a:srgbClr val="002060"/>
                </a:solidFill>
                <a:latin typeface="Times New Roman"/>
                <a:ea typeface="Times New Roman"/>
                <a:cs typeface="Times New Roman"/>
              </a:defRPr>
            </a:lvl5pPr>
            <a:lvl6pPr algn="l">
              <a:defRPr sz="2850" b="1">
                <a:solidFill>
                  <a:srgbClr val="002060"/>
                </a:solidFill>
                <a:latin typeface="Times New Roman"/>
                <a:ea typeface="Times New Roman"/>
                <a:cs typeface="Times New Roman"/>
              </a:defRPr>
            </a:lvl6pPr>
            <a:lvl7pPr algn="l">
              <a:defRPr sz="2850" b="1">
                <a:solidFill>
                  <a:srgbClr val="002060"/>
                </a:solidFill>
                <a:latin typeface="Times New Roman"/>
                <a:ea typeface="Times New Roman"/>
                <a:cs typeface="Times New Roman"/>
              </a:defRPr>
            </a:lvl7pPr>
            <a:lvl8pPr algn="l">
              <a:defRPr sz="2850" b="1">
                <a:solidFill>
                  <a:srgbClr val="002060"/>
                </a:solidFill>
                <a:latin typeface="Times New Roman"/>
                <a:ea typeface="Times New Roman"/>
                <a:cs typeface="Times New Roman"/>
              </a:defRPr>
            </a:lvl8pPr>
            <a:lvl9pPr algn="l">
              <a:defRPr sz="2850" b="1">
                <a:solidFill>
                  <a:srgbClr val="002060"/>
                </a:solidFill>
                <a:latin typeface="Times New Roman"/>
                <a:ea typeface="Times New Roman"/>
                <a:cs typeface="Times New Roman"/>
              </a:defRPr>
            </a:lvl9pPr>
          </a:lstStyle>
          <a:p xmlns:a="http://schemas.openxmlformats.org/drawingml/2006/main">
            <a:pPr algn="l">
              <a:defRPr sz="2850" b="1">
                <a:solidFill>
                  <a:srgbClr val="002060"/>
                </a:solidFill>
                <a:latin typeface="Times New Roman"/>
                <a:ea typeface="Times New Roman"/>
                <a:cs typeface="Times New Roman"/>
              </a:defRPr>
            </a:pPr>
            <a:r>
              <a:rPr sz="2850" b="1">
                <a:solidFill>
                  <a:srgbClr val="002060"/>
                </a:solidFill>
                <a:latin typeface="Times New Roman"/>
                <a:ea typeface="Times New Roman"/>
                <a:cs typeface="Times New Roman"/>
              </a:rPr>
              <a:t>Current implementation</a:t>
            </a:r>
          </a:p>
        </p:txBody>
      </p:sp>
      <p:sp>
        <p:nvSpPr>
          <p:cNvPr id="6" name="ESP32 BLE and Flutter gateway code support&#10;si">
            <a:extLst xmlns:a="http://schemas.openxmlformats.org/drawingml/2006/main">
              <a:ext uri="{FF2B5EF4-FFF2-40B4-BE49-F238E27FC236}">
                <a16:creationId xmlns:a16="http://schemas.microsoft.com/office/drawing/2014/main" id="{1EB586CC-ABEF-4A51-8331-C1E1ED8F049A}"/>
              </a:ext>
            </a:extLst>
          </p:cNvPr>
          <p:cNvSpPr>
            <a:spLocks xmlns:a="http://schemas.openxmlformats.org/drawingml/2006/main" noGrp="1"/>
          </p:cNvSpPr>
          <p:nvPr/>
        </p:nvSpPr>
        <p:spPr>
          <a:xfrm xmlns:a="http://schemas.openxmlformats.org/drawingml/2006/main">
            <a:off x="666750" y="2047875"/>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700" b="0">
                <a:solidFill>
                  <a:srgbClr val="111111"/>
                </a:solidFill>
                <a:latin typeface="Times New Roman"/>
                <a:ea typeface="Times New Roman"/>
                <a:cs typeface="Times New Roman"/>
              </a:defRPr>
            </a:defPPr>
            <a:lvl1pPr algn="l">
              <a:defRPr sz="2700" b="0">
                <a:solidFill>
                  <a:srgbClr val="111111"/>
                </a:solidFill>
                <a:latin typeface="Times New Roman"/>
                <a:ea typeface="Times New Roman"/>
                <a:cs typeface="Times New Roman"/>
              </a:defRPr>
            </a:lvl1pPr>
            <a:lvl2pPr algn="l">
              <a:defRPr sz="2700" b="0">
                <a:solidFill>
                  <a:srgbClr val="111111"/>
                </a:solidFill>
                <a:latin typeface="Times New Roman"/>
                <a:ea typeface="Times New Roman"/>
                <a:cs typeface="Times New Roman"/>
              </a:defRPr>
            </a:lvl2pPr>
            <a:lvl3pPr algn="l">
              <a:defRPr sz="2700" b="0">
                <a:solidFill>
                  <a:srgbClr val="111111"/>
                </a:solidFill>
                <a:latin typeface="Times New Roman"/>
                <a:ea typeface="Times New Roman"/>
                <a:cs typeface="Times New Roman"/>
              </a:defRPr>
            </a:lvl3pPr>
            <a:lvl4pPr algn="l">
              <a:defRPr sz="2700" b="0">
                <a:solidFill>
                  <a:srgbClr val="111111"/>
                </a:solidFill>
                <a:latin typeface="Times New Roman"/>
                <a:ea typeface="Times New Roman"/>
                <a:cs typeface="Times New Roman"/>
              </a:defRPr>
            </a:lvl4pPr>
            <a:lvl5pPr algn="l">
              <a:defRPr sz="2700" b="0">
                <a:solidFill>
                  <a:srgbClr val="111111"/>
                </a:solidFill>
                <a:latin typeface="Times New Roman"/>
                <a:ea typeface="Times New Roman"/>
                <a:cs typeface="Times New Roman"/>
              </a:defRPr>
            </a:lvl5pPr>
            <a:lvl6pPr algn="l">
              <a:defRPr sz="2700" b="0">
                <a:solidFill>
                  <a:srgbClr val="111111"/>
                </a:solidFill>
                <a:latin typeface="Times New Roman"/>
                <a:ea typeface="Times New Roman"/>
                <a:cs typeface="Times New Roman"/>
              </a:defRPr>
            </a:lvl6pPr>
            <a:lvl7pPr algn="l">
              <a:defRPr sz="2700" b="0">
                <a:solidFill>
                  <a:srgbClr val="111111"/>
                </a:solidFill>
                <a:latin typeface="Times New Roman"/>
                <a:ea typeface="Times New Roman"/>
                <a:cs typeface="Times New Roman"/>
              </a:defRPr>
            </a:lvl7pPr>
            <a:lvl8pPr algn="l">
              <a:defRPr sz="2700" b="0">
                <a:solidFill>
                  <a:srgbClr val="111111"/>
                </a:solidFill>
                <a:latin typeface="Times New Roman"/>
                <a:ea typeface="Times New Roman"/>
                <a:cs typeface="Times New Roman"/>
              </a:defRPr>
            </a:lvl8pPr>
            <a:lvl9pPr algn="l">
              <a:defRPr sz="2700" b="0">
                <a:solidFill>
                  <a:srgbClr val="111111"/>
                </a:solidFill>
                <a:latin typeface="Times New Roman"/>
                <a:ea typeface="Times New Roman"/>
                <a:cs typeface="Times New Roman"/>
              </a:defRPr>
            </a:lvl9pPr>
          </a:lstStyle>
          <a:p xmlns:a="http://schemas.openxmlformats.org/drawingml/2006/main">
            <a:pPr algn="l">
              <a:defRPr sz="2700" b="0">
                <a:solidFill>
                  <a:srgbClr val="111111"/>
                </a:solidFill>
                <a:latin typeface="Times New Roman"/>
                <a:ea typeface="Times New Roman"/>
                <a:cs typeface="Times New Roman"/>
              </a:defRPr>
            </a:pPr>
            <a:r>
              <a:rPr sz="2700" b="0">
                <a:solidFill>
                  <a:srgbClr val="111111"/>
                </a:solidFill>
                <a:latin typeface="Times New Roman"/>
                <a:ea typeface="Times New Roman"/>
                <a:cs typeface="Times New Roman"/>
              </a:rPr>
              <a:t>ESP32 BLE and Flutter gateway code support</a:t>
            </a:r>
          </a:p>
          <a:p xmlns:a="http://schemas.openxmlformats.org/drawingml/2006/main">
            <a:pPr algn="l">
              <a:defRPr sz="2700" b="0">
                <a:solidFill>
                  <a:srgbClr val="111111"/>
                </a:solidFill>
                <a:latin typeface="Times New Roman"/>
                <a:ea typeface="Times New Roman"/>
                <a:cs typeface="Times New Roman"/>
              </a:defRPr>
            </a:pPr>
            <a:r>
              <a:rPr sz="2700" b="0">
                <a:solidFill>
                  <a:srgbClr val="111111"/>
                </a:solidFill>
                <a:latin typeface="Times New Roman"/>
                <a:ea typeface="Times New Roman"/>
                <a:cs typeface="Times New Roman"/>
              </a:rPr>
              <a:t>simulated vital streaming with start/stop control</a:t>
            </a:r>
          </a:p>
        </p:txBody>
      </p:sp>
      <p:sp>
        <p:nvSpPr>
          <p:cNvPr id="7" name="Sensor and OLED&#10;integration">
            <a:extLst xmlns:a="http://schemas.openxmlformats.org/drawingml/2006/main">
              <a:ext uri="{FF2B5EF4-FFF2-40B4-BE49-F238E27FC236}">
                <a16:creationId xmlns:a16="http://schemas.microsoft.com/office/drawing/2014/main" id="{BC696DB5-59FD-44E8-93A9-3D2601D7E862}"/>
              </a:ext>
            </a:extLst>
          </p:cNvPr>
          <p:cNvSpPr>
            <a:spLocks xmlns:a="http://schemas.openxmlformats.org/drawingml/2006/main" noGrp="1"/>
          </p:cNvSpPr>
          <p:nvPr/>
        </p:nvSpPr>
        <p:spPr>
          <a:xfrm xmlns:a="http://schemas.openxmlformats.org/drawingml/2006/main">
            <a:off x="523875" y="4143375"/>
            <a:ext cx="2428875"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0070C0"/>
            </a:solidFill>
          </a:ln>
        </p:spPr>
        <p:txBody>
          <a:bodyPr xmlns:a="http://schemas.openxmlformats.org/drawingml/2006/main" lIns="76200" tIns="76200" rIns="76200" bIns="76200" anchor="ctr"/>
          <a:lstStyle xmlns:a="http://schemas.openxmlformats.org/drawingml/2006/main">
            <a:defPPr algn="ctr">
              <a:defRPr sz="2175" b="1">
                <a:solidFill>
                  <a:srgbClr val="0070C0"/>
                </a:solidFill>
                <a:latin typeface="Times New Roman"/>
                <a:ea typeface="Times New Roman"/>
                <a:cs typeface="Times New Roman"/>
              </a:defRPr>
            </a:defPPr>
            <a:lvl1pPr algn="ctr">
              <a:defRPr sz="2175" b="1">
                <a:solidFill>
                  <a:srgbClr val="0070C0"/>
                </a:solidFill>
                <a:latin typeface="Times New Roman"/>
                <a:ea typeface="Times New Roman"/>
                <a:cs typeface="Times New Roman"/>
              </a:defRPr>
            </a:lvl1pPr>
            <a:lvl2pPr algn="ctr">
              <a:defRPr sz="2175" b="1">
                <a:solidFill>
                  <a:srgbClr val="0070C0"/>
                </a:solidFill>
                <a:latin typeface="Times New Roman"/>
                <a:ea typeface="Times New Roman"/>
                <a:cs typeface="Times New Roman"/>
              </a:defRPr>
            </a:lvl2pPr>
            <a:lvl3pPr algn="ctr">
              <a:defRPr sz="2175" b="1">
                <a:solidFill>
                  <a:srgbClr val="0070C0"/>
                </a:solidFill>
                <a:latin typeface="Times New Roman"/>
                <a:ea typeface="Times New Roman"/>
                <a:cs typeface="Times New Roman"/>
              </a:defRPr>
            </a:lvl3pPr>
            <a:lvl4pPr algn="ctr">
              <a:defRPr sz="2175" b="1">
                <a:solidFill>
                  <a:srgbClr val="0070C0"/>
                </a:solidFill>
                <a:latin typeface="Times New Roman"/>
                <a:ea typeface="Times New Roman"/>
                <a:cs typeface="Times New Roman"/>
              </a:defRPr>
            </a:lvl4pPr>
            <a:lvl5pPr algn="ctr">
              <a:defRPr sz="2175" b="1">
                <a:solidFill>
                  <a:srgbClr val="0070C0"/>
                </a:solidFill>
                <a:latin typeface="Times New Roman"/>
                <a:ea typeface="Times New Roman"/>
                <a:cs typeface="Times New Roman"/>
              </a:defRPr>
            </a:lvl5pPr>
            <a:lvl6pPr algn="ctr">
              <a:defRPr sz="2175" b="1">
                <a:solidFill>
                  <a:srgbClr val="0070C0"/>
                </a:solidFill>
                <a:latin typeface="Times New Roman"/>
                <a:ea typeface="Times New Roman"/>
                <a:cs typeface="Times New Roman"/>
              </a:defRPr>
            </a:lvl6pPr>
            <a:lvl7pPr algn="ctr">
              <a:defRPr sz="2175" b="1">
                <a:solidFill>
                  <a:srgbClr val="0070C0"/>
                </a:solidFill>
                <a:latin typeface="Times New Roman"/>
                <a:ea typeface="Times New Roman"/>
                <a:cs typeface="Times New Roman"/>
              </a:defRPr>
            </a:lvl7pPr>
            <a:lvl8pPr algn="ctr">
              <a:defRPr sz="2175" b="1">
                <a:solidFill>
                  <a:srgbClr val="0070C0"/>
                </a:solidFill>
                <a:latin typeface="Times New Roman"/>
                <a:ea typeface="Times New Roman"/>
                <a:cs typeface="Times New Roman"/>
              </a:defRPr>
            </a:lvl8pPr>
            <a:lvl9pPr algn="ctr">
              <a:defRPr sz="2175" b="1">
                <a:solidFill>
                  <a:srgbClr val="0070C0"/>
                </a:solidFill>
                <a:latin typeface="Times New Roman"/>
                <a:ea typeface="Times New Roman"/>
                <a:cs typeface="Times New Roman"/>
              </a:defRPr>
            </a:lvl9pPr>
          </a:lstStyle>
          <a:p xmlns:a="http://schemas.openxmlformats.org/drawingml/2006/main">
            <a:pPr algn="ctr">
              <a:defRPr sz="2175" b="1">
                <a:solidFill>
                  <a:srgbClr val="0070C0"/>
                </a:solidFill>
                <a:latin typeface="Times New Roman"/>
                <a:ea typeface="Times New Roman"/>
                <a:cs typeface="Times New Roman"/>
              </a:defRPr>
            </a:pPr>
            <a:r>
              <a:rPr sz="2175" b="1">
                <a:solidFill>
                  <a:srgbClr val="0070C0"/>
                </a:solidFill>
                <a:latin typeface="Times New Roman"/>
                <a:ea typeface="Times New Roman"/>
                <a:cs typeface="Times New Roman"/>
              </a:rPr>
              <a:t>Sensor and OLED</a:t>
            </a:r>
          </a:p>
          <a:p xmlns:a="http://schemas.openxmlformats.org/drawingml/2006/main">
            <a:pPr algn="ctr">
              <a:defRPr sz="2175" b="1">
                <a:solidFill>
                  <a:srgbClr val="0070C0"/>
                </a:solidFill>
                <a:latin typeface="Times New Roman"/>
                <a:ea typeface="Times New Roman"/>
                <a:cs typeface="Times New Roman"/>
              </a:defRPr>
            </a:pPr>
            <a:r>
              <a:rPr sz="2175" b="1">
                <a:solidFill>
                  <a:srgbClr val="0070C0"/>
                </a:solidFill>
                <a:latin typeface="Times New Roman"/>
                <a:ea typeface="Times New Roman"/>
                <a:cs typeface="Times New Roman"/>
              </a:rPr>
              <a:t>integration</a:t>
            </a:r>
          </a:p>
        </p:txBody>
      </p:sp>
      <p:sp>
        <p:nvSpPr>
          <p:cNvPr id="8" name="Persistent uploads&#10;and cloud">
            <a:extLst xmlns:a="http://schemas.openxmlformats.org/drawingml/2006/main">
              <a:ext uri="{FF2B5EF4-FFF2-40B4-BE49-F238E27FC236}">
                <a16:creationId xmlns:a16="http://schemas.microsoft.com/office/drawing/2014/main" id="{8DBFE914-9C41-4277-B1D5-70DE927A6E8F}"/>
              </a:ext>
            </a:extLst>
          </p:cNvPr>
          <p:cNvSpPr>
            <a:spLocks xmlns:a="http://schemas.openxmlformats.org/drawingml/2006/main" noGrp="1"/>
          </p:cNvSpPr>
          <p:nvPr/>
        </p:nvSpPr>
        <p:spPr>
          <a:xfrm xmlns:a="http://schemas.openxmlformats.org/drawingml/2006/main">
            <a:off x="3429000" y="4143375"/>
            <a:ext cx="2428875"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0070C0"/>
            </a:solidFill>
          </a:ln>
        </p:spPr>
        <p:txBody>
          <a:bodyPr xmlns:a="http://schemas.openxmlformats.org/drawingml/2006/main" lIns="76200" tIns="76200" rIns="76200" bIns="76200" anchor="ctr"/>
          <a:lstStyle xmlns:a="http://schemas.openxmlformats.org/drawingml/2006/main">
            <a:defPPr algn="ctr">
              <a:defRPr sz="2175" b="1">
                <a:solidFill>
                  <a:srgbClr val="0070C0"/>
                </a:solidFill>
                <a:latin typeface="Times New Roman"/>
                <a:ea typeface="Times New Roman"/>
                <a:cs typeface="Times New Roman"/>
              </a:defRPr>
            </a:defPPr>
            <a:lvl1pPr algn="ctr">
              <a:defRPr sz="2175" b="1">
                <a:solidFill>
                  <a:srgbClr val="0070C0"/>
                </a:solidFill>
                <a:latin typeface="Times New Roman"/>
                <a:ea typeface="Times New Roman"/>
                <a:cs typeface="Times New Roman"/>
              </a:defRPr>
            </a:lvl1pPr>
            <a:lvl2pPr algn="ctr">
              <a:defRPr sz="2175" b="1">
                <a:solidFill>
                  <a:srgbClr val="0070C0"/>
                </a:solidFill>
                <a:latin typeface="Times New Roman"/>
                <a:ea typeface="Times New Roman"/>
                <a:cs typeface="Times New Roman"/>
              </a:defRPr>
            </a:lvl2pPr>
            <a:lvl3pPr algn="ctr">
              <a:defRPr sz="2175" b="1">
                <a:solidFill>
                  <a:srgbClr val="0070C0"/>
                </a:solidFill>
                <a:latin typeface="Times New Roman"/>
                <a:ea typeface="Times New Roman"/>
                <a:cs typeface="Times New Roman"/>
              </a:defRPr>
            </a:lvl3pPr>
            <a:lvl4pPr algn="ctr">
              <a:defRPr sz="2175" b="1">
                <a:solidFill>
                  <a:srgbClr val="0070C0"/>
                </a:solidFill>
                <a:latin typeface="Times New Roman"/>
                <a:ea typeface="Times New Roman"/>
                <a:cs typeface="Times New Roman"/>
              </a:defRPr>
            </a:lvl4pPr>
            <a:lvl5pPr algn="ctr">
              <a:defRPr sz="2175" b="1">
                <a:solidFill>
                  <a:srgbClr val="0070C0"/>
                </a:solidFill>
                <a:latin typeface="Times New Roman"/>
                <a:ea typeface="Times New Roman"/>
                <a:cs typeface="Times New Roman"/>
              </a:defRPr>
            </a:lvl5pPr>
            <a:lvl6pPr algn="ctr">
              <a:defRPr sz="2175" b="1">
                <a:solidFill>
                  <a:srgbClr val="0070C0"/>
                </a:solidFill>
                <a:latin typeface="Times New Roman"/>
                <a:ea typeface="Times New Roman"/>
                <a:cs typeface="Times New Roman"/>
              </a:defRPr>
            </a:lvl6pPr>
            <a:lvl7pPr algn="ctr">
              <a:defRPr sz="2175" b="1">
                <a:solidFill>
                  <a:srgbClr val="0070C0"/>
                </a:solidFill>
                <a:latin typeface="Times New Roman"/>
                <a:ea typeface="Times New Roman"/>
                <a:cs typeface="Times New Roman"/>
              </a:defRPr>
            </a:lvl7pPr>
            <a:lvl8pPr algn="ctr">
              <a:defRPr sz="2175" b="1">
                <a:solidFill>
                  <a:srgbClr val="0070C0"/>
                </a:solidFill>
                <a:latin typeface="Times New Roman"/>
                <a:ea typeface="Times New Roman"/>
                <a:cs typeface="Times New Roman"/>
              </a:defRPr>
            </a:lvl8pPr>
            <a:lvl9pPr algn="ctr">
              <a:defRPr sz="2175" b="1">
                <a:solidFill>
                  <a:srgbClr val="0070C0"/>
                </a:solidFill>
                <a:latin typeface="Times New Roman"/>
                <a:ea typeface="Times New Roman"/>
                <a:cs typeface="Times New Roman"/>
              </a:defRPr>
            </a:lvl9pPr>
          </a:lstStyle>
          <a:p xmlns:a="http://schemas.openxmlformats.org/drawingml/2006/main">
            <a:pPr algn="ctr">
              <a:defRPr sz="2175" b="1">
                <a:solidFill>
                  <a:srgbClr val="0070C0"/>
                </a:solidFill>
                <a:latin typeface="Times New Roman"/>
                <a:ea typeface="Times New Roman"/>
                <a:cs typeface="Times New Roman"/>
              </a:defRPr>
            </a:pPr>
            <a:r>
              <a:rPr sz="2175" b="1">
                <a:solidFill>
                  <a:srgbClr val="0070C0"/>
                </a:solidFill>
                <a:latin typeface="Times New Roman"/>
                <a:ea typeface="Times New Roman"/>
                <a:cs typeface="Times New Roman"/>
              </a:rPr>
              <a:t>Persistent uploads</a:t>
            </a:r>
          </a:p>
          <a:p xmlns:a="http://schemas.openxmlformats.org/drawingml/2006/main">
            <a:pPr algn="ctr">
              <a:defRPr sz="2175" b="1">
                <a:solidFill>
                  <a:srgbClr val="0070C0"/>
                </a:solidFill>
                <a:latin typeface="Times New Roman"/>
                <a:ea typeface="Times New Roman"/>
                <a:cs typeface="Times New Roman"/>
              </a:defRPr>
            </a:pPr>
            <a:r>
              <a:rPr sz="2175" b="1">
                <a:solidFill>
                  <a:srgbClr val="0070C0"/>
                </a:solidFill>
                <a:latin typeface="Times New Roman"/>
                <a:ea typeface="Times New Roman"/>
                <a:cs typeface="Times New Roman"/>
              </a:rPr>
              <a:t>and cloud</a:t>
            </a:r>
          </a:p>
        </p:txBody>
      </p:sp>
      <p:sp>
        <p:nvSpPr>
          <p:cNvPr id="9" name="GPS location&#10;and ETA">
            <a:extLst xmlns:a="http://schemas.openxmlformats.org/drawingml/2006/main">
              <a:ext uri="{FF2B5EF4-FFF2-40B4-BE49-F238E27FC236}">
                <a16:creationId xmlns:a16="http://schemas.microsoft.com/office/drawing/2014/main" id="{F88E1390-5B72-4C73-84C7-755203978200}"/>
              </a:ext>
            </a:extLst>
          </p:cNvPr>
          <p:cNvSpPr>
            <a:spLocks xmlns:a="http://schemas.openxmlformats.org/drawingml/2006/main" noGrp="1"/>
          </p:cNvSpPr>
          <p:nvPr/>
        </p:nvSpPr>
        <p:spPr>
          <a:xfrm xmlns:a="http://schemas.openxmlformats.org/drawingml/2006/main">
            <a:off x="6334125" y="4143375"/>
            <a:ext cx="2428875"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0070C0"/>
            </a:solidFill>
          </a:ln>
        </p:spPr>
        <p:txBody>
          <a:bodyPr xmlns:a="http://schemas.openxmlformats.org/drawingml/2006/main" lIns="76200" tIns="76200" rIns="76200" bIns="76200" anchor="ctr"/>
          <a:lstStyle xmlns:a="http://schemas.openxmlformats.org/drawingml/2006/main">
            <a:defPPr algn="ctr">
              <a:defRPr sz="2175" b="1">
                <a:solidFill>
                  <a:srgbClr val="0070C0"/>
                </a:solidFill>
                <a:latin typeface="Times New Roman"/>
                <a:ea typeface="Times New Roman"/>
                <a:cs typeface="Times New Roman"/>
              </a:defRPr>
            </a:defPPr>
            <a:lvl1pPr algn="ctr">
              <a:defRPr sz="2175" b="1">
                <a:solidFill>
                  <a:srgbClr val="0070C0"/>
                </a:solidFill>
                <a:latin typeface="Times New Roman"/>
                <a:ea typeface="Times New Roman"/>
                <a:cs typeface="Times New Roman"/>
              </a:defRPr>
            </a:lvl1pPr>
            <a:lvl2pPr algn="ctr">
              <a:defRPr sz="2175" b="1">
                <a:solidFill>
                  <a:srgbClr val="0070C0"/>
                </a:solidFill>
                <a:latin typeface="Times New Roman"/>
                <a:ea typeface="Times New Roman"/>
                <a:cs typeface="Times New Roman"/>
              </a:defRPr>
            </a:lvl2pPr>
            <a:lvl3pPr algn="ctr">
              <a:defRPr sz="2175" b="1">
                <a:solidFill>
                  <a:srgbClr val="0070C0"/>
                </a:solidFill>
                <a:latin typeface="Times New Roman"/>
                <a:ea typeface="Times New Roman"/>
                <a:cs typeface="Times New Roman"/>
              </a:defRPr>
            </a:lvl3pPr>
            <a:lvl4pPr algn="ctr">
              <a:defRPr sz="2175" b="1">
                <a:solidFill>
                  <a:srgbClr val="0070C0"/>
                </a:solidFill>
                <a:latin typeface="Times New Roman"/>
                <a:ea typeface="Times New Roman"/>
                <a:cs typeface="Times New Roman"/>
              </a:defRPr>
            </a:lvl4pPr>
            <a:lvl5pPr algn="ctr">
              <a:defRPr sz="2175" b="1">
                <a:solidFill>
                  <a:srgbClr val="0070C0"/>
                </a:solidFill>
                <a:latin typeface="Times New Roman"/>
                <a:ea typeface="Times New Roman"/>
                <a:cs typeface="Times New Roman"/>
              </a:defRPr>
            </a:lvl5pPr>
            <a:lvl6pPr algn="ctr">
              <a:defRPr sz="2175" b="1">
                <a:solidFill>
                  <a:srgbClr val="0070C0"/>
                </a:solidFill>
                <a:latin typeface="Times New Roman"/>
                <a:ea typeface="Times New Roman"/>
                <a:cs typeface="Times New Roman"/>
              </a:defRPr>
            </a:lvl6pPr>
            <a:lvl7pPr algn="ctr">
              <a:defRPr sz="2175" b="1">
                <a:solidFill>
                  <a:srgbClr val="0070C0"/>
                </a:solidFill>
                <a:latin typeface="Times New Roman"/>
                <a:ea typeface="Times New Roman"/>
                <a:cs typeface="Times New Roman"/>
              </a:defRPr>
            </a:lvl7pPr>
            <a:lvl8pPr algn="ctr">
              <a:defRPr sz="2175" b="1">
                <a:solidFill>
                  <a:srgbClr val="0070C0"/>
                </a:solidFill>
                <a:latin typeface="Times New Roman"/>
                <a:ea typeface="Times New Roman"/>
                <a:cs typeface="Times New Roman"/>
              </a:defRPr>
            </a:lvl8pPr>
            <a:lvl9pPr algn="ctr">
              <a:defRPr sz="2175" b="1">
                <a:solidFill>
                  <a:srgbClr val="0070C0"/>
                </a:solidFill>
                <a:latin typeface="Times New Roman"/>
                <a:ea typeface="Times New Roman"/>
                <a:cs typeface="Times New Roman"/>
              </a:defRPr>
            </a:lvl9pPr>
          </a:lstStyle>
          <a:p xmlns:a="http://schemas.openxmlformats.org/drawingml/2006/main">
            <a:pPr algn="ctr">
              <a:defRPr sz="2175" b="1">
                <a:solidFill>
                  <a:srgbClr val="0070C0"/>
                </a:solidFill>
                <a:latin typeface="Times New Roman"/>
                <a:ea typeface="Times New Roman"/>
                <a:cs typeface="Times New Roman"/>
              </a:defRPr>
            </a:pPr>
            <a:r>
              <a:rPr sz="2175" b="1">
                <a:solidFill>
                  <a:srgbClr val="0070C0"/>
                </a:solidFill>
                <a:latin typeface="Times New Roman"/>
                <a:ea typeface="Times New Roman"/>
                <a:cs typeface="Times New Roman"/>
              </a:rPr>
              <a:t>GPS location</a:t>
            </a:r>
          </a:p>
          <a:p xmlns:a="http://schemas.openxmlformats.org/drawingml/2006/main">
            <a:pPr algn="ctr">
              <a:defRPr sz="2175" b="1">
                <a:solidFill>
                  <a:srgbClr val="0070C0"/>
                </a:solidFill>
                <a:latin typeface="Times New Roman"/>
                <a:ea typeface="Times New Roman"/>
                <a:cs typeface="Times New Roman"/>
              </a:defRPr>
            </a:pPr>
            <a:r>
              <a:rPr sz="2175" b="1">
                <a:solidFill>
                  <a:srgbClr val="0070C0"/>
                </a:solidFill>
                <a:latin typeface="Times New Roman"/>
                <a:ea typeface="Times New Roman"/>
                <a:cs typeface="Times New Roman"/>
              </a:rPr>
              <a:t>and ETA</a:t>
            </a:r>
          </a:p>
        </p:txBody>
      </p:sp>
      <p:sp>
        <p:nvSpPr>
          <p:cNvPr id="10" name="ML risk assessment&#10;and dashboard">
            <a:extLst xmlns:a="http://schemas.openxmlformats.org/drawingml/2006/main">
              <a:ext uri="{FF2B5EF4-FFF2-40B4-BE49-F238E27FC236}">
                <a16:creationId xmlns:a16="http://schemas.microsoft.com/office/drawing/2014/main" id="{D4EE5B2E-C736-4F77-8DB9-7D812536328A}"/>
              </a:ext>
            </a:extLst>
          </p:cNvPr>
          <p:cNvSpPr>
            <a:spLocks xmlns:a="http://schemas.openxmlformats.org/drawingml/2006/main" noGrp="1"/>
          </p:cNvSpPr>
          <p:nvPr/>
        </p:nvSpPr>
        <p:spPr>
          <a:xfrm xmlns:a="http://schemas.openxmlformats.org/drawingml/2006/main">
            <a:off x="9239250" y="4143375"/>
            <a:ext cx="2428875"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0070C0"/>
            </a:solidFill>
          </a:ln>
        </p:spPr>
        <p:txBody>
          <a:bodyPr xmlns:a="http://schemas.openxmlformats.org/drawingml/2006/main" lIns="76200" tIns="76200" rIns="76200" bIns="76200" anchor="ctr"/>
          <a:lstStyle xmlns:a="http://schemas.openxmlformats.org/drawingml/2006/main">
            <a:defPPr algn="ctr">
              <a:defRPr sz="2175" b="1">
                <a:solidFill>
                  <a:srgbClr val="0070C0"/>
                </a:solidFill>
                <a:latin typeface="Times New Roman"/>
                <a:ea typeface="Times New Roman"/>
                <a:cs typeface="Times New Roman"/>
              </a:defRPr>
            </a:defPPr>
            <a:lvl1pPr algn="ctr">
              <a:defRPr sz="2175" b="1">
                <a:solidFill>
                  <a:srgbClr val="0070C0"/>
                </a:solidFill>
                <a:latin typeface="Times New Roman"/>
                <a:ea typeface="Times New Roman"/>
                <a:cs typeface="Times New Roman"/>
              </a:defRPr>
            </a:lvl1pPr>
            <a:lvl2pPr algn="ctr">
              <a:defRPr sz="2175" b="1">
                <a:solidFill>
                  <a:srgbClr val="0070C0"/>
                </a:solidFill>
                <a:latin typeface="Times New Roman"/>
                <a:ea typeface="Times New Roman"/>
                <a:cs typeface="Times New Roman"/>
              </a:defRPr>
            </a:lvl2pPr>
            <a:lvl3pPr algn="ctr">
              <a:defRPr sz="2175" b="1">
                <a:solidFill>
                  <a:srgbClr val="0070C0"/>
                </a:solidFill>
                <a:latin typeface="Times New Roman"/>
                <a:ea typeface="Times New Roman"/>
                <a:cs typeface="Times New Roman"/>
              </a:defRPr>
            </a:lvl3pPr>
            <a:lvl4pPr algn="ctr">
              <a:defRPr sz="2175" b="1">
                <a:solidFill>
                  <a:srgbClr val="0070C0"/>
                </a:solidFill>
                <a:latin typeface="Times New Roman"/>
                <a:ea typeface="Times New Roman"/>
                <a:cs typeface="Times New Roman"/>
              </a:defRPr>
            </a:lvl4pPr>
            <a:lvl5pPr algn="ctr">
              <a:defRPr sz="2175" b="1">
                <a:solidFill>
                  <a:srgbClr val="0070C0"/>
                </a:solidFill>
                <a:latin typeface="Times New Roman"/>
                <a:ea typeface="Times New Roman"/>
                <a:cs typeface="Times New Roman"/>
              </a:defRPr>
            </a:lvl5pPr>
            <a:lvl6pPr algn="ctr">
              <a:defRPr sz="2175" b="1">
                <a:solidFill>
                  <a:srgbClr val="0070C0"/>
                </a:solidFill>
                <a:latin typeface="Times New Roman"/>
                <a:ea typeface="Times New Roman"/>
                <a:cs typeface="Times New Roman"/>
              </a:defRPr>
            </a:lvl6pPr>
            <a:lvl7pPr algn="ctr">
              <a:defRPr sz="2175" b="1">
                <a:solidFill>
                  <a:srgbClr val="0070C0"/>
                </a:solidFill>
                <a:latin typeface="Times New Roman"/>
                <a:ea typeface="Times New Roman"/>
                <a:cs typeface="Times New Roman"/>
              </a:defRPr>
            </a:lvl7pPr>
            <a:lvl8pPr algn="ctr">
              <a:defRPr sz="2175" b="1">
                <a:solidFill>
                  <a:srgbClr val="0070C0"/>
                </a:solidFill>
                <a:latin typeface="Times New Roman"/>
                <a:ea typeface="Times New Roman"/>
                <a:cs typeface="Times New Roman"/>
              </a:defRPr>
            </a:lvl8pPr>
            <a:lvl9pPr algn="ctr">
              <a:defRPr sz="2175" b="1">
                <a:solidFill>
                  <a:srgbClr val="0070C0"/>
                </a:solidFill>
                <a:latin typeface="Times New Roman"/>
                <a:ea typeface="Times New Roman"/>
                <a:cs typeface="Times New Roman"/>
              </a:defRPr>
            </a:lvl9pPr>
          </a:lstStyle>
          <a:p xmlns:a="http://schemas.openxmlformats.org/drawingml/2006/main">
            <a:pPr algn="ctr">
              <a:defRPr sz="2175" b="1">
                <a:solidFill>
                  <a:srgbClr val="0070C0"/>
                </a:solidFill>
                <a:latin typeface="Times New Roman"/>
                <a:ea typeface="Times New Roman"/>
                <a:cs typeface="Times New Roman"/>
              </a:defRPr>
            </a:pPr>
            <a:r>
              <a:rPr sz="2175" b="1">
                <a:solidFill>
                  <a:srgbClr val="0070C0"/>
                </a:solidFill>
                <a:latin typeface="Times New Roman"/>
                <a:ea typeface="Times New Roman"/>
                <a:cs typeface="Times New Roman"/>
              </a:rPr>
              <a:t>ML risk assessment</a:t>
            </a:r>
          </a:p>
          <a:p xmlns:a="http://schemas.openxmlformats.org/drawingml/2006/main">
            <a:pPr algn="ctr">
              <a:defRPr sz="2175" b="1">
                <a:solidFill>
                  <a:srgbClr val="0070C0"/>
                </a:solidFill>
                <a:latin typeface="Times New Roman"/>
                <a:ea typeface="Times New Roman"/>
                <a:cs typeface="Times New Roman"/>
              </a:defRPr>
            </a:pPr>
            <a:r>
              <a:rPr sz="2175" b="1">
                <a:solidFill>
                  <a:srgbClr val="0070C0"/>
                </a:solidFill>
                <a:latin typeface="Times New Roman"/>
                <a:ea typeface="Times New Roman"/>
                <a:cs typeface="Times New Roman"/>
              </a:rPr>
              <a:t>and dashboard</a:t>
            </a:r>
          </a:p>
        </p:txBody>
      </p:sp>
      <p:sp>
        <p:nvSpPr>
          <p:cNvPr id="14" name="Next validation: capture BLE evidence, then i">
            <a:extLst xmlns:a="http://schemas.openxmlformats.org/drawingml/2006/main">
              <a:ext uri="{FF2B5EF4-FFF2-40B4-BE49-F238E27FC236}">
                <a16:creationId xmlns:a16="http://schemas.microsoft.com/office/drawing/2014/main" id="{E95D1E82-DCEC-430A-A6F2-865AFBB4504D}"/>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xmlns:a="http://schemas.openxmlformats.org/drawingml/2006/main">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Next validation: capture BLE evidence, then integrate and test the remaining modules.</a:t>
            </a:r>
          </a:p>
        </p:txBody>
      </p:sp>
      <p:sp>
        <p:nvSpPr>
          <p:cNvPr id="15" name="14">
            <a:extLst xmlns:a="http://schemas.openxmlformats.org/drawingml/2006/main">
              <a:ext uri="{FF2B5EF4-FFF2-40B4-BE49-F238E27FC236}">
                <a16:creationId xmlns:a16="http://schemas.microsoft.com/office/drawing/2014/main" id="{B84EC8C5-B46C-4435-9A1C-74A4C9868B47}"/>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14</a:t>
            </a:r>
          </a:p>
        </p:txBody>
      </p:sp>
    </p:spTree>
    <p:extLst>
      <p:ext uri="{BB962C8B-B14F-4D97-AF65-F5344CB8AC3E}">
        <p14:creationId xmlns:p14="http://schemas.microsoft.com/office/powerpoint/2010/main" val="1733596377"/>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1"/>
            <a:ext cx="12192000" cy="765809"/>
          </a:xfrm>
          <a:prstGeom xmlns:a="http://schemas.openxmlformats.org/drawingml/2006/main" prst="rect">
            <a:avLst/>
          </a:prstGeom>
          <a:solidFill xmlns:a="http://schemas.openxmlformats.org/drawingml/2006/main">
            <a:srgbClr val="002060"/>
          </a:solidFill>
        </p:spPr>
        <p:txBody>
          <a:bodyPr xmlns:a="http://schemas.openxmlformats.org/drawingml/2006/main">
            <a:normAutofit/>
          </a:bodyPr>
          <a:lstStyle xmlns:a="http://schemas.openxmlformats.org/drawingml/2006/main"/>
          <a:p xmlns:a="http://schemas.openxmlformats.org/drawingml/2006/main">
            <a:pPr algn="ctr">
              <a:buNone/>
            </a:pPr>
            <a:endParaRPr sz="3600" b="1">
              <a:solidFill>
                <a:schemeClr val="bg1"/>
              </a:solidFill>
              <a:latin typeface="Times New Roman"/>
              <a:ea typeface="Times New Roman"/>
              <a:cs typeface="Times New Roman"/>
            </a:endParaRP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7" name="TextBox 6">
            <a:extLst xmlns:a="http://schemas.openxmlformats.org/drawingml/2006/main">
              <a:ext uri="{FF2B5EF4-FFF2-40B4-BE49-F238E27FC236}">
                <a16:creationId xmlns:a16="http://schemas.microsoft.com/office/drawing/2014/main" id="{1C9D027C-64E9-914D-D965-A429BBC87943}"/>
              </a:ext>
            </a:extLst>
          </p:cNvPr>
          <p:cNvSpPr>
            <a:spLocks xmlns:a="http://schemas.openxmlformats.org/drawingml/2006/main" noGrp="1"/>
          </p:cNvSpPr>
          <p:nvPr/>
        </p:nvSpPr>
        <p:spPr>
          <a:xfrm xmlns:a="http://schemas.openxmlformats.org/drawingml/2006/main">
            <a:off x="4563762" y="3429000"/>
            <a:ext cx="3387722" cy="1015663"/>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6000">
                <a:solidFill>
                  <a:srgbClr val="0070C0"/>
                </a:solidFill>
              </a:rPr>
              <a:t>Thank You</a:t>
            </a:r>
          </a:p>
        </p:txBody>
      </p:sp>
      <p:sp>
        <p:nvSpPr>
          <p:cNvPr id="8" name="15">
            <a:extLst xmlns:a="http://schemas.openxmlformats.org/drawingml/2006/main">
              <a:ext uri="{FF2B5EF4-FFF2-40B4-BE49-F238E27FC236}">
                <a16:creationId xmlns:a16="http://schemas.microsoft.com/office/drawing/2014/main" id="{5A51434F-8A9A-48B7-AE15-5E50A8D5B94F}"/>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15</a:t>
            </a:r>
          </a:p>
        </p:txBody>
      </p:sp>
    </p:spTree>
    <p:extLst>
      <p:ext uri="{BB962C8B-B14F-4D97-AF65-F5344CB8AC3E}">
        <p14:creationId xmlns:p14="http://schemas.microsoft.com/office/powerpoint/2010/main" val="310531219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2026-10-19T06:24:58.8180000Z</dcterms:created>
  <dcterms:modified xsi:type="dcterms:W3CDTF">2026-10-19T06:24:58.8180000Z</dcterms:modified>
</coreProperties>
</file>