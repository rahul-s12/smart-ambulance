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9"/>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69" r:id="rId17"/>
    <p:sldId id="270"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2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F529-C7F9-3BB8-89CE-AECAFE9DD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CC2A5-3CF7-8295-C60E-1DC702A78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B507-E0A6-5AA2-3A8F-25DAB036ABC9}"/>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62CF59E0-1829-E561-4973-AFE9A6F588F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0697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1B10-EFB7-6995-9BC1-09565D10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3071-BD4E-3CAA-4206-85D77FB6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05F57-FF00-BC3A-FF32-FDDAC128A382}"/>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5A65C5BC-94FE-987A-2234-AB48C34829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83027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To develop a BLE-based mobile communication backbone for transmitting real-time patient vitals to a mobile application, which securely forwards data to the cloud using MQTT over TLS, with CoAP as a backup.</a:t>
            </a:r>
          </a:p>
          <a:p>
            <a:pPr marL="457200" indent="-457200">
              <a:buAutoNum type="arabicPeriod"/>
            </a:pPr>
            <a:r>
              <a:rPr lang="en-IN" sz="2000" dirty="0">
                <a:latin typeface="Times New Roman" panose="02020603050405020304" pitchFamily="18" charset="0"/>
                <a:cs typeface="Times New Roman" panose="02020603050405020304" pitchFamily="18" charset="0"/>
              </a:rPr>
              <a:t>To integrate GPS-based ambulance tracking with OSRM routing to estimate travel distance and arrival time at the selected hospital.</a:t>
            </a:r>
          </a:p>
          <a:p>
            <a:pPr marL="457200" indent="-457200">
              <a:buAutoNum type="arabicPeriod"/>
            </a:pPr>
            <a:r>
              <a:rPr lang="en-US" sz="2000" dirty="0">
                <a:latin typeface="Times New Roman" panose="02020603050405020304" pitchFamily="18" charset="0"/>
                <a:cs typeface="Times New Roman" panose="02020603050405020304" pitchFamily="18" charset="0"/>
              </a:rPr>
              <a:t>To integrate the existing patient health monitoring system with the mobile communication backbone for continuous vital acquisition, transmission, and remote monitoring during ambulance transit.</a:t>
            </a:r>
          </a:p>
          <a:p>
            <a:pPr marL="457200" indent="-457200">
              <a:buAutoNum type="arabicPeriod"/>
            </a:pPr>
            <a:r>
              <a:rPr lang="en-US" sz="2000" dirty="0">
                <a:latin typeface="Times New Roman" panose="02020603050405020304" pitchFamily="18" charset="0"/>
                <a:cs typeface="Times New Roman" panose="02020603050405020304" pitchFamily="18" charset="0"/>
              </a:rPr>
              <a:t>To implement RTOS-based concurrent task management for sensor acquisition, vital processing, communication, and local display, ensuring responsive and reliable operation.</a:t>
            </a:r>
          </a:p>
          <a:p>
            <a:pPr marL="457200" indent="-457200">
              <a:buAutoNum type="arabicPeriod"/>
            </a:pPr>
            <a:r>
              <a:rPr lang="en-US" sz="2000" dirty="0">
                <a:latin typeface="Times New Roman" panose="02020603050405020304" pitchFamily="18" charset="0"/>
                <a:cs typeface="Times New Roman" panose="02020603050405020304" pitchFamily="18" charset="0"/>
              </a:rPr>
              <a:t>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664303"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666488" y="5077698"/>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extLst>
              <p:ext uri="{D42A27DB-BD31-4B8C-83A1-F6EECF244321}">
                <p14:modId xmlns:p14="http://schemas.microsoft.com/office/powerpoint/2010/main" val="1415780120"/>
              </p:ext>
            </p:extLst>
          </p:nvPr>
        </p:nvGraphicFramePr>
        <p:xfrm>
          <a:off x="1349710" y="1112156"/>
          <a:ext cx="9492580" cy="4286250"/>
        </p:xfrm>
        <a:graphic>
          <a:graphicData uri="http://schemas.openxmlformats.org/drawingml/2006/table">
            <a:tbl>
              <a:tblPr/>
              <a:tblGrid>
                <a:gridCol w="4749086">
                  <a:extLst>
                    <a:ext uri="{9D8B030D-6E8A-4147-A177-3AD203B41FA5}">
                      <a16:colId xmlns:a16="http://schemas.microsoft.com/office/drawing/2014/main" val="20000"/>
                    </a:ext>
                  </a:extLst>
                </a:gridCol>
                <a:gridCol w="4743494">
                  <a:extLst>
                    <a:ext uri="{9D8B030D-6E8A-4147-A177-3AD203B41FA5}">
                      <a16:colId xmlns:a16="http://schemas.microsoft.com/office/drawing/2014/main" val="20002"/>
                    </a:ext>
                  </a:extLst>
                </a:gridCol>
              </a:tblGrid>
              <a:tr h="714375">
                <a:tc>
                  <a:txBody>
                    <a:bodyPr/>
                    <a:lstStyle/>
                    <a:p>
                      <a:pPr algn="ctr"/>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pPr algn="ctr"/>
                      <a:r>
                        <a:rPr sz="2175" b="1" dirty="0">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cap="flat" cmpd="sng" algn="ctr">
                      <a:solidFill>
                        <a:srgbClr val="CAD2D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14375">
                <a:tc>
                  <a:txBody>
                    <a:bodyPr/>
                    <a:lstStyle/>
                    <a:p>
                      <a:pPr algn="ctr"/>
                      <a:r>
                        <a:rPr sz="2175" b="0" dirty="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1"/>
                  </a:ext>
                </a:extLst>
              </a:tr>
              <a:tr h="714375">
                <a:tc>
                  <a:txBody>
                    <a:bodyPr/>
                    <a:lstStyle/>
                    <a:p>
                      <a:pPr algn="ctr"/>
                      <a:r>
                        <a:rPr sz="2175" b="0" dirty="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4375">
                <a:tc>
                  <a:txBody>
                    <a:bodyPr/>
                    <a:lstStyle/>
                    <a:p>
                      <a:pPr algn="ctr"/>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3"/>
                  </a:ext>
                </a:extLst>
              </a:tr>
              <a:tr h="714375">
                <a:tc>
                  <a:txBody>
                    <a:bodyPr/>
                    <a:lstStyle/>
                    <a:p>
                      <a:pPr algn="ctr"/>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dirty="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4375">
                <a:tc>
                  <a:txBody>
                    <a:bodyPr/>
                    <a:lstStyle/>
                    <a:p>
                      <a:pPr algn="ctr"/>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572649"/>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1"/>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532632"/>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extLst>
              <p:ext uri="{D42A27DB-BD31-4B8C-83A1-F6EECF244321}">
                <p14:modId xmlns:p14="http://schemas.microsoft.com/office/powerpoint/2010/main" val="753592872"/>
              </p:ext>
            </p:extLst>
          </p:nvPr>
        </p:nvGraphicFramePr>
        <p:xfrm>
          <a:off x="523875" y="1190625"/>
          <a:ext cx="11144250" cy="4402455"/>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dirty="0">
                          <a:solidFill>
                            <a:srgbClr val="111111"/>
                          </a:solidFill>
                          <a:latin typeface="Times New Roman"/>
                          <a:ea typeface="Times New Roman"/>
                          <a:cs typeface="Times New Roman"/>
                        </a:rPr>
                        <a:t>Phone handles cloud uplink </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dirty="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dirty="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8"/>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8"/>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83108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1E0-43D1-4EB5-05B3-131B7942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8039-CE3F-5D31-47D1-81032C3D345E}"/>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703ABF20-4077-C004-EA78-EA0362C0EC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112DCB65-BAD5-923B-B142-39135B68F746}"/>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A818A6BD-A4AD-3B7F-84CC-E45C5CF0AF38}"/>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DD732C11-C9ED-DF11-34F2-9FAACCE6D6C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A647C3A9-35D0-D63F-5016-1819F9FCFDA5}"/>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2C958E9D-A671-B7C0-0DC1-873F58585BD9}"/>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8D13F93E-51D5-BD57-E85F-16E64373B31F}"/>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D4E6AF3D-BB35-9A87-189D-741176C91E60}"/>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1F1D172C-9CD4-6C25-0C8D-32B70DEC02E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2984334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F302-8F37-9B0A-598C-3641E87C4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195DA-E4DE-7952-B2D3-C3677B03761F}"/>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0FA670C1-AF38-7D83-610C-E0B1FBAAB3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CB847F55-70AE-2CCE-8F47-5FF875BB8CBF}"/>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85F8C1C0-A3DB-D1B0-C216-0AB17DC9459B}"/>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93B5EF9A-1507-C5CF-2573-7C011A126F8D}"/>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C8FAB7F7-5CA5-FAC4-E081-656BE97C4141}"/>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D5D280F4-6E93-23C5-27DB-55525A2EF972}"/>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052947C7-05F8-A830-A56F-8A2FF21A8327}"/>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DBFD638-25F2-45BD-3A7B-3F7A398218BA}"/>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FF7F7340-4D17-F9C6-BE25-0259878AD64D}"/>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925995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2555</Words>
  <Application>Microsoft Office PowerPoint</Application>
  <DocSecurity>0</DocSecurity>
  <PresentationFormat>Widescreen</PresentationFormat>
  <Paragraphs>252</Paragraphs>
  <Slides>16</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Calibri</vt:lpstr>
      <vt:lpstr>Calibri Light</vt:lpstr>
      <vt:lpstr>Times New Roman</vt:lpstr>
      <vt:lpstr>Office Theme</vt:lpstr>
      <vt:lpstr>Office Theme</vt:lpstr>
      <vt:lpstr>Project Work Phase-2        7th semester  AY: 2026-27</vt:lpstr>
      <vt:lpstr>Project Objectives</vt:lpstr>
      <vt:lpstr>Architecture</vt:lpstr>
      <vt:lpstr>BLE Communication Workflow</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Prototype Evidence</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2</cp:revision>
  <dcterms:created xsi:type="dcterms:W3CDTF">2026-10-19T06:24:58Z</dcterms:created>
  <dcterms:modified xsi:type="dcterms:W3CDTF">2026-10-19T07:02:39Z</dcterms:modified>
</cp:coreProperties>
</file>