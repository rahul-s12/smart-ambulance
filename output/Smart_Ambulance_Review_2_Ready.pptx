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fbd1b3ba56410e" /><Relationship Type="http://schemas.openxmlformats.org/officeDocument/2006/relationships/extended-properties" Target="/docProps/app.xml" Id="Rcee060641a1746b1" /><Relationship Type="http://schemas.openxmlformats.org/officeDocument/2006/relationships/officeDocument" Target="/ppt/presentation.xml" Id="R477a97f6c3a04727" /></Relationships>
</file>

<file path=ppt/presentation.xml><?xml version="1.0" encoding="utf-8"?>
<p:presentation xmlns:p="http://schemas.openxmlformats.org/presentationml/2006/main">
  <p:sldMasterIdLst>
    <p:sldMasterId xmlns:r="http://schemas.openxmlformats.org/officeDocument/2006/relationships" id="2147483648" r:id="R12805d1f166a4303"/>
  </p:sldMasterIdLst>
  <p:notesMasterIdLst>
    <p:notesMasterId xmlns:r="http://schemas.openxmlformats.org/officeDocument/2006/relationships" r:id="R02042499113f46b1"/>
  </p:notesMasterIdLst>
  <p:sldIdLst>
    <p:sldId xmlns:r="http://schemas.openxmlformats.org/officeDocument/2006/relationships" id="256" r:id="R3dbc688d7afa49f6"/>
    <p:sldId xmlns:r="http://schemas.openxmlformats.org/officeDocument/2006/relationships" id="257" r:id="R06e41184dd344beb"/>
    <p:sldId xmlns:r="http://schemas.openxmlformats.org/officeDocument/2006/relationships" id="258" r:id="R1fed1ae7a81346f6"/>
    <p:sldId xmlns:r="http://schemas.openxmlformats.org/officeDocument/2006/relationships" id="259" r:id="R4ece2d737b0f4459"/>
    <p:sldId xmlns:r="http://schemas.openxmlformats.org/officeDocument/2006/relationships" id="260" r:id="Rc7804d02e69642d9"/>
    <p:sldId xmlns:r="http://schemas.openxmlformats.org/officeDocument/2006/relationships" id="261" r:id="R19965275b7844b11"/>
    <p:sldId xmlns:r="http://schemas.openxmlformats.org/officeDocument/2006/relationships" id="262" r:id="Rb8fe87a7dbc0416f"/>
    <p:sldId xmlns:r="http://schemas.openxmlformats.org/officeDocument/2006/relationships" id="263" r:id="Rae8e841ea24b4340"/>
    <p:sldId xmlns:r="http://schemas.openxmlformats.org/officeDocument/2006/relationships" id="264" r:id="Raa33efaf9fef4d88"/>
    <p:sldId xmlns:r="http://schemas.openxmlformats.org/officeDocument/2006/relationships" id="265" r:id="Rb91ea7b7a02845e4"/>
    <p:sldId xmlns:r="http://schemas.openxmlformats.org/officeDocument/2006/relationships" id="266" r:id="R526d5fc4585e4137"/>
    <p:sldId xmlns:r="http://schemas.openxmlformats.org/officeDocument/2006/relationships" id="267" r:id="R94f35b0029d245ce"/>
    <p:sldId xmlns:r="http://schemas.openxmlformats.org/officeDocument/2006/relationships" id="268" r:id="R1aad1ae3a6e8474e"/>
    <p:sldId xmlns:r="http://schemas.openxmlformats.org/officeDocument/2006/relationships" id="269" r:id="R934156db95a640d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509324d5b41433e" /><Relationship Type="http://schemas.openxmlformats.org/officeDocument/2006/relationships/slideMaster" Target="/ppt/slideMasters/slideMaster1.xml" Id="R12805d1f166a4303" /><Relationship Type="http://schemas.openxmlformats.org/officeDocument/2006/relationships/notesMaster" Target="/ppt/notesMasters/notesMaster1.xml" Id="R02042499113f46b1" /><Relationship Type="http://schemas.openxmlformats.org/officeDocument/2006/relationships/presProps" Target="/ppt/presProps.xml" Id="Re4e44f38da35490c" /><Relationship Type="http://schemas.openxmlformats.org/officeDocument/2006/relationships/viewProps" Target="/ppt/viewProps.xml" Id="Rc621af148e954deb" /><Relationship Type="http://schemas.openxmlformats.org/officeDocument/2006/relationships/tableStyles" Target="/ppt/tableStyles.xml" Id="R519c0f0626ea44f6" /><Relationship Type="http://schemas.openxmlformats.org/officeDocument/2006/relationships/slide" Target="/ppt/slides/slide1.xml" Id="R3dbc688d7afa49f6" /><Relationship Type="http://schemas.openxmlformats.org/officeDocument/2006/relationships/slide" Target="/ppt/slides/slide2.xml" Id="R06e41184dd344beb" /><Relationship Type="http://schemas.openxmlformats.org/officeDocument/2006/relationships/slide" Target="/ppt/slides/slide3.xml" Id="R1fed1ae7a81346f6" /><Relationship Type="http://schemas.openxmlformats.org/officeDocument/2006/relationships/slide" Target="/ppt/slides/slide4.xml" Id="R4ece2d737b0f4459" /><Relationship Type="http://schemas.openxmlformats.org/officeDocument/2006/relationships/slide" Target="/ppt/slides/slide5.xml" Id="Rc7804d02e69642d9" /><Relationship Type="http://schemas.openxmlformats.org/officeDocument/2006/relationships/slide" Target="/ppt/slides/slide6.xml" Id="R19965275b7844b11" /><Relationship Type="http://schemas.openxmlformats.org/officeDocument/2006/relationships/slide" Target="/ppt/slides/slide7.xml" Id="Rb8fe87a7dbc0416f" /><Relationship Type="http://schemas.openxmlformats.org/officeDocument/2006/relationships/slide" Target="/ppt/slides/slide8.xml" Id="Rae8e841ea24b4340" /><Relationship Type="http://schemas.openxmlformats.org/officeDocument/2006/relationships/slide" Target="/ppt/slides/slide9.xml" Id="Raa33efaf9fef4d88" /><Relationship Type="http://schemas.openxmlformats.org/officeDocument/2006/relationships/slide" Target="/ppt/slides/slide10.xml" Id="Rb91ea7b7a02845e4" /><Relationship Type="http://schemas.openxmlformats.org/officeDocument/2006/relationships/slide" Target="/ppt/slides/slide11.xml" Id="R526d5fc4585e4137" /><Relationship Type="http://schemas.openxmlformats.org/officeDocument/2006/relationships/slide" Target="/ppt/slides/slide12.xml" Id="R94f35b0029d245ce" /><Relationship Type="http://schemas.openxmlformats.org/officeDocument/2006/relationships/slide" Target="/ppt/slides/slide13.xml" Id="R1aad1ae3a6e8474e" /><Relationship Type="http://schemas.openxmlformats.org/officeDocument/2006/relationships/slide" Target="/ppt/slides/slide14.xml" Id="R934156db95a640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371614ec7343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ac44975b6f4b05" /><Relationship Type="http://schemas.openxmlformats.org/officeDocument/2006/relationships/notesMaster" Target="/ppt/notesMasters/notesMaster1.xml" Id="R9620e443f46748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e66746ed034360" /><Relationship Type="http://schemas.openxmlformats.org/officeDocument/2006/relationships/notesMaster" Target="/ppt/notesMasters/notesMaster1.xml" Id="R599f3b7cabe74f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1f38ec7d704029" /><Relationship Type="http://schemas.openxmlformats.org/officeDocument/2006/relationships/notesMaster" Target="/ppt/notesMasters/notesMaster1.xml" Id="R54a2ed92b1224c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efd5322969421a" /><Relationship Type="http://schemas.openxmlformats.org/officeDocument/2006/relationships/notesMaster" Target="/ppt/notesMasters/notesMaster1.xml" Id="Re0541134b6604e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8775c73e1845db" /><Relationship Type="http://schemas.openxmlformats.org/officeDocument/2006/relationships/notesMaster" Target="/ppt/notesMasters/notesMaster1.xml" Id="R17b136ee78a04c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a0904683454ad4" /><Relationship Type="http://schemas.openxmlformats.org/officeDocument/2006/relationships/notesMaster" Target="/ppt/notesMasters/notesMaster1.xml" Id="R28ad2a5476cb44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de113a447d4605" /><Relationship Type="http://schemas.openxmlformats.org/officeDocument/2006/relationships/notesMaster" Target="/ppt/notesMasters/notesMaster1.xml" Id="R0bf36bf6a96c49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61731fb51443a7" /><Relationship Type="http://schemas.openxmlformats.org/officeDocument/2006/relationships/notesMaster" Target="/ppt/notesMasters/notesMaster1.xml" Id="R640ba0f8fc6445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80c20efa404dd8" /><Relationship Type="http://schemas.openxmlformats.org/officeDocument/2006/relationships/notesMaster" Target="/ppt/notesMasters/notesMaster1.xml" Id="Rce3b0b42f6aa45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f37ec34f664fb6" /><Relationship Type="http://schemas.openxmlformats.org/officeDocument/2006/relationships/notesMaster" Target="/ppt/notesMasters/notesMaster1.xml" Id="R22e3ef62713d42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8cb0c8b6ec43ea" /><Relationship Type="http://schemas.openxmlformats.org/officeDocument/2006/relationships/notesMaster" Target="/ppt/notesMasters/notesMaster1.xml" Id="R99c5259ec01645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3d37e5c4cd4900" /><Relationship Type="http://schemas.openxmlformats.org/officeDocument/2006/relationships/notesMaster" Target="/ppt/notesMasters/notesMaster1.xml" Id="R3f4885e330404e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23e36c150940ac" /><Relationship Type="http://schemas.openxmlformats.org/officeDocument/2006/relationships/notesMaster" Target="/ppt/notesMasters/notesMaster1.xml" Id="Rb1e1b26acd6c40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f0ab569e73440b" /><Relationship Type="http://schemas.openxmlformats.org/officeDocument/2006/relationships/notesMaster" Target="/ppt/notesMasters/notesMaster1.xml" Id="Rfe09c94b28f144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team details retained from the supplied Review 2 template.</a:t>
            </a:r>
            <a:endParaRP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2 topics follow the supplied template. Additional slides separate methods, validation and evidence to keep each slide concise.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preserve the template scope. User explicitly retained ML as an objective and added both GPS location and ETA. These are objectives, not completed results.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architecture replaces the dense source image with an editable diagram. Current firmware generates simulated observations. Planned phone-to-cloud transport is MQTT over TLS with CoAP fallback. GPS provider, ETA method, backend and ML model remain to be selected.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GHSS UUID 0x1840; observations 0x2B8B; control point 0x2BF4. Firmware creates simulated readings on a nominal one-second task interval. The two rows show setup followed by telemetry, with editable step objects. Automatic app reconnection is not implemented.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describes observed implementation versus the user-approved target, without claiming measured superiority over competing protocols. No backend stack or risk model is finalized in the current repository.</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FR1 and FR2 are implemented in source but need hardware evidence. Sensor sketches exist separately. Persistent queueing, cloud transport, GPS, ETA, ML and hospital dashboard are requirements for subsequent integration.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code uses LE Secure Connections with Just Works and NVS bonds. This does not establish authenticated protection against active interception. No measured latency, delivery ratio, endurance or clinical accuracy is available.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validate the current BLE prototype. Capture at least two updates for TC3, and a recording or timestamped logs for TC4 and TC5. A stopped app may retain the last displayed values. Reconnection is manual.</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tests need a defined telemetry contract and acceptance thresholds. ETA should be compared with actual arrival times on test routes. ML evaluation requires a selected dataset, labels, model and held-out split. Do not invent accuracy figures.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distinguish implemented code from demonstrated hardware results. The full system remains a prototype. ML risk assessment is a project objective and requires dataset/model selection and evaluation.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Review 2 presentation.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8f36cf01334b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d29667d6764b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71a2d50f3b4d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25ed2e9ebb4f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b3fe396f154f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50d0f07e004a8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d6a7155de1e4ea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66f0412ceb3497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54dfa51883a41b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356318a2f34495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681b6584a574a2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4D745-0B20-BBAA-074F-EF62988991C7}"/>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2EFF7C1-57C4-8D79-46D3-BDDCA99C45F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33CCF0EC-6478-6AA0-39C5-5817AD450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C65D64-61A9-40CD-B94D-857C621C06A3}" type="datetime1">
              <a:t>19-10-2026</a:t>
            </a:fld>
            <a:endParaRPr/>
          </a:p>
        </p:txBody>
      </p:sp>
      <p:sp>
        <p:nvSpPr>
          <p:cNvPr id="5" name="Footer Placeholder 4">
            <a:extLst xmlns:a="http://schemas.openxmlformats.org/drawingml/2006/main">
              <a:ext uri="{FF2B5EF4-FFF2-40B4-BE49-F238E27FC236}">
                <a16:creationId xmlns:a16="http://schemas.microsoft.com/office/drawing/2014/main" id="{698BCB53-894F-5921-306C-CB1B74E5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70334AD7-6A1F-1788-A433-EC6F92001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4E90A8-DEF0-CAF0-21F0-8DA2786EE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7C1FC8-0708-512D-2CA8-4E94945F6E8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0AE94-1A7F-8535-63EB-8091A1D29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250B2B8-E89D-450D-848F-CCC0D3A80066}" type="datetime1">
              <a:t>19-10-2026</a:t>
            </a:fld>
            <a:endParaRPr/>
          </a:p>
        </p:txBody>
      </p:sp>
      <p:sp>
        <p:nvSpPr>
          <p:cNvPr id="5" name="Footer Placeholder 4">
            <a:extLst xmlns:a="http://schemas.openxmlformats.org/drawingml/2006/main">
              <a:ext uri="{FF2B5EF4-FFF2-40B4-BE49-F238E27FC236}">
                <a16:creationId xmlns:a16="http://schemas.microsoft.com/office/drawing/2014/main" id="{832C18AA-665C-9174-40C7-2700EFF77B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E2C036A-33A8-E88E-99D0-2903B7C5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8FBD5-1561-3932-E297-A14174187F0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C63A73B-59E7-B791-E521-B97995C4F94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F228BA-5DBB-745C-5F7F-6B4CA6E1B3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E451025-BBAB-4BD1-9DF2-DE64D763EA4D}" type="datetime1">
              <a:t>19-10-2026</a:t>
            </a:fld>
            <a:endParaRPr/>
          </a:p>
        </p:txBody>
      </p:sp>
      <p:sp>
        <p:nvSpPr>
          <p:cNvPr id="5" name="Footer Placeholder 4">
            <a:extLst xmlns:a="http://schemas.openxmlformats.org/drawingml/2006/main">
              <a:ext uri="{FF2B5EF4-FFF2-40B4-BE49-F238E27FC236}">
                <a16:creationId xmlns:a16="http://schemas.microsoft.com/office/drawing/2014/main" id="{80566780-0A65-9A5C-D8B4-219B02057C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372F2B-5703-1917-0A03-01068F134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8012EB-C7E9-76BE-0540-9539DA8896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CFC33C-641D-27E9-8511-1DA0B2D9E4E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26661FD-66D9-9C58-FC7C-869A43023E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E4514F-A4CC-1761-9CEA-1FC19B4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7DA566-B459-4C7A-85E5-C2A7C24A1420}" type="datetime1">
              <a:t>19-10-2026</a:t>
            </a:fld>
            <a:endParaRPr/>
          </a:p>
        </p:txBody>
      </p:sp>
      <p:sp>
        <p:nvSpPr>
          <p:cNvPr id="6" name="Footer Placeholder 5">
            <a:extLst xmlns:a="http://schemas.openxmlformats.org/drawingml/2006/main">
              <a:ext uri="{FF2B5EF4-FFF2-40B4-BE49-F238E27FC236}">
                <a16:creationId xmlns:a16="http://schemas.microsoft.com/office/drawing/2014/main" id="{B1F1B018-A66A-E116-D076-220E61B8E7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CB2419CD-4D96-32BF-7F1C-E1BF7EE61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314BB9-4AB7-8C6A-8BFF-A3621A872B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21CF5D-7A32-863B-E9E6-6BA58C5B3B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DB264E-C915-888B-18DA-22E34FCD2A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F5859C3-3260-535B-BAB4-EA190AE0E0D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E67C906-088A-950B-EF70-FA0DAFD933C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A5F40AF-125E-31C4-B571-B32EF373B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5763DEA-064E-425A-A301-4B3BA0502A3F}" type="datetime1">
              <a:t>19-10-2026</a:t>
            </a:fld>
            <a:endParaRPr/>
          </a:p>
        </p:txBody>
      </p:sp>
      <p:sp>
        <p:nvSpPr>
          <p:cNvPr id="8" name="Footer Placeholder 7">
            <a:extLst xmlns:a="http://schemas.openxmlformats.org/drawingml/2006/main">
              <a:ext uri="{FF2B5EF4-FFF2-40B4-BE49-F238E27FC236}">
                <a16:creationId xmlns:a16="http://schemas.microsoft.com/office/drawing/2014/main" id="{7F1D0E3D-EC0A-214F-AE51-D3A6DA70B7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9" name="Slide Number Placeholder 8">
            <a:extLst xmlns:a="http://schemas.openxmlformats.org/drawingml/2006/main">
              <a:ext uri="{FF2B5EF4-FFF2-40B4-BE49-F238E27FC236}">
                <a16:creationId xmlns:a16="http://schemas.microsoft.com/office/drawing/2014/main" id="{C11E67A1-465D-9A8A-60C8-9F260A5F31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B29077-248C-58C0-5973-D9AC97BC11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CDA6BA2-43B1-8708-AB4E-AA8A134DE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38D0107-E616-461D-9207-52B0BDAA9751}" type="datetime1">
              <a:t>19-10-2026</a:t>
            </a:fld>
            <a:endParaRPr/>
          </a:p>
        </p:txBody>
      </p:sp>
      <p:sp>
        <p:nvSpPr>
          <p:cNvPr id="4" name="Footer Placeholder 3">
            <a:extLst xmlns:a="http://schemas.openxmlformats.org/drawingml/2006/main">
              <a:ext uri="{FF2B5EF4-FFF2-40B4-BE49-F238E27FC236}">
                <a16:creationId xmlns:a16="http://schemas.microsoft.com/office/drawing/2014/main" id="{69113DAA-528F-ACAE-BCFF-72E4C3714E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5" name="Slide Number Placeholder 4">
            <a:extLst xmlns:a="http://schemas.openxmlformats.org/drawingml/2006/main">
              <a:ext uri="{FF2B5EF4-FFF2-40B4-BE49-F238E27FC236}">
                <a16:creationId xmlns:a16="http://schemas.microsoft.com/office/drawing/2014/main" id="{96EE596D-B02B-5ECD-DEA8-8B5F226A5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0A7191E-B112-54E5-E29A-F71A7DF454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0B6DF2-7F2A-4D21-830E-C34D54E5DB26}" type="datetime1">
              <a:t>19-10-2026</a:t>
            </a:fld>
            <a:endParaRPr/>
          </a:p>
        </p:txBody>
      </p:sp>
      <p:sp>
        <p:nvSpPr>
          <p:cNvPr id="3" name="Footer Placeholder 2">
            <a:extLst xmlns:a="http://schemas.openxmlformats.org/drawingml/2006/main">
              <a:ext uri="{FF2B5EF4-FFF2-40B4-BE49-F238E27FC236}">
                <a16:creationId xmlns:a16="http://schemas.microsoft.com/office/drawing/2014/main" id="{D33BDEFE-732E-C016-6AB1-9E18E867B5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4" name="Slide Number Placeholder 3">
            <a:extLst xmlns:a="http://schemas.openxmlformats.org/drawingml/2006/main">
              <a:ext uri="{FF2B5EF4-FFF2-40B4-BE49-F238E27FC236}">
                <a16:creationId xmlns:a16="http://schemas.microsoft.com/office/drawing/2014/main" id="{417B749E-E48B-CAF5-E430-6FE27ED57E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84B7CA-0679-E8C0-23AD-92B1DFE0E6D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9A98F6F-E9AC-DC82-132D-29B0BBC4F47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0FA807-3DD8-13E7-498A-153246EE0A0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B0A236-2402-8ACA-6847-F03201A03C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E140C3B-5552-4017-A7F7-1D3DC73ABB6C}" type="datetime1">
              <a:t>19-10-2026</a:t>
            </a:fld>
            <a:endParaRPr/>
          </a:p>
        </p:txBody>
      </p:sp>
      <p:sp>
        <p:nvSpPr>
          <p:cNvPr id="6" name="Footer Placeholder 5">
            <a:extLst xmlns:a="http://schemas.openxmlformats.org/drawingml/2006/main">
              <a:ext uri="{FF2B5EF4-FFF2-40B4-BE49-F238E27FC236}">
                <a16:creationId xmlns:a16="http://schemas.microsoft.com/office/drawing/2014/main" id="{9FA06F1D-F4E2-655D-0ECB-0762E4A51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9D059C62-9D81-A148-F3A8-E735B1A70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0A4FF6-EEF0-8B97-696A-746280ACA59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097AEC-9604-18F5-B68A-9DDAC80CB6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BF86077-F677-6962-4FED-10D159B67E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3114E18-CA26-8F9E-AC5A-76906484DC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762C1D-5720-48A1-898D-8041400C55BC}" type="datetime1">
              <a:t>19-10-2026</a:t>
            </a:fld>
            <a:endParaRPr/>
          </a:p>
        </p:txBody>
      </p:sp>
      <p:sp>
        <p:nvSpPr>
          <p:cNvPr id="6" name="Footer Placeholder 5">
            <a:extLst xmlns:a="http://schemas.openxmlformats.org/drawingml/2006/main">
              <a:ext uri="{FF2B5EF4-FFF2-40B4-BE49-F238E27FC236}">
                <a16:creationId xmlns:a16="http://schemas.microsoft.com/office/drawing/2014/main" id="{7AA36461-552C-E633-1CF0-DB8BC7B43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4365D169-0627-C229-C26B-84AA64B383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A5CB26-31EA-5AE3-3E63-6F2EFEC5C1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6815B1A-9C33-E8AE-6618-E625DB8E7D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88B927-04A1-6ACB-7D83-CF9A45497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C140E7-F52A-4119-97FF-78F9513B4388}" type="datetime1">
              <a:t>19-10-2026</a:t>
            </a:fld>
            <a:endParaRPr/>
          </a:p>
        </p:txBody>
      </p:sp>
      <p:sp>
        <p:nvSpPr>
          <p:cNvPr id="5" name="Footer Placeholder 4">
            <a:extLst xmlns:a="http://schemas.openxmlformats.org/drawingml/2006/main">
              <a:ext uri="{FF2B5EF4-FFF2-40B4-BE49-F238E27FC236}">
                <a16:creationId xmlns:a16="http://schemas.microsoft.com/office/drawing/2014/main" id="{E7E9898D-9F32-B8B8-1CB9-8DAEBCCF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F0E129-A7D7-908A-2DB9-C14597E8F0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2730AC-48F0-F0FE-FE21-835054F7282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F894533-AC0F-B196-504E-399428B5863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42A9436-E8A2-F71D-A637-B20EA1490A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E1CFB4-31DA-40A2-AE2B-F9FC033D0834}" type="datetime1">
              <a:t>19-10-2026</a:t>
            </a:fld>
            <a:endParaRPr/>
          </a:p>
        </p:txBody>
      </p:sp>
      <p:sp>
        <p:nvSpPr>
          <p:cNvPr id="5" name="Footer Placeholder 4">
            <a:extLst xmlns:a="http://schemas.openxmlformats.org/drawingml/2006/main">
              <a:ext uri="{FF2B5EF4-FFF2-40B4-BE49-F238E27FC236}">
                <a16:creationId xmlns:a16="http://schemas.microsoft.com/office/drawing/2014/main" id="{3A1BF561-DBF4-21B8-CB10-BC790D209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F2FADF1E-7BDA-43E8-BEF6-6F3FA39F5E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bf26344151459a" /><Relationship Type="http://schemas.openxmlformats.org/officeDocument/2006/relationships/slideLayout" Target="/ppt/slideLayouts/slideLayout1.xml" Id="Ra2b294270c9b4720" /><Relationship Type="http://schemas.openxmlformats.org/officeDocument/2006/relationships/slideLayout" Target="/ppt/slideLayouts/slideLayout2.xml" Id="Rc720894886e34219" /><Relationship Type="http://schemas.openxmlformats.org/officeDocument/2006/relationships/slideLayout" Target="/ppt/slideLayouts/slideLayout3.xml" Id="Ra2cd60e0595242d5" /><Relationship Type="http://schemas.openxmlformats.org/officeDocument/2006/relationships/slideLayout" Target="/ppt/slideLayouts/slideLayout4.xml" Id="R4c62a7f0015b4f57" /><Relationship Type="http://schemas.openxmlformats.org/officeDocument/2006/relationships/slideLayout" Target="/ppt/slideLayouts/slideLayout5.xml" Id="R373f8cfbf648489d" /><Relationship Type="http://schemas.openxmlformats.org/officeDocument/2006/relationships/slideLayout" Target="/ppt/slideLayouts/slideLayout6.xml" Id="R6075f6ae8bdd44a5" /><Relationship Type="http://schemas.openxmlformats.org/officeDocument/2006/relationships/slideLayout" Target="/ppt/slideLayouts/slideLayout7.xml" Id="Rb79146ca07e549af" /><Relationship Type="http://schemas.openxmlformats.org/officeDocument/2006/relationships/slideLayout" Target="/ppt/slideLayouts/slideLayout8.xml" Id="R2716af1cb0284f6d" /><Relationship Type="http://schemas.openxmlformats.org/officeDocument/2006/relationships/slideLayout" Target="/ppt/slideLayouts/slideLayout9.xml" Id="R29961dd6024d4d90" /><Relationship Type="http://schemas.openxmlformats.org/officeDocument/2006/relationships/slideLayout" Target="/ppt/slideLayouts/slideLayout10.xml" Id="R51112cfb145d461b" /><Relationship Type="http://schemas.openxmlformats.org/officeDocument/2006/relationships/slideLayout" Target="/ppt/slideLayouts/slideLayout11.xml" Id="R7960db0f7715481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D4D9F3-48CF-9F1F-5BF9-D29B73C5EE1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5C8141-6A62-88D2-9C9C-A178134DFAD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6B990C-8F8B-41B6-BFA9-D2812EADA71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3E8678F-226F-4E2D-9FCF-8D6254E13B72}" type="datetime1">
              <a:t>19-10-2026</a:t>
            </a:fld>
            <a:endParaRPr/>
          </a:p>
        </p:txBody>
      </p:sp>
      <p:sp>
        <p:nvSpPr>
          <p:cNvPr id="5" name="Footer Placeholder 4">
            <a:extLst xmlns:a="http://schemas.openxmlformats.org/drawingml/2006/main">
              <a:ext uri="{FF2B5EF4-FFF2-40B4-BE49-F238E27FC236}">
                <a16:creationId xmlns:a16="http://schemas.microsoft.com/office/drawing/2014/main" id="{451F15A3-C5A8-D8EF-2CC0-B9FB4E8C365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D3726CD6-7954-5145-9A9B-B583B27B2BD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b294270c9b4720"/>
    <p:sldLayoutId xmlns:r="http://schemas.openxmlformats.org/officeDocument/2006/relationships" id="2147483650" r:id="Rc720894886e34219"/>
    <p:sldLayoutId xmlns:r="http://schemas.openxmlformats.org/officeDocument/2006/relationships" id="2147483651" r:id="Ra2cd60e0595242d5"/>
    <p:sldLayoutId xmlns:r="http://schemas.openxmlformats.org/officeDocument/2006/relationships" id="2147483652" r:id="R4c62a7f0015b4f57"/>
    <p:sldLayoutId xmlns:r="http://schemas.openxmlformats.org/officeDocument/2006/relationships" id="2147483653" r:id="R373f8cfbf648489d"/>
    <p:sldLayoutId xmlns:r="http://schemas.openxmlformats.org/officeDocument/2006/relationships" id="2147483654" r:id="R6075f6ae8bdd44a5"/>
    <p:sldLayoutId xmlns:r="http://schemas.openxmlformats.org/officeDocument/2006/relationships" id="2147483655" r:id="Rb79146ca07e549af"/>
    <p:sldLayoutId xmlns:r="http://schemas.openxmlformats.org/officeDocument/2006/relationships" id="2147483656" r:id="R2716af1cb0284f6d"/>
    <p:sldLayoutId xmlns:r="http://schemas.openxmlformats.org/officeDocument/2006/relationships" id="2147483657" r:id="R29961dd6024d4d90"/>
    <p:sldLayoutId xmlns:r="http://schemas.openxmlformats.org/officeDocument/2006/relationships" id="2147483658" r:id="R51112cfb145d461b"/>
    <p:sldLayoutId xmlns:r="http://schemas.openxmlformats.org/officeDocument/2006/relationships" id="2147483659" r:id="R7960db0f77154819"/>
  </p:sldLayoutIdLst>
  <p:hf sldNum="0"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b4b47bc0b57d4a86" /><Relationship Type="http://schemas.openxmlformats.org/officeDocument/2006/relationships/image" Target="/ppt/media/image.png" Id="Ree173457fcf34070" /><Relationship Type="http://schemas.openxmlformats.org/officeDocument/2006/relationships/notesSlide" Target="/ppt/notesSlides/notesSlide1.xml" Id="R2f733f85fb144c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fd96f291b3844fb" /><Relationship Type="http://schemas.openxmlformats.org/officeDocument/2006/relationships/notesSlide" Target="/ppt/notesSlides/notesSlide2.xml" Id="R24b3f7eb56034d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7eb0587b7fd4b0b" /><Relationship Type="http://schemas.openxmlformats.org/officeDocument/2006/relationships/notesSlide" Target="/ppt/notesSlides/notesSlide3.xml" Id="R24291c4ebbd643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a40a1dd2e3146ef" /><Relationship Type="http://schemas.openxmlformats.org/officeDocument/2006/relationships/notesSlide" Target="/ppt/notesSlides/notesSlide4.xml" Id="Rc4e8f35e276e41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849f51fb9be4109" /><Relationship Type="http://schemas.openxmlformats.org/officeDocument/2006/relationships/notesSlide" Target="/ppt/notesSlides/notesSlide5.xml" Id="Rdab9e1e3942a48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9d3b20cf76249aa" /><Relationship Type="http://schemas.openxmlformats.org/officeDocument/2006/relationships/notesSlide" Target="/ppt/notesSlides/notesSlide6.xml" Id="R4a5eb4e4311743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8670977082d4406" /><Relationship Type="http://schemas.openxmlformats.org/officeDocument/2006/relationships/notesSlide" Target="/ppt/notesSlides/notesSlide7.xml" Id="Rc005b436b20a41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b0f3a2502f84129" /><Relationship Type="http://schemas.openxmlformats.org/officeDocument/2006/relationships/notesSlide" Target="/ppt/notesSlides/notesSlide8.xml" Id="R1142a5134e5347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0c2eb72fea646b8" /><Relationship Type="http://schemas.openxmlformats.org/officeDocument/2006/relationships/notesSlide" Target="/ppt/notesSlides/notesSlide9.xml" Id="Re344c9528cc343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e516e24e30640a5" /><Relationship Type="http://schemas.openxmlformats.org/officeDocument/2006/relationships/notesSlide" Target="/ppt/notesSlides/notesSlide10.xml" Id="R9e8527a6ae2545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9c59289151a4377" /><Relationship Type="http://schemas.openxmlformats.org/officeDocument/2006/relationships/notesSlide" Target="/ppt/notesSlides/notesSlide11.xml" Id="R53cbf431d8a248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85a86541f6b4595" /><Relationship Type="http://schemas.openxmlformats.org/officeDocument/2006/relationships/notesSlide" Target="/ppt/notesSlides/notesSlide12.xml" Id="R62b97e62fd1442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ad26b1c47ee402c" /><Relationship Type="http://schemas.openxmlformats.org/officeDocument/2006/relationships/notesSlide" Target="/ppt/notesSlides/notesSlide13.xml" Id="R24b92bd7e79742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2bdbb16b51f4968" /><Relationship Type="http://schemas.openxmlformats.org/officeDocument/2006/relationships/notesSlide" Target="/ppt/notesSlides/notesSlide14.xml" Id="Rd986cd79e674412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1074655"/>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90000"/>
          </a:bodyPr>
          <a:lstStyle xmlns:a="http://schemas.openxmlformats.org/drawingml/2006/main"/>
          <a:p xmlns:a="http://schemas.openxmlformats.org/drawingml/2006/main">
            <a:pPr algn="ctr">
              <a:lnSpc>
                <a:spcPct val="115000"/>
              </a:lnSpc>
              <a:spcAft>
                <a:spcPts val="1000"/>
              </a:spcAft>
              <a:buNone/>
            </a:pPr>
            <a:r>
              <a:rPr sz="4000" b="1">
                <a:solidFill>
                  <a:schemeClr val="bg1"/>
                </a:solidFill>
                <a:latin typeface="Times New Roman"/>
                <a:ea typeface="Times New Roman"/>
                <a:cs typeface="Times New Roman"/>
              </a:rPr>
              <a:t>Project Work Phase-2       </a:t>
            </a:r>
            <a:br>
              <a:rPr sz="4000" b="1">
                <a:solidFill>
                  <a:schemeClr val="bg1"/>
                </a:solidFill>
                <a:latin typeface="Times New Roman"/>
                <a:ea typeface="Times New Roman"/>
                <a:cs typeface="Times New Roman"/>
              </a:rPr>
            </a:br>
            <a:r>
              <a:rPr sz="4000" b="1">
                <a:solidFill>
                  <a:schemeClr val="bg1"/>
                </a:solidFill>
                <a:latin typeface="Times New Roman"/>
                <a:ea typeface="Times New Roman"/>
                <a:cs typeface="Times New Roman"/>
              </a:rPr>
              <a:t>7th semester  AY: 2026-27</a:t>
            </a:r>
            <a:endParaRPr sz="4000">
              <a:solidFill>
                <a:schemeClr val="bg1"/>
              </a:solidFill>
              <a:latin typeface="Calibri"/>
              <a:ea typeface="Calibri"/>
              <a:cs typeface="Calibri"/>
            </a:endParaRPr>
          </a:p>
        </p:txBody>
      </p:sp>
      <p:sp>
        <p:nvSpPr>
          <p:cNvPr id="3" name="Content Placeholder 2">
            <a:extLst xmlns:a="http://schemas.openxmlformats.org/drawingml/2006/main">
              <a:ext uri="{FF2B5EF4-FFF2-40B4-BE49-F238E27FC236}">
                <a16:creationId xmlns:a16="http://schemas.microsoft.com/office/drawing/2014/main" id="{3B6D72A9-5B77-2FAD-A296-659695D34C01}"/>
              </a:ext>
            </a:extLst>
          </p:cNvPr>
          <p:cNvSpPr>
            <a:spLocks xmlns:a="http://schemas.openxmlformats.org/drawingml/2006/main" noGrp="1"/>
          </p:cNvSpPr>
          <p:nvPr>
            <p:ph idx="1"/>
          </p:nvPr>
        </p:nvSpPr>
        <p:spPr>
          <a:xfrm xmlns:a="http://schemas.openxmlformats.org/drawingml/2006/main">
            <a:off x="-1" y="1382565"/>
            <a:ext cx="12191999" cy="4980528"/>
          </a:xfrm>
        </p:spPr>
        <p:txBody>
          <a:bodyPr xmlns:a="http://schemas.openxmlformats.org/drawingml/2006/main">
            <a:normAutofit fontScale="100000" lnSpcReduction="10000"/>
          </a:bodyPr>
          <a:lstStyle xmlns:a="http://schemas.openxmlformats.org/drawingml/2006/main">
            <a:defPPr algn="ctr">
              <a:defRPr sz="2475">
                <a:solidFill>
                  <a:srgbClr val="111111"/>
                </a:solidFill>
                <a:latin typeface="Times New Roman"/>
                <a:ea typeface="Times New Roman"/>
                <a:cs typeface="Times New Roman"/>
              </a:defRPr>
            </a:defPPr>
            <a:lvl1pPr algn="ctr">
              <a:defRPr sz="2475">
                <a:solidFill>
                  <a:srgbClr val="111111"/>
                </a:solidFill>
                <a:latin typeface="Times New Roman"/>
                <a:ea typeface="Times New Roman"/>
                <a:cs typeface="Times New Roman"/>
              </a:defRPr>
            </a:lvl1pPr>
            <a:lvl2pPr algn="ctr">
              <a:defRPr sz="2475">
                <a:solidFill>
                  <a:srgbClr val="111111"/>
                </a:solidFill>
                <a:latin typeface="Times New Roman"/>
                <a:ea typeface="Times New Roman"/>
                <a:cs typeface="Times New Roman"/>
              </a:defRPr>
            </a:lvl2pPr>
            <a:lvl3pPr algn="ctr">
              <a:defRPr sz="2475">
                <a:solidFill>
                  <a:srgbClr val="111111"/>
                </a:solidFill>
                <a:latin typeface="Times New Roman"/>
                <a:ea typeface="Times New Roman"/>
                <a:cs typeface="Times New Roman"/>
              </a:defRPr>
            </a:lvl3pPr>
            <a:lvl4pPr algn="ctr">
              <a:defRPr sz="2475">
                <a:solidFill>
                  <a:srgbClr val="111111"/>
                </a:solidFill>
                <a:latin typeface="Times New Roman"/>
                <a:ea typeface="Times New Roman"/>
                <a:cs typeface="Times New Roman"/>
              </a:defRPr>
            </a:lvl4pPr>
            <a:lvl5pPr algn="ctr">
              <a:defRPr sz="2475">
                <a:solidFill>
                  <a:srgbClr val="111111"/>
                </a:solidFill>
                <a:latin typeface="Times New Roman"/>
                <a:ea typeface="Times New Roman"/>
                <a:cs typeface="Times New Roman"/>
              </a:defRPr>
            </a:lvl5pPr>
            <a:lvl6pPr algn="ctr">
              <a:defRPr sz="2475">
                <a:solidFill>
                  <a:srgbClr val="111111"/>
                </a:solidFill>
                <a:latin typeface="Times New Roman"/>
                <a:ea typeface="Times New Roman"/>
                <a:cs typeface="Times New Roman"/>
              </a:defRPr>
            </a:lvl6pPr>
            <a:lvl7pPr algn="ctr">
              <a:defRPr sz="2475">
                <a:solidFill>
                  <a:srgbClr val="111111"/>
                </a:solidFill>
                <a:latin typeface="Times New Roman"/>
                <a:ea typeface="Times New Roman"/>
                <a:cs typeface="Times New Roman"/>
              </a:defRPr>
            </a:lvl7pPr>
            <a:lvl8pPr algn="ctr">
              <a:defRPr sz="2475">
                <a:solidFill>
                  <a:srgbClr val="111111"/>
                </a:solidFill>
                <a:latin typeface="Times New Roman"/>
                <a:ea typeface="Times New Roman"/>
                <a:cs typeface="Times New Roman"/>
              </a:defRPr>
            </a:lvl8pPr>
            <a:lvl9pPr algn="ctr">
              <a:defRPr sz="2475">
                <a:solidFill>
                  <a:srgbClr val="111111"/>
                </a:solidFill>
                <a:latin typeface="Times New Roman"/>
                <a:ea typeface="Times New Roman"/>
                <a:cs typeface="Times New Roman"/>
              </a:defRPr>
            </a:lvl9pPr>
          </a:lstStyle>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Review 2 Presentation</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Enhancing Emergency Response Through IoT-Integrated</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Smart Ambulance and GPS Monitoring</a:t>
            </a:r>
            <a:endParaRPr b="1">
              <a:latin typeface="Times New Roman"/>
              <a:ea typeface="Times New Roman"/>
              <a:cs typeface="Times New Roman"/>
            </a:endParaRPr>
          </a:p>
          <a:p xmlns:a="http://schemas.openxmlformats.org/drawingml/2006/main">
            <a:pPr marL="0" indent="0" algn="ctr">
              <a:buNone/>
            </a:pPr>
            <a:r>
              <a:rPr sz="2400" b="1">
                <a:latin typeface="Times New Roman"/>
                <a:ea typeface="Times New Roman"/>
                <a:cs typeface="Times New Roman"/>
              </a:rPr>
              <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Rahul S (1NT23EC120)     Rakshita S Wagge (1NT23EC124)</a:t>
            </a:r>
          </a:p>
          <a:p xmlns:a="http://schemas.openxmlformats.org/drawingml/2006/main">
            <a:pPr marL="0" indent="0" algn="ctr">
              <a:buNone/>
            </a:pPr>
            <a:r>
              <a:rPr sz="2100">
                <a:latin typeface="Times New Roman"/>
                <a:ea typeface="Times New Roman"/>
                <a:cs typeface="Times New Roman"/>
              </a:rPr>
              <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Project Supervisor</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Dr. Manjula B M, Professor</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Department of Electronics and Communication Engineering</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Nitte Meenakshi Institute of Technology, Bengaluru</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pic>
        <p:nvPicPr>
          <p:cNvPr id="6" name="Picture 5">
            <a:extLst xmlns:a="http://schemas.openxmlformats.org/drawingml/2006/main">
              <a:ext uri="{FF2B5EF4-FFF2-40B4-BE49-F238E27FC236}">
                <a16:creationId xmlns:a16="http://schemas.microsoft.com/office/drawing/2014/main" id="{3268784F-5206-4F73-A3F8-E26D1BDE74E7}"/>
              </a:ext>
            </a:extLst>
          </p:cNvPr>
          <p:cNvPicPr>
            <a:picLocks xmlns:a="http://schemas.openxmlformats.org/drawingml/2006/main" noChangeAspect="1"/>
          </p:cNvPicPr>
          <p:nvPr/>
        </p:nvPicPr>
        <p:blipFill>
          <a:blip xmlns:r="http://schemas.openxmlformats.org/officeDocument/2006/relationships" xmlns:a="http://schemas.openxmlformats.org/drawingml/2006/main" r:embed="Ree173457fcf34070"/>
          <a:stretch xmlns:a="http://schemas.openxmlformats.org/drawingml/2006/main">
            <a:fillRect l="0" t="0" r="0" b="0"/>
          </a:stretch>
        </p:blipFill>
        <p:spPr>
          <a:xfrm xmlns:a="http://schemas.openxmlformats.org/drawingml/2006/main">
            <a:off x="0" y="155183"/>
            <a:ext cx="3443603" cy="770103"/>
          </a:xfrm>
          <a:prstGeom xmlns:a="http://schemas.openxmlformats.org/drawingml/2006/main" prst="rect">
            <a:avLst/>
          </a:prstGeom>
        </p:spPr>
      </p:pic>
      <p:sp>
        <p:nvSpPr>
          <p:cNvPr id="7" name="1">
            <a:extLst xmlns:a="http://schemas.openxmlformats.org/drawingml/2006/main">
              <a:ext uri="{FF2B5EF4-FFF2-40B4-BE49-F238E27FC236}">
                <a16:creationId xmlns:a16="http://schemas.microsoft.com/office/drawing/2014/main" id="{B011CE37-0A03-4FB4-A39C-74066FC3368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a:t>
            </a:r>
          </a:p>
        </p:txBody>
      </p:sp>
    </p:spTree>
    <p:extLst>
      <p:ext uri="{BB962C8B-B14F-4D97-AF65-F5344CB8AC3E}">
        <p14:creationId xmlns:p14="http://schemas.microsoft.com/office/powerpoint/2010/main" val="40972559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Presentation Outline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1.  Objectives and system architecture">
            <a:extLst xmlns:a="http://schemas.openxmlformats.org/drawingml/2006/main">
              <a:ext uri="{FF2B5EF4-FFF2-40B4-BE49-F238E27FC236}">
                <a16:creationId xmlns:a16="http://schemas.microsoft.com/office/drawing/2014/main" id="{42F0426E-43A0-4DCC-8117-35B3896C1FFC}"/>
              </a:ext>
            </a:extLst>
          </p:cNvPr>
          <p:cNvSpPr>
            <a:spLocks xmlns:a="http://schemas.openxmlformats.org/drawingml/2006/main" noGrp="1"/>
          </p:cNvSpPr>
          <p:nvPr/>
        </p:nvSpPr>
        <p:spPr>
          <a:xfrm xmlns:a="http://schemas.openxmlformats.org/drawingml/2006/main">
            <a:off x="857250" y="13811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1.  Objectives and system architecture</a:t>
            </a:r>
          </a:p>
        </p:txBody>
      </p:sp>
      <p:sp>
        <p:nvSpPr>
          <p:cNvPr id="6" name="2.  BLE workflow and design comparison">
            <a:extLst xmlns:a="http://schemas.openxmlformats.org/drawingml/2006/main">
              <a:ext uri="{FF2B5EF4-FFF2-40B4-BE49-F238E27FC236}">
                <a16:creationId xmlns:a16="http://schemas.microsoft.com/office/drawing/2014/main" id="{2492E3E9-125F-4D3B-9470-B50F798C61A0}"/>
              </a:ext>
            </a:extLst>
          </p:cNvPr>
          <p:cNvSpPr>
            <a:spLocks xmlns:a="http://schemas.openxmlformats.org/drawingml/2006/main" noGrp="1"/>
          </p:cNvSpPr>
          <p:nvPr/>
        </p:nvSpPr>
        <p:spPr>
          <a:xfrm xmlns:a="http://schemas.openxmlformats.org/drawingml/2006/main">
            <a:off x="857250" y="22002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2.  BLE workflow and design comparison</a:t>
            </a:r>
          </a:p>
        </p:txBody>
      </p:sp>
      <p:sp>
        <p:nvSpPr>
          <p:cNvPr id="7" name="3.  Requirements and validation plan">
            <a:extLst xmlns:a="http://schemas.openxmlformats.org/drawingml/2006/main">
              <a:ext uri="{FF2B5EF4-FFF2-40B4-BE49-F238E27FC236}">
                <a16:creationId xmlns:a16="http://schemas.microsoft.com/office/drawing/2014/main" id="{E3B117AF-5E49-49B7-9191-D67D44BA8C91}"/>
              </a:ext>
            </a:extLst>
          </p:cNvPr>
          <p:cNvSpPr>
            <a:spLocks xmlns:a="http://schemas.openxmlformats.org/drawingml/2006/main" noGrp="1"/>
          </p:cNvSpPr>
          <p:nvPr/>
        </p:nvSpPr>
        <p:spPr>
          <a:xfrm xmlns:a="http://schemas.openxmlformats.org/drawingml/2006/main">
            <a:off x="857250" y="30194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3.  Requirements and validation plan</a:t>
            </a:r>
          </a:p>
        </p:txBody>
      </p:sp>
      <p:sp>
        <p:nvSpPr>
          <p:cNvPr id="8" name="4.  Implementation status and evidence">
            <a:extLst xmlns:a="http://schemas.openxmlformats.org/drawingml/2006/main">
              <a:ext uri="{FF2B5EF4-FFF2-40B4-BE49-F238E27FC236}">
                <a16:creationId xmlns:a16="http://schemas.microsoft.com/office/drawing/2014/main" id="{A2C07A97-BDF0-44CA-9B19-3E1C57DB0C21}"/>
              </a:ext>
            </a:extLst>
          </p:cNvPr>
          <p:cNvSpPr>
            <a:spLocks xmlns:a="http://schemas.openxmlformats.org/drawingml/2006/main" noGrp="1"/>
          </p:cNvSpPr>
          <p:nvPr/>
        </p:nvSpPr>
        <p:spPr>
          <a:xfrm xmlns:a="http://schemas.openxmlformats.org/drawingml/2006/main">
            <a:off x="857250" y="38385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4.  Implementation status and evidence</a:t>
            </a:r>
          </a:p>
        </p:txBody>
      </p:sp>
      <p:sp>
        <p:nvSpPr>
          <p:cNvPr id="9" name="5.  Conclusion and future work">
            <a:extLst xmlns:a="http://schemas.openxmlformats.org/drawingml/2006/main">
              <a:ext uri="{FF2B5EF4-FFF2-40B4-BE49-F238E27FC236}">
                <a16:creationId xmlns:a16="http://schemas.microsoft.com/office/drawing/2014/main" id="{3C9897FE-AA54-4DCF-A86D-ACF2385F7CC1}"/>
              </a:ext>
            </a:extLst>
          </p:cNvPr>
          <p:cNvSpPr>
            <a:spLocks xmlns:a="http://schemas.openxmlformats.org/drawingml/2006/main" noGrp="1"/>
          </p:cNvSpPr>
          <p:nvPr/>
        </p:nvSpPr>
        <p:spPr>
          <a:xfrm xmlns:a="http://schemas.openxmlformats.org/drawingml/2006/main">
            <a:off x="857250" y="4657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5.  Conclusion and future work</a:t>
            </a:r>
          </a:p>
        </p:txBody>
      </p:sp>
      <p:sp>
        <p:nvSpPr>
          <p:cNvPr id="10" name="2">
            <a:extLst xmlns:a="http://schemas.openxmlformats.org/drawingml/2006/main">
              <a:ext uri="{FF2B5EF4-FFF2-40B4-BE49-F238E27FC236}">
                <a16:creationId xmlns:a16="http://schemas.microsoft.com/office/drawing/2014/main" id="{6E03DF9E-FBF2-4A1F-ABE7-F5DAF5C2732F}"/>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2</a:t>
            </a:r>
          </a:p>
        </p:txBody>
      </p:sp>
    </p:spTree>
    <p:extLst>
      <p:ext uri="{BB962C8B-B14F-4D97-AF65-F5344CB8AC3E}">
        <p14:creationId xmlns:p14="http://schemas.microsoft.com/office/powerpoint/2010/main" val="17335963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Project Objectives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mmunication">
            <a:extLst xmlns:a="http://schemas.openxmlformats.org/drawingml/2006/main">
              <a:ext uri="{FF2B5EF4-FFF2-40B4-BE49-F238E27FC236}">
                <a16:creationId xmlns:a16="http://schemas.microsoft.com/office/drawing/2014/main" id="{09183CBC-1366-4845-A744-179DCE5A8113}"/>
              </a:ext>
            </a:extLst>
          </p:cNvPr>
          <p:cNvSpPr>
            <a:spLocks xmlns:a="http://schemas.openxmlformats.org/drawingml/2006/main" noGrp="1"/>
          </p:cNvSpPr>
          <p:nvPr/>
        </p:nvSpPr>
        <p:spPr>
          <a:xfrm xmlns:a="http://schemas.openxmlformats.org/drawingml/2006/main">
            <a:off x="619125" y="11906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Communication</a:t>
            </a:r>
          </a:p>
        </p:txBody>
      </p:sp>
      <p:sp>
        <p:nvSpPr>
          <p:cNvPr id="6" name="BLE gateway with MQTT over TLS and CoAP fallb">
            <a:extLst xmlns:a="http://schemas.openxmlformats.org/drawingml/2006/main">
              <a:ext uri="{FF2B5EF4-FFF2-40B4-BE49-F238E27FC236}">
                <a16:creationId xmlns:a16="http://schemas.microsoft.com/office/drawing/2014/main" id="{D325481D-7A84-493C-BAC6-8FC4DD384651}"/>
              </a:ext>
            </a:extLst>
          </p:cNvPr>
          <p:cNvSpPr>
            <a:spLocks xmlns:a="http://schemas.openxmlformats.org/drawingml/2006/main" noGrp="1"/>
          </p:cNvSpPr>
          <p:nvPr/>
        </p:nvSpPr>
        <p:spPr>
          <a:xfrm xmlns:a="http://schemas.openxmlformats.org/drawingml/2006/main">
            <a:off x="3238500" y="11906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BLE gateway with MQTT over TLS and CoAP fallback</a:t>
            </a:r>
          </a:p>
        </p:txBody>
      </p:sp>
      <p:sp>
        <p:nvSpPr>
          <p:cNvPr id="7" name="Monitoring">
            <a:extLst xmlns:a="http://schemas.openxmlformats.org/drawingml/2006/main">
              <a:ext uri="{FF2B5EF4-FFF2-40B4-BE49-F238E27FC236}">
                <a16:creationId xmlns:a16="http://schemas.microsoft.com/office/drawing/2014/main" id="{7BBECC41-1AD4-42AA-BB6E-FB8DF05CBC25}"/>
              </a:ext>
            </a:extLst>
          </p:cNvPr>
          <p:cNvSpPr>
            <a:spLocks xmlns:a="http://schemas.openxmlformats.org/drawingml/2006/main" noGrp="1"/>
          </p:cNvSpPr>
          <p:nvPr/>
        </p:nvSpPr>
        <p:spPr>
          <a:xfrm xmlns:a="http://schemas.openxmlformats.org/drawingml/2006/main">
            <a:off x="619125" y="21240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Monitoring</a:t>
            </a:r>
          </a:p>
        </p:txBody>
      </p:sp>
      <p:sp>
        <p:nvSpPr>
          <p:cNvPr id="8" name="Integrate patient sensors and local display">
            <a:extLst xmlns:a="http://schemas.openxmlformats.org/drawingml/2006/main">
              <a:ext uri="{FF2B5EF4-FFF2-40B4-BE49-F238E27FC236}">
                <a16:creationId xmlns:a16="http://schemas.microsoft.com/office/drawing/2014/main" id="{64A6426F-7A6B-4B9B-B2AD-01CFA56E69E7}"/>
              </a:ext>
            </a:extLst>
          </p:cNvPr>
          <p:cNvSpPr>
            <a:spLocks xmlns:a="http://schemas.openxmlformats.org/drawingml/2006/main" noGrp="1"/>
          </p:cNvSpPr>
          <p:nvPr/>
        </p:nvSpPr>
        <p:spPr>
          <a:xfrm xmlns:a="http://schemas.openxmlformats.org/drawingml/2006/main">
            <a:off x="3238500" y="21240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Integrate patient sensors and local display</a:t>
            </a:r>
          </a:p>
        </p:txBody>
      </p:sp>
      <p:sp>
        <p:nvSpPr>
          <p:cNvPr id="9" name="Concurrency">
            <a:extLst xmlns:a="http://schemas.openxmlformats.org/drawingml/2006/main">
              <a:ext uri="{FF2B5EF4-FFF2-40B4-BE49-F238E27FC236}">
                <a16:creationId xmlns:a16="http://schemas.microsoft.com/office/drawing/2014/main" id="{EDD6A21E-9F21-4B99-A0B4-B86375D07150}"/>
              </a:ext>
            </a:extLst>
          </p:cNvPr>
          <p:cNvSpPr>
            <a:spLocks xmlns:a="http://schemas.openxmlformats.org/drawingml/2006/main" noGrp="1"/>
          </p:cNvSpPr>
          <p:nvPr/>
        </p:nvSpPr>
        <p:spPr>
          <a:xfrm xmlns:a="http://schemas.openxmlformats.org/drawingml/2006/main">
            <a:off x="619125" y="30575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Concurrency</a:t>
            </a:r>
          </a:p>
        </p:txBody>
      </p:sp>
      <p:sp>
        <p:nvSpPr>
          <p:cNvPr id="10" name="Coordinate acquisition and communication usin">
            <a:extLst xmlns:a="http://schemas.openxmlformats.org/drawingml/2006/main">
              <a:ext uri="{FF2B5EF4-FFF2-40B4-BE49-F238E27FC236}">
                <a16:creationId xmlns:a16="http://schemas.microsoft.com/office/drawing/2014/main" id="{30C1D1F4-A819-44F4-8BFB-289D6B7BD76D}"/>
              </a:ext>
            </a:extLst>
          </p:cNvPr>
          <p:cNvSpPr>
            <a:spLocks xmlns:a="http://schemas.openxmlformats.org/drawingml/2006/main" noGrp="1"/>
          </p:cNvSpPr>
          <p:nvPr/>
        </p:nvSpPr>
        <p:spPr>
          <a:xfrm xmlns:a="http://schemas.openxmlformats.org/drawingml/2006/main">
            <a:off x="3238500" y="30575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Coordinate acquisition and communication using RTOS</a:t>
            </a:r>
          </a:p>
        </p:txBody>
      </p:sp>
      <p:sp>
        <p:nvSpPr>
          <p:cNvPr id="11" name="Risk assessment">
            <a:extLst xmlns:a="http://schemas.openxmlformats.org/drawingml/2006/main">
              <a:ext uri="{FF2B5EF4-FFF2-40B4-BE49-F238E27FC236}">
                <a16:creationId xmlns:a16="http://schemas.microsoft.com/office/drawing/2014/main" id="{9986898A-4130-49FC-B7B1-648A73B08188}"/>
              </a:ext>
            </a:extLst>
          </p:cNvPr>
          <p:cNvSpPr>
            <a:spLocks xmlns:a="http://schemas.openxmlformats.org/drawingml/2006/main" noGrp="1"/>
          </p:cNvSpPr>
          <p:nvPr/>
        </p:nvSpPr>
        <p:spPr>
          <a:xfrm xmlns:a="http://schemas.openxmlformats.org/drawingml/2006/main">
            <a:off x="619125" y="39909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Risk assessment</a:t>
            </a:r>
          </a:p>
        </p:txBody>
      </p:sp>
      <p:sp>
        <p:nvSpPr>
          <p:cNvPr id="12" name="Develop ML classification of patient deterior">
            <a:extLst xmlns:a="http://schemas.openxmlformats.org/drawingml/2006/main">
              <a:ext uri="{FF2B5EF4-FFF2-40B4-BE49-F238E27FC236}">
                <a16:creationId xmlns:a16="http://schemas.microsoft.com/office/drawing/2014/main" id="{4F5A6930-88C5-4716-8315-0961CA815341}"/>
              </a:ext>
            </a:extLst>
          </p:cNvPr>
          <p:cNvSpPr>
            <a:spLocks xmlns:a="http://schemas.openxmlformats.org/drawingml/2006/main" noGrp="1"/>
          </p:cNvSpPr>
          <p:nvPr/>
        </p:nvSpPr>
        <p:spPr>
          <a:xfrm xmlns:a="http://schemas.openxmlformats.org/drawingml/2006/main">
            <a:off x="3238500" y="39909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Develop ML classification of patient deterioration</a:t>
            </a:r>
          </a:p>
        </p:txBody>
      </p:sp>
      <p:sp>
        <p:nvSpPr>
          <p:cNvPr id="13" name="Location and ETA">
            <a:extLst xmlns:a="http://schemas.openxmlformats.org/drawingml/2006/main">
              <a:ext uri="{FF2B5EF4-FFF2-40B4-BE49-F238E27FC236}">
                <a16:creationId xmlns:a16="http://schemas.microsoft.com/office/drawing/2014/main" id="{93705B0B-E059-4F60-A45A-2B644313EDB2}"/>
              </a:ext>
            </a:extLst>
          </p:cNvPr>
          <p:cNvSpPr>
            <a:spLocks xmlns:a="http://schemas.openxmlformats.org/drawingml/2006/main" noGrp="1"/>
          </p:cNvSpPr>
          <p:nvPr/>
        </p:nvSpPr>
        <p:spPr>
          <a:xfrm xmlns:a="http://schemas.openxmlformats.org/drawingml/2006/main">
            <a:off x="619125" y="49244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Location and ETA</a:t>
            </a:r>
          </a:p>
        </p:txBody>
      </p:sp>
      <p:sp>
        <p:nvSpPr>
          <p:cNvPr id="14" name="Track ambulance location and estimate arrival">
            <a:extLst xmlns:a="http://schemas.openxmlformats.org/drawingml/2006/main">
              <a:ext uri="{FF2B5EF4-FFF2-40B4-BE49-F238E27FC236}">
                <a16:creationId xmlns:a16="http://schemas.microsoft.com/office/drawing/2014/main" id="{3BEB1B49-544A-49AB-B0AF-34A17D989559}"/>
              </a:ext>
            </a:extLst>
          </p:cNvPr>
          <p:cNvSpPr>
            <a:spLocks xmlns:a="http://schemas.openxmlformats.org/drawingml/2006/main" noGrp="1"/>
          </p:cNvSpPr>
          <p:nvPr/>
        </p:nvSpPr>
        <p:spPr>
          <a:xfrm xmlns:a="http://schemas.openxmlformats.org/drawingml/2006/main">
            <a:off x="3238500" y="49244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Track ambulance location and estimate arrival time</a:t>
            </a:r>
          </a:p>
        </p:txBody>
      </p:sp>
      <p:sp>
        <p:nvSpPr>
          <p:cNvPr id="15" name="3">
            <a:extLst xmlns:a="http://schemas.openxmlformats.org/drawingml/2006/main">
              <a:ext uri="{FF2B5EF4-FFF2-40B4-BE49-F238E27FC236}">
                <a16:creationId xmlns:a16="http://schemas.microsoft.com/office/drawing/2014/main" id="{254DE749-E748-4172-BEC2-98877F26B83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3</a:t>
            </a:r>
          </a:p>
        </p:txBody>
      </p:sp>
    </p:spTree>
    <p:extLst>
      <p:ext uri="{BB962C8B-B14F-4D97-AF65-F5344CB8AC3E}">
        <p14:creationId xmlns:p14="http://schemas.microsoft.com/office/powerpoint/2010/main" val="173359637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EEF35C0F-61D0-4C66-BA9E-25A98CDEA58A}"/>
              </a:ext>
            </a:extLst>
          </p:cNvPr>
          <p:cNvCxnSpPr>
            <a:stCxn xmlns:a="http://schemas.openxmlformats.org/drawingml/2006/main" id="12" idx="1"/>
            <a:endCxn xmlns:a="http://schemas.openxmlformats.org/drawingml/2006/main" id="13" idx="3"/>
          </p:cNvCxnSpPr>
          <p:nvPr/>
        </p:nvCxnSpPr>
        <p:spPr>
          <a:xfrm xmlns:a="http://schemas.openxmlformats.org/drawingml/2006/main" flipH="1">
            <a:off x="3095625" y="4333875"/>
            <a:ext cx="809625"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5" name="">
            <a:extLst xmlns:a="http://schemas.openxmlformats.org/drawingml/2006/main">
              <a:ext uri="{FF2B5EF4-FFF2-40B4-BE49-F238E27FC236}">
                <a16:creationId xmlns:a16="http://schemas.microsoft.com/office/drawing/2014/main" id="{9EA0F0A4-5D99-46DE-8207-24302609C037}"/>
              </a:ext>
            </a:extLst>
          </p:cNvPr>
          <p:cNvCxnSpPr>
            <a:stCxn xmlns:a="http://schemas.openxmlformats.org/drawingml/2006/main" id="11" idx="1"/>
            <a:endCxn xmlns:a="http://schemas.openxmlformats.org/drawingml/2006/main" id="12" idx="3"/>
          </p:cNvCxnSpPr>
          <p:nvPr/>
        </p:nvCxnSpPr>
        <p:spPr>
          <a:xfrm xmlns:a="http://schemas.openxmlformats.org/drawingml/2006/main" flipH="1">
            <a:off x="6762750" y="4333875"/>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4EA8D349-9252-4470-89C0-4A3762424C38}"/>
              </a:ext>
            </a:extLst>
          </p:cNvPr>
          <p:cNvCxnSpPr>
            <a:stCxn xmlns:a="http://schemas.openxmlformats.org/drawingml/2006/main" id="7" idx="2"/>
            <a:endCxn xmlns:a="http://schemas.openxmlformats.org/drawingml/2006/main" id="11" idx="0"/>
          </p:cNvCxnSpPr>
          <p:nvPr/>
        </p:nvCxnSpPr>
        <p:spPr>
          <a:xfrm xmlns:a="http://schemas.openxmlformats.org/drawingml/2006/main">
            <a:off x="9334500" y="2524125"/>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9" name="">
            <a:extLst xmlns:a="http://schemas.openxmlformats.org/drawingml/2006/main">
              <a:ext uri="{FF2B5EF4-FFF2-40B4-BE49-F238E27FC236}">
                <a16:creationId xmlns:a16="http://schemas.microsoft.com/office/drawing/2014/main" id="{C157BC85-B276-48FF-8E33-F227581E1D72}"/>
              </a:ext>
            </a:extLst>
          </p:cNvPr>
          <p:cNvCxnSpPr>
            <a:stCxn xmlns:a="http://schemas.openxmlformats.org/drawingml/2006/main" id="6" idx="3"/>
            <a:endCxn xmlns:a="http://schemas.openxmlformats.org/drawingml/2006/main" id="7" idx="1"/>
          </p:cNvCxnSpPr>
          <p:nvPr/>
        </p:nvCxnSpPr>
        <p:spPr>
          <a:xfrm xmlns:a="http://schemas.openxmlformats.org/drawingml/2006/main">
            <a:off x="6191250" y="2000250"/>
            <a:ext cx="14287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8" name="">
            <a:extLst xmlns:a="http://schemas.openxmlformats.org/drawingml/2006/main">
              <a:ext uri="{FF2B5EF4-FFF2-40B4-BE49-F238E27FC236}">
                <a16:creationId xmlns:a16="http://schemas.microsoft.com/office/drawing/2014/main" id="{FA24DCC3-D11C-4CE9-99C8-F909695D102B}"/>
              </a:ext>
            </a:extLst>
          </p:cNvPr>
          <p:cNvCxnSpPr>
            <a:stCxn xmlns:a="http://schemas.openxmlformats.org/drawingml/2006/main" id="5" idx="3"/>
            <a:endCxn xmlns:a="http://schemas.openxmlformats.org/drawingml/2006/main" id="6" idx="1"/>
          </p:cNvCxnSpPr>
          <p:nvPr/>
        </p:nvCxnSpPr>
        <p:spPr>
          <a:xfrm xmlns:a="http://schemas.openxmlformats.org/drawingml/2006/main">
            <a:off x="3048000" y="2000250"/>
            <a:ext cx="6667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System Architecture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Patient sensors&#10;Integration planned">
            <a:extLst xmlns:a="http://schemas.openxmlformats.org/drawingml/2006/main">
              <a:ext uri="{FF2B5EF4-FFF2-40B4-BE49-F238E27FC236}">
                <a16:creationId xmlns:a16="http://schemas.microsoft.com/office/drawing/2014/main" id="{A120CC1A-2CB6-4C2A-AE8C-7170D22FE528}"/>
              </a:ext>
            </a:extLst>
          </p:cNvPr>
          <p:cNvSpPr>
            <a:spLocks xmlns:a="http://schemas.openxmlformats.org/drawingml/2006/main" noGrp="1"/>
          </p:cNvSpPr>
          <p:nvPr/>
        </p:nvSpPr>
        <p:spPr>
          <a:xfrm xmlns:a="http://schemas.openxmlformats.org/drawingml/2006/main">
            <a:off x="571500" y="1476375"/>
            <a:ext cx="2476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Patient sensors</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Integration planned</a:t>
            </a:r>
          </a:p>
        </p:txBody>
      </p:sp>
      <p:sp>
        <p:nvSpPr>
          <p:cNvPr id="6" name="ESP32&#10;BLE implemented">
            <a:extLst xmlns:a="http://schemas.openxmlformats.org/drawingml/2006/main">
              <a:ext uri="{FF2B5EF4-FFF2-40B4-BE49-F238E27FC236}">
                <a16:creationId xmlns:a16="http://schemas.microsoft.com/office/drawing/2014/main" id="{A5B4E2BE-A1E5-4156-9FA7-7F99459C2DE4}"/>
              </a:ext>
            </a:extLst>
          </p:cNvPr>
          <p:cNvSpPr>
            <a:spLocks xmlns:a="http://schemas.openxmlformats.org/drawingml/2006/main" noGrp="1"/>
          </p:cNvSpPr>
          <p:nvPr/>
        </p:nvSpPr>
        <p:spPr>
          <a:xfrm xmlns:a="http://schemas.openxmlformats.org/drawingml/2006/main">
            <a:off x="3714750" y="1476375"/>
            <a:ext cx="24765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ESP32</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BLE implemented</a:t>
            </a:r>
          </a:p>
        </p:txBody>
      </p:sp>
      <p:sp>
        <p:nvSpPr>
          <p:cNvPr id="7" name="Flutter gateway&#10;BLE implemented">
            <a:extLst xmlns:a="http://schemas.openxmlformats.org/drawingml/2006/main">
              <a:ext uri="{FF2B5EF4-FFF2-40B4-BE49-F238E27FC236}">
                <a16:creationId xmlns:a16="http://schemas.microsoft.com/office/drawing/2014/main" id="{E2343568-B881-4AB8-A8D4-778417684229}"/>
              </a:ext>
            </a:extLst>
          </p:cNvPr>
          <p:cNvSpPr>
            <a:spLocks xmlns:a="http://schemas.openxmlformats.org/drawingml/2006/main" noGrp="1"/>
          </p:cNvSpPr>
          <p:nvPr/>
        </p:nvSpPr>
        <p:spPr>
          <a:xfrm xmlns:a="http://schemas.openxmlformats.org/drawingml/2006/main">
            <a:off x="7620000" y="1476375"/>
            <a:ext cx="34290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Flutter gateway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BLE implemented</a:t>
            </a:r>
          </a:p>
        </p:txBody>
      </p:sp>
      <p:sp>
        <p:nvSpPr>
          <p:cNvPr id="10" name="OLED and full RTOS pipeline: planned">
            <a:extLst xmlns:a="http://schemas.openxmlformats.org/drawingml/2006/main">
              <a:ext uri="{FF2B5EF4-FFF2-40B4-BE49-F238E27FC236}">
                <a16:creationId xmlns:a16="http://schemas.microsoft.com/office/drawing/2014/main" id="{489B4440-6811-4D6F-8683-96841587131A}"/>
              </a:ext>
            </a:extLst>
          </p:cNvPr>
          <p:cNvSpPr>
            <a:spLocks xmlns:a="http://schemas.openxmlformats.org/drawingml/2006/main" noGrp="1"/>
          </p:cNvSpPr>
          <p:nvPr/>
        </p:nvSpPr>
        <p:spPr>
          <a:xfrm xmlns:a="http://schemas.openxmlformats.org/drawingml/2006/main">
            <a:off x="666750" y="27622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100" b="0">
                <a:solidFill>
                  <a:srgbClr val="0070C0"/>
                </a:solidFill>
                <a:latin typeface="Times New Roman"/>
                <a:ea typeface="Times New Roman"/>
                <a:cs typeface="Times New Roman"/>
              </a:defRPr>
            </a:defPPr>
            <a:lvl1pPr algn="l">
              <a:defRPr sz="2100" b="0">
                <a:solidFill>
                  <a:srgbClr val="0070C0"/>
                </a:solidFill>
                <a:latin typeface="Times New Roman"/>
                <a:ea typeface="Times New Roman"/>
                <a:cs typeface="Times New Roman"/>
              </a:defRPr>
            </a:lvl1pPr>
            <a:lvl2pPr algn="l">
              <a:defRPr sz="2100" b="0">
                <a:solidFill>
                  <a:srgbClr val="0070C0"/>
                </a:solidFill>
                <a:latin typeface="Times New Roman"/>
                <a:ea typeface="Times New Roman"/>
                <a:cs typeface="Times New Roman"/>
              </a:defRPr>
            </a:lvl2pPr>
            <a:lvl3pPr algn="l">
              <a:defRPr sz="2100" b="0">
                <a:solidFill>
                  <a:srgbClr val="0070C0"/>
                </a:solidFill>
                <a:latin typeface="Times New Roman"/>
                <a:ea typeface="Times New Roman"/>
                <a:cs typeface="Times New Roman"/>
              </a:defRPr>
            </a:lvl3pPr>
            <a:lvl4pPr algn="l">
              <a:defRPr sz="2100" b="0">
                <a:solidFill>
                  <a:srgbClr val="0070C0"/>
                </a:solidFill>
                <a:latin typeface="Times New Roman"/>
                <a:ea typeface="Times New Roman"/>
                <a:cs typeface="Times New Roman"/>
              </a:defRPr>
            </a:lvl4pPr>
            <a:lvl5pPr algn="l">
              <a:defRPr sz="2100" b="0">
                <a:solidFill>
                  <a:srgbClr val="0070C0"/>
                </a:solidFill>
                <a:latin typeface="Times New Roman"/>
                <a:ea typeface="Times New Roman"/>
                <a:cs typeface="Times New Roman"/>
              </a:defRPr>
            </a:lvl5pPr>
            <a:lvl6pPr algn="l">
              <a:defRPr sz="2100" b="0">
                <a:solidFill>
                  <a:srgbClr val="0070C0"/>
                </a:solidFill>
                <a:latin typeface="Times New Roman"/>
                <a:ea typeface="Times New Roman"/>
                <a:cs typeface="Times New Roman"/>
              </a:defRPr>
            </a:lvl6pPr>
            <a:lvl7pPr algn="l">
              <a:defRPr sz="2100" b="0">
                <a:solidFill>
                  <a:srgbClr val="0070C0"/>
                </a:solidFill>
                <a:latin typeface="Times New Roman"/>
                <a:ea typeface="Times New Roman"/>
                <a:cs typeface="Times New Roman"/>
              </a:defRPr>
            </a:lvl7pPr>
            <a:lvl8pPr algn="l">
              <a:defRPr sz="2100" b="0">
                <a:solidFill>
                  <a:srgbClr val="0070C0"/>
                </a:solidFill>
                <a:latin typeface="Times New Roman"/>
                <a:ea typeface="Times New Roman"/>
                <a:cs typeface="Times New Roman"/>
              </a:defRPr>
            </a:lvl8pPr>
            <a:lvl9pPr algn="l">
              <a:defRPr sz="2100" b="0">
                <a:solidFill>
                  <a:srgbClr val="0070C0"/>
                </a:solidFill>
                <a:latin typeface="Times New Roman"/>
                <a:ea typeface="Times New Roman"/>
                <a:cs typeface="Times New Roman"/>
              </a:defRPr>
            </a:lvl9pPr>
          </a:lstStyle>
          <a:p xmlns:a="http://schemas.openxmlformats.org/drawingml/2006/main">
            <a:pPr algn="l">
              <a:defRPr sz="2100" b="0">
                <a:solidFill>
                  <a:srgbClr val="0070C0"/>
                </a:solidFill>
                <a:latin typeface="Times New Roman"/>
                <a:ea typeface="Times New Roman"/>
                <a:cs typeface="Times New Roman"/>
              </a:defRPr>
            </a:pPr>
            <a:r>
              <a:rPr sz="2100" b="0">
                <a:solidFill>
                  <a:srgbClr val="0070C0"/>
                </a:solidFill>
                <a:latin typeface="Times New Roman"/>
                <a:ea typeface="Times New Roman"/>
                <a:cs typeface="Times New Roman"/>
              </a:rPr>
              <a:t>OLED and full RTOS pipeline: planned</a:t>
            </a:r>
          </a:p>
        </p:txBody>
      </p:sp>
      <p:sp>
        <p:nvSpPr>
          <p:cNvPr id="11" name="Cloud ingestion&#10;and storage">
            <a:extLst xmlns:a="http://schemas.openxmlformats.org/drawingml/2006/main">
              <a:ext uri="{FF2B5EF4-FFF2-40B4-BE49-F238E27FC236}">
                <a16:creationId xmlns:a16="http://schemas.microsoft.com/office/drawing/2014/main" id="{AE64F537-44F0-46CF-A7DA-08B502FF02B1}"/>
              </a:ext>
            </a:extLst>
          </p:cNvPr>
          <p:cNvSpPr>
            <a:spLocks xmlns:a="http://schemas.openxmlformats.org/drawingml/2006/main" noGrp="1"/>
          </p:cNvSpPr>
          <p:nvPr/>
        </p:nvSpPr>
        <p:spPr>
          <a:xfrm xmlns:a="http://schemas.openxmlformats.org/drawingml/2006/main">
            <a:off x="7620000" y="3810000"/>
            <a:ext cx="3429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Cloud ingestion</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storage</a:t>
            </a:r>
          </a:p>
        </p:txBody>
      </p:sp>
      <p:sp>
        <p:nvSpPr>
          <p:cNvPr id="12" name="ML risk assessment">
            <a:extLst xmlns:a="http://schemas.openxmlformats.org/drawingml/2006/main">
              <a:ext uri="{FF2B5EF4-FFF2-40B4-BE49-F238E27FC236}">
                <a16:creationId xmlns:a16="http://schemas.microsoft.com/office/drawing/2014/main" id="{485DF9DE-1103-4DDA-941A-C78FFE7F29C4}"/>
              </a:ext>
            </a:extLst>
          </p:cNvPr>
          <p:cNvSpPr>
            <a:spLocks xmlns:a="http://schemas.openxmlformats.org/drawingml/2006/main" noGrp="1"/>
          </p:cNvSpPr>
          <p:nvPr/>
        </p:nvSpPr>
        <p:spPr>
          <a:xfrm xmlns:a="http://schemas.openxmlformats.org/drawingml/2006/main">
            <a:off x="3905250" y="3810000"/>
            <a:ext cx="2857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ML risk assessment</a:t>
            </a:r>
          </a:p>
        </p:txBody>
      </p:sp>
      <p:sp>
        <p:nvSpPr>
          <p:cNvPr id="13" name="Hospital dashboard">
            <a:extLst xmlns:a="http://schemas.openxmlformats.org/drawingml/2006/main">
              <a:ext uri="{FF2B5EF4-FFF2-40B4-BE49-F238E27FC236}">
                <a16:creationId xmlns:a16="http://schemas.microsoft.com/office/drawing/2014/main" id="{F2C6D036-6FA5-4760-981B-8ADAEF8E8DB1}"/>
              </a:ext>
            </a:extLst>
          </p:cNvPr>
          <p:cNvSpPr>
            <a:spLocks xmlns:a="http://schemas.openxmlformats.org/drawingml/2006/main" noGrp="1"/>
          </p:cNvSpPr>
          <p:nvPr/>
        </p:nvSpPr>
        <p:spPr>
          <a:xfrm xmlns:a="http://schemas.openxmlformats.org/drawingml/2006/main">
            <a:off x="523875" y="3810000"/>
            <a:ext cx="2571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Hospital dashboard</a:t>
            </a:r>
          </a:p>
        </p:txBody>
      </p:sp>
      <p:sp>
        <p:nvSpPr>
          <p:cNvPr id="17" name="Phone GPS and ETA: planned gateway functions">
            <a:extLst xmlns:a="http://schemas.openxmlformats.org/drawingml/2006/main">
              <a:ext uri="{FF2B5EF4-FFF2-40B4-BE49-F238E27FC236}">
                <a16:creationId xmlns:a16="http://schemas.microsoft.com/office/drawing/2014/main" id="{EEB9BDF7-D2D6-44DA-BFAD-1464EA2E8ECA}"/>
              </a:ext>
            </a:extLst>
          </p:cNvPr>
          <p:cNvSpPr>
            <a:spLocks xmlns:a="http://schemas.openxmlformats.org/drawingml/2006/main" noGrp="1"/>
          </p:cNvSpPr>
          <p:nvPr/>
        </p:nvSpPr>
        <p:spPr>
          <a:xfrm xmlns:a="http://schemas.openxmlformats.org/drawingml/2006/main">
            <a:off x="666750" y="32861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025" b="0">
                <a:solidFill>
                  <a:srgbClr val="0070C0"/>
                </a:solidFill>
                <a:latin typeface="Times New Roman"/>
                <a:ea typeface="Times New Roman"/>
                <a:cs typeface="Times New Roman"/>
              </a:defRPr>
            </a:defPPr>
            <a:lvl1pPr algn="l">
              <a:defRPr sz="2025" b="0">
                <a:solidFill>
                  <a:srgbClr val="0070C0"/>
                </a:solidFill>
                <a:latin typeface="Times New Roman"/>
                <a:ea typeface="Times New Roman"/>
                <a:cs typeface="Times New Roman"/>
              </a:defRPr>
            </a:lvl1pPr>
            <a:lvl2pPr algn="l">
              <a:defRPr sz="2025" b="0">
                <a:solidFill>
                  <a:srgbClr val="0070C0"/>
                </a:solidFill>
                <a:latin typeface="Times New Roman"/>
                <a:ea typeface="Times New Roman"/>
                <a:cs typeface="Times New Roman"/>
              </a:defRPr>
            </a:lvl2pPr>
            <a:lvl3pPr algn="l">
              <a:defRPr sz="2025" b="0">
                <a:solidFill>
                  <a:srgbClr val="0070C0"/>
                </a:solidFill>
                <a:latin typeface="Times New Roman"/>
                <a:ea typeface="Times New Roman"/>
                <a:cs typeface="Times New Roman"/>
              </a:defRPr>
            </a:lvl3pPr>
            <a:lvl4pPr algn="l">
              <a:defRPr sz="2025" b="0">
                <a:solidFill>
                  <a:srgbClr val="0070C0"/>
                </a:solidFill>
                <a:latin typeface="Times New Roman"/>
                <a:ea typeface="Times New Roman"/>
                <a:cs typeface="Times New Roman"/>
              </a:defRPr>
            </a:lvl4pPr>
            <a:lvl5pPr algn="l">
              <a:defRPr sz="2025" b="0">
                <a:solidFill>
                  <a:srgbClr val="0070C0"/>
                </a:solidFill>
                <a:latin typeface="Times New Roman"/>
                <a:ea typeface="Times New Roman"/>
                <a:cs typeface="Times New Roman"/>
              </a:defRPr>
            </a:lvl5pPr>
            <a:lvl6pPr algn="l">
              <a:defRPr sz="2025" b="0">
                <a:solidFill>
                  <a:srgbClr val="0070C0"/>
                </a:solidFill>
                <a:latin typeface="Times New Roman"/>
                <a:ea typeface="Times New Roman"/>
                <a:cs typeface="Times New Roman"/>
              </a:defRPr>
            </a:lvl6pPr>
            <a:lvl7pPr algn="l">
              <a:defRPr sz="2025" b="0">
                <a:solidFill>
                  <a:srgbClr val="0070C0"/>
                </a:solidFill>
                <a:latin typeface="Times New Roman"/>
                <a:ea typeface="Times New Roman"/>
                <a:cs typeface="Times New Roman"/>
              </a:defRPr>
            </a:lvl7pPr>
            <a:lvl8pPr algn="l">
              <a:defRPr sz="2025" b="0">
                <a:solidFill>
                  <a:srgbClr val="0070C0"/>
                </a:solidFill>
                <a:latin typeface="Times New Roman"/>
                <a:ea typeface="Times New Roman"/>
                <a:cs typeface="Times New Roman"/>
              </a:defRPr>
            </a:lvl8pPr>
            <a:lvl9pPr algn="l">
              <a:defRPr sz="2025" b="0">
                <a:solidFill>
                  <a:srgbClr val="0070C0"/>
                </a:solidFill>
                <a:latin typeface="Times New Roman"/>
                <a:ea typeface="Times New Roman"/>
                <a:cs typeface="Times New Roman"/>
              </a:defRPr>
            </a:lvl9pPr>
          </a:lstStyle>
          <a:p xmlns:a="http://schemas.openxmlformats.org/drawingml/2006/main">
            <a:pPr algn="l">
              <a:defRPr sz="2025" b="0">
                <a:solidFill>
                  <a:srgbClr val="0070C0"/>
                </a:solidFill>
                <a:latin typeface="Times New Roman"/>
                <a:ea typeface="Times New Roman"/>
                <a:cs typeface="Times New Roman"/>
              </a:defRPr>
            </a:pPr>
            <a:r>
              <a:rPr sz="2025" b="0">
                <a:solidFill>
                  <a:srgbClr val="0070C0"/>
                </a:solidFill>
                <a:latin typeface="Times New Roman"/>
                <a:ea typeface="Times New Roman"/>
                <a:cs typeface="Times New Roman"/>
              </a:rPr>
              <a:t>Phone GPS and ETA: planned gateway functions</a:t>
            </a:r>
          </a:p>
        </p:txBody>
      </p:sp>
      <p:sp>
        <p:nvSpPr>
          <p:cNvPr id="18" name="Filled blocks: current BLE prototype     Outl">
            <a:extLst xmlns:a="http://schemas.openxmlformats.org/drawingml/2006/main">
              <a:ext uri="{FF2B5EF4-FFF2-40B4-BE49-F238E27FC236}">
                <a16:creationId xmlns:a16="http://schemas.microsoft.com/office/drawing/2014/main" id="{FBF3128E-DA5B-442E-B1A8-77A5E55276F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Filled blocks: current BLE prototype     Outlined blocks: planned integration</a:t>
            </a:r>
          </a:p>
        </p:txBody>
      </p:sp>
      <p:sp>
        <p:nvSpPr>
          <p:cNvPr id="19" name="4">
            <a:extLst xmlns:a="http://schemas.openxmlformats.org/drawingml/2006/main">
              <a:ext uri="{FF2B5EF4-FFF2-40B4-BE49-F238E27FC236}">
                <a16:creationId xmlns:a16="http://schemas.microsoft.com/office/drawing/2014/main" id="{86B8262D-6141-4699-B48A-0A8CB506CB2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4</a:t>
            </a:r>
          </a:p>
        </p:txBody>
      </p:sp>
    </p:spTree>
    <p:extLst>
      <p:ext uri="{BB962C8B-B14F-4D97-AF65-F5344CB8AC3E}">
        <p14:creationId xmlns:p14="http://schemas.microsoft.com/office/powerpoint/2010/main" val="17335963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7360670E-1641-4970-BDDF-F2E2B16F776D}"/>
              </a:ext>
            </a:extLst>
          </p:cNvPr>
          <p:cNvCxnSpPr>
            <a:stCxn xmlns:a="http://schemas.openxmlformats.org/drawingml/2006/main" id="9" idx="1"/>
            <a:endCxn xmlns:a="http://schemas.openxmlformats.org/drawingml/2006/main" id="10" idx="3"/>
          </p:cNvCxnSpPr>
          <p:nvPr/>
        </p:nvCxnSpPr>
        <p:spPr>
          <a:xfrm xmlns:a="http://schemas.openxmlformats.org/drawingml/2006/main" flipH="1">
            <a:off x="371475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E9DA8780-7CB0-44FD-AC36-3F3D253A456E}"/>
              </a:ext>
            </a:extLst>
          </p:cNvPr>
          <p:cNvCxnSpPr>
            <a:stCxn xmlns:a="http://schemas.openxmlformats.org/drawingml/2006/main" id="8" idx="1"/>
            <a:endCxn xmlns:a="http://schemas.openxmlformats.org/drawingml/2006/main" id="9" idx="3"/>
          </p:cNvCxnSpPr>
          <p:nvPr/>
        </p:nvCxnSpPr>
        <p:spPr>
          <a:xfrm xmlns:a="http://schemas.openxmlformats.org/drawingml/2006/main" flipH="1">
            <a:off x="762000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3" name="">
            <a:extLst xmlns:a="http://schemas.openxmlformats.org/drawingml/2006/main">
              <a:ext uri="{FF2B5EF4-FFF2-40B4-BE49-F238E27FC236}">
                <a16:creationId xmlns:a16="http://schemas.microsoft.com/office/drawing/2014/main" id="{6FF58CEE-4329-4410-8B4A-C90D405C7991}"/>
              </a:ext>
            </a:extLst>
          </p:cNvPr>
          <p:cNvCxnSpPr>
            <a:stCxn xmlns:a="http://schemas.openxmlformats.org/drawingml/2006/main" id="7" idx="2"/>
            <a:endCxn xmlns:a="http://schemas.openxmlformats.org/drawingml/2006/main" id="8" idx="0"/>
          </p:cNvCxnSpPr>
          <p:nvPr/>
        </p:nvCxnSpPr>
        <p:spPr>
          <a:xfrm xmlns:a="http://schemas.openxmlformats.org/drawingml/2006/main">
            <a:off x="10001250" y="2476500"/>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D9F15306-280A-4162-9875-45B6778578D2}"/>
              </a:ext>
            </a:extLst>
          </p:cNvPr>
          <p:cNvCxnSpPr>
            <a:stCxn xmlns:a="http://schemas.openxmlformats.org/drawingml/2006/main" id="6" idx="3"/>
            <a:endCxn xmlns:a="http://schemas.openxmlformats.org/drawingml/2006/main" id="7" idx="1"/>
          </p:cNvCxnSpPr>
          <p:nvPr/>
        </p:nvCxnSpPr>
        <p:spPr>
          <a:xfrm xmlns:a="http://schemas.openxmlformats.org/drawingml/2006/main">
            <a:off x="762000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483C088D-7516-4C01-9E2C-59299EC36F25}"/>
              </a:ext>
            </a:extLst>
          </p:cNvPr>
          <p:cNvCxnSpPr>
            <a:stCxn xmlns:a="http://schemas.openxmlformats.org/drawingml/2006/main" id="5" idx="3"/>
            <a:endCxn xmlns:a="http://schemas.openxmlformats.org/drawingml/2006/main" id="6" idx="1"/>
          </p:cNvCxnSpPr>
          <p:nvPr/>
        </p:nvCxnSpPr>
        <p:spPr>
          <a:xfrm xmlns:a="http://schemas.openxmlformats.org/drawingml/2006/main">
            <a:off x="371475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xmlns:a="http://schemas.openxmlformats.org/drawingml/2006/main">
              <a:ext uri="{FF2B5EF4-FFF2-40B4-BE49-F238E27FC236}">
                <a16:creationId xmlns:a16="http://schemas.microsoft.com/office/drawing/2014/main" id="{49901D45-86CD-45C6-97EE-214A93442401}"/>
              </a:ext>
            </a:extLst>
          </p:cNvPr>
          <p:cNvSpPr>
            <a:spLocks xmlns:a="http://schemas.openxmlformats.org/drawingml/2006/main" noGrp="1"/>
          </p:cNvSpPr>
          <p:nvPr/>
        </p:nvSpPr>
        <p:spPr>
          <a:xfrm xmlns:a="http://schemas.openxmlformats.org/drawingml/2006/main">
            <a:off x="6667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xmlns:a="http://schemas.openxmlformats.org/drawingml/2006/main">
              <a:ext uri="{FF2B5EF4-FFF2-40B4-BE49-F238E27FC236}">
                <a16:creationId xmlns:a16="http://schemas.microsoft.com/office/drawing/2014/main" id="{F6BE7C53-EDD3-45C0-943F-CC0301FE2A5B}"/>
              </a:ext>
            </a:extLst>
          </p:cNvPr>
          <p:cNvSpPr>
            <a:spLocks xmlns:a="http://schemas.openxmlformats.org/drawingml/2006/main" noGrp="1"/>
          </p:cNvSpPr>
          <p:nvPr/>
        </p:nvSpPr>
        <p:spPr>
          <a:xfrm xmlns:a="http://schemas.openxmlformats.org/drawingml/2006/main">
            <a:off x="457200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xmlns:a="http://schemas.openxmlformats.org/drawingml/2006/main">
              <a:ext uri="{FF2B5EF4-FFF2-40B4-BE49-F238E27FC236}">
                <a16:creationId xmlns:a16="http://schemas.microsoft.com/office/drawing/2014/main" id="{AEB7A755-B6EE-4D7D-8D69-B1ECFB78A6EF}"/>
              </a:ext>
            </a:extLst>
          </p:cNvPr>
          <p:cNvSpPr>
            <a:spLocks xmlns:a="http://schemas.openxmlformats.org/drawingml/2006/main" noGrp="1"/>
          </p:cNvSpPr>
          <p:nvPr/>
        </p:nvSpPr>
        <p:spPr>
          <a:xfrm xmlns:a="http://schemas.openxmlformats.org/drawingml/2006/main">
            <a:off x="84772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xmlns:a="http://schemas.openxmlformats.org/drawingml/2006/main">
              <a:ext uri="{FF2B5EF4-FFF2-40B4-BE49-F238E27FC236}">
                <a16:creationId xmlns:a16="http://schemas.microsoft.com/office/drawing/2014/main" id="{11FD65DC-8D51-499E-9A27-531A3CD413B2}"/>
              </a:ext>
            </a:extLst>
          </p:cNvPr>
          <p:cNvSpPr>
            <a:spLocks xmlns:a="http://schemas.openxmlformats.org/drawingml/2006/main" noGrp="1"/>
          </p:cNvSpPr>
          <p:nvPr/>
        </p:nvSpPr>
        <p:spPr>
          <a:xfrm xmlns:a="http://schemas.openxmlformats.org/drawingml/2006/main">
            <a:off x="84772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xmlns:a="http://schemas.openxmlformats.org/drawingml/2006/main">
              <a:ext uri="{FF2B5EF4-FFF2-40B4-BE49-F238E27FC236}">
                <a16:creationId xmlns:a16="http://schemas.microsoft.com/office/drawing/2014/main" id="{D007884A-EEFB-46AD-923D-BC9CF9F21266}"/>
              </a:ext>
            </a:extLst>
          </p:cNvPr>
          <p:cNvSpPr>
            <a:spLocks xmlns:a="http://schemas.openxmlformats.org/drawingml/2006/main" noGrp="1"/>
          </p:cNvSpPr>
          <p:nvPr/>
        </p:nvSpPr>
        <p:spPr>
          <a:xfrm xmlns:a="http://schemas.openxmlformats.org/drawingml/2006/main">
            <a:off x="457200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Receive simulated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observations</a:t>
            </a:r>
          </a:p>
        </p:txBody>
      </p:sp>
      <p:sp>
        <p:nvSpPr>
          <p:cNvPr id="10" name="Decode and display&#10;HR, SpO2, temperature">
            <a:extLst xmlns:a="http://schemas.openxmlformats.org/drawingml/2006/main">
              <a:ext uri="{FF2B5EF4-FFF2-40B4-BE49-F238E27FC236}">
                <a16:creationId xmlns:a16="http://schemas.microsoft.com/office/drawing/2014/main" id="{A377F157-F519-41F8-8617-BC3CC6646F83}"/>
              </a:ext>
            </a:extLst>
          </p:cNvPr>
          <p:cNvSpPr>
            <a:spLocks xmlns:a="http://schemas.openxmlformats.org/drawingml/2006/main" noGrp="1"/>
          </p:cNvSpPr>
          <p:nvPr/>
        </p:nvSpPr>
        <p:spPr>
          <a:xfrm xmlns:a="http://schemas.openxmlformats.org/drawingml/2006/main">
            <a:off x="6667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xmlns:a="http://schemas.openxmlformats.org/drawingml/2006/main">
              <a:ext uri="{FF2B5EF4-FFF2-40B4-BE49-F238E27FC236}">
                <a16:creationId xmlns:a16="http://schemas.microsoft.com/office/drawing/2014/main" id="{EA4ED5DC-C58B-4D1C-A6C5-D1F3308B1F06}"/>
              </a:ext>
            </a:extLst>
          </p:cNvPr>
          <p:cNvSpPr>
            <a:spLocks xmlns:a="http://schemas.openxmlformats.org/drawingml/2006/main" noGrp="1"/>
          </p:cNvSpPr>
          <p:nvPr/>
        </p:nvSpPr>
        <p:spPr>
          <a:xfrm xmlns:a="http://schemas.openxmlformats.org/drawingml/2006/main">
            <a:off x="857250" y="2762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xmlns:a="http://schemas.openxmlformats.org/drawingml/2006/main">
            <a:pPr algn="l">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xmlns:a="http://schemas.openxmlformats.org/drawingml/2006/main">
              <a:ext uri="{FF2B5EF4-FFF2-40B4-BE49-F238E27FC236}">
                <a16:creationId xmlns:a16="http://schemas.microsoft.com/office/drawing/2014/main" id="{80CCD812-BED7-4447-AA05-C69D163F0C33}"/>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xmlns:a="http://schemas.openxmlformats.org/drawingml/2006/main">
              <a:ext uri="{FF2B5EF4-FFF2-40B4-BE49-F238E27FC236}">
                <a16:creationId xmlns:a16="http://schemas.microsoft.com/office/drawing/2014/main" id="{948E37A1-0BE1-40EA-91A2-5FDA8991B1B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AAA11443-986C-453C-88B8-81DCA2CD47E7}"/>
              </a:ext>
            </a:extLst>
          </p:cNvPr>
          <p:cNvGraphicFramePr/>
          <p:nvPr/>
        </p:nvGraphicFramePr>
        <p:xfrm>
          <a:off xmlns:a="http://schemas.openxmlformats.org/drawingml/2006/main" x="523875" y="1285875"/>
          <a:ext xmlns:a="http://schemas.openxmlformats.org/drawingml/2006/main" cx="11144250" cy="4286250"/>
        </p:xfrm>
        <a:graphic xmlns:a="http://schemas.openxmlformats.org/drawingml/2006/main">
          <a:graphicData uri="http://schemas.openxmlformats.org/drawingml/2006/table">
            <a:tbl>
              <a:tblPr/>
              <a:tblGrid>
                <a:gridCol w="2571750"/>
                <a:gridCol w="4000500"/>
                <a:gridCol w="4572000"/>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supports the local link. Cloud transports">
            <a:extLst xmlns:a="http://schemas.openxmlformats.org/drawingml/2006/main">
              <a:ext uri="{FF2B5EF4-FFF2-40B4-BE49-F238E27FC236}">
                <a16:creationId xmlns:a16="http://schemas.microsoft.com/office/drawing/2014/main" id="{95A3649E-2DFA-4D8E-A7E4-C94F4DE9C689}"/>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xmlns:a="http://schemas.openxmlformats.org/drawingml/2006/main">
              <a:ext uri="{FF2B5EF4-FFF2-40B4-BE49-F238E27FC236}">
                <a16:creationId xmlns:a16="http://schemas.microsoft.com/office/drawing/2014/main" id="{470ACA67-8AED-48BC-8904-38251327710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6BE6F568-E6F5-4C88-90D7-7E01B8FF23C9}"/>
              </a:ext>
            </a:extLst>
          </p:cNvPr>
          <p:cNvGraphicFramePr/>
          <p:nvPr/>
        </p:nvGraphicFramePr>
        <p:xfrm>
          <a:off xmlns:a="http://schemas.openxmlformats.org/drawingml/2006/main" x="523875" y="1190625"/>
          <a:ext xmlns:a="http://schemas.openxmlformats.org/drawingml/2006/main" cx="11144250" cy="4572000"/>
        </p:xfrm>
        <a:graphic xmlns:a="http://schemas.openxmlformats.org/drawingml/2006/main">
          <a:graphicData uri="http://schemas.openxmlformats.org/drawingml/2006/table">
            <a:tbl>
              <a:tblPr/>
              <a:tblGrid>
                <a:gridCol w="952500"/>
                <a:gridCol w="6953250"/>
                <a:gridCol w="3238500"/>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7">
            <a:extLst xmlns:a="http://schemas.openxmlformats.org/drawingml/2006/main">
              <a:ext uri="{FF2B5EF4-FFF2-40B4-BE49-F238E27FC236}">
                <a16:creationId xmlns:a16="http://schemas.microsoft.com/office/drawing/2014/main" id="{A4CC54D9-3B7E-469E-8C0E-BFF45CC9730B}"/>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5ACA3494-ABFC-4847-AA3D-A808147FB39F}"/>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238375"/>
                <a:gridCol w="5429250"/>
                <a:gridCol w="3476625"/>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Latency, endurance and reliability thresholds">
            <a:extLst xmlns:a="http://schemas.openxmlformats.org/drawingml/2006/main">
              <a:ext uri="{FF2B5EF4-FFF2-40B4-BE49-F238E27FC236}">
                <a16:creationId xmlns:a16="http://schemas.microsoft.com/office/drawing/2014/main" id="{E8CB97B3-6AC9-4D14-A6D5-0D4AF130119E}"/>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xmlns:a="http://schemas.openxmlformats.org/drawingml/2006/main">
              <a:ext uri="{FF2B5EF4-FFF2-40B4-BE49-F238E27FC236}">
                <a16:creationId xmlns:a16="http://schemas.microsoft.com/office/drawing/2014/main" id="{40A253D2-FF80-4451-B510-37BF340F5BA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D052DE04-4858-4C9F-9D56-A66243ADE489}"/>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1905000"/>
                <a:gridCol w="4286250"/>
                <a:gridCol w="4953000"/>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Execution status: evidence pending. Capture t">
            <a:extLst xmlns:a="http://schemas.openxmlformats.org/drawingml/2006/main">
              <a:ext uri="{FF2B5EF4-FFF2-40B4-BE49-F238E27FC236}">
                <a16:creationId xmlns:a16="http://schemas.microsoft.com/office/drawing/2014/main" id="{5E9C3E20-70CB-4F44-B8E4-CE027531EEDA}"/>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9">
            <a:extLst xmlns:a="http://schemas.openxmlformats.org/drawingml/2006/main">
              <a:ext uri="{FF2B5EF4-FFF2-40B4-BE49-F238E27FC236}">
                <a16:creationId xmlns:a16="http://schemas.microsoft.com/office/drawing/2014/main" id="{9B008583-08E7-47D5-B3E6-C0055A0BA65D}"/>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0B953268-A9A6-44B1-AFB6-B56BDFC11AB4}"/>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428875"/>
                <a:gridCol w="4524375"/>
                <a:gridCol w="4191000"/>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All cases on this slide are planned. No cloud">
            <a:extLst xmlns:a="http://schemas.openxmlformats.org/drawingml/2006/main">
              <a:ext uri="{FF2B5EF4-FFF2-40B4-BE49-F238E27FC236}">
                <a16:creationId xmlns:a16="http://schemas.microsoft.com/office/drawing/2014/main" id="{C5EC9D52-39EE-4E0D-B7A0-58F674E88F6A}"/>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0">
            <a:extLst xmlns:a="http://schemas.openxmlformats.org/drawingml/2006/main">
              <a:ext uri="{FF2B5EF4-FFF2-40B4-BE49-F238E27FC236}">
                <a16:creationId xmlns:a16="http://schemas.microsoft.com/office/drawing/2014/main" id="{E6C68595-9F79-43D7-B746-FE9A3EE89590}"/>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5F9836DC-CBA6-4A3F-8D62-42BA1CE0434B}"/>
              </a:ext>
            </a:extLst>
          </p:cNvPr>
          <p:cNvGraphicFramePr/>
          <p:nvPr/>
        </p:nvGraphicFramePr>
        <p:xfrm>
          <a:off xmlns:a="http://schemas.openxmlformats.org/drawingml/2006/main" x="523875" y="1143000"/>
          <a:ext xmlns:a="http://schemas.openxmlformats.org/drawingml/2006/main" cx="11144250" cy="4667250"/>
        </p:xfrm>
        <a:graphic xmlns:a="http://schemas.openxmlformats.org/drawingml/2006/main">
          <a:graphicData uri="http://schemas.openxmlformats.org/drawingml/2006/table">
            <a:tbl>
              <a:tblPr/>
              <a:tblGrid>
                <a:gridCol w="2476500"/>
                <a:gridCol w="4429125"/>
                <a:gridCol w="4238625"/>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11">
            <a:extLst xmlns:a="http://schemas.openxmlformats.org/drawingml/2006/main">
              <a:ext uri="{FF2B5EF4-FFF2-40B4-BE49-F238E27FC236}">
                <a16:creationId xmlns:a16="http://schemas.microsoft.com/office/drawing/2014/main" id="{F8FFB6B9-68B6-4F03-A9A5-2F1E7AE1F3C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xmlns:a="http://schemas.openxmlformats.org/drawingml/2006/main">
              <a:ext uri="{FF2B5EF4-FFF2-40B4-BE49-F238E27FC236}">
                <a16:creationId xmlns:a16="http://schemas.microsoft.com/office/drawing/2014/main" id="{64C023A1-DE34-4878-A78F-8CC3138A3170}"/>
              </a:ext>
            </a:extLst>
          </p:cNvPr>
          <p:cNvSpPr>
            <a:spLocks xmlns:a="http://schemas.openxmlformats.org/drawingml/2006/main" noGrp="1"/>
          </p:cNvSpPr>
          <p:nvPr/>
        </p:nvSpPr>
        <p:spPr>
          <a:xfrm xmlns:a="http://schemas.openxmlformats.org/drawingml/2006/main">
            <a:off x="6667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xmlns:a="http://schemas.openxmlformats.org/drawingml/2006/main">
              <a:ext uri="{FF2B5EF4-FFF2-40B4-BE49-F238E27FC236}">
                <a16:creationId xmlns:a16="http://schemas.microsoft.com/office/drawing/2014/main" id="{B742AD68-3D2B-40CF-9DEA-A50F4229256C}"/>
              </a:ext>
            </a:extLst>
          </p:cNvPr>
          <p:cNvSpPr>
            <a:spLocks xmlns:a="http://schemas.openxmlformats.org/drawingml/2006/main" noGrp="1"/>
          </p:cNvSpPr>
          <p:nvPr/>
        </p:nvSpPr>
        <p:spPr>
          <a:xfrm xmlns:a="http://schemas.openxmlformats.org/drawingml/2006/main">
            <a:off x="8572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xmlns:a="http://schemas.openxmlformats.org/drawingml/2006/main">
              <a:ext uri="{FF2B5EF4-FFF2-40B4-BE49-F238E27FC236}">
                <a16:creationId xmlns:a16="http://schemas.microsoft.com/office/drawing/2014/main" id="{6F2AC9C6-D838-45F1-A405-C3F6FEF783C4}"/>
              </a:ext>
            </a:extLst>
          </p:cNvPr>
          <p:cNvSpPr>
            <a:spLocks xmlns:a="http://schemas.openxmlformats.org/drawingml/2006/main" noGrp="1"/>
          </p:cNvSpPr>
          <p:nvPr/>
        </p:nvSpPr>
        <p:spPr>
          <a:xfrm xmlns:a="http://schemas.openxmlformats.org/drawingml/2006/main">
            <a:off x="457200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xmlns:a="http://schemas.openxmlformats.org/drawingml/2006/main">
              <a:ext uri="{FF2B5EF4-FFF2-40B4-BE49-F238E27FC236}">
                <a16:creationId xmlns:a16="http://schemas.microsoft.com/office/drawing/2014/main" id="{8A9C8E32-033C-4F12-B57D-3DDD35D08C67}"/>
              </a:ext>
            </a:extLst>
          </p:cNvPr>
          <p:cNvSpPr>
            <a:spLocks xmlns:a="http://schemas.openxmlformats.org/drawingml/2006/main" noGrp="1"/>
          </p:cNvSpPr>
          <p:nvPr/>
        </p:nvSpPr>
        <p:spPr>
          <a:xfrm xmlns:a="http://schemas.openxmlformats.org/drawingml/2006/main">
            <a:off x="476250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xmlns:a="http://schemas.openxmlformats.org/drawingml/2006/main">
              <a:ext uri="{FF2B5EF4-FFF2-40B4-BE49-F238E27FC236}">
                <a16:creationId xmlns:a16="http://schemas.microsoft.com/office/drawing/2014/main" id="{380EBCDD-A3D3-4BA9-AC15-50EC180DBD37}"/>
              </a:ext>
            </a:extLst>
          </p:cNvPr>
          <p:cNvSpPr>
            <a:spLocks xmlns:a="http://schemas.openxmlformats.org/drawingml/2006/main" noGrp="1"/>
          </p:cNvSpPr>
          <p:nvPr/>
        </p:nvSpPr>
        <p:spPr>
          <a:xfrm xmlns:a="http://schemas.openxmlformats.org/drawingml/2006/main">
            <a:off x="84772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xmlns:a="http://schemas.openxmlformats.org/drawingml/2006/main">
              <a:ext uri="{FF2B5EF4-FFF2-40B4-BE49-F238E27FC236}">
                <a16:creationId xmlns:a16="http://schemas.microsoft.com/office/drawing/2014/main" id="{AD96F8B7-A6BE-4F41-A3D3-CB478021D7E2}"/>
              </a:ext>
            </a:extLst>
          </p:cNvPr>
          <p:cNvSpPr>
            <a:spLocks xmlns:a="http://schemas.openxmlformats.org/drawingml/2006/main" noGrp="1"/>
          </p:cNvSpPr>
          <p:nvPr/>
        </p:nvSpPr>
        <p:spPr>
          <a:xfrm xmlns:a="http://schemas.openxmlformats.org/drawingml/2006/main">
            <a:off x="86677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xmlns:a="http://schemas.openxmlformats.org/drawingml/2006/main">
              <a:ext uri="{FF2B5EF4-FFF2-40B4-BE49-F238E27FC236}">
                <a16:creationId xmlns:a16="http://schemas.microsoft.com/office/drawing/2014/main" id="{ECD4EF33-5A61-444E-B5A2-0A19D4CD3FC9}"/>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2">
            <a:extLst xmlns:a="http://schemas.openxmlformats.org/drawingml/2006/main">
              <a:ext uri="{FF2B5EF4-FFF2-40B4-BE49-F238E27FC236}">
                <a16:creationId xmlns:a16="http://schemas.microsoft.com/office/drawing/2014/main" id="{3EDA8FA3-5A24-484D-8908-FEE2F93A8EA8}"/>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80CB6752-E211-4645-ABA6-3D51529AA766}"/>
              </a:ext>
            </a:extLst>
          </p:cNvPr>
          <p:cNvCxnSpPr>
            <a:stCxn xmlns:a="http://schemas.openxmlformats.org/drawingml/2006/main" id="9" idx="3"/>
            <a:endCxn xmlns:a="http://schemas.openxmlformats.org/drawingml/2006/main" id="10" idx="1"/>
          </p:cNvCxnSpPr>
          <p:nvPr/>
        </p:nvCxnSpPr>
        <p:spPr>
          <a:xfrm xmlns:a="http://schemas.openxmlformats.org/drawingml/2006/main">
            <a:off x="8763000"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C16110FE-3E20-407F-BB98-05015D28933B}"/>
              </a:ext>
            </a:extLst>
          </p:cNvPr>
          <p:cNvCxnSpPr>
            <a:stCxn xmlns:a="http://schemas.openxmlformats.org/drawingml/2006/main" id="8" idx="3"/>
            <a:endCxn xmlns:a="http://schemas.openxmlformats.org/drawingml/2006/main" id="9" idx="1"/>
          </p:cNvCxnSpPr>
          <p:nvPr/>
        </p:nvCxnSpPr>
        <p:spPr>
          <a:xfrm xmlns:a="http://schemas.openxmlformats.org/drawingml/2006/main">
            <a:off x="5857875"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77C8329E-58DA-4FBF-8AD8-E493C4F5FED1}"/>
              </a:ext>
            </a:extLst>
          </p:cNvPr>
          <p:cNvCxnSpPr>
            <a:stCxn xmlns:a="http://schemas.openxmlformats.org/drawingml/2006/main" id="7" idx="3"/>
            <a:endCxn xmlns:a="http://schemas.openxmlformats.org/drawingml/2006/main" id="8" idx="1"/>
          </p:cNvCxnSpPr>
          <p:nvPr/>
        </p:nvCxnSpPr>
        <p:spPr>
          <a:xfrm xmlns:a="http://schemas.openxmlformats.org/drawingml/2006/main">
            <a:off x="2952750"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urrent implementation">
            <a:extLst xmlns:a="http://schemas.openxmlformats.org/drawingml/2006/main">
              <a:ext uri="{FF2B5EF4-FFF2-40B4-BE49-F238E27FC236}">
                <a16:creationId xmlns:a16="http://schemas.microsoft.com/office/drawing/2014/main" id="{58274ED4-E43A-4B51-933E-E48B2068E46D}"/>
              </a:ext>
            </a:extLst>
          </p:cNvPr>
          <p:cNvSpPr>
            <a:spLocks xmlns:a="http://schemas.openxmlformats.org/drawingml/2006/main" noGrp="1"/>
          </p:cNvSpPr>
          <p:nvPr/>
        </p:nvSpPr>
        <p:spPr>
          <a:xfrm xmlns:a="http://schemas.openxmlformats.org/drawingml/2006/main">
            <a:off x="666750" y="1333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850" b="1">
                <a:solidFill>
                  <a:srgbClr val="002060"/>
                </a:solidFill>
                <a:latin typeface="Times New Roman"/>
                <a:ea typeface="Times New Roman"/>
                <a:cs typeface="Times New Roman"/>
              </a:defRPr>
            </a:defPPr>
            <a:lvl1pPr algn="l">
              <a:defRPr sz="2850" b="1">
                <a:solidFill>
                  <a:srgbClr val="002060"/>
                </a:solidFill>
                <a:latin typeface="Times New Roman"/>
                <a:ea typeface="Times New Roman"/>
                <a:cs typeface="Times New Roman"/>
              </a:defRPr>
            </a:lvl1pPr>
            <a:lvl2pPr algn="l">
              <a:defRPr sz="2850" b="1">
                <a:solidFill>
                  <a:srgbClr val="002060"/>
                </a:solidFill>
                <a:latin typeface="Times New Roman"/>
                <a:ea typeface="Times New Roman"/>
                <a:cs typeface="Times New Roman"/>
              </a:defRPr>
            </a:lvl2pPr>
            <a:lvl3pPr algn="l">
              <a:defRPr sz="2850" b="1">
                <a:solidFill>
                  <a:srgbClr val="002060"/>
                </a:solidFill>
                <a:latin typeface="Times New Roman"/>
                <a:ea typeface="Times New Roman"/>
                <a:cs typeface="Times New Roman"/>
              </a:defRPr>
            </a:lvl3pPr>
            <a:lvl4pPr algn="l">
              <a:defRPr sz="2850" b="1">
                <a:solidFill>
                  <a:srgbClr val="002060"/>
                </a:solidFill>
                <a:latin typeface="Times New Roman"/>
                <a:ea typeface="Times New Roman"/>
                <a:cs typeface="Times New Roman"/>
              </a:defRPr>
            </a:lvl4pPr>
            <a:lvl5pPr algn="l">
              <a:defRPr sz="2850" b="1">
                <a:solidFill>
                  <a:srgbClr val="002060"/>
                </a:solidFill>
                <a:latin typeface="Times New Roman"/>
                <a:ea typeface="Times New Roman"/>
                <a:cs typeface="Times New Roman"/>
              </a:defRPr>
            </a:lvl5pPr>
            <a:lvl6pPr algn="l">
              <a:defRPr sz="2850" b="1">
                <a:solidFill>
                  <a:srgbClr val="002060"/>
                </a:solidFill>
                <a:latin typeface="Times New Roman"/>
                <a:ea typeface="Times New Roman"/>
                <a:cs typeface="Times New Roman"/>
              </a:defRPr>
            </a:lvl6pPr>
            <a:lvl7pPr algn="l">
              <a:defRPr sz="2850" b="1">
                <a:solidFill>
                  <a:srgbClr val="002060"/>
                </a:solidFill>
                <a:latin typeface="Times New Roman"/>
                <a:ea typeface="Times New Roman"/>
                <a:cs typeface="Times New Roman"/>
              </a:defRPr>
            </a:lvl7pPr>
            <a:lvl8pPr algn="l">
              <a:defRPr sz="2850" b="1">
                <a:solidFill>
                  <a:srgbClr val="002060"/>
                </a:solidFill>
                <a:latin typeface="Times New Roman"/>
                <a:ea typeface="Times New Roman"/>
                <a:cs typeface="Times New Roman"/>
              </a:defRPr>
            </a:lvl8pPr>
            <a:lvl9pPr algn="l">
              <a:defRPr sz="2850" b="1">
                <a:solidFill>
                  <a:srgbClr val="002060"/>
                </a:solidFill>
                <a:latin typeface="Times New Roman"/>
                <a:ea typeface="Times New Roman"/>
                <a:cs typeface="Times New Roman"/>
              </a:defRPr>
            </a:lvl9pPr>
          </a:lstStyle>
          <a:p xmlns:a="http://schemas.openxmlformats.org/drawingml/2006/main">
            <a:pPr algn="l">
              <a:defRPr sz="2850" b="1">
                <a:solidFill>
                  <a:srgbClr val="002060"/>
                </a:solidFill>
                <a:latin typeface="Times New Roman"/>
                <a:ea typeface="Times New Roman"/>
                <a:cs typeface="Times New Roman"/>
              </a:defRPr>
            </a:pPr>
            <a:r>
              <a:rPr sz="2850" b="1">
                <a:solidFill>
                  <a:srgbClr val="002060"/>
                </a:solidFill>
                <a:latin typeface="Times New Roman"/>
                <a:ea typeface="Times New Roman"/>
                <a:cs typeface="Times New Roman"/>
              </a:rPr>
              <a:t>Current implementation</a:t>
            </a:r>
          </a:p>
        </p:txBody>
      </p:sp>
      <p:sp>
        <p:nvSpPr>
          <p:cNvPr id="6" name="ESP32 BLE and Flutter gateway code support&#10;si">
            <a:extLst xmlns:a="http://schemas.openxmlformats.org/drawingml/2006/main">
              <a:ext uri="{FF2B5EF4-FFF2-40B4-BE49-F238E27FC236}">
                <a16:creationId xmlns:a16="http://schemas.microsoft.com/office/drawing/2014/main" id="{4059AFDF-3210-4B17-BBE6-D8C177239B77}"/>
              </a:ext>
            </a:extLst>
          </p:cNvPr>
          <p:cNvSpPr>
            <a:spLocks xmlns:a="http://schemas.openxmlformats.org/drawingml/2006/main" noGrp="1"/>
          </p:cNvSpPr>
          <p:nvPr/>
        </p:nvSpPr>
        <p:spPr>
          <a:xfrm xmlns:a="http://schemas.openxmlformats.org/drawingml/2006/main">
            <a:off x="666750" y="20478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00" b="0">
                <a:solidFill>
                  <a:srgbClr val="111111"/>
                </a:solidFill>
                <a:latin typeface="Times New Roman"/>
                <a:ea typeface="Times New Roman"/>
                <a:cs typeface="Times New Roman"/>
              </a:defRPr>
            </a:defPPr>
            <a:lvl1pPr algn="l">
              <a:defRPr sz="2700" b="0">
                <a:solidFill>
                  <a:srgbClr val="111111"/>
                </a:solidFill>
                <a:latin typeface="Times New Roman"/>
                <a:ea typeface="Times New Roman"/>
                <a:cs typeface="Times New Roman"/>
              </a:defRPr>
            </a:lvl1pPr>
            <a:lvl2pPr algn="l">
              <a:defRPr sz="2700" b="0">
                <a:solidFill>
                  <a:srgbClr val="111111"/>
                </a:solidFill>
                <a:latin typeface="Times New Roman"/>
                <a:ea typeface="Times New Roman"/>
                <a:cs typeface="Times New Roman"/>
              </a:defRPr>
            </a:lvl2pPr>
            <a:lvl3pPr algn="l">
              <a:defRPr sz="2700" b="0">
                <a:solidFill>
                  <a:srgbClr val="111111"/>
                </a:solidFill>
                <a:latin typeface="Times New Roman"/>
                <a:ea typeface="Times New Roman"/>
                <a:cs typeface="Times New Roman"/>
              </a:defRPr>
            </a:lvl3pPr>
            <a:lvl4pPr algn="l">
              <a:defRPr sz="2700" b="0">
                <a:solidFill>
                  <a:srgbClr val="111111"/>
                </a:solidFill>
                <a:latin typeface="Times New Roman"/>
                <a:ea typeface="Times New Roman"/>
                <a:cs typeface="Times New Roman"/>
              </a:defRPr>
            </a:lvl4pPr>
            <a:lvl5pPr algn="l">
              <a:defRPr sz="2700" b="0">
                <a:solidFill>
                  <a:srgbClr val="111111"/>
                </a:solidFill>
                <a:latin typeface="Times New Roman"/>
                <a:ea typeface="Times New Roman"/>
                <a:cs typeface="Times New Roman"/>
              </a:defRPr>
            </a:lvl5pPr>
            <a:lvl6pPr algn="l">
              <a:defRPr sz="2700" b="0">
                <a:solidFill>
                  <a:srgbClr val="111111"/>
                </a:solidFill>
                <a:latin typeface="Times New Roman"/>
                <a:ea typeface="Times New Roman"/>
                <a:cs typeface="Times New Roman"/>
              </a:defRPr>
            </a:lvl6pPr>
            <a:lvl7pPr algn="l">
              <a:defRPr sz="2700" b="0">
                <a:solidFill>
                  <a:srgbClr val="111111"/>
                </a:solidFill>
                <a:latin typeface="Times New Roman"/>
                <a:ea typeface="Times New Roman"/>
                <a:cs typeface="Times New Roman"/>
              </a:defRPr>
            </a:lvl7pPr>
            <a:lvl8pPr algn="l">
              <a:defRPr sz="2700" b="0">
                <a:solidFill>
                  <a:srgbClr val="111111"/>
                </a:solidFill>
                <a:latin typeface="Times New Roman"/>
                <a:ea typeface="Times New Roman"/>
                <a:cs typeface="Times New Roman"/>
              </a:defRPr>
            </a:lvl8pPr>
            <a:lvl9pPr algn="l">
              <a:defRPr sz="2700" b="0">
                <a:solidFill>
                  <a:srgbClr val="111111"/>
                </a:solidFill>
                <a:latin typeface="Times New Roman"/>
                <a:ea typeface="Times New Roman"/>
                <a:cs typeface="Times New Roman"/>
              </a:defRPr>
            </a:lvl9pPr>
          </a:lstStyle>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ESP32 BLE and Flutter gateway code support</a:t>
            </a:r>
          </a:p>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simulated vital streaming with start/stop control</a:t>
            </a:r>
          </a:p>
        </p:txBody>
      </p:sp>
      <p:sp>
        <p:nvSpPr>
          <p:cNvPr id="7" name="Sensor and OLED&#10;integration">
            <a:extLst xmlns:a="http://schemas.openxmlformats.org/drawingml/2006/main">
              <a:ext uri="{FF2B5EF4-FFF2-40B4-BE49-F238E27FC236}">
                <a16:creationId xmlns:a16="http://schemas.microsoft.com/office/drawing/2014/main" id="{29951265-A3A5-4337-81E1-4E79A62BA72A}"/>
              </a:ext>
            </a:extLst>
          </p:cNvPr>
          <p:cNvSpPr>
            <a:spLocks xmlns:a="http://schemas.openxmlformats.org/drawingml/2006/main" noGrp="1"/>
          </p:cNvSpPr>
          <p:nvPr/>
        </p:nvSpPr>
        <p:spPr>
          <a:xfrm xmlns:a="http://schemas.openxmlformats.org/drawingml/2006/main">
            <a:off x="52387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Sensor and OLED</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integration</a:t>
            </a:r>
          </a:p>
        </p:txBody>
      </p:sp>
      <p:sp>
        <p:nvSpPr>
          <p:cNvPr id="8" name="Persistent uploads&#10;and cloud">
            <a:extLst xmlns:a="http://schemas.openxmlformats.org/drawingml/2006/main">
              <a:ext uri="{FF2B5EF4-FFF2-40B4-BE49-F238E27FC236}">
                <a16:creationId xmlns:a16="http://schemas.microsoft.com/office/drawing/2014/main" id="{220BB5DE-18F8-4BEB-9E23-3E0746831370}"/>
              </a:ext>
            </a:extLst>
          </p:cNvPr>
          <p:cNvSpPr>
            <a:spLocks xmlns:a="http://schemas.openxmlformats.org/drawingml/2006/main" noGrp="1"/>
          </p:cNvSpPr>
          <p:nvPr/>
        </p:nvSpPr>
        <p:spPr>
          <a:xfrm xmlns:a="http://schemas.openxmlformats.org/drawingml/2006/main">
            <a:off x="342900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Persistent uploads</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cloud</a:t>
            </a:r>
          </a:p>
        </p:txBody>
      </p:sp>
      <p:sp>
        <p:nvSpPr>
          <p:cNvPr id="9" name="GPS location&#10;and ETA">
            <a:extLst xmlns:a="http://schemas.openxmlformats.org/drawingml/2006/main">
              <a:ext uri="{FF2B5EF4-FFF2-40B4-BE49-F238E27FC236}">
                <a16:creationId xmlns:a16="http://schemas.microsoft.com/office/drawing/2014/main" id="{46B75771-07DF-4279-933A-043F70345F32}"/>
              </a:ext>
            </a:extLst>
          </p:cNvPr>
          <p:cNvSpPr>
            <a:spLocks xmlns:a="http://schemas.openxmlformats.org/drawingml/2006/main" noGrp="1"/>
          </p:cNvSpPr>
          <p:nvPr/>
        </p:nvSpPr>
        <p:spPr>
          <a:xfrm xmlns:a="http://schemas.openxmlformats.org/drawingml/2006/main">
            <a:off x="633412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GPS location</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ETA</a:t>
            </a:r>
          </a:p>
        </p:txBody>
      </p:sp>
      <p:sp>
        <p:nvSpPr>
          <p:cNvPr id="10" name="ML risk assessment&#10;and dashboard">
            <a:extLst xmlns:a="http://schemas.openxmlformats.org/drawingml/2006/main">
              <a:ext uri="{FF2B5EF4-FFF2-40B4-BE49-F238E27FC236}">
                <a16:creationId xmlns:a16="http://schemas.microsoft.com/office/drawing/2014/main" id="{184E5A43-375C-4452-9341-070A34CD457F}"/>
              </a:ext>
            </a:extLst>
          </p:cNvPr>
          <p:cNvSpPr>
            <a:spLocks xmlns:a="http://schemas.openxmlformats.org/drawingml/2006/main" noGrp="1"/>
          </p:cNvSpPr>
          <p:nvPr/>
        </p:nvSpPr>
        <p:spPr>
          <a:xfrm xmlns:a="http://schemas.openxmlformats.org/drawingml/2006/main">
            <a:off x="923925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ML risk assessment</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dashboard</a:t>
            </a:r>
          </a:p>
        </p:txBody>
      </p:sp>
      <p:sp>
        <p:nvSpPr>
          <p:cNvPr id="14" name="Next validation: capture BLE evidence, then i">
            <a:extLst xmlns:a="http://schemas.openxmlformats.org/drawingml/2006/main">
              <a:ext uri="{FF2B5EF4-FFF2-40B4-BE49-F238E27FC236}">
                <a16:creationId xmlns:a16="http://schemas.microsoft.com/office/drawing/2014/main" id="{6DCCEDDF-E09B-4D4F-AFB8-3DB0FFF43D11}"/>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Next validation: capture BLE evidence, then integrate and test the remaining modules.</a:t>
            </a:r>
          </a:p>
        </p:txBody>
      </p:sp>
      <p:sp>
        <p:nvSpPr>
          <p:cNvPr id="15" name="13">
            <a:extLst xmlns:a="http://schemas.openxmlformats.org/drawingml/2006/main">
              <a:ext uri="{FF2B5EF4-FFF2-40B4-BE49-F238E27FC236}">
                <a16:creationId xmlns:a16="http://schemas.microsoft.com/office/drawing/2014/main" id="{3B80ED03-3ED2-484F-8ED7-0374F0F2105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65809"/>
          </a:xfrm>
          <a:prstGeom xmlns:a="http://schemas.openxmlformats.org/drawingml/2006/main" prst="rect">
            <a:avLst/>
          </a:prstGeom>
          <a:solidFill xmlns:a="http://schemas.openxmlformats.org/drawingml/2006/main">
            <a:srgbClr val="002060"/>
          </a:solidFill>
        </p:spPr>
        <p:txBody>
          <a:bodyPr xmlns:a="http://schemas.openxmlformats.org/drawingml/2006/main">
            <a:normAutofit/>
          </a:bodyPr>
          <a:lstStyle xmlns:a="http://schemas.openxmlformats.org/drawingml/2006/main"/>
          <a:p xmlns:a="http://schemas.openxmlformats.org/drawingml/2006/main">
            <a:pPr algn="ctr">
              <a:buNone/>
            </a:pPr>
            <a:endParaRPr sz="3600" b="1">
              <a:solidFill>
                <a:schemeClr val="bg1"/>
              </a:solidFill>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1C9D027C-64E9-914D-D965-A429BBC87943}"/>
              </a:ext>
            </a:extLst>
          </p:cNvPr>
          <p:cNvSpPr>
            <a:spLocks xmlns:a="http://schemas.openxmlformats.org/drawingml/2006/main" noGrp="1"/>
          </p:cNvSpPr>
          <p:nvPr/>
        </p:nvSpPr>
        <p:spPr>
          <a:xfrm xmlns:a="http://schemas.openxmlformats.org/drawingml/2006/main">
            <a:off x="4563762" y="3429000"/>
            <a:ext cx="3387722"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6000">
                <a:solidFill>
                  <a:srgbClr val="0070C0"/>
                </a:solidFill>
              </a:rPr>
              <a:t>Thank You</a:t>
            </a:r>
          </a:p>
        </p:txBody>
      </p:sp>
      <p:sp>
        <p:nvSpPr>
          <p:cNvPr id="8" name="14">
            <a:extLst xmlns:a="http://schemas.openxmlformats.org/drawingml/2006/main">
              <a:ext uri="{FF2B5EF4-FFF2-40B4-BE49-F238E27FC236}">
                <a16:creationId xmlns:a16="http://schemas.microsoft.com/office/drawing/2014/main" id="{CFD4EBEF-A445-45D3-A488-5783569578E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Tree>
    <p:extLst>
      <p:ext uri="{BB962C8B-B14F-4D97-AF65-F5344CB8AC3E}">
        <p14:creationId xmlns:p14="http://schemas.microsoft.com/office/powerpoint/2010/main" val="310531219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2026-10-19T06:21:11.1580000Z</dcterms:created>
  <dcterms:modified xsi:type="dcterms:W3CDTF">2026-10-19T06:21:11.1580000Z</dcterms:modified>
</coreProperties>
</file>